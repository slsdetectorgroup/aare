
<file path=[Content_Types].xml><?xml version="1.0" encoding="utf-8"?>
<Types xmlns="http://schemas.openxmlformats.org/package/2006/content-types">
  <Default Extension="png" ContentType="image/png"/>
  <Default Extension="rels" ContentType="application/vnd.openxmlformats-package.relationships+xml"/>
  <Default Extension="wmf" ContentType="image/x-wmf"/>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61"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Lst>
  <p:sldSz cx="12191695" cy="6858000"/>
  <p:notesSz cx="7772400" cy="10058400"/>
</p:presentation>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3" name="PlaceHolder 1"/>
          <p:cNvSpPr>
            <a:spLocks noGrp="1"/>
          </p:cNvSpPr>
          <p:nvPr>
            <p:ph type="sldImg"/>
          </p:nvPr>
        </p:nvSpPr>
        <p:spPr>
          <a:xfrm>
            <a:off x="216000" y="812520"/>
            <a:ext cx="7127280" cy="4008960"/>
          </a:xfrm>
          <a:prstGeom prst="rect">
            <a:avLst/>
          </a:prstGeom>
        </p:spPr>
        <p:txBody>
          <a:bodyPr lIns="0" rIns="0" tIns="0" bIns="0" anchor="ctr">
            <a:noAutofit/>
          </a:bodyPr>
          <a:p>
            <a:r>
              <a:rPr b="0" lang="fr-FR" sz="1800" spc="-1" strike="noStrike">
                <a:solidFill>
                  <a:srgbClr val="000000"/>
                </a:solidFill>
                <a:latin typeface="Arial"/>
              </a:rPr>
              <a:t>Click to move the slide</a:t>
            </a:r>
            <a:endParaRPr b="0" lang="fr-FR" sz="1800" spc="-1" strike="noStrike">
              <a:solidFill>
                <a:srgbClr val="000000"/>
              </a:solidFill>
              <a:latin typeface="Arial"/>
            </a:endParaRPr>
          </a:p>
        </p:txBody>
      </p:sp>
      <p:sp>
        <p:nvSpPr>
          <p:cNvPr id="84" name="PlaceHolder 2"/>
          <p:cNvSpPr>
            <a:spLocks noGrp="1"/>
          </p:cNvSpPr>
          <p:nvPr>
            <p:ph type="body"/>
          </p:nvPr>
        </p:nvSpPr>
        <p:spPr>
          <a:xfrm>
            <a:off x="756000" y="5078520"/>
            <a:ext cx="6047640" cy="4811040"/>
          </a:xfrm>
          <a:prstGeom prst="rect">
            <a:avLst/>
          </a:prstGeom>
        </p:spPr>
        <p:txBody>
          <a:bodyPr lIns="0" rIns="0" tIns="0" bIns="0">
            <a:noAutofit/>
          </a:bodyPr>
          <a:p>
            <a:r>
              <a:rPr b="0" lang="en-US" sz="2000" spc="-1" strike="noStrike">
                <a:latin typeface="Arial"/>
              </a:rPr>
              <a:t>Click to edit the notes format</a:t>
            </a:r>
            <a:endParaRPr b="0" lang="en-US" sz="2000" spc="-1" strike="noStrike">
              <a:latin typeface="Arial"/>
            </a:endParaRPr>
          </a:p>
        </p:txBody>
      </p:sp>
      <p:sp>
        <p:nvSpPr>
          <p:cNvPr id="85" name="PlaceHolder 3"/>
          <p:cNvSpPr>
            <a:spLocks noGrp="1"/>
          </p:cNvSpPr>
          <p:nvPr>
            <p:ph type="hdr"/>
          </p:nvPr>
        </p:nvSpPr>
        <p:spPr>
          <a:xfrm>
            <a:off x="0" y="0"/>
            <a:ext cx="3280680" cy="534240"/>
          </a:xfrm>
          <a:prstGeom prst="rect">
            <a:avLst/>
          </a:prstGeom>
        </p:spPr>
        <p:txBody>
          <a:bodyPr lIns="0" rIns="0" tIns="0" bIns="0">
            <a:noAutofit/>
          </a:bodyPr>
          <a:p>
            <a:r>
              <a:rPr b="0" lang="en-US" sz="1400" spc="-1" strike="noStrike">
                <a:latin typeface="Times New Roman"/>
              </a:rPr>
              <a:t>&lt;header&gt;</a:t>
            </a:r>
            <a:endParaRPr b="0" lang="en-US" sz="1400" spc="-1" strike="noStrike">
              <a:latin typeface="Times New Roman"/>
            </a:endParaRPr>
          </a:p>
        </p:txBody>
      </p:sp>
      <p:sp>
        <p:nvSpPr>
          <p:cNvPr id="86" name="PlaceHolder 4"/>
          <p:cNvSpPr>
            <a:spLocks noGrp="1"/>
          </p:cNvSpPr>
          <p:nvPr>
            <p:ph type="dt"/>
          </p:nvPr>
        </p:nvSpPr>
        <p:spPr>
          <a:xfrm>
            <a:off x="4278960" y="0"/>
            <a:ext cx="3280680" cy="534240"/>
          </a:xfrm>
          <a:prstGeom prst="rect">
            <a:avLst/>
          </a:prstGeom>
        </p:spPr>
        <p:txBody>
          <a:bodyPr lIns="0" rIns="0" tIns="0" bIns="0">
            <a:noAutofit/>
          </a:bodyPr>
          <a:p>
            <a:pPr algn="r"/>
            <a:r>
              <a:rPr b="0" lang="en-US" sz="1400" spc="-1" strike="noStrike">
                <a:latin typeface="Times New Roman"/>
              </a:rPr>
              <a:t>&lt;date/time&gt;</a:t>
            </a:r>
            <a:endParaRPr b="0" lang="en-US" sz="1400" spc="-1" strike="noStrike">
              <a:latin typeface="Times New Roman"/>
            </a:endParaRPr>
          </a:p>
        </p:txBody>
      </p:sp>
      <p:sp>
        <p:nvSpPr>
          <p:cNvPr id="87" name="PlaceHolder 5"/>
          <p:cNvSpPr>
            <a:spLocks noGrp="1"/>
          </p:cNvSpPr>
          <p:nvPr>
            <p:ph type="ftr"/>
          </p:nvPr>
        </p:nvSpPr>
        <p:spPr>
          <a:xfrm>
            <a:off x="0" y="10157400"/>
            <a:ext cx="3280680" cy="534240"/>
          </a:xfrm>
          <a:prstGeom prst="rect">
            <a:avLst/>
          </a:prstGeom>
        </p:spPr>
        <p:txBody>
          <a:bodyPr lIns="0" rIns="0" tIns="0" bIns="0" anchor="b">
            <a:noAutofit/>
          </a:bodyPr>
          <a:p>
            <a:r>
              <a:rPr b="0" lang="en-US" sz="1400" spc="-1" strike="noStrike">
                <a:latin typeface="Times New Roman"/>
              </a:rPr>
              <a:t>&lt;footer&gt;</a:t>
            </a:r>
            <a:endParaRPr b="0" lang="en-US" sz="1400" spc="-1" strike="noStrike">
              <a:latin typeface="Times New Roman"/>
            </a:endParaRPr>
          </a:p>
        </p:txBody>
      </p:sp>
      <p:sp>
        <p:nvSpPr>
          <p:cNvPr id="88" name="PlaceHolder 6"/>
          <p:cNvSpPr>
            <a:spLocks noGrp="1"/>
          </p:cNvSpPr>
          <p:nvPr>
            <p:ph type="sldNum"/>
          </p:nvPr>
        </p:nvSpPr>
        <p:spPr>
          <a:xfrm>
            <a:off x="4278960" y="10157400"/>
            <a:ext cx="3280680" cy="534240"/>
          </a:xfrm>
          <a:prstGeom prst="rect">
            <a:avLst/>
          </a:prstGeom>
        </p:spPr>
        <p:txBody>
          <a:bodyPr lIns="0" rIns="0" tIns="0" bIns="0" anchor="b">
            <a:noAutofit/>
          </a:bodyPr>
          <a:p>
            <a:pPr algn="r"/>
            <a:fld id="{E0663A34-A066-44A6-AE62-DBA7095D00F0}" type="slidenum">
              <a:rPr b="0" lang="en-US" sz="1400" spc="-1" strike="noStrike">
                <a:latin typeface="Times New Roman"/>
              </a:rPr>
              <a:t>&lt;number&gt;</a:t>
            </a:fld>
            <a:endParaRPr b="0" lang="en-US" sz="1400" spc="-1" strike="noStrike">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The detector, and why its frame rate is the yardstick.</a:t>
            </a:r>
          </a:p>
          <a:p/>
          <a:p>
            <a:r>
              <a:t>MOENCH03 is a hybrid silicon pixel detector: charge integration with analog</a:t>
            </a:r>
          </a:p>
          <a:p>
            <a:r>
              <a:t>readout, 25 x 25 um^2 pitch, 400 x 400 pixels over a 10 x 10 mm^2 active area.</a:t>
            </a:r>
          </a:p>
          <a:p>
            <a:r>
              <a:t>Its standard frame rate is 1.3 kHz; with optimised readout boards the design</a:t>
            </a:r>
          </a:p>
          <a:p>
            <a:r>
              <a:t>reaches 3-6 kHz depending on configuration.</a:t>
            </a:r>
          </a:p>
          <a:p/>
          <a:p>
            <a:r>
              <a:t>That is the number to hold on to. 400 x 400 = 160 000 pixels is 312.5 kB per</a:t>
            </a:r>
          </a:p>
          <a:p>
            <a:r>
              <a:t>frame at 16 bit, so 1.3 kHz is ~0.4 GB/s off the detector and 6 kHz is ~1.9</a:t>
            </a:r>
          </a:p>
          <a:p>
            <a:r>
              <a:t>GB/s. The 24-thread CPU finder does 6 762 FPS at 3x3, so it already keeps up</a:t>
            </a:r>
          </a:p>
          <a:p>
            <a:r>
              <a:t>with the standard mode and roughly matches the optimised ceiling -- with nothing</a:t>
            </a:r>
          </a:p>
          <a:p>
            <a:r>
              <a:t>left over for anything else on the machine, and nothing left at 9x9, where it</a:t>
            </a:r>
          </a:p>
          <a:p>
            <a:r>
              <a:t>manages 1 503 FPS. Slide 33 closes this loop.</a:t>
            </a:r>
          </a:p>
          <a:p/>
          <a:p>
            <a:r>
              <a:t>Pixels above 5 sigma are ~5 700, about 3.6 % of the frame and 2.4 per photon;</a:t>
            </a:r>
          </a:p>
          <a:p>
            <a:r>
              <a:t>that is the number that sets how much of the frame the 3x3 windows cover.</a:t>
            </a:r>
          </a:p>
        </p:txBody>
      </p:sp>
      <p:sp>
        <p:nvSpPr>
          <p:cNvPr id="4" name="Slide Number Placeholder 3"/>
          <p:cNvSpPr>
            <a:spLocks noGrp="1"/>
          </p:cNvSpPr>
          <p:nvPr>
            <p:ph type="sldNum"/>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The CPU slide. The point is not that CPUs are bad -- it is what the</a:t>
            </a:r>
          </a:p>
          <a:p>
            <a:r>
              <a:t>silicon is SPENT on.</a:t>
            </a:r>
          </a:p>
          <a:p/>
          <a:p>
            <a:r>
              <a:t>On the diagram: Intel Skylake is shown, one core, schematically. The Zen 4 core</a:t>
            </a:r>
          </a:p>
          <a:p>
            <a:r>
              <a:t>in this machine differs in detail -- 4 FP pipes rather than 3, AVX-512</a:t>
            </a:r>
          </a:p>
          <a:p>
            <a:r>
              <a:t>double-pumped on 256-bit datapaths -- but not in kind: ~6-wide front end, 4</a:t>
            </a:r>
          </a:p>
          <a:p>
            <a:r>
              <a:t>scalar ALUs, 2 SMT contexts, private L1 + L2. Load/store units are not drawn.</a:t>
            </a:r>
          </a:p>
          <a:p/>
          <a:p>
            <a:r>
              <a:t>On the die photo: Comet Lake, a 10-core Core i9, at the same scale of argument</a:t>
            </a:r>
          </a:p>
          <a:p>
            <a:r>
              <a:t>as the AD102 die on the next slide. Ten cores, and they do not fill the die --</a:t>
            </a:r>
          </a:p>
          <a:p>
            <a:r>
              <a:t>the orange slab on the right is L3 and the block on the left is I/O and the</a:t>
            </a:r>
          </a:p>
          <a:p>
            <a:r>
              <a:t>memory controller. If someone asks why a 16-core Ryzen is not simply 16x a</a:t>
            </a:r>
          </a:p>
          <a:p>
            <a:r>
              <a:t>1-core Ryzen, that picture is the answer.</a:t>
            </a:r>
          </a:p>
          <a:p/>
          <a:p>
            <a:r>
              <a:t>Six fetch/decode units, an out-of-order instruction selector, branch prediction</a:t>
            </a:r>
          </a:p>
          <a:p>
            <a:r>
              <a:t>(not even drawn), L1 + L2 private cache: all of that machinery exists to find</a:t>
            </a:r>
          </a:p>
          <a:p>
            <a:r>
              <a:t>independent work INSIDE one instruction stream, and to hide memory latency</a:t>
            </a:r>
          </a:p>
          <a:p>
            <a:r>
              <a:t>behind a cache. It is the right design when you have a few threads that must</a:t>
            </a:r>
          </a:p>
          <a:p>
            <a:r>
              <a:t>each finish fast.</a:t>
            </a:r>
          </a:p>
          <a:p/>
          <a:p>
            <a:r>
              <a:t>Our problem has the opposite shape: 160 000 work items that are already</a:t>
            </a:r>
          </a:p>
          <a:p>
            <a:r>
              <a:t>independent. We do not need a machine to FIND the parallelism -- it is handed to</a:t>
            </a:r>
          </a:p>
          <a:p>
            <a:r>
              <a:t>us. Every transistor spent looking for it is a transistor not doing arithmetic.</a:t>
            </a:r>
          </a:p>
          <a:p/>
          <a:p>
            <a:r>
              <a:t>On the thread sweep: 6 762 FPS is the best of a measured sweep (perf/cpu_threads.py),</a:t>
            </a:r>
          </a:p>
          <a:p>
            <a:r>
              <a:t>not a default. 48 threads on 16 cores is 24 % SLOWER than 24 -- worth saying out</a:t>
            </a:r>
          </a:p>
          <a:p>
            <a:r>
              <a:t>loud, because an oversubscribed baseline is the easiest way to inflate a GPU</a:t>
            </a:r>
          </a:p>
          <a:p>
            <a:r>
              <a:t>speedup without lying about anything.</a:t>
            </a:r>
          </a:p>
        </p:txBody>
      </p:sp>
      <p:sp>
        <p:nvSpPr>
          <p:cNvPr id="4" name="Slide Number Placeholder 3"/>
          <p:cNvSpPr>
            <a:spLocks noGrp="1"/>
          </p:cNvSpPr>
          <p:nvPr>
            <p:ph type="sldNum"/>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The GPU slide, and the number to land.</a:t>
            </a:r>
          </a:p>
          <a:p/>
          <a:p>
            <a:r>
              <a:t>128 SMs x 1 536 threads = 196 608 thread slots that can be RESIDENT at the same</a:t>
            </a:r>
          </a:p>
          <a:p>
            <a:r>
              <a:t>time. Our frame is 160 000 pixels. The entire frame fits in the machine at once,</a:t>
            </a:r>
          </a:p>
          <a:p>
            <a:r>
              <a:t>one thread per pixel, with room left over -- which is why slide 7's "one thread</a:t>
            </a:r>
          </a:p>
          <a:p>
            <a:r>
              <a:t>per pixel" is not a figure of speech, and why slide 10 can talk about occupancy</a:t>
            </a:r>
          </a:p>
          <a:p>
            <a:r>
              <a:t>as a real quantity (3x3 achieves 100 %: 1 536 threads resident per SM).</a:t>
            </a:r>
          </a:p>
          <a:p/>
          <a:p>
            <a:r>
              <a:t>Latency hiding, in one sentence: the CPU hides memory latency with a cache and</a:t>
            </a:r>
          </a:p>
          <a:p>
            <a:r>
              <a:t>out-of-order execution; the GPU hides it by having 48 other warps ready to run.</a:t>
            </a:r>
          </a:p>
          <a:p>
            <a:r>
              <a:t>That is why there is no reorder buffer on this diagram and no branch predictor.</a:t>
            </a:r>
          </a:p>
          <a:p/>
          <a:p>
            <a:r>
              <a:t>Count the pink cells in the legend before moving on: FP64 units are a small</a:t>
            </a:r>
          </a:p>
          <a:p>
            <a:r>
              <a:t>minority of the SM, 8 MUL/ADD per clock against 16 for fp32 and 16 for int. On</a:t>
            </a:r>
          </a:p>
          <a:p>
            <a:r>
              <a:t>a GeForce part the ratio is far worse than this V100 diagram suggests -- 1/64.</a:t>
            </a:r>
          </a:p>
          <a:p>
            <a:r>
              <a:t>That is half of why opt7 pays, and it is worth planting here so opt7 lands as a</a:t>
            </a:r>
          </a:p>
          <a:p>
            <a:r>
              <a:t>consequence rather than a surprise.</a:t>
            </a:r>
          </a:p>
          <a:p/>
          <a:p>
            <a:r>
              <a:t>The trap to pre-empt: 16 384 lanes vs 32 streams is a factor of 512, and we</a:t>
            </a:r>
          </a:p>
          <a:p>
            <a:r>
              <a:t>measure x9.1. Say so before someone else does. We are not lane-limited; we are</a:t>
            </a:r>
          </a:p>
          <a:p>
            <a:r>
              <a:t>BANDWIDTH-limited -- 1 TB/s of device memory, and 25 GB/s of PCIe to reach it.</a:t>
            </a:r>
          </a:p>
          <a:p>
            <a:r>
              <a:t>That gap between 512 and 9 IS the talk.</a:t>
            </a:r>
          </a:p>
        </p:txBody>
      </p:sp>
      <p:sp>
        <p:nvSpPr>
          <p:cNvPr id="4" name="Slide Number Placeholder 3"/>
          <p:cNvSpPr>
            <a:spLocks noGrp="1"/>
          </p:cNvSpPr>
          <p:nvPr>
            <p:ph type="sldNum"/>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The arithmetic, and the one build-dependent caveat.</a:t>
            </a:r>
          </a:p>
          <a:p/>
          <a:p>
            <a:r>
              <a:t>One SM holds 65 536 registers and 1 536 thread slots. A 16x16 block is 256</a:t>
            </a:r>
          </a:p>
          <a:p>
            <a:r>
              <a:t>threads, so a block costs regs_per_thread x 256 registers. At 3x3 that is 9 728,</a:t>
            </a:r>
          </a:p>
          <a:p>
            <a:r>
              <a:t>six blocks fit, and the THREAD SLOTS run out first. At 9x9 it is 32 768, so two</a:t>
            </a:r>
          </a:p>
          <a:p>
            <a:r>
              <a:t>blocks exactly fill the REGISTER FILE and strand two thirds of the slots. Same</a:t>
            </a:r>
          </a:p>
          <a:p>
            <a:r>
              <a:t>kernel, same block size, opposite binding resource.</a:t>
            </a:r>
          </a:p>
          <a:p/>
          <a:p>
            <a:r>
              <a:t>Build dependence of the register count itself: the f64 pedestal costs 3x3 nine</a:t>
            </a:r>
          </a:p>
          <a:p>
            <a:r>
              <a:t>extra registers (47), which loses a block per SM. 9x9 is unmoved at 128 -- there</a:t>
            </a:r>
          </a:p>
          <a:p>
            <a:r>
              <a:t>the limiter is the clusterData[9][9] staging array, not the pedestal, which is</a:t>
            </a:r>
          </a:p>
          <a:p>
            <a:r>
              <a:t>why opt7 helps 3x3's occupancy and not 9x9's.</a:t>
            </a:r>
          </a:p>
          <a:p/>
          <a:p>
            <a:r>
              <a:t>Reproduce blocks/SM at runtime with python/tests/perf/kernel_resources.py, which</a:t>
            </a:r>
          </a:p>
          <a:p>
            <a:r>
              <a:t>calls cudaOccupancyMaxActiveBlocksPerMultiprocessor on the built kernel.</a:t>
            </a:r>
          </a:p>
        </p:txBody>
      </p:sp>
      <p:sp>
        <p:nvSpPr>
          <p:cNvPr id="4" name="Slide Number Placeholder 3"/>
          <p:cNvSpPr>
            <a:spLocks noGrp="1"/>
          </p:cNvSpPr>
          <p:nvPr>
            <p:ph type="sldNum"/>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Why "33 % occupancy" is not the alarm it looks like.</a:t>
            </a:r>
          </a:p>
          <a:p/>
          <a:p>
            <a:r>
              <a:t>Occupancy only buys latency hiding, and latency hiding only matters if there is</a:t>
            </a:r>
          </a:p>
          <a:p>
            <a:r>
              <a:t>latency left unhidden. At 9x9 the kernel is long and each thread does a lot of</a:t>
            </a:r>
          </a:p>
          <a:p>
            <a:r>
              <a:t>work per byte loaded, so 16 resident warps are enough to keep the SM fed.</a:t>
            </a:r>
          </a:p>
          <a:p/>
          <a:p>
            <a:r>
              <a:t>It is also build-dependent, and that is the honest caveat. On the shipped f32</a:t>
            </a:r>
          </a:p>
          <a:p>
            <a:r>
              <a:t>build the 9x9 kernel overlaps across four streams by only 1.02x -- extra streams</a:t>
            </a:r>
          </a:p>
          <a:p>
            <a:r>
              <a:t>buy nothing in kernel concurrency. On the f64 build the kernel is 3.5x longer</a:t>
            </a:r>
          </a:p>
          <a:p>
            <a:r>
              <a:t>and DOES overlap, 1.32x, and there four streams genuinely lower the floor. So</a:t>
            </a:r>
          </a:p>
          <a:p>
            <a:r>
              <a:t>quote the overlap factor, never "occupancy is fine" on its own.</a:t>
            </a:r>
          </a:p>
          <a:p/>
          <a:p>
            <a:r>
              <a:t>Shared memory never binds here: 1.3 KB per block at 3x3, 2.3 KB at 9x9, against</a:t>
            </a:r>
          </a:p>
          <a:p>
            <a:r>
              <a:t>100 kB per SM.</a:t>
            </a:r>
          </a:p>
          <a:p/>
          <a:p>
            <a:r>
              <a:t>Provenance for both hardware slides: shipped f32 build, measured not estimated.</a:t>
            </a:r>
          </a:p>
          <a:p>
            <a:r>
              <a:t>cuobjdump -res-usage for registers and spills;</a:t>
            </a:r>
          </a:p>
          <a:p>
            <a:r>
              <a:t>cudaOccupancyMaxActiveBlocksPerMultiprocessor for blocks per SM; RTX 4090</a:t>
            </a:r>
          </a:p>
          <a:p>
            <a:r>
              <a:t>(sm_89). Reproduce with python/tests/perf/kernel_resources.py.</a:t>
            </a:r>
          </a:p>
        </p:txBody>
      </p:sp>
      <p:sp>
        <p:nvSpPr>
          <p:cNvPr id="4" name="Slide Number Placeholder 3"/>
          <p:cNvSpPr>
            <a:spLocks noGrp="1"/>
          </p:cNvSpPr>
          <p:nvPr>
            <p:ph type="sldNum"/>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opt5 — host&lt;-&gt;GPU overlap. Code and chunk sizing are on annex A3.</a:t>
            </a:r>
          </a:p>
          <a:p/>
          <a:p>
            <a:r>
              <a:t>    tok = cf.submit_batch(data[a0:b0], first_frame=a0)</a:t>
            </a:r>
          </a:p>
          <a:p>
            <a:r>
              <a:t>    for a, b in bounds[1:]:</a:t>
            </a:r>
          </a:p>
          <a:p>
            <a:r>
              <a:t>        nxt = cf.submit_batch(data[a:b], first_frame=a)   # GPU starts N+1 ...</a:t>
            </a:r>
          </a:p>
          <a:p>
            <a:r>
              <a:t>        results.extend(cf.collect(tok))                   # ... host unpacks N</a:t>
            </a:r>
          </a:p>
          <a:p>
            <a:r>
              <a:t>        tok = nxt</a:t>
            </a:r>
          </a:p>
          <a:p>
            <a:r>
              <a:t>    results.extend(cf.collect(tok))                       # drain</a:t>
            </a:r>
          </a:p>
          <a:p/>
          <a:p>
            <a:r>
              <a:t>1. This is now INTERNAL to find_clusters_batched(), so every caller gets it for</a:t>
            </a:r>
          </a:p>
          <a:p>
            <a:r>
              <a:t>   free. submit_batch/collect stay public for anyone who wants the token by hand.</a:t>
            </a:r>
          </a:p>
          <a:p/>
          <a:p>
            <a:r>
              <a:t>2. The chunk size is rounded to a multiple of n_streams, because the device</a:t>
            </a:r>
          </a:p>
          <a:p>
            <a:r>
              <a:t>   pedestal is per-stream: an uneven chunk would advance the four stream</a:t>
            </a:r>
          </a:p>
          <a:p>
            <a:r>
              <a:t>   pedestals by different amounts and the finders would stop being comparable.</a:t>
            </a:r>
          </a:p>
          <a:p/>
          <a:p>
            <a:r>
              <a:t>Why the gain differs by cluster size: the saving is min(GPU, host) per chunk, so</a:t>
            </a:r>
          </a:p>
          <a:p>
            <a:r>
              <a:t>it is largest when the two terms are comparable. At 3x3 they nearly are (GPU</a:t>
            </a:r>
          </a:p>
          <a:p>
            <a:r>
              <a:t>16.2 us, host ~9.8) and opt5 is worth x1.31. At 9x9 the host term is roughly</a:t>
            </a:r>
          </a:p>
          <a:p>
            <a:r>
              <a:t>twice the GPU term, so overlap hides only the smaller one and opt5 is worth</a:t>
            </a:r>
          </a:p>
          <a:p>
            <a:r>
              <a:t>x1.20 - which is exactly the diagnosis that motivates opt6: you cannot overlap</a:t>
            </a:r>
          </a:p>
          <a:p>
            <a:r>
              <a:t>your way out of a host term that is simply larger. Report SS8.2.</a:t>
            </a:r>
          </a:p>
        </p:txBody>
      </p:sp>
      <p:sp>
        <p:nvSpPr>
          <p:cNvPr id="4" name="Slide Number Placeholder 3"/>
          <p:cNvSpPr>
            <a:spLocks noGrp="1"/>
          </p:cNvSpPr>
          <p:nvPr>
            <p:ph type="sldNum"/>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Say the floor out loud, in this order.</a:t>
            </a:r>
          </a:p>
          <a:p/>
          <a:p>
            <a:r>
              <a:t>1. There are three engines and they are independent: the H2D copy engine, the</a:t>
            </a:r>
          </a:p>
          <a:p>
            <a:r>
              <a:t>   SMs, and the D2H copy engine. PCIe is full duplex, so a frame's cost is</a:t>
            </a:r>
          </a:p>
          <a:p>
            <a:r>
              <a:t>   never the sum of the three -- it is the slowest of them.</a:t>
            </a:r>
          </a:p>
          <a:p/>
          <a:p>
            <a:r>
              <a:t>2. There is exactly ONE copy engine per direction. So two H2D copies can never</a:t>
            </a:r>
          </a:p>
          <a:p>
            <a:r>
              <a:t>   run at the same time; they queue. That is not a modelling assumption, it is</a:t>
            </a:r>
          </a:p>
          <a:p>
            <a:r>
              <a:t>   measured: H2D_overlap and D2H_overlap are 1.000 in every row of probes.csv.</a:t>
            </a:r>
          </a:p>
          <a:p>
            <a:r>
              <a:t>   Kernels are the only row that ever overlaps.</a:t>
            </a:r>
          </a:p>
          <a:p/>
          <a:p>
            <a:r>
              <a:t>3. That is why s4 is a UNION, not a sum. Four kernels, each 43.2 us long, but</a:t>
            </a:r>
          </a:p>
          <a:p>
            <a:r>
              <a:t>   the SMs are busy only 32.66 us per frame: overlap factor 1.32x.</a:t>
            </a:r>
          </a:p>
          <a:p/>
          <a:p>
            <a:r>
              <a:t>4. On units, because the card says "1 / the busiest engine" and the axis says</a:t>
            </a:r>
          </a:p>
          <a:p>
            <a:r>
              <a:t>   microseconds: they are the same number. The busiest engine's busy time per</a:t>
            </a:r>
          </a:p>
          <a:p>
            <a:r>
              <a:t>   frame is in us/frame; one divided by it is frames per second. 30.01 us/frame</a:t>
            </a:r>
          </a:p>
          <a:p>
            <a:r>
              <a:t>   IS 33 323 FPS. The deck quotes whichever reads better in context -- us/frame</a:t>
            </a:r>
          </a:p>
          <a:p>
            <a:r>
              <a:t>   when comparing engines, FPS when comparing against the CPU or the detector --</a:t>
            </a:r>
          </a:p>
          <a:p>
            <a:r>
              <a:t>   and "% of floor" is the same ratio either way.</a:t>
            </a:r>
          </a:p>
          <a:p/>
          <a:p>
            <a:r>
              <a:t>5. The floor is max(H2D, kernel, D2H) at s4. At 9x9 f64 that max is 32.66 us</a:t>
            </a:r>
          </a:p>
          <a:p>
            <a:r>
              <a:t>   = 30 618 FPS. But the unprofiled pipeline actually sustained 30.01 us/frame,</a:t>
            </a:r>
          </a:p>
          <a:p>
            <a:r>
              <a:t>   which is FASTER than the probe says is possible -- because under nsys</a:t>
            </a:r>
          </a:p>
          <a:p>
            <a:r>
              <a:t>   submission is sparser, kernels overlap less, and a less-overlapped interval</a:t>
            </a:r>
          </a:p>
          <a:p>
            <a:r>
              <a:t>   set has a LARGER union. A sustained rate is an existence proof; a probe is an</a:t>
            </a:r>
          </a:p>
          <a:p>
            <a:r>
              <a:t>   estimate. So the floor is the lower of the two, and the 1.32x is a lower</a:t>
            </a:r>
          </a:p>
          <a:p>
            <a:r>
              <a:t>   bound on the real overlap.</a:t>
            </a:r>
          </a:p>
          <a:p/>
          <a:p>
            <a:r>
              <a:t>If time is short, say only: "s1 is how long it takes, s4 is how busy it is, and</a:t>
            </a:r>
          </a:p>
          <a:p>
            <a:r>
              <a:t>the floor is the busiest engine." The rest is in A1.</a:t>
            </a:r>
          </a:p>
        </p:txBody>
      </p:sp>
      <p:sp>
        <p:nvSpPr>
          <p:cNvPr id="4" name="Slide Number Placeholder 3"/>
          <p:cNvSpPr>
            <a:spLocks noGrp="1"/>
          </p:cNvSpPr>
          <p:nvPr>
            <p:ph type="sldNum"/>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Reading the two panels, and the number to quote.</a:t>
            </a:r>
          </a:p>
          <a:p/>
          <a:p>
            <a:r>
              <a:t>Left is s1: one stream, nothing else running, so those are true durations. The</a:t>
            </a:r>
          </a:p>
          <a:p>
            <a:r>
              <a:t>kernel binds in BOTH arms there -- 39.86 and 23.70 against a D2H of ~21.95 -- so</a:t>
            </a:r>
          </a:p>
          <a:p>
            <a:r>
              <a:t>s1 alone would say the kernel is the thing to optimise and stop there.</a:t>
            </a:r>
          </a:p>
          <a:p/>
          <a:p>
            <a:r>
              <a:t>Right is s4, the shipped four-stream pipeline, and it says something different:</a:t>
            </a:r>
          </a:p>
          <a:p>
            <a:r>
              <a:t>the f64 kernel's busy time falls to 32.66 (self-overlap, 1.32x) while every</a:t>
            </a:r>
          </a:p>
          <a:p>
            <a:r>
              <a:t>transfer RISES under contention, and once opt7 puts the kernel at 23.94 the D2H</a:t>
            </a:r>
          </a:p>
          <a:p>
            <a:r>
              <a:t>bar at 25.24 is above it. That is the handover slide 21 is about.</a:t>
            </a:r>
          </a:p>
          <a:p/>
          <a:p>
            <a:r>
              <a:t>So: -40.5 % is the s1 kernel claim and is the honest headline for what the</a:t>
            </a:r>
          </a:p>
          <a:p>
            <a:r>
              <a:t>typedef does to the arithmetic. -26.7 % is the same change measured at s4, where</a:t>
            </a:r>
          </a:p>
          <a:p>
            <a:r>
              <a:t>self-overlap had already hidden part of the win. Both are true, they measure</a:t>
            </a:r>
          </a:p>
          <a:p>
            <a:r>
              <a:t>different things, and the previous slide is the rule for which to quote.</a:t>
            </a:r>
          </a:p>
          <a:p/>
          <a:p>
            <a:r>
              <a:t>The 3x3 occupancy effect is real but not worth stage time: 47 registers -&gt; 38</a:t>
            </a:r>
          </a:p>
          <a:p>
            <a:r>
              <a:t>takes 3x3 from five blocks per SM to six, 83 % -&gt; 100 % occupancy. It changes</a:t>
            </a:r>
          </a:p>
          <a:p>
            <a:r>
              <a:t>nothing end to end, because at 3x3 H2D is the floor.</a:t>
            </a:r>
          </a:p>
        </p:txBody>
      </p:sp>
      <p:sp>
        <p:nvSpPr>
          <p:cNvPr id="4" name="Slide Number Placeholder 3"/>
          <p:cNvSpPr>
            <a:spLocks noGrp="1"/>
          </p:cNvSpPr>
          <p:nvPr>
            <p:ph type="sldNum"/>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The one sentence to leave the room with.</a:t>
            </a:r>
          </a:p>
          <a:p/>
          <a:p>
            <a:r>
              <a:t>"Precision is relative." A float resolves small numbers finely and large numbers</a:t>
            </a:r>
          </a:p>
          <a:p>
            <a:r>
              <a:t>coarsely, so a small answer must never be computed as the difference of two</a:t>
            </a:r>
          </a:p>
          <a:p>
            <a:r>
              <a:t>large numbers. That is the transferable lesson; everything else on this slide is</a:t>
            </a:r>
          </a:p>
          <a:p>
            <a:r>
              <a:t>this detector's instance of it.</a:t>
            </a:r>
          </a:p>
          <a:p/>
          <a:p>
            <a:r>
              <a:t>Why the tail matters more than the count. +28 % is a number you might argue</a:t>
            </a:r>
          </a:p>
          <a:p>
            <a:r>
              <a:t>about. A spectrum with a population sitting below the 5 sigma cut is not</a:t>
            </a:r>
          </a:p>
          <a:p>
            <a:r>
              <a:t>arguable: those clusters cannot physically be there, and any gain or resolution</a:t>
            </a:r>
          </a:p>
          <a:p>
            <a:r>
              <a:t>fit done on that spectrum is wrong.</a:t>
            </a:r>
          </a:p>
          <a:p/>
          <a:p>
            <a:r>
              <a:t>Honesty about the right-hand panel: nobody kept the broken build around to</a:t>
            </a:r>
          </a:p>
          <a:p>
            <a:r>
              <a:t>re-run, so the f32 curve is reconstructed. What is measured is the f64 curve and</a:t>
            </a:r>
          </a:p>
          <a:p>
            <a:r>
              <a:t>the +28.06 % excess (CPU 116 010 113 vs CUDA 148 559 598, SS1 of the write-up).</a:t>
            </a:r>
          </a:p>
          <a:p>
            <a:r>
              <a:t>The placement follows SS9: a correct 5 sigma gate cuts at ~225 ADU, a collapsed</a:t>
            </a:r>
          </a:p>
          <a:p>
            <a:r>
              <a:t>gate admits the whole positive side of the pixel's distribution, so the excess</a:t>
            </a:r>
          </a:p>
          <a:p>
            <a:r>
              <a:t>is smeared upward from zero. The write-up's TL;DR calls it a high-energy tail;</a:t>
            </a:r>
          </a:p>
          <a:p>
            <a:r>
              <a:t>SS9 derives it from ~0 upward. Both describe the same corrupted pixels.</a:t>
            </a:r>
          </a:p>
          <a:p/>
          <a:p>
            <a:r>
              <a:t>Welford's online variance is the other correct answer and is mentioned in the</a:t>
            </a:r>
          </a:p>
          <a:p>
            <a:r>
              <a:t>write-up. The frozen-offset form was chosen because it is two lines and does not</a:t>
            </a:r>
          </a:p>
          <a:p>
            <a:r>
              <a:t>change the update's arithmetic cost.</a:t>
            </a:r>
          </a:p>
        </p:txBody>
      </p:sp>
      <p:sp>
        <p:nvSpPr>
          <p:cNvPr id="4" name="Slide Number Placeholder 3"/>
          <p:cNvSpPr>
            <a:spLocks noGrp="1"/>
          </p:cNvSpPr>
          <p:nvPr>
            <p:ph type="sldNum"/>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Why this slide is here.</a:t>
            </a:r>
          </a:p>
          <a:p/>
          <a:p>
            <a:r>
              <a:t>The obvious experiment - run the CPU finder and the CUDA finder over the same</a:t>
            </a:r>
          </a:p>
          <a:p>
            <a:r>
              <a:t>frames and count the differences - cannot answer the question anyone actually</a:t>
            </a:r>
          </a:p>
          <a:p>
            <a:r>
              <a:t>asks, which is "is the port correct?" It moves two variables at once:</a:t>
            </a:r>
          </a:p>
          <a:p/>
          <a:p>
            <a:r>
              <a:t>  1. WHEN the pedestal is updated. The serial CPU finder updates per pixel,</a:t>
            </a:r>
          </a:p>
          <a:p>
            <a:r>
              <a:t>     during the raster scan, so a pixel late in the frame is judged against a</a:t>
            </a:r>
          </a:p>
          <a:p>
            <a:r>
              <a:t>     pedestal that already contains this frame's earlier pixels. That is</a:t>
            </a:r>
          </a:p>
          <a:p>
            <a:r>
              <a:t>     scan-order dependent by construction.</a:t>
            </a:r>
          </a:p>
          <a:p>
            <a:r>
              <a:t>  2. WHAT arithmetic runs. float vs double, a different local-max expression,</a:t>
            </a:r>
          </a:p>
          <a:p>
            <a:r>
              <a:t>     a different rounding point.</a:t>
            </a:r>
          </a:p>
          <a:p/>
          <a:p>
            <a:r>
              <a:t>ClusterFinderFrozen holds (2) fixed and changes only (1): it is the serial</a:t>
            </a:r>
          </a:p>
          <a:p>
            <a:r>
              <a:t>finder, same decision logic line for line, with the update deferred to the frame</a:t>
            </a:r>
          </a:p>
          <a:p>
            <a:r>
              <a:t>boundary. That is the CUDA update model, on the CPU.</a:t>
            </a:r>
          </a:p>
          <a:p/>
          <a:p>
            <a:r>
              <a:t>So the three-way comparison factorises:</a:t>
            </a:r>
          </a:p>
          <a:p>
            <a:r>
              <a:t>    cpu    vs frozen  -&gt; update timing alone      (19 of 23.2 M)</a:t>
            </a:r>
          </a:p>
          <a:p>
            <a:r>
              <a:t>    frozen vs cuda    -&gt; the port alone           (6 of 23.2 M)</a:t>
            </a:r>
          </a:p>
          <a:p/>
          <a:p>
            <a:r>
              <a:t>and the second is the number that answers the question. It is also why the</a:t>
            </a:r>
          </a:p>
          <a:p>
            <a:r>
              <a:t>headline mismatch figure in this deck is 6 / 23 M and not 25 / 23 M: the larger</a:t>
            </a:r>
          </a:p>
          <a:p>
            <a:r>
              <a:t>number is dominated by an effect that has nothing to do with CUDA.</a:t>
            </a:r>
          </a:p>
          <a:p/>
          <a:p>
            <a:r>
              <a:t>Frozen ships in the library as a diagnostic, not as the recommended finder.</a:t>
            </a:r>
          </a:p>
        </p:txBody>
      </p:sp>
      <p:sp>
        <p:nvSpPr>
          <p:cNvPr id="4" name="Slide Number Placeholder 3"/>
          <p:cNvSpPr>
            <a:spLocks noGrp="1"/>
          </p:cNvSpPr>
          <p:nvPr>
            <p:ph type="sldNum"/>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Frame 147, the strongest of the six residuals, shipping f32 build.</a:t>
            </a:r>
          </a:p>
          <a:p>
            <a:r>
              <a:t>Every other centre in the patch agrees, including the ordinary photon at bottom</a:t>
            </a:r>
          </a:p>
          <a:p>
            <a:r>
              <a:t>right.</a:t>
            </a:r>
          </a:p>
          <a:p/>
          <a:p>
            <a:r>
              <a:t>Each panel masks every pixel that is not inside the 3x3 footprint of one of THAT</a:t>
            </a:r>
          </a:p>
          <a:p>
            <a:r>
              <a:t>finder's own cluster centres. So a pixel is visible on the left only if frozen</a:t>
            </a:r>
          </a:p>
          <a:p>
            <a:r>
              <a:t>claimed it, and visible on the right only if cuda did. Where the panels look</a:t>
            </a:r>
          </a:p>
          <a:p>
            <a:r>
              <a:t>identical, the finders agreed pixel for pixel.</a:t>
            </a:r>
          </a:p>
          <a:p/>
          <a:p>
            <a:r>
              <a:t>The red dots are cluster centres. The amber ring is the one centre cuda keeps</a:t>
            </a:r>
          </a:p>
          <a:p>
            <a:r>
              <a:t>that frozen does not: (202, 8), directly below (202, 7) which both finders keep.</a:t>
            </a:r>
          </a:p>
          <a:p>
            <a:r>
              <a:t>Because the two 3x3 windows overlap, cuda's patch is four rows tall where</a:t>
            </a:r>
          </a:p>
          <a:p>
            <a:r>
              <a:t>frozen's is three - that visible extra row IS the disagreement.</a:t>
            </a:r>
          </a:p>
          <a:p/>
          <a:p>
            <a:r>
              <a:t>Note what is NOT happening: there is no cluster in one panel that is absent from</a:t>
            </a:r>
          </a:p>
          <a:p>
            <a:r>
              <a:t>the other's neighbourhood entirely. Nothing was missed, and nothing was invented</a:t>
            </a:r>
          </a:p>
          <a:p>
            <a:r>
              <a:t>out of noise. The two finders are arguing about which of two adjacent pixels owns</a:t>
            </a:r>
          </a:p>
          <a:p>
            <a:r>
              <a:t>a photon they both found.</a:t>
            </a:r>
          </a:p>
          <a:p/>
          <a:p>
            <a:r>
              <a:t>Same construction as helper.plot_masked_mismatch() in the notebook, so this is</a:t>
            </a:r>
          </a:p>
          <a:p>
            <a:r>
              <a:t>reproducible from ClusterFinderFrozen_vs_CUDA.ipynb directly.</a:t>
            </a:r>
          </a:p>
        </p:txBody>
      </p:sp>
      <p:sp>
        <p:nvSpPr>
          <p:cNvPr id="4" name="Slide Number Placeholder 3"/>
          <p:cNvSpPr>
            <a:spLocks noGrp="1"/>
          </p:cNvSpPr>
          <p:nvPr>
            <p:ph type="sldNum"/>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Frame 147, centre (x=202, y=8). The full numbers.</a:t>
            </a:r>
          </a:p>
          <a:p/>
          <a:p>
            <a:r>
              <a:t>                              centre               rival      centre - rival</a:t>
            </a:r>
          </a:p>
          <a:p>
            <a:r>
              <a:t>  frozen (f64 host ped)  638.382773664       638.383019956        -0.000246291</a:t>
            </a:r>
          </a:p>
          <a:p>
            <a:r>
              <a:t>  cuda   (f32 dev  ped)  638.382812500       638.382812500         0.000000000</a:t>
            </a:r>
          </a:p>
          <a:p/>
          <a:p>
            <a:r>
              <a:t>  pedestal mean, centre:  f64 4679.617226336   f32 4679.617187500</a:t>
            </a:r>
          </a:p>
          <a:p>
            <a:r>
              <a:t>  pedestal mean, rival :  f64 4643.616980044   f32 4643.617187500</a:t>
            </a:r>
          </a:p>
          <a:p/>
          <a:p>
            <a:r>
              <a:t>  1 float32 ULP at 4679.6 ADU = 0.000488 ADU</a:t>
            </a:r>
          </a:p>
          <a:p>
            <a:r>
              <a:t>  the f64 separation between the two pixels = 0.50 ULP</a:t>
            </a:r>
          </a:p>
          <a:p/>
          <a:p>
            <a:r>
              <a:t>Read that last line slowly: the two pixels differ by HALF a float32 ULP. There is</a:t>
            </a:r>
          </a:p>
          <a:p>
            <a:r>
              <a:t>no float32 number between them, so once the pedestal is stored as float32 they</a:t>
            </a:r>
          </a:p>
          <a:p>
            <a:r>
              <a:t>round to the identical bit pattern. The local-max gate is `value &gt;= max`, which</a:t>
            </a:r>
          </a:p>
          <a:p>
            <a:r>
              <a:t>accepts on equality - so CUDA keeps the centre and frozen, which can still see</a:t>
            </a:r>
          </a:p>
          <a:p>
            <a:r>
              <a:t>the rival is 2.5e-4 ADU higher, rejects it.</a:t>
            </a:r>
          </a:p>
          <a:p/>
          <a:p>
            <a:r>
              <a:t>This is not drift in the usual sense. It is not that the f32 EMA wandered away</a:t>
            </a:r>
          </a:p>
          <a:p>
            <a:r>
              <a:t>from the f64 one over thousands of updates - look at the pedestal columns, they</a:t>
            </a:r>
          </a:p>
          <a:p>
            <a:r>
              <a:t>agree to 4e-5 and 2e-4 ADU. It is that the QUESTION being asked ("which of these</a:t>
            </a:r>
          </a:p>
          <a:p>
            <a:r>
              <a:t>two pixels is larger?") has an answer that float32 cannot represent.</a:t>
            </a:r>
          </a:p>
          <a:p/>
          <a:p>
            <a:r>
              <a:t>Consequences worth stating out loud if asked:</a:t>
            </a:r>
          </a:p>
          <a:p>
            <a:r>
              <a:t>  - It is one-directional. cuda-only 6, frozen-only 0. A tie can only ever ADD a</a:t>
            </a:r>
          </a:p>
          <a:p>
            <a:r>
              <a:t>    centre, never remove one, because &gt;= accepts.</a:t>
            </a:r>
          </a:p>
          <a:p>
            <a:r>
              <a:t>  - All six are at Chebyshev distance 1 from a cluster both finders found: a</a:t>
            </a:r>
          </a:p>
          <a:p>
            <a:r>
              <a:t>    duplicate neighbour, never a spurious photon.</a:t>
            </a:r>
          </a:p>
          <a:p>
            <a:r>
              <a:t>  - With DEVICE_PED_TYPE = double the residual is 0 / 0 at both 3x3 and 9x9.</a:t>
            </a:r>
          </a:p>
          <a:p>
            <a:r>
              <a:t>  - Fixing it in f32 would mean a strict &gt; in the gate, which changes the CPU's</a:t>
            </a:r>
          </a:p>
          <a:p>
            <a:r>
              <a:t>    documented behaviour on genuine ties. Not worth 6 clusters in 23 million.</a:t>
            </a:r>
          </a:p>
        </p:txBody>
      </p:sp>
      <p:sp>
        <p:nvSpPr>
          <p:cNvPr id="4" name="Slide Number Placeholder 3"/>
          <p:cNvSpPr>
            <a:spLocks noGrp="1"/>
          </p:cNvSpPr>
          <p:nvPr>
            <p:ph type="sldNum"/>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The headroom claim, stated carefully.</a:t>
            </a:r>
          </a:p>
          <a:p/>
          <a:p>
            <a:r>
              <a:t>MOENCH03 runs at 1.3 kHz as standard and 3-6 kHz with optimised readout boards.</a:t>
            </a:r>
          </a:p>
          <a:p>
            <a:r>
              <a:t>The finder does 58 495 FPS at 3x3 and 39 775 at 9x9, so it is 45x and 31x the</a:t>
            </a:r>
          </a:p>
          <a:p>
            <a:r>
              <a:t>standard rate, and about 10x and 7x the optimised ceiling. The point is not the</a:t>
            </a:r>
          </a:p>
          <a:p>
            <a:r>
              <a:t>multiple: it is that cluster finding has stopped being the thing that decides</a:t>
            </a:r>
          </a:p>
          <a:p>
            <a:r>
              <a:t>how fast you can take data, on one GPU, at either cluster size.</a:t>
            </a:r>
          </a:p>
          <a:p/>
          <a:p>
            <a:r>
              <a:t>Two honest qualifications. First, this is throughput on frames already in host</a:t>
            </a:r>
          </a:p>
          <a:p>
            <a:r>
              <a:t>RAM -- getting them there from the detector is a separate problem and is not</a:t>
            </a:r>
          </a:p>
          <a:p>
            <a:r>
              <a:t>measured here. Second, at 9x9 the D2H slot is cap-sized, so the margin shrinks</a:t>
            </a:r>
          </a:p>
          <a:p>
            <a:r>
              <a:t>if max_clusters_per_frame has to grow for a busier beam.</a:t>
            </a:r>
          </a:p>
          <a:p/>
          <a:p>
            <a:r>
              <a:t>What the 24-thread CPU finder does, for contrast: 6 762 FPS at 3x3, which</a:t>
            </a:r>
          </a:p>
          <a:p>
            <a:r>
              <a:t>matches the standard mode with nothing to spare, and 1 503 FPS at 9x9, which</a:t>
            </a:r>
          </a:p>
          <a:p>
            <a:r>
              <a:t>does not.</a:t>
            </a:r>
          </a:p>
        </p:txBody>
      </p:sp>
      <p:sp>
        <p:nvSpPr>
          <p:cNvPr id="4" name="Slide Number Placeholder 3"/>
          <p:cNvSpPr>
            <a:spLocks noGrp="1"/>
          </p:cNvSpPr>
          <p:nvPr>
            <p:ph type="sldNum"/>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Neither direction is faster than the other, and the bar heights say so.</a:t>
            </a:r>
          </a:p>
          <a:p/>
          <a:p>
            <a:r>
              <a:t>At s1, H2D moves 320 000 B in 13.15 us = 24.3 GB/s; D2H moves 120 004 B in</a:t>
            </a:r>
          </a:p>
          <a:p>
            <a:r>
              <a:t>5.27 us = 22.8 GB/s; at 9x9, D2H moves 557 604 B in 21.95 us = 25.4 GB/s. All</a:t>
            </a:r>
          </a:p>
          <a:p>
            <a:r>
              <a:t>three sit at 72-81 % of PCIe 4.0 x16's 31.5 GB/s, the smallest transfer paying</a:t>
            </a:r>
          </a:p>
          <a:p>
            <a:r>
              <a:t>the most fixed cost per byte. So a taller bar in this deck always means MORE</a:t>
            </a:r>
          </a:p>
          <a:p>
            <a:r>
              <a:t>BYTES, never a slower wire -- which is exactly why raising the cap to 1 700</a:t>
            </a:r>
          </a:p>
          <a:p>
            <a:r>
              <a:t>hands the 9x9 floor to D2H: it is 544.5 kB per frame either way the arm is</a:t>
            </a:r>
          </a:p>
          <a:p>
            <a:r>
              <a:t>built, and it does not care about the typedef.</a:t>
            </a:r>
          </a:p>
          <a:p/>
          <a:p>
            <a:r>
              <a:t>On the last row: the floor is the LOWER of the s4 estimate and the best</a:t>
            </a:r>
          </a:p>
          <a:p>
            <a:r>
              <a:t>unprofiled sustained rate. 16.31 vs 16.63 at 3x3 f32; 25.14 vs 25.24 at 9x9 f32;</a:t>
            </a:r>
          </a:p>
          <a:p>
            <a:r>
              <a:t>30.01 vs 32.66 at 9x9 f64, which is the widest gap and the reason the rule</a:t>
            </a:r>
          </a:p>
          <a:p>
            <a:r>
              <a:t>exists. A probe roofline is an estimate, never a hard denominator.</a:t>
            </a:r>
          </a:p>
        </p:txBody>
      </p:sp>
      <p:sp>
        <p:nvSpPr>
          <p:cNvPr id="4" name="Slide Number Placeholder 3"/>
          <p:cNvSpPr>
            <a:spLocks noGrp="1"/>
          </p:cNvSpPr>
          <p:nvPr>
            <p:ph type="sldNum"/>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Why this one slide is still cap 1500, and what not to read off it.</a:t>
            </a:r>
          </a:p>
          <a:p/>
          <a:p>
            <a:r>
              <a:t>The RUNTIME column exists only inside the trace: it is the cost of the host call</a:t>
            </a:r>
          </a:p>
          <a:p>
            <a:r>
              <a:t>itself, which does not depend on how large the output slot is. So there is</a:t>
            </a:r>
          </a:p>
          <a:p>
            <a:r>
              <a:t>nothing to re-run -- a cap-1700 trace would report the same ~1.65 and ~1.85 us</a:t>
            </a:r>
          </a:p>
          <a:p>
            <a:r>
              <a:t>for cudaMemcpyAsync and cudaLaunchKernel.</a:t>
            </a:r>
          </a:p>
          <a:p/>
          <a:p>
            <a:r>
              <a:t>What you must NOT read off this slide is the 19.44 us D2H. That is the cap-1500</a:t>
            </a:r>
          </a:p>
          <a:p>
            <a:r>
              <a:t>figure. At the shipped cap of 1 700 the same engine reads 21.95 us [s1] and</a:t>
            </a:r>
          </a:p>
          <a:p>
            <a:r>
              <a:t>25.24 us [s4], and it is the s4 value that binds the f32 build. A1 has the</a:t>
            </a:r>
          </a:p>
          <a:p>
            <a:r>
              <a:t>shipped grid.</a:t>
            </a:r>
          </a:p>
          <a:p/>
          <a:p>
            <a:r>
              <a:t>The one number in the whole deck taken from _RUNTIME is the CUDA Graph launch</a:t>
            </a:r>
          </a:p>
          <a:p>
            <a:r>
              <a:t>budget in A2, and it is quoted to a single significant figure for exactly this</a:t>
            </a:r>
          </a:p>
          <a:p>
            <a:r>
              <a:t>reason: a ~4x inflated host-call time can support "launch cost is about 2 us,</a:t>
            </a:r>
          </a:p>
          <a:p>
            <a:r>
              <a:t>against a 24 us floor", and nothing finer than that.</a:t>
            </a:r>
          </a:p>
        </p:txBody>
      </p:sp>
      <p:sp>
        <p:nvSpPr>
          <p:cNvPr id="4" name="Slide Number Placeholder 3"/>
          <p:cNvSpPr>
            <a:spLocks noGrp="1"/>
          </p:cNvSpPr>
          <p:nvPr>
            <p:ph type="sldNum"/>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5"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6" name="PlaceHolder 2"/>
          <p:cNvSpPr>
            <a:spLocks noGrp="1"/>
          </p:cNvSpPr>
          <p:nvPr>
            <p:ph type="subTitle"/>
          </p:nvPr>
        </p:nvSpPr>
        <p:spPr>
          <a:xfrm>
            <a:off x="695160" y="1376640"/>
            <a:ext cx="10798560" cy="4641840"/>
          </a:xfrm>
          <a:prstGeom prst="rect">
            <a:avLst/>
          </a:prstGeom>
        </p:spPr>
        <p:txBody>
          <a:bodyPr lIns="0" rIns="0" tIns="0" bIns="0" anchor="ctr">
            <a:noAutofit/>
          </a:bodyPr>
          <a:p>
            <a:pPr algn="ctr"/>
            <a:endParaRPr b="0" lang="en-US"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7"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8" name="PlaceHolder 2"/>
          <p:cNvSpPr>
            <a:spLocks noGrp="1"/>
          </p:cNvSpPr>
          <p:nvPr>
            <p:ph type="body"/>
          </p:nvPr>
        </p:nvSpPr>
        <p:spPr>
          <a:xfrm>
            <a:off x="695160" y="1376640"/>
            <a:ext cx="10798560" cy="464184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9"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10" name="PlaceHolder 2"/>
          <p:cNvSpPr>
            <a:spLocks noGrp="1"/>
          </p:cNvSpPr>
          <p:nvPr>
            <p:ph type="body"/>
          </p:nvPr>
        </p:nvSpPr>
        <p:spPr>
          <a:xfrm>
            <a:off x="695160" y="1376640"/>
            <a:ext cx="5269680" cy="4641840"/>
          </a:xfrm>
          <a:prstGeom prst="rect">
            <a:avLst/>
          </a:prstGeom>
        </p:spPr>
        <p:txBody>
          <a:bodyPr lIns="0" rIns="0" tIns="0" bIns="0">
            <a:normAutofit/>
          </a:bodyPr>
          <a:p>
            <a:endParaRPr b="0" lang="fr-FR" sz="2800" spc="-1" strike="noStrike">
              <a:solidFill>
                <a:srgbClr val="000000"/>
              </a:solidFill>
              <a:latin typeface="Arial"/>
            </a:endParaRPr>
          </a:p>
        </p:txBody>
      </p:sp>
      <p:sp>
        <p:nvSpPr>
          <p:cNvPr id="11" name="PlaceHolder 3"/>
          <p:cNvSpPr>
            <a:spLocks noGrp="1"/>
          </p:cNvSpPr>
          <p:nvPr>
            <p:ph type="body"/>
          </p:nvPr>
        </p:nvSpPr>
        <p:spPr>
          <a:xfrm>
            <a:off x="6228720" y="1376640"/>
            <a:ext cx="5269680" cy="464184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2"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3" name="PlaceHolder 1"/>
          <p:cNvSpPr>
            <a:spLocks noGrp="1"/>
          </p:cNvSpPr>
          <p:nvPr>
            <p:ph type="subTitle"/>
          </p:nvPr>
        </p:nvSpPr>
        <p:spPr>
          <a:xfrm>
            <a:off x="695160" y="278280"/>
            <a:ext cx="8961840" cy="3744360"/>
          </a:xfrm>
          <a:prstGeom prst="rect">
            <a:avLst/>
          </a:prstGeom>
        </p:spPr>
        <p:txBody>
          <a:bodyPr lIns="0" rIns="0" tIns="0" bIns="0" anchor="ctr">
            <a:noAutofit/>
          </a:bodyPr>
          <a:p>
            <a:pPr algn="ctr"/>
            <a:endParaRPr b="0" lang="en-US"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4"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15" name="PlaceHolder 2"/>
          <p:cNvSpPr>
            <a:spLocks noGrp="1"/>
          </p:cNvSpPr>
          <p:nvPr>
            <p:ph type="body"/>
          </p:nvPr>
        </p:nvSpPr>
        <p:spPr>
          <a:xfrm>
            <a:off x="69516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16" name="PlaceHolder 3"/>
          <p:cNvSpPr>
            <a:spLocks noGrp="1"/>
          </p:cNvSpPr>
          <p:nvPr>
            <p:ph type="body"/>
          </p:nvPr>
        </p:nvSpPr>
        <p:spPr>
          <a:xfrm>
            <a:off x="6228720" y="1376640"/>
            <a:ext cx="5269680" cy="4641840"/>
          </a:xfrm>
          <a:prstGeom prst="rect">
            <a:avLst/>
          </a:prstGeom>
        </p:spPr>
        <p:txBody>
          <a:bodyPr lIns="0" rIns="0" tIns="0" bIns="0">
            <a:normAutofit/>
          </a:bodyPr>
          <a:p>
            <a:endParaRPr b="0" lang="fr-FR" sz="2800" spc="-1" strike="noStrike">
              <a:solidFill>
                <a:srgbClr val="000000"/>
              </a:solidFill>
              <a:latin typeface="Arial"/>
            </a:endParaRPr>
          </a:p>
        </p:txBody>
      </p:sp>
      <p:sp>
        <p:nvSpPr>
          <p:cNvPr id="17" name="PlaceHolder 4"/>
          <p:cNvSpPr>
            <a:spLocks noGrp="1"/>
          </p:cNvSpPr>
          <p:nvPr>
            <p:ph type="body"/>
          </p:nvPr>
        </p:nvSpPr>
        <p:spPr>
          <a:xfrm>
            <a:off x="695160" y="38012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8"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19" name="PlaceHolder 2"/>
          <p:cNvSpPr>
            <a:spLocks noGrp="1"/>
          </p:cNvSpPr>
          <p:nvPr>
            <p:ph type="body"/>
          </p:nvPr>
        </p:nvSpPr>
        <p:spPr>
          <a:xfrm>
            <a:off x="695160" y="1376640"/>
            <a:ext cx="5269680" cy="4641840"/>
          </a:xfrm>
          <a:prstGeom prst="rect">
            <a:avLst/>
          </a:prstGeom>
        </p:spPr>
        <p:txBody>
          <a:bodyPr lIns="0" rIns="0" tIns="0" bIns="0">
            <a:normAutofit/>
          </a:bodyPr>
          <a:p>
            <a:endParaRPr b="0" lang="fr-FR" sz="2800" spc="-1" strike="noStrike">
              <a:solidFill>
                <a:srgbClr val="000000"/>
              </a:solidFill>
              <a:latin typeface="Arial"/>
            </a:endParaRPr>
          </a:p>
        </p:txBody>
      </p:sp>
      <p:sp>
        <p:nvSpPr>
          <p:cNvPr id="20" name="PlaceHolder 3"/>
          <p:cNvSpPr>
            <a:spLocks noGrp="1"/>
          </p:cNvSpPr>
          <p:nvPr>
            <p:ph type="body"/>
          </p:nvPr>
        </p:nvSpPr>
        <p:spPr>
          <a:xfrm>
            <a:off x="622872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21" name="PlaceHolder 4"/>
          <p:cNvSpPr>
            <a:spLocks noGrp="1"/>
          </p:cNvSpPr>
          <p:nvPr>
            <p:ph type="body"/>
          </p:nvPr>
        </p:nvSpPr>
        <p:spPr>
          <a:xfrm>
            <a:off x="6228720" y="38012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23" name="PlaceHolder 2"/>
          <p:cNvSpPr>
            <a:spLocks noGrp="1"/>
          </p:cNvSpPr>
          <p:nvPr>
            <p:ph type="body"/>
          </p:nvPr>
        </p:nvSpPr>
        <p:spPr>
          <a:xfrm>
            <a:off x="69516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24" name="PlaceHolder 3"/>
          <p:cNvSpPr>
            <a:spLocks noGrp="1"/>
          </p:cNvSpPr>
          <p:nvPr>
            <p:ph type="body"/>
          </p:nvPr>
        </p:nvSpPr>
        <p:spPr>
          <a:xfrm>
            <a:off x="622872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25" name="PlaceHolder 4"/>
          <p:cNvSpPr>
            <a:spLocks noGrp="1"/>
          </p:cNvSpPr>
          <p:nvPr>
            <p:ph type="body"/>
          </p:nvPr>
        </p:nvSpPr>
        <p:spPr>
          <a:xfrm>
            <a:off x="695160" y="3801240"/>
            <a:ext cx="1079856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27" name="PlaceHolder 2"/>
          <p:cNvSpPr>
            <a:spLocks noGrp="1"/>
          </p:cNvSpPr>
          <p:nvPr>
            <p:ph type="body"/>
          </p:nvPr>
        </p:nvSpPr>
        <p:spPr>
          <a:xfrm>
            <a:off x="695160" y="1376640"/>
            <a:ext cx="1079856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28" name="PlaceHolder 3"/>
          <p:cNvSpPr>
            <a:spLocks noGrp="1"/>
          </p:cNvSpPr>
          <p:nvPr>
            <p:ph type="body"/>
          </p:nvPr>
        </p:nvSpPr>
        <p:spPr>
          <a:xfrm>
            <a:off x="695160" y="3801240"/>
            <a:ext cx="1079856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30" name="PlaceHolder 2"/>
          <p:cNvSpPr>
            <a:spLocks noGrp="1"/>
          </p:cNvSpPr>
          <p:nvPr>
            <p:ph type="body"/>
          </p:nvPr>
        </p:nvSpPr>
        <p:spPr>
          <a:xfrm>
            <a:off x="69516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31" name="PlaceHolder 3"/>
          <p:cNvSpPr>
            <a:spLocks noGrp="1"/>
          </p:cNvSpPr>
          <p:nvPr>
            <p:ph type="body"/>
          </p:nvPr>
        </p:nvSpPr>
        <p:spPr>
          <a:xfrm>
            <a:off x="622872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32" name="PlaceHolder 4"/>
          <p:cNvSpPr>
            <a:spLocks noGrp="1"/>
          </p:cNvSpPr>
          <p:nvPr>
            <p:ph type="body"/>
          </p:nvPr>
        </p:nvSpPr>
        <p:spPr>
          <a:xfrm>
            <a:off x="695160" y="38012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33" name="PlaceHolder 5"/>
          <p:cNvSpPr>
            <a:spLocks noGrp="1"/>
          </p:cNvSpPr>
          <p:nvPr>
            <p:ph type="body"/>
          </p:nvPr>
        </p:nvSpPr>
        <p:spPr>
          <a:xfrm>
            <a:off x="6228720" y="38012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4"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35" name="PlaceHolder 2"/>
          <p:cNvSpPr>
            <a:spLocks noGrp="1"/>
          </p:cNvSpPr>
          <p:nvPr>
            <p:ph type="body"/>
          </p:nvPr>
        </p:nvSpPr>
        <p:spPr>
          <a:xfrm>
            <a:off x="695160" y="13766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36" name="PlaceHolder 3"/>
          <p:cNvSpPr>
            <a:spLocks noGrp="1"/>
          </p:cNvSpPr>
          <p:nvPr>
            <p:ph type="body"/>
          </p:nvPr>
        </p:nvSpPr>
        <p:spPr>
          <a:xfrm>
            <a:off x="4346280" y="13766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37" name="PlaceHolder 4"/>
          <p:cNvSpPr>
            <a:spLocks noGrp="1"/>
          </p:cNvSpPr>
          <p:nvPr>
            <p:ph type="body"/>
          </p:nvPr>
        </p:nvSpPr>
        <p:spPr>
          <a:xfrm>
            <a:off x="7997400" y="13766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38" name="PlaceHolder 5"/>
          <p:cNvSpPr>
            <a:spLocks noGrp="1"/>
          </p:cNvSpPr>
          <p:nvPr>
            <p:ph type="body"/>
          </p:nvPr>
        </p:nvSpPr>
        <p:spPr>
          <a:xfrm>
            <a:off x="695160" y="38012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39" name="PlaceHolder 6"/>
          <p:cNvSpPr>
            <a:spLocks noGrp="1"/>
          </p:cNvSpPr>
          <p:nvPr>
            <p:ph type="body"/>
          </p:nvPr>
        </p:nvSpPr>
        <p:spPr>
          <a:xfrm>
            <a:off x="4346280" y="38012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40" name="PlaceHolder 7"/>
          <p:cNvSpPr>
            <a:spLocks noGrp="1"/>
          </p:cNvSpPr>
          <p:nvPr>
            <p:ph type="body"/>
          </p:nvPr>
        </p:nvSpPr>
        <p:spPr>
          <a:xfrm>
            <a:off x="7997400" y="38012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47"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48" name="PlaceHolder 2"/>
          <p:cNvSpPr>
            <a:spLocks noGrp="1"/>
          </p:cNvSpPr>
          <p:nvPr>
            <p:ph type="subTitle"/>
          </p:nvPr>
        </p:nvSpPr>
        <p:spPr>
          <a:xfrm>
            <a:off x="695160" y="1376640"/>
            <a:ext cx="10798560" cy="4641840"/>
          </a:xfrm>
          <a:prstGeom prst="rect">
            <a:avLst/>
          </a:prstGeom>
        </p:spPr>
        <p:txBody>
          <a:bodyPr lIns="0" rIns="0" tIns="0" bIns="0" anchor="ctr">
            <a:noAutofit/>
          </a:bodyPr>
          <a:p>
            <a:pPr algn="ctr"/>
            <a:endParaRPr b="0" lang="en-US" sz="3200" spc="-1" strike="noStrike">
              <a:latin typeface="Arial"/>
            </a:endParaRP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9"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50" name="PlaceHolder 2"/>
          <p:cNvSpPr>
            <a:spLocks noGrp="1"/>
          </p:cNvSpPr>
          <p:nvPr>
            <p:ph type="body"/>
          </p:nvPr>
        </p:nvSpPr>
        <p:spPr>
          <a:xfrm>
            <a:off x="695160" y="1376640"/>
            <a:ext cx="10798560" cy="464184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51"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52" name="PlaceHolder 2"/>
          <p:cNvSpPr>
            <a:spLocks noGrp="1"/>
          </p:cNvSpPr>
          <p:nvPr>
            <p:ph type="body"/>
          </p:nvPr>
        </p:nvSpPr>
        <p:spPr>
          <a:xfrm>
            <a:off x="695160" y="1376640"/>
            <a:ext cx="5269680" cy="4641840"/>
          </a:xfrm>
          <a:prstGeom prst="rect">
            <a:avLst/>
          </a:prstGeom>
        </p:spPr>
        <p:txBody>
          <a:bodyPr lIns="0" rIns="0" tIns="0" bIns="0">
            <a:normAutofit/>
          </a:bodyPr>
          <a:p>
            <a:endParaRPr b="0" lang="fr-FR" sz="2800" spc="-1" strike="noStrike">
              <a:solidFill>
                <a:srgbClr val="000000"/>
              </a:solidFill>
              <a:latin typeface="Arial"/>
            </a:endParaRPr>
          </a:p>
        </p:txBody>
      </p:sp>
      <p:sp>
        <p:nvSpPr>
          <p:cNvPr id="53" name="PlaceHolder 3"/>
          <p:cNvSpPr>
            <a:spLocks noGrp="1"/>
          </p:cNvSpPr>
          <p:nvPr>
            <p:ph type="body"/>
          </p:nvPr>
        </p:nvSpPr>
        <p:spPr>
          <a:xfrm>
            <a:off x="6228720" y="1376640"/>
            <a:ext cx="5269680" cy="464184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4"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55" name="PlaceHolder 1"/>
          <p:cNvSpPr>
            <a:spLocks noGrp="1"/>
          </p:cNvSpPr>
          <p:nvPr>
            <p:ph type="subTitle"/>
          </p:nvPr>
        </p:nvSpPr>
        <p:spPr>
          <a:xfrm>
            <a:off x="695160" y="278280"/>
            <a:ext cx="8961840" cy="3744360"/>
          </a:xfrm>
          <a:prstGeom prst="rect">
            <a:avLst/>
          </a:prstGeom>
        </p:spPr>
        <p:txBody>
          <a:bodyPr lIns="0" rIns="0" tIns="0" bIns="0" anchor="ctr">
            <a:noAutofit/>
          </a:bodyPr>
          <a:p>
            <a:pPr algn="ctr"/>
            <a:endParaRPr b="0" lang="en-US" sz="3200" spc="-1" strike="noStrike">
              <a:latin typeface="Arial"/>
            </a:endParaRP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56"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57" name="PlaceHolder 2"/>
          <p:cNvSpPr>
            <a:spLocks noGrp="1"/>
          </p:cNvSpPr>
          <p:nvPr>
            <p:ph type="body"/>
          </p:nvPr>
        </p:nvSpPr>
        <p:spPr>
          <a:xfrm>
            <a:off x="69516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58" name="PlaceHolder 3"/>
          <p:cNvSpPr>
            <a:spLocks noGrp="1"/>
          </p:cNvSpPr>
          <p:nvPr>
            <p:ph type="body"/>
          </p:nvPr>
        </p:nvSpPr>
        <p:spPr>
          <a:xfrm>
            <a:off x="6228720" y="1376640"/>
            <a:ext cx="5269680" cy="4641840"/>
          </a:xfrm>
          <a:prstGeom prst="rect">
            <a:avLst/>
          </a:prstGeom>
        </p:spPr>
        <p:txBody>
          <a:bodyPr lIns="0" rIns="0" tIns="0" bIns="0">
            <a:normAutofit/>
          </a:bodyPr>
          <a:p>
            <a:endParaRPr b="0" lang="fr-FR" sz="2800" spc="-1" strike="noStrike">
              <a:solidFill>
                <a:srgbClr val="000000"/>
              </a:solidFill>
              <a:latin typeface="Arial"/>
            </a:endParaRPr>
          </a:p>
        </p:txBody>
      </p:sp>
      <p:sp>
        <p:nvSpPr>
          <p:cNvPr id="59" name="PlaceHolder 4"/>
          <p:cNvSpPr>
            <a:spLocks noGrp="1"/>
          </p:cNvSpPr>
          <p:nvPr>
            <p:ph type="body"/>
          </p:nvPr>
        </p:nvSpPr>
        <p:spPr>
          <a:xfrm>
            <a:off x="695160" y="38012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60"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61" name="PlaceHolder 2"/>
          <p:cNvSpPr>
            <a:spLocks noGrp="1"/>
          </p:cNvSpPr>
          <p:nvPr>
            <p:ph type="body"/>
          </p:nvPr>
        </p:nvSpPr>
        <p:spPr>
          <a:xfrm>
            <a:off x="695160" y="1376640"/>
            <a:ext cx="5269680" cy="4641840"/>
          </a:xfrm>
          <a:prstGeom prst="rect">
            <a:avLst/>
          </a:prstGeom>
        </p:spPr>
        <p:txBody>
          <a:bodyPr lIns="0" rIns="0" tIns="0" bIns="0">
            <a:normAutofit/>
          </a:bodyPr>
          <a:p>
            <a:endParaRPr b="0" lang="fr-FR" sz="2800" spc="-1" strike="noStrike">
              <a:solidFill>
                <a:srgbClr val="000000"/>
              </a:solidFill>
              <a:latin typeface="Arial"/>
            </a:endParaRPr>
          </a:p>
        </p:txBody>
      </p:sp>
      <p:sp>
        <p:nvSpPr>
          <p:cNvPr id="62" name="PlaceHolder 3"/>
          <p:cNvSpPr>
            <a:spLocks noGrp="1"/>
          </p:cNvSpPr>
          <p:nvPr>
            <p:ph type="body"/>
          </p:nvPr>
        </p:nvSpPr>
        <p:spPr>
          <a:xfrm>
            <a:off x="622872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63" name="PlaceHolder 4"/>
          <p:cNvSpPr>
            <a:spLocks noGrp="1"/>
          </p:cNvSpPr>
          <p:nvPr>
            <p:ph type="body"/>
          </p:nvPr>
        </p:nvSpPr>
        <p:spPr>
          <a:xfrm>
            <a:off x="6228720" y="38012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64"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65" name="PlaceHolder 2"/>
          <p:cNvSpPr>
            <a:spLocks noGrp="1"/>
          </p:cNvSpPr>
          <p:nvPr>
            <p:ph type="body"/>
          </p:nvPr>
        </p:nvSpPr>
        <p:spPr>
          <a:xfrm>
            <a:off x="69516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66" name="PlaceHolder 3"/>
          <p:cNvSpPr>
            <a:spLocks noGrp="1"/>
          </p:cNvSpPr>
          <p:nvPr>
            <p:ph type="body"/>
          </p:nvPr>
        </p:nvSpPr>
        <p:spPr>
          <a:xfrm>
            <a:off x="622872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67" name="PlaceHolder 4"/>
          <p:cNvSpPr>
            <a:spLocks noGrp="1"/>
          </p:cNvSpPr>
          <p:nvPr>
            <p:ph type="body"/>
          </p:nvPr>
        </p:nvSpPr>
        <p:spPr>
          <a:xfrm>
            <a:off x="695160" y="3801240"/>
            <a:ext cx="1079856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68"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69" name="PlaceHolder 2"/>
          <p:cNvSpPr>
            <a:spLocks noGrp="1"/>
          </p:cNvSpPr>
          <p:nvPr>
            <p:ph type="body"/>
          </p:nvPr>
        </p:nvSpPr>
        <p:spPr>
          <a:xfrm>
            <a:off x="695160" y="1376640"/>
            <a:ext cx="1079856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70" name="PlaceHolder 3"/>
          <p:cNvSpPr>
            <a:spLocks noGrp="1"/>
          </p:cNvSpPr>
          <p:nvPr>
            <p:ph type="body"/>
          </p:nvPr>
        </p:nvSpPr>
        <p:spPr>
          <a:xfrm>
            <a:off x="695160" y="3801240"/>
            <a:ext cx="1079856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71"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72" name="PlaceHolder 2"/>
          <p:cNvSpPr>
            <a:spLocks noGrp="1"/>
          </p:cNvSpPr>
          <p:nvPr>
            <p:ph type="body"/>
          </p:nvPr>
        </p:nvSpPr>
        <p:spPr>
          <a:xfrm>
            <a:off x="69516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73" name="PlaceHolder 3"/>
          <p:cNvSpPr>
            <a:spLocks noGrp="1"/>
          </p:cNvSpPr>
          <p:nvPr>
            <p:ph type="body"/>
          </p:nvPr>
        </p:nvSpPr>
        <p:spPr>
          <a:xfrm>
            <a:off x="622872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74" name="PlaceHolder 4"/>
          <p:cNvSpPr>
            <a:spLocks noGrp="1"/>
          </p:cNvSpPr>
          <p:nvPr>
            <p:ph type="body"/>
          </p:nvPr>
        </p:nvSpPr>
        <p:spPr>
          <a:xfrm>
            <a:off x="695160" y="38012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75" name="PlaceHolder 5"/>
          <p:cNvSpPr>
            <a:spLocks noGrp="1"/>
          </p:cNvSpPr>
          <p:nvPr>
            <p:ph type="body"/>
          </p:nvPr>
        </p:nvSpPr>
        <p:spPr>
          <a:xfrm>
            <a:off x="6228720" y="38012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76"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77" name="PlaceHolder 2"/>
          <p:cNvSpPr>
            <a:spLocks noGrp="1"/>
          </p:cNvSpPr>
          <p:nvPr>
            <p:ph type="body"/>
          </p:nvPr>
        </p:nvSpPr>
        <p:spPr>
          <a:xfrm>
            <a:off x="695160" y="13766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78" name="PlaceHolder 3"/>
          <p:cNvSpPr>
            <a:spLocks noGrp="1"/>
          </p:cNvSpPr>
          <p:nvPr>
            <p:ph type="body"/>
          </p:nvPr>
        </p:nvSpPr>
        <p:spPr>
          <a:xfrm>
            <a:off x="4346280" y="13766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79" name="PlaceHolder 4"/>
          <p:cNvSpPr>
            <a:spLocks noGrp="1"/>
          </p:cNvSpPr>
          <p:nvPr>
            <p:ph type="body"/>
          </p:nvPr>
        </p:nvSpPr>
        <p:spPr>
          <a:xfrm>
            <a:off x="7997400" y="13766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80" name="PlaceHolder 5"/>
          <p:cNvSpPr>
            <a:spLocks noGrp="1"/>
          </p:cNvSpPr>
          <p:nvPr>
            <p:ph type="body"/>
          </p:nvPr>
        </p:nvSpPr>
        <p:spPr>
          <a:xfrm>
            <a:off x="695160" y="38012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81" name="PlaceHolder 6"/>
          <p:cNvSpPr>
            <a:spLocks noGrp="1"/>
          </p:cNvSpPr>
          <p:nvPr>
            <p:ph type="body"/>
          </p:nvPr>
        </p:nvSpPr>
        <p:spPr>
          <a:xfrm>
            <a:off x="4346280" y="38012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82" name="PlaceHolder 7"/>
          <p:cNvSpPr>
            <a:spLocks noGrp="1"/>
          </p:cNvSpPr>
          <p:nvPr>
            <p:ph type="body"/>
          </p:nvPr>
        </p:nvSpPr>
        <p:spPr>
          <a:xfrm>
            <a:off x="7997400" y="38012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image" Target="../media/image1.wmf"/><Relationship Id="rId3" Type="http://schemas.openxmlformats.org/officeDocument/2006/relationships/image" Target="../media/image2.png"/><Relationship Id="rId4" Type="http://schemas.openxmlformats.org/officeDocument/2006/relationships/image" Target="../media/image3.wmf"/><Relationship Id="rId5" Type="http://schemas.openxmlformats.org/officeDocument/2006/relationships/slideLayout" Target="../slideLayouts/slideLayout1.xml"/><Relationship Id="rId6" Type="http://schemas.openxmlformats.org/officeDocument/2006/relationships/slideLayout" Target="../slideLayouts/slideLayout2.xml"/><Relationship Id="rId7" Type="http://schemas.openxmlformats.org/officeDocument/2006/relationships/slideLayout" Target="../slideLayouts/slideLayout3.xml"/><Relationship Id="rId8" Type="http://schemas.openxmlformats.org/officeDocument/2006/relationships/slideLayout" Target="../slideLayouts/slideLayout4.xml"/><Relationship Id="rId9" Type="http://schemas.openxmlformats.org/officeDocument/2006/relationships/slideLayout" Target="../slideLayouts/slideLayout5.xml"/><Relationship Id="rId10" Type="http://schemas.openxmlformats.org/officeDocument/2006/relationships/slideLayout" Target="../slideLayouts/slideLayout6.xml"/><Relationship Id="rId11" Type="http://schemas.openxmlformats.org/officeDocument/2006/relationships/slideLayout" Target="../slideLayouts/slideLayout7.xml"/><Relationship Id="rId12" Type="http://schemas.openxmlformats.org/officeDocument/2006/relationships/slideLayout" Target="../slideLayouts/slideLayout8.xml"/><Relationship Id="rId13" Type="http://schemas.openxmlformats.org/officeDocument/2006/relationships/slideLayout" Target="../slideLayouts/slideLayout9.xml"/><Relationship Id="rId14" Type="http://schemas.openxmlformats.org/officeDocument/2006/relationships/slideLayout" Target="../slideLayouts/slideLayout10.xml"/><Relationship Id="rId15" Type="http://schemas.openxmlformats.org/officeDocument/2006/relationships/slideLayout" Target="../slideLayouts/slideLayout11.xml"/><Relationship Id="rId16" Type="http://schemas.openxmlformats.org/officeDocument/2006/relationships/slideLayout" Target="../slideLayouts/slideLayout12.xml"/></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4.wmf"/><Relationship Id="rId3" Type="http://schemas.openxmlformats.org/officeDocument/2006/relationships/slideLayout" Target="../slideLayouts/slideLayout13.xml"/><Relationship Id="rId4" Type="http://schemas.openxmlformats.org/officeDocument/2006/relationships/slideLayout" Target="../slideLayouts/slideLayout14.xml"/><Relationship Id="rId5" Type="http://schemas.openxmlformats.org/officeDocument/2006/relationships/slideLayout" Target="../slideLayouts/slideLayout15.xml"/><Relationship Id="rId6" Type="http://schemas.openxmlformats.org/officeDocument/2006/relationships/slideLayout" Target="../slideLayouts/slideLayout16.xml"/><Relationship Id="rId7" Type="http://schemas.openxmlformats.org/officeDocument/2006/relationships/slideLayout" Target="../slideLayouts/slideLayout17.xml"/><Relationship Id="rId8" Type="http://schemas.openxmlformats.org/officeDocument/2006/relationships/slideLayout" Target="../slideLayouts/slideLayout18.xml"/><Relationship Id="rId9" Type="http://schemas.openxmlformats.org/officeDocument/2006/relationships/slideLayout" Target="../slideLayouts/slideLayout19.xml"/><Relationship Id="rId10" Type="http://schemas.openxmlformats.org/officeDocument/2006/relationships/slideLayout" Target="../slideLayouts/slideLayout20.xml"/><Relationship Id="rId11" Type="http://schemas.openxmlformats.org/officeDocument/2006/relationships/slideLayout" Target="../slideLayouts/slideLayout21.xml"/><Relationship Id="rId12" Type="http://schemas.openxmlformats.org/officeDocument/2006/relationships/slideLayout" Target="../slideLayouts/slideLayout22.xml"/><Relationship Id="rId13" Type="http://schemas.openxmlformats.org/officeDocument/2006/relationships/slideLayout" Target="../slideLayouts/slideLayout23.xml"/><Relationship Id="rId14" Type="http://schemas.openxmlformats.org/officeDocument/2006/relationships/slideLayout" Target="../slideLayouts/slideLayout24.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0" name="Grafik 19" descr=""/>
          <p:cNvPicPr/>
          <p:nvPr/>
        </p:nvPicPr>
        <p:blipFill>
          <a:blip r:embed="rId2"/>
          <a:stretch/>
        </p:blipFill>
        <p:spPr>
          <a:xfrm>
            <a:off x="10614960" y="305280"/>
            <a:ext cx="878760" cy="360000"/>
          </a:xfrm>
          <a:prstGeom prst="rect">
            <a:avLst/>
          </a:prstGeom>
          <a:ln>
            <a:noFill/>
          </a:ln>
        </p:spPr>
      </p:pic>
      <p:pic>
        <p:nvPicPr>
          <p:cNvPr id="1" name="Grafik 6" descr=""/>
          <p:cNvPicPr/>
          <p:nvPr/>
        </p:nvPicPr>
        <p:blipFill>
          <a:blip r:embed="rId3"/>
          <a:stretch/>
        </p:blipFill>
        <p:spPr>
          <a:xfrm>
            <a:off x="1440" y="1800"/>
            <a:ext cx="12187800" cy="6852960"/>
          </a:xfrm>
          <a:prstGeom prst="rect">
            <a:avLst/>
          </a:prstGeom>
          <a:ln>
            <a:noFill/>
          </a:ln>
        </p:spPr>
      </p:pic>
      <p:pic>
        <p:nvPicPr>
          <p:cNvPr id="2" name="Grafik 12" descr=""/>
          <p:cNvPicPr/>
          <p:nvPr/>
        </p:nvPicPr>
        <p:blipFill>
          <a:blip r:embed="rId4"/>
          <a:stretch/>
        </p:blipFill>
        <p:spPr>
          <a:xfrm>
            <a:off x="631080" y="358560"/>
            <a:ext cx="1770840" cy="727200"/>
          </a:xfrm>
          <a:prstGeom prst="rect">
            <a:avLst/>
          </a:prstGeom>
          <a:ln>
            <a:noFill/>
          </a:ln>
        </p:spPr>
      </p:pic>
      <p:sp>
        <p:nvSpPr>
          <p:cNvPr id="3" name="PlaceHolder 1"/>
          <p:cNvSpPr>
            <a:spLocks noGrp="1"/>
          </p:cNvSpPr>
          <p:nvPr>
            <p:ph type="title"/>
          </p:nvPr>
        </p:nvSpPr>
        <p:spPr>
          <a:xfrm>
            <a:off x="695160" y="278280"/>
            <a:ext cx="8961840" cy="807480"/>
          </a:xfrm>
          <a:prstGeom prst="rect">
            <a:avLst/>
          </a:prstGeom>
        </p:spPr>
        <p:txBody>
          <a:bodyPr lIns="0" rIns="0" tIns="0" bIns="0" anchor="ctr">
            <a:noAutofit/>
          </a:bodyPr>
          <a:p>
            <a:r>
              <a:rPr b="0" lang="fr-FR" sz="4400" spc="-1" strike="noStrike">
                <a:solidFill>
                  <a:srgbClr val="000000"/>
                </a:solidFill>
                <a:latin typeface="Arial"/>
              </a:rPr>
              <a:t>Cli</a:t>
            </a:r>
            <a:r>
              <a:rPr b="0" lang="fr-FR" sz="4400" spc="-1" strike="noStrike">
                <a:solidFill>
                  <a:srgbClr val="000000"/>
                </a:solidFill>
                <a:latin typeface="Arial"/>
              </a:rPr>
              <a:t>ck </a:t>
            </a:r>
            <a:r>
              <a:rPr b="0" lang="fr-FR" sz="4400" spc="-1" strike="noStrike">
                <a:solidFill>
                  <a:srgbClr val="000000"/>
                </a:solidFill>
                <a:latin typeface="Arial"/>
              </a:rPr>
              <a:t>to </a:t>
            </a:r>
            <a:r>
              <a:rPr b="0" lang="fr-FR" sz="4400" spc="-1" strike="noStrike">
                <a:solidFill>
                  <a:srgbClr val="000000"/>
                </a:solidFill>
                <a:latin typeface="Arial"/>
              </a:rPr>
              <a:t>ed</a:t>
            </a:r>
            <a:r>
              <a:rPr b="0" lang="fr-FR" sz="4400" spc="-1" strike="noStrike">
                <a:solidFill>
                  <a:srgbClr val="000000"/>
                </a:solidFill>
                <a:latin typeface="Arial"/>
              </a:rPr>
              <a:t>it </a:t>
            </a:r>
            <a:r>
              <a:rPr b="0" lang="fr-FR" sz="4400" spc="-1" strike="noStrike">
                <a:solidFill>
                  <a:srgbClr val="000000"/>
                </a:solidFill>
                <a:latin typeface="Arial"/>
              </a:rPr>
              <a:t>th</a:t>
            </a:r>
            <a:r>
              <a:rPr b="0" lang="fr-FR" sz="4400" spc="-1" strike="noStrike">
                <a:solidFill>
                  <a:srgbClr val="000000"/>
                </a:solidFill>
                <a:latin typeface="Arial"/>
              </a:rPr>
              <a:t>e </a:t>
            </a:r>
            <a:r>
              <a:rPr b="0" lang="fr-FR" sz="4400" spc="-1" strike="noStrike">
                <a:solidFill>
                  <a:srgbClr val="000000"/>
                </a:solidFill>
                <a:latin typeface="Arial"/>
              </a:rPr>
              <a:t>titl</a:t>
            </a:r>
            <a:r>
              <a:rPr b="0" lang="fr-FR" sz="4400" spc="-1" strike="noStrike">
                <a:solidFill>
                  <a:srgbClr val="000000"/>
                </a:solidFill>
                <a:latin typeface="Arial"/>
              </a:rPr>
              <a:t>e </a:t>
            </a:r>
            <a:r>
              <a:rPr b="0" lang="fr-FR" sz="4400" spc="-1" strike="noStrike">
                <a:solidFill>
                  <a:srgbClr val="000000"/>
                </a:solidFill>
                <a:latin typeface="Arial"/>
              </a:rPr>
              <a:t>te</a:t>
            </a:r>
            <a:r>
              <a:rPr b="0" lang="fr-FR" sz="4400" spc="-1" strike="noStrike">
                <a:solidFill>
                  <a:srgbClr val="000000"/>
                </a:solidFill>
                <a:latin typeface="Arial"/>
              </a:rPr>
              <a:t>xt </a:t>
            </a:r>
            <a:r>
              <a:rPr b="0" lang="fr-FR" sz="4400" spc="-1" strike="noStrike">
                <a:solidFill>
                  <a:srgbClr val="000000"/>
                </a:solidFill>
                <a:latin typeface="Arial"/>
              </a:rPr>
              <a:t>for</a:t>
            </a:r>
            <a:r>
              <a:rPr b="0" lang="fr-FR" sz="4400" spc="-1" strike="noStrike">
                <a:solidFill>
                  <a:srgbClr val="000000"/>
                </a:solidFill>
                <a:latin typeface="Arial"/>
              </a:rPr>
              <a:t>m</a:t>
            </a:r>
            <a:r>
              <a:rPr b="0" lang="fr-FR" sz="4400" spc="-1" strike="noStrike">
                <a:solidFill>
                  <a:srgbClr val="000000"/>
                </a:solidFill>
                <a:latin typeface="Arial"/>
              </a:rPr>
              <a:t>at</a:t>
            </a:r>
            <a:endParaRPr b="0" lang="fr-FR" sz="4400" spc="-1" strike="noStrike">
              <a:solidFill>
                <a:srgbClr val="000000"/>
              </a:solidFill>
              <a:latin typeface="Arial"/>
            </a:endParaRPr>
          </a:p>
        </p:txBody>
      </p:sp>
      <p:sp>
        <p:nvSpPr>
          <p:cNvPr id="4" name="PlaceHolder 2"/>
          <p:cNvSpPr>
            <a:spLocks noGrp="1"/>
          </p:cNvSpPr>
          <p:nvPr>
            <p:ph type="body"/>
          </p:nvPr>
        </p:nvSpPr>
        <p:spPr>
          <a:xfrm>
            <a:off x="609480" y="1604520"/>
            <a:ext cx="10972440" cy="3977280"/>
          </a:xfrm>
          <a:prstGeom prst="rect">
            <a:avLst/>
          </a:prstGeom>
        </p:spPr>
        <p:txBody>
          <a:bodyPr lIns="0" rIns="0" tIns="0" bIns="0">
            <a:normAutofit/>
          </a:bodyPr>
          <a:p>
            <a:pPr marL="432000" indent="-324000">
              <a:spcBef>
                <a:spcPts val="1417"/>
              </a:spcBef>
              <a:buClr>
                <a:srgbClr val="000000"/>
              </a:buClr>
              <a:buSzPct val="45000"/>
              <a:buFont typeface="Wingdings" charset="2"/>
              <a:buChar char=""/>
            </a:pPr>
            <a:r>
              <a:rPr b="0" lang="fr-FR" sz="2800" spc="-1" strike="noStrike">
                <a:solidFill>
                  <a:srgbClr val="000000"/>
                </a:solidFill>
                <a:latin typeface="Arial"/>
              </a:rPr>
              <a:t>Click to edit the outline text format</a:t>
            </a:r>
            <a:endParaRPr b="0" lang="fr-FR" sz="2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fr-FR" sz="2000" spc="-1" strike="noStrike">
                <a:solidFill>
                  <a:srgbClr val="000000"/>
                </a:solidFill>
                <a:latin typeface="Arial"/>
              </a:rPr>
              <a:t>Second Outline Level</a:t>
            </a:r>
            <a:endParaRPr b="0" lang="fr-FR" sz="20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fr-FR" sz="1800" spc="-1" strike="noStrike">
                <a:solidFill>
                  <a:srgbClr val="000000"/>
                </a:solidFill>
                <a:latin typeface="Arial"/>
              </a:rPr>
              <a:t>Third Outline Level</a:t>
            </a:r>
            <a:endParaRPr b="0" lang="fr-FR"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fr-FR" sz="1800" spc="-1" strike="noStrike">
                <a:solidFill>
                  <a:srgbClr val="000000"/>
                </a:solidFill>
                <a:latin typeface="Arial"/>
              </a:rPr>
              <a:t>Fourth Outline Level</a:t>
            </a:r>
            <a:endParaRPr b="0" lang="fr-FR"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fr-FR" sz="2000" spc="-1" strike="noStrike">
                <a:solidFill>
                  <a:srgbClr val="000000"/>
                </a:solidFill>
                <a:latin typeface="Arial"/>
              </a:rPr>
              <a:t>Fifth Outline Level</a:t>
            </a:r>
            <a:endParaRPr b="0" lang="fr-FR"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fr-FR" sz="2000" spc="-1" strike="noStrike">
                <a:solidFill>
                  <a:srgbClr val="000000"/>
                </a:solidFill>
                <a:latin typeface="Arial"/>
              </a:rPr>
              <a:t>Sixth Outline Level</a:t>
            </a:r>
            <a:endParaRPr b="0" lang="fr-FR"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fr-FR" sz="2000" spc="-1" strike="noStrike">
                <a:solidFill>
                  <a:srgbClr val="000000"/>
                </a:solidFill>
                <a:latin typeface="Arial"/>
              </a:rPr>
              <a:t>Seventh Outline Level</a:t>
            </a:r>
            <a:endParaRPr b="0" lang="fr-FR"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49" r:id="rId5"/>
    <p:sldLayoutId id="2147483650" r:id="rId6"/>
    <p:sldLayoutId id="2147483651" r:id="rId7"/>
    <p:sldLayoutId id="2147483652" r:id="rId8"/>
    <p:sldLayoutId id="2147483653" r:id="rId9"/>
    <p:sldLayoutId id="2147483654" r:id="rId10"/>
    <p:sldLayoutId id="2147483655" r:id="rId11"/>
    <p:sldLayoutId id="2147483656" r:id="rId12"/>
    <p:sldLayoutId id="2147483657" r:id="rId13"/>
    <p:sldLayoutId id="2147483658" r:id="rId14"/>
    <p:sldLayoutId id="2147483659" r:id="rId15"/>
    <p:sldLayoutId id="2147483660" r:id="rId16"/>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41" name="Grafik 19" descr=""/>
          <p:cNvPicPr/>
          <p:nvPr/>
        </p:nvPicPr>
        <p:blipFill>
          <a:blip r:embed="rId2"/>
          <a:stretch/>
        </p:blipFill>
        <p:spPr>
          <a:xfrm>
            <a:off x="10614960" y="305280"/>
            <a:ext cx="878760" cy="360000"/>
          </a:xfrm>
          <a:prstGeom prst="rect">
            <a:avLst/>
          </a:prstGeom>
          <a:ln>
            <a:noFill/>
          </a:ln>
        </p:spPr>
      </p:pic>
      <p:sp>
        <p:nvSpPr>
          <p:cNvPr id="42" name="PlaceHolder 1"/>
          <p:cNvSpPr>
            <a:spLocks noGrp="1"/>
          </p:cNvSpPr>
          <p:nvPr>
            <p:ph type="title"/>
          </p:nvPr>
        </p:nvSpPr>
        <p:spPr>
          <a:xfrm>
            <a:off x="695160" y="278280"/>
            <a:ext cx="8961840" cy="807480"/>
          </a:xfrm>
          <a:prstGeom prst="rect">
            <a:avLst/>
          </a:prstGeom>
        </p:spPr>
        <p:txBody>
          <a:bodyPr lIns="0" rIns="0" tIns="0" bIns="0" anchor="ctr">
            <a:noAutofit/>
          </a:bodyPr>
          <a:p>
            <a:r>
              <a:rPr b="0" lang="fr-FR" sz="4400" spc="-1" strike="noStrike">
                <a:solidFill>
                  <a:srgbClr val="000000"/>
                </a:solidFill>
                <a:latin typeface="Arial"/>
              </a:rPr>
              <a:t>Click to edit the title text format</a:t>
            </a:r>
            <a:endParaRPr b="0" lang="fr-FR" sz="4400" spc="-1" strike="noStrike">
              <a:solidFill>
                <a:srgbClr val="000000"/>
              </a:solidFill>
              <a:latin typeface="Arial"/>
            </a:endParaRPr>
          </a:p>
        </p:txBody>
      </p:sp>
      <p:sp>
        <p:nvSpPr>
          <p:cNvPr id="43" name="PlaceHolder 2"/>
          <p:cNvSpPr>
            <a:spLocks noGrp="1"/>
          </p:cNvSpPr>
          <p:nvPr>
            <p:ph type="body"/>
          </p:nvPr>
        </p:nvSpPr>
        <p:spPr>
          <a:xfrm>
            <a:off x="695160" y="1376640"/>
            <a:ext cx="10798560" cy="4641840"/>
          </a:xfrm>
          <a:prstGeom prst="rect">
            <a:avLst/>
          </a:prstGeom>
        </p:spPr>
        <p:txBody>
          <a:bodyPr lIns="0" rIns="0" tIns="0" bIns="0">
            <a:normAutofit/>
          </a:bodyPr>
          <a:p>
            <a:pPr marL="432000" indent="-324000">
              <a:spcBef>
                <a:spcPts val="1417"/>
              </a:spcBef>
              <a:buClr>
                <a:srgbClr val="000000"/>
              </a:buClr>
              <a:buSzPct val="45000"/>
              <a:buFont typeface="Wingdings" charset="2"/>
              <a:buChar char=""/>
            </a:pPr>
            <a:r>
              <a:rPr b="0" lang="fr-FR" sz="2800" spc="-1" strike="noStrike">
                <a:solidFill>
                  <a:srgbClr val="000000"/>
                </a:solidFill>
                <a:latin typeface="Arial"/>
              </a:rPr>
              <a:t>Click to edit the outline text format</a:t>
            </a:r>
            <a:endParaRPr b="0" lang="fr-FR" sz="2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fr-FR" sz="2800" spc="-1" strike="noStrike">
                <a:solidFill>
                  <a:srgbClr val="000000"/>
                </a:solidFill>
                <a:latin typeface="Arial"/>
              </a:rPr>
              <a:t>Second Outline Level</a:t>
            </a:r>
            <a:endParaRPr b="0" lang="fr-FR"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fr-FR" sz="2800" spc="-1" strike="noStrike">
                <a:solidFill>
                  <a:srgbClr val="000000"/>
                </a:solidFill>
                <a:latin typeface="Arial"/>
              </a:rPr>
              <a:t>Third Outline Level</a:t>
            </a:r>
            <a:endParaRPr b="0" lang="fr-FR" sz="2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fr-FR" sz="2800" spc="-1" strike="noStrike">
                <a:solidFill>
                  <a:srgbClr val="000000"/>
                </a:solidFill>
                <a:latin typeface="Arial"/>
              </a:rPr>
              <a:t>Fourth Outline Level</a:t>
            </a:r>
            <a:endParaRPr b="0" lang="fr-FR" sz="2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fr-FR" sz="2800" spc="-1" strike="noStrike">
                <a:solidFill>
                  <a:srgbClr val="000000"/>
                </a:solidFill>
                <a:latin typeface="Arial"/>
              </a:rPr>
              <a:t>Fifth Outline Level</a:t>
            </a:r>
            <a:endParaRPr b="0" lang="fr-FR" sz="2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fr-FR" sz="2800" spc="-1" strike="noStrike">
                <a:solidFill>
                  <a:srgbClr val="000000"/>
                </a:solidFill>
                <a:latin typeface="Arial"/>
              </a:rPr>
              <a:t>Sixth Outline Level</a:t>
            </a:r>
            <a:endParaRPr b="0" lang="fr-FR" sz="2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fr-FR" sz="2800" spc="-1" strike="noStrike">
                <a:solidFill>
                  <a:srgbClr val="000000"/>
                </a:solidFill>
                <a:latin typeface="Arial"/>
              </a:rPr>
              <a:t>Seventh Outline Level</a:t>
            </a:r>
            <a:endParaRPr b="0" lang="fr-FR" sz="2800" spc="-1" strike="noStrike">
              <a:solidFill>
                <a:srgbClr val="000000"/>
              </a:solidFill>
              <a:latin typeface="Arial"/>
            </a:endParaRPr>
          </a:p>
        </p:txBody>
      </p:sp>
      <p:sp>
        <p:nvSpPr>
          <p:cNvPr id="44" name="PlaceHolder 3"/>
          <p:cNvSpPr>
            <a:spLocks noGrp="1"/>
          </p:cNvSpPr>
          <p:nvPr>
            <p:ph type="ftr"/>
          </p:nvPr>
        </p:nvSpPr>
        <p:spPr>
          <a:xfrm>
            <a:off x="1614600" y="6404400"/>
            <a:ext cx="8042400" cy="141120"/>
          </a:xfrm>
          <a:prstGeom prst="rect">
            <a:avLst/>
          </a:prstGeom>
        </p:spPr>
        <p:txBody>
          <a:bodyPr lIns="0" rIns="0" tIns="0" bIns="0">
            <a:noAutofit/>
          </a:bodyPr>
          <a:p>
            <a:pPr algn="ctr">
              <a:lnSpc>
                <a:spcPct val="100000"/>
              </a:lnSpc>
              <a:tabLst>
                <a:tab algn="l" pos="0"/>
              </a:tabLst>
            </a:pPr>
            <a:r>
              <a:rPr b="0" lang="en-US" sz="1400" spc="-1" strike="noStrike">
                <a:solidFill>
                  <a:srgbClr val="000000"/>
                </a:solidFill>
                <a:latin typeface="Times New Roman"/>
                <a:ea typeface="DejaVu Sans"/>
              </a:rPr>
              <a:t>Footer</a:t>
            </a:r>
            <a:endParaRPr b="0" lang="en-US" sz="1400" spc="-1" strike="noStrike">
              <a:latin typeface="Times New Roman"/>
            </a:endParaRPr>
          </a:p>
        </p:txBody>
      </p:sp>
      <p:sp>
        <p:nvSpPr>
          <p:cNvPr id="45" name="PlaceHolder 4"/>
          <p:cNvSpPr>
            <a:spLocks noGrp="1"/>
          </p:cNvSpPr>
          <p:nvPr>
            <p:ph type="sldNum"/>
          </p:nvPr>
        </p:nvSpPr>
        <p:spPr>
          <a:xfrm>
            <a:off x="695160" y="6404400"/>
            <a:ext cx="700560" cy="141120"/>
          </a:xfrm>
          <a:prstGeom prst="rect">
            <a:avLst/>
          </a:prstGeom>
        </p:spPr>
        <p:txBody>
          <a:bodyPr lIns="0" rIns="0" tIns="0" bIns="0">
            <a:noAutofit/>
          </a:bodyPr>
          <a:p>
            <a:pPr>
              <a:lnSpc>
                <a:spcPct val="100000"/>
              </a:lnSpc>
              <a:tabLst>
                <a:tab algn="l" pos="0"/>
              </a:tabLst>
            </a:pPr>
            <a:fld id="{33759EC6-DB03-48FD-BD56-3BCED0ACEF07}" type="slidenum">
              <a:rPr b="0" lang="en-GB" sz="1000" spc="-1" strike="noStrike">
                <a:solidFill>
                  <a:srgbClr val="000000"/>
                </a:solidFill>
                <a:latin typeface="Aptos"/>
                <a:ea typeface="DejaVu Sans"/>
              </a:rPr>
              <a:t>&lt;number&gt;</a:t>
            </a:fld>
            <a:endParaRPr b="0" lang="en-US" sz="1000" spc="-1" strike="noStrike">
              <a:latin typeface="Times New Roman"/>
            </a:endParaRPr>
          </a:p>
        </p:txBody>
      </p:sp>
      <p:sp>
        <p:nvSpPr>
          <p:cNvPr id="46" name="PlaceHolder 5"/>
          <p:cNvSpPr>
            <a:spLocks noGrp="1"/>
          </p:cNvSpPr>
          <p:nvPr>
            <p:ph type="dt"/>
          </p:nvPr>
        </p:nvSpPr>
        <p:spPr>
          <a:xfrm>
            <a:off x="9875880" y="6404400"/>
            <a:ext cx="1617840" cy="141120"/>
          </a:xfrm>
          <a:prstGeom prst="rect">
            <a:avLst/>
          </a:prstGeom>
        </p:spPr>
        <p:txBody>
          <a:bodyPr lIns="0" rIns="0" tIns="0" bIns="0">
            <a:noAutofit/>
          </a:bodyPr>
          <a:p>
            <a:endParaRPr b="0" lang="en-US" sz="2400" spc="-1" strike="noStrike">
              <a:latin typeface="Times New Roman"/>
            </a:endParaRPr>
          </a:p>
        </p:txBody>
      </p:sp>
    </p:spTree>
  </p:cSld>
  <p:clrMap bg1="lt1" bg2="lt2" tx1="dk1" tx2="dk2" accent1="accent1" accent2="accent2" accent3="accent3" accent4="accent4" accent5="accent5" accent6="accent6" hlink="hlink" folHlink="folHlink"/>
  <p:sldLayoutIdLst>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notesSlide" Target="../notesSlides/notesSlide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notesSlide" Target="../notesSlides/notesSlide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notesSlide" Target="../notesSlides/notesSlide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notesSlide" Target="../notesSlides/notesSlide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notesSlide" Target="../notesSlides/notesSlide1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notesSlide" Target="../notesSlides/notesSlide1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notesSlide" Target="../notesSlides/notesSlide1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9" name="TextShape 1"/>
          <p:cNvSpPr txBox="1"/>
          <p:nvPr/>
        </p:nvSpPr>
        <p:spPr>
          <a:xfrm>
            <a:off x="695520" y="1449720"/>
            <a:ext cx="9817920" cy="2001600"/>
          </a:xfrm>
          <a:prstGeom prst="rect">
            <a:avLst/>
          </a:prstGeom>
          <a:noFill/>
          <a:ln>
            <a:noFill/>
          </a:ln>
        </p:spPr>
        <p:txBody>
          <a:bodyPr lIns="0" rIns="0" tIns="0" bIns="0" anchor="b">
            <a:noAutofit/>
          </a:bodyPr>
          <a:p>
            <a:pPr>
              <a:lnSpc>
                <a:spcPct val="92000"/>
              </a:lnSpc>
              <a:spcBef>
                <a:spcPts val="1191"/>
              </a:spcBef>
              <a:spcAft>
                <a:spcPts val="992"/>
              </a:spcAft>
              <a:tabLst>
                <a:tab algn="l" pos="0"/>
              </a:tabLst>
            </a:pPr>
            <a:r>
              <a:rPr b="1" lang="en-US" sz="5400" spc="-1" strike="noStrike">
                <a:solidFill>
                  <a:srgbClr val="ffffff"/>
                </a:solidFill>
                <a:latin typeface="Aptos"/>
                <a:ea typeface="DejaVu Sans"/>
              </a:rPr>
              <a:t>The CUDA ClusterFinder</a:t>
            </a:r>
            <a:endParaRPr b="0" lang="fr-FR" sz="5400" spc="-1" strike="noStrike">
              <a:solidFill>
                <a:srgbClr val="000000"/>
              </a:solidFill>
              <a:latin typeface="Arial"/>
            </a:endParaRPr>
          </a:p>
        </p:txBody>
      </p:sp>
      <p:sp>
        <p:nvSpPr>
          <p:cNvPr id="90" name="CustomShape 2"/>
          <p:cNvSpPr/>
          <p:nvPr/>
        </p:nvSpPr>
        <p:spPr>
          <a:xfrm>
            <a:off x="692280" y="4856760"/>
            <a:ext cx="5931720" cy="666720"/>
          </a:xfrm>
          <a:prstGeom prst="rect">
            <a:avLst/>
          </a:prstGeom>
          <a:noFill/>
          <a:ln>
            <a:noFill/>
          </a:ln>
        </p:spPr>
        <p:style>
          <a:lnRef idx="0"/>
          <a:fillRef idx="0"/>
          <a:effectRef idx="0"/>
          <a:fontRef idx="minor"/>
        </p:style>
        <p:txBody>
          <a:bodyPr lIns="0" rIns="0" tIns="0" bIns="0" anchor="b">
            <a:noAutofit/>
          </a:bodyPr>
          <a:p>
            <a:pPr algn="just">
              <a:lnSpc>
                <a:spcPct val="100000"/>
              </a:lnSpc>
              <a:spcBef>
                <a:spcPts val="601"/>
              </a:spcBef>
              <a:tabLst>
                <a:tab algn="l" pos="0"/>
              </a:tabLst>
            </a:pPr>
            <a:r>
              <a:rPr b="0" lang="en-GB" sz="3000" spc="-1" strike="noStrike">
                <a:solidFill>
                  <a:srgbClr val="ffffff"/>
                </a:solidFill>
                <a:latin typeface="Aptos"/>
                <a:ea typeface="Calibri"/>
              </a:rPr>
              <a:t>Khalil Daniel Ferjaoui</a:t>
            </a:r>
            <a:endParaRPr b="0" lang="en-US" sz="3000" spc="-1" strike="noStrike">
              <a:latin typeface="Arial"/>
            </a:endParaRPr>
          </a:p>
          <a:p>
            <a:pPr>
              <a:lnSpc>
                <a:spcPct val="100000"/>
              </a:lnSpc>
              <a:spcBef>
                <a:spcPts val="601"/>
              </a:spcBef>
              <a:tabLst>
                <a:tab algn="l" pos="0"/>
              </a:tabLst>
            </a:pPr>
            <a:endParaRPr b="0" lang="en-US" sz="3000" spc="-1" strike="noStrike">
              <a:latin typeface="Arial"/>
            </a:endParaRPr>
          </a:p>
        </p:txBody>
      </p:sp>
      <p:sp>
        <p:nvSpPr>
          <p:cNvPr id="91" name="CustomShape 3"/>
          <p:cNvSpPr/>
          <p:nvPr/>
        </p:nvSpPr>
        <p:spPr>
          <a:xfrm>
            <a:off x="692280" y="6129360"/>
            <a:ext cx="5289840" cy="585720"/>
          </a:xfrm>
          <a:prstGeom prst="rect">
            <a:avLst/>
          </a:prstGeom>
          <a:noFill/>
          <a:ln>
            <a:noFill/>
          </a:ln>
        </p:spPr>
        <p:style>
          <a:lnRef idx="0"/>
          <a:fillRef idx="0"/>
          <a:effectRef idx="0"/>
          <a:fontRef idx="minor"/>
        </p:style>
        <p:txBody>
          <a:bodyPr lIns="0" rIns="0" tIns="0" bIns="0">
            <a:noAutofit/>
          </a:bodyPr>
          <a:p>
            <a:pPr>
              <a:lnSpc>
                <a:spcPct val="100000"/>
              </a:lnSpc>
              <a:spcBef>
                <a:spcPts val="601"/>
              </a:spcBef>
              <a:tabLst>
                <a:tab algn="l" pos="0"/>
              </a:tabLst>
            </a:pPr>
            <a:r>
              <a:rPr b="0" lang="en-US" sz="1600" spc="-1" strike="noStrike">
                <a:solidFill>
                  <a:srgbClr val="ffffff"/>
                </a:solidFill>
                <a:latin typeface="Aptos"/>
                <a:ea typeface="DejaVu Sans"/>
              </a:rPr>
              <a:t>Paul Scherrer Institut · aare</a:t>
            </a:r>
            <a:endParaRPr b="0" lang="en-US" sz="1600" spc="-1" strike="noStrike">
              <a:latin typeface="Arial"/>
            </a:endParaRPr>
          </a:p>
          <a:p>
            <a:pPr>
              <a:lnSpc>
                <a:spcPct val="100000"/>
              </a:lnSpc>
              <a:spcBef>
                <a:spcPts val="601"/>
              </a:spcBef>
              <a:tabLst>
                <a:tab algn="l" pos="0"/>
              </a:tabLst>
            </a:pPr>
            <a:r>
              <a:rPr b="0" lang="en-US" sz="1600" spc="-1" strike="noStrike">
                <a:solidFill>
                  <a:srgbClr val="ffffff"/>
                </a:solidFill>
                <a:latin typeface="Aptos"/>
                <a:ea typeface="DejaVu Sans"/>
              </a:rPr>
              <a:t>August 2026</a:t>
            </a:r>
            <a:endParaRPr b="0" lang="en-US" sz="1600" spc="-1" strike="noStrike">
              <a:latin typeface="Arial"/>
            </a:endParaRPr>
          </a:p>
        </p:txBody>
      </p:sp>
      <p:sp>
        <p:nvSpPr>
          <p:cNvPr id="92" name="CustomShape 4"/>
          <p:cNvSpPr/>
          <p:nvPr/>
        </p:nvSpPr>
        <p:spPr>
          <a:xfrm>
            <a:off x="692280" y="3591720"/>
            <a:ext cx="6840000" cy="638280"/>
          </a:xfrm>
          <a:prstGeom prst="rect">
            <a:avLst/>
          </a:prstGeom>
          <a:noFill/>
          <a:ln>
            <a:noFill/>
          </a:ln>
        </p:spPr>
        <p:style>
          <a:lnRef idx="0"/>
          <a:fillRef idx="0"/>
          <a:effectRef idx="0"/>
          <a:fontRef idx="minor"/>
        </p:style>
        <p:txBody>
          <a:bodyPr lIns="90000" rIns="90000" tIns="45000" bIns="45000">
            <a:spAutoFit/>
          </a:bodyPr>
          <a:p>
            <a:pPr>
              <a:lnSpc>
                <a:spcPct val="100000"/>
              </a:lnSpc>
            </a:pPr>
            <a:r>
              <a:rPr b="0" lang="fr-CH" sz="1800" spc="-1" strike="noStrike">
                <a:solidFill>
                  <a:srgbClr val="f2f2f2"/>
                </a:solidFill>
                <a:latin typeface="Aptos"/>
                <a:ea typeface="DejaVu Sans"/>
              </a:rPr>
              <a:t>Kernel design · hardware limits · seven optimization steps</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777240"/>
            <a:ext cx="10058400" cy="274320"/>
          </a:xfrm>
          <a:prstGeom prst="rect">
            <a:avLst/>
          </a:prstGeom>
          <a:noFill/>
        </p:spPr>
        <p:txBody>
          <a:bodyPr wrap="square" lIns="0" rIns="0" tIns="0" bIns="0" anchor="t">
            <a:spAutoFit/>
          </a:bodyPr>
          <a:lstStyle/>
          <a:p>
            <a:pPr>
              <a:spcBef>
                <a:spcPts val="0"/>
              </a:spcBef>
              <a:spcAft>
                <a:spcPts val="0"/>
              </a:spcAft>
            </a:pPr>
            <a:r>
              <a:rPr sz="950" b="1" i="0" spc="180">
                <a:solidFill>
                  <a:srgbClr val="6B7A90"/>
                </a:solidFill>
                <a:latin typeface="Segoe UI"/>
              </a:rPr>
              <a:t>AARE · HYBRID PIXEL DETECTORS · CUDA CLUSTERFINDER</a:t>
            </a:r>
          </a:p>
        </p:txBody>
      </p:sp>
      <p:sp>
        <p:nvSpPr>
          <p:cNvPr id="5" name="TextBox 4"/>
          <p:cNvSpPr txBox="1"/>
          <p:nvPr/>
        </p:nvSpPr>
        <p:spPr>
          <a:xfrm>
            <a:off x="914400" y="1170432"/>
            <a:ext cx="10424160" cy="1325880"/>
          </a:xfrm>
          <a:prstGeom prst="rect">
            <a:avLst/>
          </a:prstGeom>
          <a:noFill/>
        </p:spPr>
        <p:txBody>
          <a:bodyPr wrap="square" lIns="0" rIns="0" tIns="0" bIns="0" anchor="t">
            <a:spAutoFit/>
          </a:bodyPr>
          <a:lstStyle/>
          <a:p>
            <a:pPr>
              <a:lnSpc>
                <a:spcPct val="102000"/>
              </a:lnSpc>
              <a:spcBef>
                <a:spcPts val="0"/>
              </a:spcBef>
              <a:spcAft>
                <a:spcPts val="0"/>
              </a:spcAft>
            </a:pPr>
            <a:r>
              <a:rPr sz="4200" b="1" i="0">
                <a:solidFill>
                  <a:srgbClr val="E7EDF4"/>
                </a:solidFill>
                <a:latin typeface="Segoe UI"/>
              </a:rPr>
              <a:t>The kernel was never the bottleneck — feeding it was</a:t>
            </a:r>
          </a:p>
        </p:txBody>
      </p:sp>
      <p:sp>
        <p:nvSpPr>
          <p:cNvPr id="6" name="TextBox 5"/>
          <p:cNvSpPr txBox="1"/>
          <p:nvPr/>
        </p:nvSpPr>
        <p:spPr>
          <a:xfrm>
            <a:off x="914400" y="2560320"/>
            <a:ext cx="10424160" cy="411480"/>
          </a:xfrm>
          <a:prstGeom prst="rect">
            <a:avLst/>
          </a:prstGeom>
          <a:noFill/>
        </p:spPr>
        <p:txBody>
          <a:bodyPr wrap="square" lIns="0" rIns="0" tIns="0" bIns="0" anchor="t">
            <a:spAutoFit/>
          </a:bodyPr>
          <a:lstStyle/>
          <a:p>
            <a:pPr>
              <a:lnSpc>
                <a:spcPct val="105000"/>
              </a:lnSpc>
              <a:spcBef>
                <a:spcPts val="0"/>
              </a:spcBef>
              <a:spcAft>
                <a:spcPts val="0"/>
              </a:spcAft>
            </a:pPr>
            <a:r>
              <a:rPr sz="2200" b="0" i="0">
                <a:solidFill>
                  <a:srgbClr val="1E90C2"/>
                </a:solidFill>
                <a:latin typeface="Segoe UI"/>
              </a:rPr>
              <a:t>One kernel, one thread per pixel, and seven steps to keep it fed</a:t>
            </a:r>
          </a:p>
        </p:txBody>
      </p:sp>
      <p:sp>
        <p:nvSpPr>
          <p:cNvPr id="7" name="TextBox 6"/>
          <p:cNvSpPr txBox="1"/>
          <p:nvPr/>
        </p:nvSpPr>
        <p:spPr>
          <a:xfrm>
            <a:off x="914400" y="3108960"/>
            <a:ext cx="10424160" cy="822960"/>
          </a:xfrm>
          <a:prstGeom prst="rect">
            <a:avLst/>
          </a:prstGeom>
          <a:noFill/>
        </p:spPr>
        <p:txBody>
          <a:bodyPr wrap="square" lIns="0" rIns="0" tIns="0" bIns="0" anchor="t">
            <a:spAutoFit/>
          </a:bodyPr>
          <a:lstStyle/>
          <a:p>
            <a:pPr>
              <a:lnSpc>
                <a:spcPct val="130000"/>
              </a:lnSpc>
              <a:spcBef>
                <a:spcPts val="0"/>
              </a:spcBef>
              <a:spcAft>
                <a:spcPts val="0"/>
              </a:spcAft>
            </a:pPr>
            <a:r>
              <a:rPr sz="1250" b="0" i="0">
                <a:solidFill>
                  <a:srgbClr val="A5B2C4"/>
                </a:solidFill>
                <a:latin typeface="Segoe UI"/>
              </a:rPr>
              <a:t>The stencil was fast almost immediately: at 3×3 the kernel needs 5.5 µs per frame while getting that frame across PCIe costs 16.6 — 13.2 even uncontended. The frame is gated by the wire, not the arithmetic. Six of the seven steps get data in, get results back, and measure honestly.</a:t>
            </a:r>
          </a:p>
        </p:txBody>
      </p:sp>
      <p:sp>
        <p:nvSpPr>
          <p:cNvPr id="8" name="TextBox 7"/>
          <p:cNvSpPr txBox="1"/>
          <p:nvPr/>
        </p:nvSpPr>
        <p:spPr>
          <a:xfrm>
            <a:off x="914400" y="4023360"/>
            <a:ext cx="10424160" cy="237744"/>
          </a:xfrm>
          <a:prstGeom prst="rect">
            <a:avLst/>
          </a:prstGeom>
          <a:noFill/>
        </p:spPr>
        <p:txBody>
          <a:bodyPr wrap="square" lIns="0" rIns="0" tIns="0" bIns="0" anchor="t">
            <a:spAutoFit/>
          </a:bodyPr>
          <a:lstStyle/>
          <a:p>
            <a:pPr>
              <a:spcBef>
                <a:spcPts val="0"/>
              </a:spcBef>
              <a:spcAft>
                <a:spcPts val="0"/>
              </a:spcAft>
            </a:pPr>
            <a:r>
              <a:rPr sz="900" b="1" i="0" spc="140">
                <a:solidFill>
                  <a:srgbClr val="E8B25C"/>
                </a:solidFill>
                <a:latin typeface="Segoe UI"/>
              </a:rPr>
              <a:t>WHERE THIS ENDS UP — THE SHIPPED f32 BUILD AFTER ALL SEVEN STEPS · ENGINE TIMES [f32 · s4] · RECONCILED IN A1</a:t>
            </a:r>
          </a:p>
        </p:txBody>
      </p:sp>
      <p:sp>
        <p:nvSpPr>
          <p:cNvPr id="9" name="Rectangle 8"/>
          <p:cNvSpPr/>
          <p:nvPr/>
        </p:nvSpPr>
        <p:spPr>
          <a:xfrm>
            <a:off x="914400" y="4370832"/>
            <a:ext cx="32004" cy="86868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15568" y="4370832"/>
            <a:ext cx="2286000" cy="502920"/>
          </a:xfrm>
          <a:prstGeom prst="rect">
            <a:avLst/>
          </a:prstGeom>
          <a:noFill/>
        </p:spPr>
        <p:txBody>
          <a:bodyPr wrap="square" lIns="0" rIns="0" tIns="0" bIns="0" anchor="t">
            <a:spAutoFit/>
          </a:bodyPr>
          <a:lstStyle/>
          <a:p>
            <a:pPr>
              <a:spcBef>
                <a:spcPts val="0"/>
              </a:spcBef>
              <a:spcAft>
                <a:spcPts val="0"/>
              </a:spcAft>
            </a:pPr>
            <a:r>
              <a:rPr sz="3000" b="1" i="0">
                <a:solidFill>
                  <a:srgbClr val="1E90C2"/>
                </a:solidFill>
                <a:latin typeface="Segoe UI"/>
              </a:rPr>
              <a:t>×9.1</a:t>
            </a:r>
          </a:p>
        </p:txBody>
      </p:sp>
      <p:sp>
        <p:nvSpPr>
          <p:cNvPr id="11" name="TextBox 10"/>
          <p:cNvSpPr txBox="1"/>
          <p:nvPr/>
        </p:nvSpPr>
        <p:spPr>
          <a:xfrm>
            <a:off x="1115568" y="4946904"/>
            <a:ext cx="2286000" cy="274320"/>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VS 24-THREAD CPU</a:t>
            </a:r>
          </a:p>
        </p:txBody>
      </p:sp>
      <p:sp>
        <p:nvSpPr>
          <p:cNvPr id="12" name="Rectangle 11"/>
          <p:cNvSpPr/>
          <p:nvPr/>
        </p:nvSpPr>
        <p:spPr>
          <a:xfrm>
            <a:off x="3520440" y="4370832"/>
            <a:ext cx="32004" cy="868680"/>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21608" y="4370832"/>
            <a:ext cx="2286000" cy="502920"/>
          </a:xfrm>
          <a:prstGeom prst="rect">
            <a:avLst/>
          </a:prstGeom>
          <a:noFill/>
        </p:spPr>
        <p:txBody>
          <a:bodyPr wrap="square" lIns="0" rIns="0" tIns="0" bIns="0" anchor="t">
            <a:spAutoFit/>
          </a:bodyPr>
          <a:lstStyle/>
          <a:p>
            <a:pPr>
              <a:spcBef>
                <a:spcPts val="0"/>
              </a:spcBef>
              <a:spcAft>
                <a:spcPts val="0"/>
              </a:spcAft>
            </a:pPr>
            <a:r>
              <a:rPr sz="3000" b="1" i="0">
                <a:solidFill>
                  <a:srgbClr val="E7EDF4"/>
                </a:solidFill>
                <a:latin typeface="Segoe UI"/>
              </a:rPr>
              <a:t>61,312</a:t>
            </a:r>
          </a:p>
        </p:txBody>
      </p:sp>
      <p:sp>
        <p:nvSpPr>
          <p:cNvPr id="14" name="TextBox 13"/>
          <p:cNvSpPr txBox="1"/>
          <p:nvPr/>
        </p:nvSpPr>
        <p:spPr>
          <a:xfrm>
            <a:off x="3721608" y="4946904"/>
            <a:ext cx="2286000" cy="274320"/>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FRAMES / SECOND</a:t>
            </a:r>
          </a:p>
        </p:txBody>
      </p:sp>
      <p:sp>
        <p:nvSpPr>
          <p:cNvPr id="15" name="Rectangle 14"/>
          <p:cNvSpPr/>
          <p:nvPr/>
        </p:nvSpPr>
        <p:spPr>
          <a:xfrm>
            <a:off x="6126480" y="4370832"/>
            <a:ext cx="32004" cy="868680"/>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27648" y="4370832"/>
            <a:ext cx="2286000" cy="502920"/>
          </a:xfrm>
          <a:prstGeom prst="rect">
            <a:avLst/>
          </a:prstGeom>
          <a:noFill/>
        </p:spPr>
        <p:txBody>
          <a:bodyPr wrap="square" lIns="0" rIns="0" tIns="0" bIns="0" anchor="t">
            <a:spAutoFit/>
          </a:bodyPr>
          <a:lstStyle/>
          <a:p>
            <a:pPr>
              <a:spcBef>
                <a:spcPts val="0"/>
              </a:spcBef>
              <a:spcAft>
                <a:spcPts val="0"/>
              </a:spcAft>
            </a:pPr>
            <a:r>
              <a:rPr sz="3000" b="1" i="0">
                <a:solidFill>
                  <a:srgbClr val="E7EDF4"/>
                </a:solidFill>
                <a:latin typeface="Segoe UI"/>
              </a:rPr>
              <a:t>16.3 µs</a:t>
            </a:r>
          </a:p>
        </p:txBody>
      </p:sp>
      <p:sp>
        <p:nvSpPr>
          <p:cNvPr id="17" name="TextBox 16"/>
          <p:cNvSpPr txBox="1"/>
          <p:nvPr/>
        </p:nvSpPr>
        <p:spPr>
          <a:xfrm>
            <a:off x="6327648" y="4946904"/>
            <a:ext cx="2286000" cy="274320"/>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PER FRAME, END TO END</a:t>
            </a:r>
          </a:p>
        </p:txBody>
      </p:sp>
      <p:sp>
        <p:nvSpPr>
          <p:cNvPr id="18" name="Rectangle 17"/>
          <p:cNvSpPr/>
          <p:nvPr/>
        </p:nvSpPr>
        <p:spPr>
          <a:xfrm>
            <a:off x="8732520" y="4370832"/>
            <a:ext cx="32004" cy="868680"/>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33688" y="4370832"/>
            <a:ext cx="2286000" cy="502920"/>
          </a:xfrm>
          <a:prstGeom prst="rect">
            <a:avLst/>
          </a:prstGeom>
          <a:noFill/>
        </p:spPr>
        <p:txBody>
          <a:bodyPr wrap="square" lIns="0" rIns="0" tIns="0" bIns="0" anchor="t">
            <a:spAutoFit/>
          </a:bodyPr>
          <a:lstStyle/>
          <a:p>
            <a:pPr>
              <a:spcBef>
                <a:spcPts val="0"/>
              </a:spcBef>
              <a:spcAft>
                <a:spcPts val="0"/>
              </a:spcAft>
            </a:pPr>
            <a:r>
              <a:rPr sz="3000" b="1" i="0">
                <a:solidFill>
                  <a:srgbClr val="E8B25C"/>
                </a:solidFill>
                <a:latin typeface="Segoe UI"/>
              </a:rPr>
              <a:t>6 / 23 M</a:t>
            </a:r>
          </a:p>
        </p:txBody>
      </p:sp>
      <p:sp>
        <p:nvSpPr>
          <p:cNvPr id="20" name="TextBox 19"/>
          <p:cNvSpPr txBox="1"/>
          <p:nvPr/>
        </p:nvSpPr>
        <p:spPr>
          <a:xfrm>
            <a:off x="8933688" y="4946904"/>
            <a:ext cx="2286000" cy="274320"/>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CLUSTER MISMATCH VS CPU TWIN</a:t>
            </a:r>
          </a:p>
        </p:txBody>
      </p:sp>
      <p:sp>
        <p:nvSpPr>
          <p:cNvPr id="21" name="Rectangle 20"/>
          <p:cNvSpPr/>
          <p:nvPr/>
        </p:nvSpPr>
        <p:spPr>
          <a:xfrm>
            <a:off x="914400" y="5532120"/>
            <a:ext cx="10058400" cy="10972"/>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5715000"/>
            <a:ext cx="10424160" cy="548640"/>
          </a:xfrm>
          <a:prstGeom prst="rect">
            <a:avLst/>
          </a:prstGeom>
          <a:noFill/>
        </p:spPr>
        <p:txBody>
          <a:bodyPr wrap="square" lIns="0" rIns="0" tIns="0" bIns="0" anchor="t">
            <a:spAutoFit/>
          </a:bodyPr>
          <a:lstStyle/>
          <a:p>
            <a:pPr>
              <a:lnSpc>
                <a:spcPct val="135000"/>
              </a:lnSpc>
              <a:spcBef>
                <a:spcPts val="0"/>
              </a:spcBef>
              <a:spcAft>
                <a:spcPts val="0"/>
              </a:spcAft>
            </a:pPr>
            <a:r>
              <a:rPr sz="1000" b="0" i="0">
                <a:solidFill>
                  <a:srgbClr val="6B7A90"/>
                </a:solidFill>
                <a:latin typeface="Segoe UI"/>
              </a:rPr>
              <a:t>RTX 4090 (Ada, sm_89) · PCIe 4.0 ×16 · Mönch 400×400 uint16 · 3×3 clusters · 100 000 frames · Cu fluorescence, MAX IV</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389888"/>
            <a:ext cx="5303520" cy="274320"/>
          </a:xfrm>
          <a:prstGeom prst="rect">
            <a:avLst/>
          </a:prstGeom>
          <a:noFill/>
        </p:spPr>
        <p:txBody>
          <a:bodyPr wrap="square" lIns="0" rIns="0" tIns="0" bIns="0" anchor="t">
            <a:spAutoFit/>
          </a:bodyPr>
          <a:lstStyle/>
          <a:p>
            <a:pPr>
              <a:spcBef>
                <a:spcPts val="0"/>
              </a:spcBef>
              <a:spcAft>
                <a:spcPts val="0"/>
              </a:spcAft>
            </a:pPr>
            <a:r>
              <a:rPr sz="950" b="1" i="0" spc="180">
                <a:solidFill>
                  <a:srgbClr val="6B7A90"/>
                </a:solidFill>
                <a:latin typeface="Segoe UI"/>
              </a:rPr>
              <a:t>CONTEXT · WHAT THE CODE DOES</a:t>
            </a:r>
          </a:p>
        </p:txBody>
      </p:sp>
      <p:sp>
        <p:nvSpPr>
          <p:cNvPr id="5" name="TextBox 4"/>
          <p:cNvSpPr txBox="1"/>
          <p:nvPr/>
        </p:nvSpPr>
        <p:spPr>
          <a:xfrm>
            <a:off x="914400" y="1737360"/>
            <a:ext cx="5486400" cy="1234440"/>
          </a:xfrm>
          <a:prstGeom prst="rect">
            <a:avLst/>
          </a:prstGeom>
          <a:noFill/>
        </p:spPr>
        <p:txBody>
          <a:bodyPr wrap="square" lIns="0" rIns="0" tIns="0" bIns="0" anchor="t">
            <a:spAutoFit/>
          </a:bodyPr>
          <a:lstStyle/>
          <a:p>
            <a:pPr>
              <a:lnSpc>
                <a:spcPct val="103000"/>
              </a:lnSpc>
              <a:spcBef>
                <a:spcPts val="0"/>
              </a:spcBef>
              <a:spcAft>
                <a:spcPts val="0"/>
              </a:spcAft>
            </a:pPr>
            <a:r>
              <a:rPr sz="3200" b="1" i="0">
                <a:solidFill>
                  <a:srgbClr val="E7EDF4"/>
                </a:solidFill>
                <a:latin typeface="Segoe UI"/>
              </a:rPr>
              <a:t>What the kernel does, and what limits it</a:t>
            </a:r>
          </a:p>
        </p:txBody>
      </p:sp>
      <p:sp>
        <p:nvSpPr>
          <p:cNvPr id="6" name="Rectangle 5"/>
          <p:cNvSpPr/>
          <p:nvPr/>
        </p:nvSpPr>
        <p:spPr>
          <a:xfrm>
            <a:off x="914400" y="3127248"/>
            <a:ext cx="1371600" cy="27432"/>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383280"/>
            <a:ext cx="5212080" cy="1463040"/>
          </a:xfrm>
          <a:prstGeom prst="rect">
            <a:avLst/>
          </a:prstGeom>
          <a:noFill/>
        </p:spPr>
        <p:txBody>
          <a:bodyPr wrap="square" lIns="0" rIns="0" tIns="0" bIns="0" anchor="t">
            <a:spAutoFit/>
          </a:bodyPr>
          <a:lstStyle/>
          <a:p>
            <a:pPr>
              <a:lnSpc>
                <a:spcPct val="140000"/>
              </a:lnSpc>
              <a:spcBef>
                <a:spcPts val="0"/>
              </a:spcBef>
              <a:spcAft>
                <a:spcPts val="0"/>
              </a:spcAft>
            </a:pPr>
            <a:r>
              <a:rPr sz="1350" b="0" i="0">
                <a:solidFill>
                  <a:srgbClr val="A5B2C4"/>
                </a:solidFill>
                <a:latin typeface="Segoe UI"/>
              </a:rPr>
              <a:t>No optimizations yet, only what the hardware has to do.</a:t>
            </a:r>
          </a:p>
        </p:txBody>
      </p:sp>
      <p:sp>
        <p:nvSpPr>
          <p:cNvPr id="8" name="Rectangle 7"/>
          <p:cNvSpPr/>
          <p:nvPr/>
        </p:nvSpPr>
        <p:spPr>
          <a:xfrm>
            <a:off x="6537960" y="1783080"/>
            <a:ext cx="10972" cy="402336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12280" y="2176272"/>
            <a:ext cx="4572000" cy="237744"/>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COMING UP</a:t>
            </a:r>
          </a:p>
        </p:txBody>
      </p:sp>
      <p:sp>
        <p:nvSpPr>
          <p:cNvPr id="10" name="TextBox 9"/>
          <p:cNvSpPr txBox="1"/>
          <p:nvPr/>
        </p:nvSpPr>
        <p:spPr>
          <a:xfrm>
            <a:off x="6812280" y="2560320"/>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1E90C2"/>
                </a:solidFill>
                <a:latin typeface="Consolas"/>
              </a:rPr>
              <a:t>3–4</a:t>
            </a:r>
          </a:p>
        </p:txBody>
      </p:sp>
      <p:sp>
        <p:nvSpPr>
          <p:cNvPr id="11" name="TextBox 10"/>
          <p:cNvSpPr txBox="1"/>
          <p:nvPr/>
        </p:nvSpPr>
        <p:spPr>
          <a:xfrm>
            <a:off x="7452360" y="2560320"/>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The algorithm</a:t>
            </a:r>
          </a:p>
        </p:txBody>
      </p:sp>
      <p:sp>
        <p:nvSpPr>
          <p:cNvPr id="12" name="TextBox 11"/>
          <p:cNvSpPr txBox="1"/>
          <p:nvPr/>
        </p:nvSpPr>
        <p:spPr>
          <a:xfrm>
            <a:off x="6812280" y="3054096"/>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1E90C2"/>
                </a:solidFill>
                <a:latin typeface="Consolas"/>
              </a:rPr>
              <a:t>5–6</a:t>
            </a:r>
          </a:p>
        </p:txBody>
      </p:sp>
      <p:sp>
        <p:nvSpPr>
          <p:cNvPr id="13" name="TextBox 12"/>
          <p:cNvSpPr txBox="1"/>
          <p:nvPr/>
        </p:nvSpPr>
        <p:spPr>
          <a:xfrm>
            <a:off x="7452360" y="3054096"/>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The two machines</a:t>
            </a:r>
          </a:p>
        </p:txBody>
      </p:sp>
      <p:sp>
        <p:nvSpPr>
          <p:cNvPr id="14" name="TextBox 13"/>
          <p:cNvSpPr txBox="1"/>
          <p:nvPr/>
        </p:nvSpPr>
        <p:spPr>
          <a:xfrm>
            <a:off x="6812280" y="3547872"/>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1E90C2"/>
                </a:solidFill>
                <a:latin typeface="Consolas"/>
              </a:rPr>
              <a:t>7–8</a:t>
            </a:r>
          </a:p>
        </p:txBody>
      </p:sp>
      <p:sp>
        <p:nvSpPr>
          <p:cNvPr id="15" name="TextBox 14"/>
          <p:cNvSpPr txBox="1"/>
          <p:nvPr/>
        </p:nvSpPr>
        <p:spPr>
          <a:xfrm>
            <a:off x="7452360" y="3547872"/>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The CUDA kernel</a:t>
            </a:r>
          </a:p>
        </p:txBody>
      </p:sp>
      <p:sp>
        <p:nvSpPr>
          <p:cNvPr id="16" name="TextBox 15"/>
          <p:cNvSpPr txBox="1"/>
          <p:nvPr/>
        </p:nvSpPr>
        <p:spPr>
          <a:xfrm>
            <a:off x="6812280" y="4041648"/>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1E90C2"/>
                </a:solidFill>
                <a:latin typeface="Consolas"/>
              </a:rPr>
              <a:t>9–10</a:t>
            </a:r>
          </a:p>
        </p:txBody>
      </p:sp>
      <p:sp>
        <p:nvSpPr>
          <p:cNvPr id="17" name="TextBox 16"/>
          <p:cNvSpPr txBox="1"/>
          <p:nvPr/>
        </p:nvSpPr>
        <p:spPr>
          <a:xfrm>
            <a:off x="7452360" y="4041648"/>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What limits it</a:t>
            </a:r>
          </a:p>
        </p:txBody>
      </p:sp>
      <p:sp>
        <p:nvSpPr>
          <p:cNvPr id="18" name="TextBox 17"/>
          <p:cNvSpPr txBox="1"/>
          <p:nvPr/>
        </p:nvSpPr>
        <p:spPr>
          <a:xfrm>
            <a:off x="6812280" y="4535424"/>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1E90C2"/>
                </a:solidFill>
                <a:latin typeface="Consolas"/>
              </a:rPr>
              <a:t>11</a:t>
            </a:r>
          </a:p>
        </p:txBody>
      </p:sp>
      <p:sp>
        <p:nvSpPr>
          <p:cNvPr id="19" name="TextBox 18"/>
          <p:cNvSpPr txBox="1"/>
          <p:nvPr/>
        </p:nvSpPr>
        <p:spPr>
          <a:xfrm>
            <a:off x="7452360" y="4535424"/>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The roadmap</a:t>
            </a:r>
          </a:p>
        </p:txBody>
      </p:sp>
      <p:sp>
        <p:nvSpPr>
          <p:cNvPr id="20" name="Rectangle 19"/>
          <p:cNvSpPr/>
          <p:nvPr/>
        </p:nvSpPr>
        <p:spPr>
          <a:xfrm>
            <a:off x="6400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44879"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688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992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297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602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907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212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516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821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126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431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736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040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345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THE ALGORITHM · WHAT IT IS FOR</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A photon is not a pixel — it is a cluster</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3 / 33</a:t>
            </a:r>
          </a:p>
        </p:txBody>
      </p:sp>
      <p:sp>
        <p:nvSpPr>
          <p:cNvPr id="40" name="TextBox 39"/>
          <p:cNvSpPr txBox="1"/>
          <p:nvPr/>
        </p:nvSpPr>
        <p:spPr>
          <a:xfrm>
            <a:off x="640080" y="1737360"/>
            <a:ext cx="722376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Charge from one absorbed photon </a:t>
            </a:r>
            <a:r>
              <a:rPr sz="1050" b="1" i="0">
                <a:solidFill>
                  <a:srgbClr val="E7EDF4"/>
                </a:solidFill>
                <a:latin typeface="Segoe UI"/>
              </a:rPr>
              <a:t>spreads over neighbouring pixels</a:t>
            </a:r>
            <a:r>
              <a:rPr sz="1050" b="0" i="0">
                <a:solidFill>
                  <a:srgbClr val="A5B2C4"/>
                </a:solidFill>
                <a:latin typeface="Segoe UI"/>
              </a:rPr>
              <a:t>. Summing that 3×3 patch recovers the photon energy; a single pixel does not.</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The histogram of those cluster energies </a:t>
            </a:r>
            <a:r>
              <a:rPr sz="1050" b="1" i="0">
                <a:solidFill>
                  <a:srgbClr val="E7EDF4"/>
                </a:solidFill>
                <a:latin typeface="Segoe UI"/>
              </a:rPr>
              <a:t>is</a:t>
            </a:r>
            <a:r>
              <a:rPr sz="1050" b="0" i="0">
                <a:solidFill>
                  <a:srgbClr val="A5B2C4"/>
                </a:solidFill>
                <a:latin typeface="Segoe UI"/>
              </a:rPr>
              <a:t> the measurement: peak position and width give the detector's gain and </a:t>
            </a:r>
            <a:r>
              <a:rPr sz="1050" b="1" i="0">
                <a:solidFill>
                  <a:srgbClr val="E7EDF4"/>
                </a:solidFill>
                <a:latin typeface="Segoe UI"/>
              </a:rPr>
              <a:t>energy resolution</a:t>
            </a:r>
            <a:r>
              <a:rPr sz="1050" b="0" i="0">
                <a:solidFill>
                  <a:srgbClr val="A5B2C4"/>
                </a:solidFill>
                <a:latin typeface="Segoe UI"/>
              </a:rPr>
              <a:t>.</a:t>
            </a:r>
          </a:p>
        </p:txBody>
      </p:sp>
      <p:pic>
        <p:nvPicPr>
          <p:cNvPr id="41" name="Picture 40" descr="fig_frame.png"/>
          <p:cNvPicPr>
            <a:picLocks noChangeAspect="1"/>
          </p:cNvPicPr>
          <p:nvPr/>
        </p:nvPicPr>
        <p:blipFill>
          <a:blip r:embed="rId2"/>
          <a:stretch>
            <a:fillRect/>
          </a:stretch>
        </p:blipFill>
        <p:spPr>
          <a:xfrm>
            <a:off x="640080" y="2724912"/>
            <a:ext cx="6812280" cy="3354361"/>
          </a:xfrm>
          <a:prstGeom prst="rect">
            <a:avLst/>
          </a:prstGeom>
        </p:spPr>
      </p:pic>
      <p:sp>
        <p:nvSpPr>
          <p:cNvPr id="42" name="Rectangle 41"/>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412480" y="178308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WHY IT MATTERS</a:t>
            </a:r>
          </a:p>
        </p:txBody>
      </p:sp>
      <p:sp>
        <p:nvSpPr>
          <p:cNvPr id="44" name="Rounded Rectangle 43"/>
          <p:cNvSpPr/>
          <p:nvPr/>
        </p:nvSpPr>
        <p:spPr>
          <a:xfrm>
            <a:off x="8321040" y="2029967"/>
            <a:ext cx="3383280" cy="1620632"/>
          </a:xfrm>
          <a:prstGeom prst="round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5" name="Picture 44" descr="img_spectra.png"/>
          <p:cNvPicPr>
            <a:picLocks noChangeAspect="1"/>
          </p:cNvPicPr>
          <p:nvPr/>
        </p:nvPicPr>
        <p:blipFill>
          <a:blip r:embed="rId3"/>
          <a:stretch>
            <a:fillRect/>
          </a:stretch>
        </p:blipFill>
        <p:spPr>
          <a:xfrm>
            <a:off x="8412480" y="2121408"/>
            <a:ext cx="3200400" cy="1437752"/>
          </a:xfrm>
          <a:prstGeom prst="rect">
            <a:avLst/>
          </a:prstGeom>
        </p:spPr>
      </p:pic>
      <p:sp>
        <p:nvSpPr>
          <p:cNvPr id="46" name="TextBox 45"/>
          <p:cNvSpPr txBox="1"/>
          <p:nvPr/>
        </p:nvSpPr>
        <p:spPr>
          <a:xfrm>
            <a:off x="8412480" y="3833480"/>
            <a:ext cx="320040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Cluster-energy spectra from an energy scan, against allpix² simulation. Each peak is one beam energy; its width is the resolution being measured.</a:t>
            </a:r>
          </a:p>
        </p:txBody>
      </p:sp>
      <p:sp>
        <p:nvSpPr>
          <p:cNvPr id="47" name="TextBox 46"/>
          <p:cNvSpPr txBox="1"/>
          <p:nvPr/>
        </p:nvSpPr>
        <p:spPr>
          <a:xfrm>
            <a:off x="8412480" y="4498848"/>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MÖNCH03 · THE DETECTOR THIS FEEDS</a:t>
            </a:r>
          </a:p>
        </p:txBody>
      </p:sp>
      <p:sp>
        <p:nvSpPr>
          <p:cNvPr id="48" name="TextBox 47"/>
          <p:cNvSpPr txBox="1"/>
          <p:nvPr/>
        </p:nvSpPr>
        <p:spPr>
          <a:xfrm>
            <a:off x="8412480" y="475488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ARRAY · PITCH · ACTIVE AREA</a:t>
            </a:r>
          </a:p>
        </p:txBody>
      </p:sp>
      <p:sp>
        <p:nvSpPr>
          <p:cNvPr id="49" name="TextBox 48"/>
          <p:cNvSpPr txBox="1"/>
          <p:nvPr/>
        </p:nvSpPr>
        <p:spPr>
          <a:xfrm>
            <a:off x="8412480" y="4956048"/>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A5B2C4"/>
                </a:solidFill>
                <a:latin typeface="Segoe UI"/>
              </a:rPr>
              <a:t>400 × 400 · 25 µm · 10 × 10 mm²</a:t>
            </a:r>
          </a:p>
        </p:txBody>
      </p:sp>
      <p:sp>
        <p:nvSpPr>
          <p:cNvPr id="50" name="TextBox 49"/>
          <p:cNvSpPr txBox="1"/>
          <p:nvPr/>
        </p:nvSpPr>
        <p:spPr>
          <a:xfrm>
            <a:off x="8412480" y="535838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FRAMES PER SECOND</a:t>
            </a:r>
          </a:p>
        </p:txBody>
      </p:sp>
      <p:sp>
        <p:nvSpPr>
          <p:cNvPr id="51" name="TextBox 50"/>
          <p:cNvSpPr txBox="1"/>
          <p:nvPr/>
        </p:nvSpPr>
        <p:spPr>
          <a:xfrm>
            <a:off x="8412480" y="5559552"/>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E8B25C"/>
                </a:solidFill>
                <a:latin typeface="Segoe UI"/>
              </a:rPr>
              <a:t>1.3 k standard, 3–6 k optimised</a:t>
            </a:r>
          </a:p>
        </p:txBody>
      </p:sp>
      <p:sp>
        <p:nvSpPr>
          <p:cNvPr id="52" name="TextBox 51"/>
          <p:cNvSpPr txBox="1"/>
          <p:nvPr/>
        </p:nvSpPr>
        <p:spPr>
          <a:xfrm>
            <a:off x="8412480" y="5961888"/>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PEAK PIXELS = PHOTONS / FRAME</a:t>
            </a:r>
          </a:p>
        </p:txBody>
      </p:sp>
      <p:sp>
        <p:nvSpPr>
          <p:cNvPr id="53" name="TextBox 52"/>
          <p:cNvSpPr txBox="1"/>
          <p:nvPr/>
        </p:nvSpPr>
        <p:spPr>
          <a:xfrm>
            <a:off x="8412480" y="6163056"/>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~2 330   ·   1.5 %</a:t>
            </a:r>
          </a:p>
        </p:txBody>
      </p:sp>
      <p:sp>
        <p:nvSpPr>
          <p:cNvPr id="54" name="TextBox 53"/>
          <p:cNvSpPr txBox="1"/>
          <p:nvPr/>
        </p:nvSpPr>
        <p:spPr>
          <a:xfrm>
            <a:off x="640080" y="6108192"/>
            <a:ext cx="72237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Real MOENCH data, Cu fluorescence, MAX IV beamtime. One cluster is emitted per local maximum, so 2 330 counts photons, not lit pixels; the recorded 3×3 windows cover 12.7 % of the frame. The detector's frame rate is the number every throughput figure in this deck should be read against.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THE ALGORITHM · PER FRAME</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Per pixel: subtract, threshold, update the pedestal</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4 / 33</a:t>
            </a:r>
          </a:p>
        </p:txBody>
      </p:sp>
      <p:sp>
        <p:nvSpPr>
          <p:cNvPr id="40" name="TextBox 39"/>
          <p:cNvSpPr txBox="1"/>
          <p:nvPr/>
        </p:nvSpPr>
        <p:spPr>
          <a:xfrm>
            <a:off x="640080" y="1783080"/>
            <a:ext cx="7223760" cy="274320"/>
          </a:xfrm>
          <a:prstGeom prst="rect">
            <a:avLst/>
          </a:prstGeom>
          <a:noFill/>
        </p:spPr>
        <p:txBody>
          <a:bodyPr wrap="square" lIns="0" rIns="0" tIns="0" bIns="0" anchor="t">
            <a:spAutoFit/>
          </a:bodyPr>
          <a:lstStyle/>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Per pixel: subtract a </a:t>
            </a:r>
            <a:r>
              <a:rPr sz="1100" b="1" i="0">
                <a:solidFill>
                  <a:srgbClr val="E7EDF4"/>
                </a:solidFill>
                <a:latin typeface="Segoe UI"/>
              </a:rPr>
              <a:t>running pedestal</a:t>
            </a:r>
            <a:r>
              <a:rPr sz="1100" b="0" i="0">
                <a:solidFill>
                  <a:srgbClr val="A5B2C4"/>
                </a:solidFill>
                <a:latin typeface="Segoe UI"/>
              </a:rPr>
              <a:t> (mean ± rms), keep pixels above </a:t>
            </a:r>
            <a:r>
              <a:rPr sz="1100" b="1" i="0">
                <a:solidFill>
                  <a:srgbClr val="E7EDF4"/>
                </a:solidFill>
                <a:latin typeface="Segoe UI"/>
              </a:rPr>
              <a:t>nσ · rms</a:t>
            </a:r>
            <a:r>
              <a:rPr sz="1100" b="0" i="0">
                <a:solidFill>
                  <a:srgbClr val="A5B2C4"/>
                </a:solidFill>
                <a:latin typeface="Segoe UI"/>
              </a:rPr>
              <a:t>, cut a 3×3 cluster around each local maximum.</a:t>
            </a:r>
          </a:p>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400×400 = 160 k pixels, </a:t>
            </a:r>
            <a:r>
              <a:rPr sz="1100" b="1" i="0">
                <a:solidFill>
                  <a:srgbClr val="E7EDF4"/>
                </a:solidFill>
                <a:latin typeface="Segoe UI"/>
              </a:rPr>
              <a:t>312.5 kB per frame</a:t>
            </a:r>
            <a:r>
              <a:rPr sz="1100" b="0" i="0">
                <a:solidFill>
                  <a:srgbClr val="A5B2C4"/>
                </a:solidFill>
                <a:latin typeface="Segoe UI"/>
              </a:rPr>
              <a:t>; Cu data yields ~2 330 clusters per frame at 3×3.</a:t>
            </a:r>
          </a:p>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The pedestal is </a:t>
            </a:r>
            <a:r>
              <a:rPr sz="1100" b="1" i="0">
                <a:solidFill>
                  <a:srgbClr val="E7EDF4"/>
                </a:solidFill>
                <a:latin typeface="Segoe UI"/>
              </a:rPr>
              <a:t>updated by every pixel that sees no photon</a:t>
            </a:r>
            <a:r>
              <a:rPr sz="1100" b="0" i="0">
                <a:solidFill>
                  <a:srgbClr val="A5B2C4"/>
                </a:solidFill>
                <a:latin typeface="Segoe UI"/>
              </a:rPr>
              <a:t>, about 80 % of them, every frame, so the arithmetic and the data movement are coupled.</a:t>
            </a:r>
          </a:p>
        </p:txBody>
      </p:sp>
      <p:sp>
        <p:nvSpPr>
          <p:cNvPr id="41" name="Rounded Rectangle 40"/>
          <p:cNvSpPr/>
          <p:nvPr/>
        </p:nvSpPr>
        <p:spPr>
          <a:xfrm>
            <a:off x="640080" y="3246120"/>
            <a:ext cx="7223760" cy="1584472"/>
          </a:xfrm>
          <a:prstGeom prst="round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04671" y="3355848"/>
            <a:ext cx="6894576" cy="182880"/>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THE WHOLE ALGORITHM · THREE OUTCOMES, NOT TWO</a:t>
            </a:r>
          </a:p>
        </p:txBody>
      </p:sp>
      <p:sp>
        <p:nvSpPr>
          <p:cNvPr id="43" name="TextBox 42"/>
          <p:cNvSpPr txBox="1"/>
          <p:nvPr/>
        </p:nvSpPr>
        <p:spPr>
          <a:xfrm>
            <a:off x="804671" y="3575304"/>
            <a:ext cx="6894576" cy="1365016"/>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6B7A90"/>
                </a:solidFill>
                <a:latin typeface="Consolas"/>
              </a:rPr>
              <a:t>// the whole algorithm, per pixel</a:t>
            </a:r>
          </a:p>
          <a:p>
            <a:pPr>
              <a:lnSpc>
                <a:spcPct val="112000"/>
              </a:lnSpc>
              <a:spcBef>
                <a:spcPts val="0"/>
              </a:spcBef>
              <a:spcAft>
                <a:spcPts val="0"/>
              </a:spcAft>
            </a:pPr>
            <a:r>
              <a:rPr sz="900" b="0" i="0">
                <a:solidFill>
                  <a:srgbClr val="A5B2C4"/>
                </a:solidFill>
                <a:latin typeface="Consolas"/>
              </a:rPr>
              <a:t>v   = frame[i] - pedestal_mean[i]</a:t>
            </a:r>
          </a:p>
          <a:p>
            <a:pPr>
              <a:lnSpc>
                <a:spcPct val="112000"/>
              </a:lnSpc>
              <a:spcBef>
                <a:spcPts val="0"/>
              </a:spcBef>
              <a:spcAft>
                <a:spcPts val="0"/>
              </a:spcAft>
            </a:pPr>
            <a:r>
              <a:rPr sz="900" b="0" i="0">
                <a:solidFill>
                  <a:srgbClr val="A5B2C4"/>
                </a:solidFill>
                <a:latin typeface="Consolas"/>
              </a:rPr>
              <a:t>rms = pedestal rms at i</a:t>
            </a:r>
          </a:p>
          <a:p>
            <a:pPr>
              <a:lnSpc>
                <a:spcPct val="112000"/>
              </a:lnSpc>
              <a:spcBef>
                <a:spcPts val="0"/>
              </a:spcBef>
              <a:spcAft>
                <a:spcPts val="0"/>
              </a:spcAft>
            </a:pPr>
            <a:r>
              <a:rPr sz="900" b="0" i="0">
                <a:solidFill>
                  <a:srgbClr val="A5B2C4"/>
                </a:solidFill>
                <a:latin typeface="Consolas"/>
              </a:rPr>
              <a:t>m   = max(v) over the 3x3 window at i</a:t>
            </a:r>
          </a:p>
          <a:p>
            <a:pPr>
              <a:lnSpc>
                <a:spcPct val="112000"/>
              </a:lnSpc>
              <a:spcBef>
                <a:spcPts val="0"/>
              </a:spcBef>
              <a:spcAft>
                <a:spcPts val="0"/>
              </a:spcAft>
            </a:pPr>
            <a:r>
              <a:rPr sz="900" b="0" i="0">
                <a:solidFill>
                  <a:srgbClr val="A5B2C4"/>
                </a:solidFill>
                <a:latin typeface="Consolas"/>
              </a:rPr>
              <a:t>if (m &gt; </a:t>
            </a:r>
            <a:r>
              <a:rPr sz="900" b="1" i="0">
                <a:solidFill>
                  <a:srgbClr val="1E90C2"/>
                </a:solidFill>
                <a:latin typeface="Consolas"/>
              </a:rPr>
              <a:t>nSigma</a:t>
            </a:r>
            <a:r>
              <a:rPr sz="900" b="0" i="0">
                <a:solidFill>
                  <a:srgbClr val="A5B2C4"/>
                </a:solidFill>
                <a:latin typeface="Consolas"/>
              </a:rPr>
              <a:t> * rms)                  // a photon is within reach</a:t>
            </a:r>
          </a:p>
          <a:p>
            <a:pPr>
              <a:lnSpc>
                <a:spcPct val="112000"/>
              </a:lnSpc>
              <a:spcBef>
                <a:spcPts val="0"/>
              </a:spcBef>
              <a:spcAft>
                <a:spcPts val="0"/>
              </a:spcAft>
            </a:pPr>
            <a:r>
              <a:rPr sz="900" b="0" i="0">
                <a:solidFill>
                  <a:srgbClr val="A5B2C4"/>
                </a:solidFill>
                <a:latin typeface="Consolas"/>
              </a:rPr>
              <a:t>    if (v == m) -&gt; emit cluster        //   ... and I am its peak</a:t>
            </a:r>
          </a:p>
          <a:p>
            <a:pPr>
              <a:lnSpc>
                <a:spcPct val="112000"/>
              </a:lnSpc>
              <a:spcBef>
                <a:spcPts val="0"/>
              </a:spcBef>
              <a:spcAft>
                <a:spcPts val="0"/>
              </a:spcAft>
            </a:pPr>
            <a:r>
              <a:rPr sz="900" b="0" i="0">
                <a:solidFill>
                  <a:srgbClr val="A5B2C4"/>
                </a:solidFill>
                <a:latin typeface="Consolas"/>
              </a:rPr>
              <a:t>    else        -&gt; </a:t>
            </a:r>
            <a:r>
              <a:rPr sz="900" b="1" i="0">
                <a:solidFill>
                  <a:srgbClr val="1E90C2"/>
                </a:solidFill>
                <a:latin typeface="Consolas"/>
              </a:rPr>
              <a:t>nothing</a:t>
            </a:r>
            <a:r>
              <a:rPr sz="900" b="0" i="0">
                <a:solidFill>
                  <a:srgbClr val="A5B2C4"/>
                </a:solidFill>
                <a:latin typeface="Consolas"/>
              </a:rPr>
              <a:t>             //   ... I am in its shadow</a:t>
            </a:r>
          </a:p>
          <a:p>
            <a:pPr>
              <a:lnSpc>
                <a:spcPct val="112000"/>
              </a:lnSpc>
              <a:spcBef>
                <a:spcPts val="0"/>
              </a:spcBef>
              <a:spcAft>
                <a:spcPts val="0"/>
              </a:spcAft>
            </a:pPr>
            <a:r>
              <a:rPr sz="900" b="0" i="0">
                <a:solidFill>
                  <a:srgbClr val="A5B2C4"/>
                </a:solidFill>
                <a:latin typeface="Consolas"/>
              </a:rPr>
              <a:t>else            -&gt; update pedestal     // I saw nothing</a:t>
            </a:r>
          </a:p>
        </p:txBody>
      </p:sp>
      <p:sp>
        <p:nvSpPr>
          <p:cNvPr id="44" name="Rectangle 43"/>
          <p:cNvSpPr/>
          <p:nvPr/>
        </p:nvSpPr>
        <p:spPr>
          <a:xfrm>
            <a:off x="681228" y="5074920"/>
            <a:ext cx="7182612" cy="71323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40080" y="5074920"/>
            <a:ext cx="41148" cy="713232"/>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6112" y="5166359"/>
            <a:ext cx="6766560" cy="530352"/>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Thesis of this talk:</a:t>
            </a:r>
            <a:r>
              <a:rPr sz="1050" b="0" i="0">
                <a:solidFill>
                  <a:srgbClr val="A5B2C4"/>
                </a:solidFill>
                <a:latin typeface="Segoe UI"/>
              </a:rPr>
              <a:t> the compute was fast almost immediately. Six of the seven steps are about feeding it.</a:t>
            </a:r>
          </a:p>
        </p:txBody>
      </p:sp>
      <p:sp>
        <p:nvSpPr>
          <p:cNvPr id="47" name="Rectangle 46"/>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THE SHAPE OF THE WORK</a:t>
            </a:r>
          </a:p>
        </p:txBody>
      </p:sp>
      <p:sp>
        <p:nvSpPr>
          <p:cNvPr id="49" name="TextBox 48"/>
          <p:cNvSpPr txBox="1"/>
          <p:nvPr/>
        </p:nvSpPr>
        <p:spPr>
          <a:xfrm>
            <a:off x="8412480" y="222199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WORK ITEMS PER FRAME</a:t>
            </a:r>
          </a:p>
        </p:txBody>
      </p:sp>
      <p:sp>
        <p:nvSpPr>
          <p:cNvPr id="50" name="TextBox 49"/>
          <p:cNvSpPr txBox="1"/>
          <p:nvPr/>
        </p:nvSpPr>
        <p:spPr>
          <a:xfrm>
            <a:off x="8412480" y="2441448"/>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7EDF4"/>
                </a:solidFill>
                <a:latin typeface="Segoe UI"/>
              </a:rPr>
              <a:t>160 000</a:t>
            </a:r>
          </a:p>
        </p:txBody>
      </p:sp>
      <p:sp>
        <p:nvSpPr>
          <p:cNvPr id="51" name="TextBox 50"/>
          <p:cNvSpPr txBox="1"/>
          <p:nvPr/>
        </p:nvSpPr>
        <p:spPr>
          <a:xfrm>
            <a:off x="8412480" y="311810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OPERATIONS ON EACH</a:t>
            </a:r>
          </a:p>
        </p:txBody>
      </p:sp>
      <p:sp>
        <p:nvSpPr>
          <p:cNvPr id="52" name="TextBox 51"/>
          <p:cNvSpPr txBox="1"/>
          <p:nvPr/>
        </p:nvSpPr>
        <p:spPr>
          <a:xfrm>
            <a:off x="8412480" y="3319272"/>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A5B2C4"/>
                </a:solidFill>
                <a:latin typeface="Segoe UI"/>
              </a:rPr>
              <a:t>~5, identical</a:t>
            </a:r>
          </a:p>
        </p:txBody>
      </p:sp>
      <p:sp>
        <p:nvSpPr>
          <p:cNvPr id="53" name="TextBox 52"/>
          <p:cNvSpPr txBox="1"/>
          <p:nvPr/>
        </p:nvSpPr>
        <p:spPr>
          <a:xfrm>
            <a:off x="8412480" y="3831336"/>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COMMUNICATION BETWEEN THEM</a:t>
            </a:r>
          </a:p>
        </p:txBody>
      </p:sp>
      <p:sp>
        <p:nvSpPr>
          <p:cNvPr id="54" name="TextBox 53"/>
          <p:cNvSpPr txBox="1"/>
          <p:nvPr/>
        </p:nvSpPr>
        <p:spPr>
          <a:xfrm>
            <a:off x="8412480" y="4032504"/>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none</a:t>
            </a:r>
          </a:p>
        </p:txBody>
      </p:sp>
      <p:sp>
        <p:nvSpPr>
          <p:cNvPr id="55" name="TextBox 54"/>
          <p:cNvSpPr txBox="1"/>
          <p:nvPr/>
        </p:nvSpPr>
        <p:spPr>
          <a:xfrm>
            <a:off x="8412480" y="443484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ORDER THEY MAY RUN IN</a:t>
            </a:r>
          </a:p>
        </p:txBody>
      </p:sp>
      <p:sp>
        <p:nvSpPr>
          <p:cNvPr id="56" name="TextBox 55"/>
          <p:cNvSpPr txBox="1"/>
          <p:nvPr/>
        </p:nvSpPr>
        <p:spPr>
          <a:xfrm>
            <a:off x="8412480" y="4636008"/>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any</a:t>
            </a:r>
          </a:p>
        </p:txBody>
      </p:sp>
      <p:sp>
        <p:nvSpPr>
          <p:cNvPr id="57" name="TextBox 56"/>
          <p:cNvSpPr txBox="1"/>
          <p:nvPr/>
        </p:nvSpPr>
        <p:spPr>
          <a:xfrm>
            <a:off x="8412480" y="5239512"/>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What a pixel does never depends on what its neighbours decided, only on what they measured. That one property is what the next two slides point two very different machines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THE MACHINE WE ARE STARTING FROM</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CPU: latency-oriented, built to finish one thread fast</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5 / 33</a:t>
            </a:r>
          </a:p>
        </p:txBody>
      </p:sp>
      <p:pic>
        <p:nvPicPr>
          <p:cNvPr id="40" name="Picture 39" descr="img_cpu_core.png"/>
          <p:cNvPicPr>
            <a:picLocks noChangeAspect="1"/>
          </p:cNvPicPr>
          <p:nvPr/>
        </p:nvPicPr>
        <p:blipFill>
          <a:blip r:embed="rId2"/>
          <a:stretch>
            <a:fillRect/>
          </a:stretch>
        </p:blipFill>
        <p:spPr>
          <a:xfrm>
            <a:off x="640080" y="1700784"/>
            <a:ext cx="6675120" cy="3152021"/>
          </a:xfrm>
          <a:prstGeom prst="rect">
            <a:avLst/>
          </a:prstGeom>
        </p:spPr>
      </p:pic>
      <p:sp>
        <p:nvSpPr>
          <p:cNvPr id="41" name="Rectangle 40"/>
          <p:cNvSpPr/>
          <p:nvPr/>
        </p:nvSpPr>
        <p:spPr>
          <a:xfrm>
            <a:off x="681228" y="4956048"/>
            <a:ext cx="4119372" cy="96926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40080" y="4956048"/>
            <a:ext cx="41148" cy="96926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96112" y="5047488"/>
            <a:ext cx="3703320" cy="786384"/>
          </a:xfrm>
          <a:prstGeom prst="rect">
            <a:avLst/>
          </a:prstGeom>
          <a:noFill/>
        </p:spPr>
        <p:txBody>
          <a:bodyPr wrap="square" lIns="0" rIns="0" tIns="0" bIns="0" anchor="ctr">
            <a:spAutoFit/>
          </a:bodyPr>
          <a:lstStyle/>
          <a:p>
            <a:pPr>
              <a:lnSpc>
                <a:spcPct val="120000"/>
              </a:lnSpc>
              <a:spcBef>
                <a:spcPts val="0"/>
              </a:spcBef>
              <a:spcAft>
                <a:spcPts val="0"/>
              </a:spcAft>
            </a:pPr>
            <a:r>
              <a:rPr sz="1000" b="0" i="0">
                <a:solidFill>
                  <a:srgbClr val="A5B2C4"/>
                </a:solidFill>
                <a:latin typeface="Segoe UI"/>
              </a:rPr>
              <a:t>Count the boxes: </a:t>
            </a:r>
            <a:r>
              <a:rPr sz="1000" b="1" i="0">
                <a:solidFill>
                  <a:srgbClr val="E7EDF4"/>
                </a:solidFill>
                <a:latin typeface="Segoe UI"/>
              </a:rPr>
              <a:t>6 fetch/decode</a:t>
            </a:r>
            <a:r>
              <a:rPr sz="1000" b="0" i="0">
                <a:solidFill>
                  <a:srgbClr val="A5B2C4"/>
                </a:solidFill>
                <a:latin typeface="Segoe UI"/>
              </a:rPr>
              <a:t>, out-of-order instruction selection, two levels of private cache, all of it to keep </a:t>
            </a:r>
            <a:r>
              <a:rPr sz="1000" b="1" i="0">
                <a:solidFill>
                  <a:srgbClr val="E7EDF4"/>
                </a:solidFill>
                <a:latin typeface="Segoe UI"/>
              </a:rPr>
              <a:t>two</a:t>
            </a:r>
            <a:r>
              <a:rPr sz="1000" b="0" i="0">
                <a:solidFill>
                  <a:srgbClr val="A5B2C4"/>
                </a:solidFill>
                <a:latin typeface="Segoe UI"/>
              </a:rPr>
              <a:t> instruction streams fed. The ALUs are the small part.</a:t>
            </a:r>
          </a:p>
        </p:txBody>
      </p:sp>
      <p:pic>
        <p:nvPicPr>
          <p:cNvPr id="44" name="Picture 43" descr="img_cpu_die.png"/>
          <p:cNvPicPr>
            <a:picLocks noChangeAspect="1"/>
          </p:cNvPicPr>
          <p:nvPr/>
        </p:nvPicPr>
        <p:blipFill>
          <a:blip r:embed="rId3"/>
          <a:stretch>
            <a:fillRect/>
          </a:stretch>
        </p:blipFill>
        <p:spPr>
          <a:xfrm>
            <a:off x="5120640" y="4956048"/>
            <a:ext cx="2743200" cy="1168521"/>
          </a:xfrm>
          <a:prstGeom prst="rect">
            <a:avLst/>
          </a:prstGeom>
        </p:spPr>
      </p:pic>
      <p:sp>
        <p:nvSpPr>
          <p:cNvPr id="45" name="TextBox 44"/>
          <p:cNvSpPr txBox="1"/>
          <p:nvPr/>
        </p:nvSpPr>
        <p:spPr>
          <a:xfrm>
            <a:off x="5120640" y="6181344"/>
            <a:ext cx="274320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Comet Lake · 10 cores boxed; nearly half the die is cache and I/O.</a:t>
            </a:r>
          </a:p>
        </p:txBody>
      </p:sp>
      <p:sp>
        <p:nvSpPr>
          <p:cNvPr id="46" name="TextBox 45"/>
          <p:cNvSpPr txBox="1"/>
          <p:nvPr/>
        </p:nvSpPr>
        <p:spPr>
          <a:xfrm>
            <a:off x="640080" y="6035040"/>
            <a:ext cx="416052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Skylake core and Comet Lake die after Stanford CS149, Fall 2025.</a:t>
            </a:r>
          </a:p>
        </p:txBody>
      </p:sp>
      <p:sp>
        <p:nvSpPr>
          <p:cNvPr id="47" name="Rectangle 46"/>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PC-MOENCH-04 · AMD RYZEN 9 7950X</a:t>
            </a:r>
          </a:p>
        </p:txBody>
      </p:sp>
      <p:sp>
        <p:nvSpPr>
          <p:cNvPr id="49" name="TextBox 48"/>
          <p:cNvSpPr txBox="1"/>
          <p:nvPr/>
        </p:nvSpPr>
        <p:spPr>
          <a:xfrm>
            <a:off x="8412480" y="217627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CORES × SMT</a:t>
            </a:r>
          </a:p>
        </p:txBody>
      </p:sp>
      <p:sp>
        <p:nvSpPr>
          <p:cNvPr id="50" name="TextBox 49"/>
          <p:cNvSpPr txBox="1"/>
          <p:nvPr/>
        </p:nvSpPr>
        <p:spPr>
          <a:xfrm>
            <a:off x="8412480" y="2395728"/>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7EDF4"/>
                </a:solidFill>
                <a:latin typeface="Segoe UI"/>
              </a:rPr>
              <a:t>16 × 2</a:t>
            </a:r>
          </a:p>
        </p:txBody>
      </p:sp>
      <p:sp>
        <p:nvSpPr>
          <p:cNvPr id="51" name="TextBox 50"/>
          <p:cNvSpPr txBox="1"/>
          <p:nvPr/>
        </p:nvSpPr>
        <p:spPr>
          <a:xfrm>
            <a:off x="8412480" y="310896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CPU, 1 THREAD</a:t>
            </a:r>
          </a:p>
        </p:txBody>
      </p:sp>
      <p:sp>
        <p:nvSpPr>
          <p:cNvPr id="52" name="TextBox 51"/>
          <p:cNvSpPr txBox="1"/>
          <p:nvPr/>
        </p:nvSpPr>
        <p:spPr>
          <a:xfrm>
            <a:off x="8412480" y="3328416"/>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6B7A90"/>
                </a:solidFill>
                <a:latin typeface="Segoe UI"/>
              </a:rPr>
              <a:t>1.75 ms</a:t>
            </a:r>
          </a:p>
        </p:txBody>
      </p:sp>
      <p:sp>
        <p:nvSpPr>
          <p:cNvPr id="53" name="TextBox 52"/>
          <p:cNvSpPr txBox="1"/>
          <p:nvPr/>
        </p:nvSpPr>
        <p:spPr>
          <a:xfrm>
            <a:off x="8412480" y="400507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CPU MT, 24 THREADS</a:t>
            </a:r>
          </a:p>
        </p:txBody>
      </p:sp>
      <p:sp>
        <p:nvSpPr>
          <p:cNvPr id="54" name="TextBox 53"/>
          <p:cNvSpPr txBox="1"/>
          <p:nvPr/>
        </p:nvSpPr>
        <p:spPr>
          <a:xfrm>
            <a:off x="8412480" y="4224528"/>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7EDF4"/>
                </a:solidFill>
                <a:latin typeface="Segoe UI"/>
              </a:rPr>
              <a:t>148 µs</a:t>
            </a:r>
          </a:p>
        </p:txBody>
      </p:sp>
      <p:sp>
        <p:nvSpPr>
          <p:cNvPr id="55" name="TextBox 54"/>
          <p:cNvSpPr txBox="1"/>
          <p:nvPr/>
        </p:nvSpPr>
        <p:spPr>
          <a:xfrm>
            <a:off x="8412480" y="4956048"/>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THAT IS THE BAR</a:t>
            </a:r>
          </a:p>
        </p:txBody>
      </p:sp>
      <p:sp>
        <p:nvSpPr>
          <p:cNvPr id="56" name="TextBox 55"/>
          <p:cNvSpPr txBox="1"/>
          <p:nvPr/>
        </p:nvSpPr>
        <p:spPr>
          <a:xfrm>
            <a:off x="8412480" y="5157216"/>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6 762 frames / s</a:t>
            </a:r>
          </a:p>
        </p:txBody>
      </p:sp>
      <p:sp>
        <p:nvSpPr>
          <p:cNvPr id="57" name="TextBox 56"/>
          <p:cNvSpPr txBox="1"/>
          <p:nvPr/>
        </p:nvSpPr>
        <p:spPr>
          <a:xfrm>
            <a:off x="8412480" y="5705856"/>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Thread count is swept per cluster size, not assumed: 24 at 3×3, 32 at 9×9.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THE MACHINE WE ARE MOVING TO</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GPU: throughput-oriented, the whole frame at once</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6 / 33</a:t>
            </a:r>
          </a:p>
        </p:txBody>
      </p:sp>
      <p:pic>
        <p:nvPicPr>
          <p:cNvPr id="40" name="Picture 39" descr="img_gpu_die.png"/>
          <p:cNvPicPr>
            <a:picLocks noChangeAspect="1"/>
          </p:cNvPicPr>
          <p:nvPr/>
        </p:nvPicPr>
        <p:blipFill>
          <a:blip r:embed="rId2"/>
          <a:stretch>
            <a:fillRect/>
          </a:stretch>
        </p:blipFill>
        <p:spPr>
          <a:xfrm>
            <a:off x="640080" y="1920240"/>
            <a:ext cx="2514600" cy="2480761"/>
          </a:xfrm>
          <a:prstGeom prst="rect">
            <a:avLst/>
          </a:prstGeom>
        </p:spPr>
      </p:pic>
      <p:sp>
        <p:nvSpPr>
          <p:cNvPr id="41" name="TextBox 40"/>
          <p:cNvSpPr txBox="1"/>
          <p:nvPr/>
        </p:nvSpPr>
        <p:spPr>
          <a:xfrm>
            <a:off x="640080" y="4498848"/>
            <a:ext cx="251460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AD102 · 144 blocks, 128 enabled on this card. One SM boxed.</a:t>
            </a:r>
          </a:p>
        </p:txBody>
      </p:sp>
      <p:pic>
        <p:nvPicPr>
          <p:cNvPr id="42" name="Picture 41" descr="img_gpu_sm.png"/>
          <p:cNvPicPr>
            <a:picLocks noChangeAspect="1"/>
          </p:cNvPicPr>
          <p:nvPr/>
        </p:nvPicPr>
        <p:blipFill>
          <a:blip r:embed="rId3"/>
          <a:stretch>
            <a:fillRect/>
          </a:stretch>
        </p:blipFill>
        <p:spPr>
          <a:xfrm>
            <a:off x="3429000" y="1755648"/>
            <a:ext cx="4343400" cy="2919988"/>
          </a:xfrm>
          <a:prstGeom prst="rect">
            <a:avLst/>
          </a:prstGeom>
        </p:spPr>
      </p:pic>
      <p:pic>
        <p:nvPicPr>
          <p:cNvPr id="43" name="Picture 42" descr="img_gpu_legend.png"/>
          <p:cNvPicPr>
            <a:picLocks noChangeAspect="1"/>
          </p:cNvPicPr>
          <p:nvPr/>
        </p:nvPicPr>
        <p:blipFill>
          <a:blip r:embed="rId4"/>
          <a:stretch>
            <a:fillRect/>
          </a:stretch>
        </p:blipFill>
        <p:spPr>
          <a:xfrm>
            <a:off x="3429000" y="4809744"/>
            <a:ext cx="4343400" cy="546397"/>
          </a:xfrm>
          <a:prstGeom prst="rect">
            <a:avLst/>
          </a:prstGeom>
        </p:spPr>
      </p:pic>
      <p:sp>
        <p:nvSpPr>
          <p:cNvPr id="44" name="Rectangle 43"/>
          <p:cNvSpPr/>
          <p:nvPr/>
        </p:nvSpPr>
        <p:spPr>
          <a:xfrm>
            <a:off x="681228" y="5504688"/>
            <a:ext cx="7182612" cy="78638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40080" y="5504688"/>
            <a:ext cx="41148" cy="78638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6112" y="5596127"/>
            <a:ext cx="6766560" cy="603503"/>
          </a:xfrm>
          <a:prstGeom prst="rect">
            <a:avLst/>
          </a:prstGeom>
          <a:noFill/>
        </p:spPr>
        <p:txBody>
          <a:bodyPr wrap="square" lIns="0" rIns="0" tIns="0" bIns="0" anchor="ctr">
            <a:spAutoFit/>
          </a:bodyPr>
          <a:lstStyle/>
          <a:p>
            <a:pPr>
              <a:lnSpc>
                <a:spcPct val="120000"/>
              </a:lnSpc>
              <a:spcBef>
                <a:spcPts val="0"/>
              </a:spcBef>
              <a:spcAft>
                <a:spcPts val="0"/>
              </a:spcAft>
            </a:pPr>
            <a:r>
              <a:rPr sz="1000" b="0" i="0">
                <a:solidFill>
                  <a:srgbClr val="A5B2C4"/>
                </a:solidFill>
                <a:latin typeface="Segoe UI"/>
              </a:rPr>
              <a:t>Same grammar, inverted proportions: </a:t>
            </a:r>
            <a:r>
              <a:rPr sz="1000" b="1" i="0">
                <a:solidFill>
                  <a:srgbClr val="E7EDF4"/>
                </a:solidFill>
                <a:latin typeface="Segoe UI"/>
              </a:rPr>
              <a:t>4 fetch/decode</a:t>
            </a:r>
            <a:r>
              <a:rPr sz="1000" b="0" i="0">
                <a:solidFill>
                  <a:srgbClr val="A5B2C4"/>
                </a:solidFill>
                <a:latin typeface="Segoe UI"/>
              </a:rPr>
              <a:t> for </a:t>
            </a:r>
            <a:r>
              <a:rPr sz="1000" b="1" i="0">
                <a:solidFill>
                  <a:srgbClr val="E7EDF4"/>
                </a:solidFill>
                <a:latin typeface="Segoe UI"/>
              </a:rPr>
              <a:t>64 warp contexts</a:t>
            </a:r>
            <a:r>
              <a:rPr sz="1000" b="0" i="0">
                <a:solidFill>
                  <a:srgbClr val="A5B2C4"/>
                </a:solidFill>
                <a:latin typeface="Segoe UI"/>
              </a:rPr>
              <a:t> and a wall of lanes. Nothing reorders instructions: when a warp stalls on memory, the selector just </a:t>
            </a:r>
            <a:r>
              <a:rPr sz="1000" b="1" i="0">
                <a:solidFill>
                  <a:srgbClr val="E7EDF4"/>
                </a:solidFill>
                <a:latin typeface="Segoe UI"/>
              </a:rPr>
              <a:t>runs a different one</a:t>
            </a:r>
            <a:r>
              <a:rPr sz="1000" b="0" i="0">
                <a:solidFill>
                  <a:srgbClr val="A5B2C4"/>
                </a:solidFill>
                <a:latin typeface="Segoe UI"/>
              </a:rPr>
              <a:t>.</a:t>
            </a:r>
          </a:p>
        </p:txBody>
      </p:sp>
      <p:sp>
        <p:nvSpPr>
          <p:cNvPr id="47" name="TextBox 46"/>
          <p:cNvSpPr txBox="1"/>
          <p:nvPr/>
        </p:nvSpPr>
        <p:spPr>
          <a:xfrm>
            <a:off x="640080" y="6236208"/>
            <a:ext cx="72237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One SM: a V100 is shown; this card's is the same idea — 128 FP32 lanes, 48 warp slots, 100 kB shared memory. After Stanford CS149, Fall 2025.</a:t>
            </a:r>
          </a:p>
        </p:txBody>
      </p:sp>
      <p:sp>
        <p:nvSpPr>
          <p:cNvPr id="48" name="Rectangle 47"/>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NVIDIA GEFORCE RTX 4090</a:t>
            </a:r>
          </a:p>
        </p:txBody>
      </p:sp>
      <p:sp>
        <p:nvSpPr>
          <p:cNvPr id="50" name="TextBox 49"/>
          <p:cNvSpPr txBox="1"/>
          <p:nvPr/>
        </p:nvSpPr>
        <p:spPr>
          <a:xfrm>
            <a:off x="8412480" y="219456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FP32 LANES</a:t>
            </a:r>
          </a:p>
        </p:txBody>
      </p:sp>
      <p:sp>
        <p:nvSpPr>
          <p:cNvPr id="51" name="TextBox 50"/>
          <p:cNvSpPr txBox="1"/>
          <p:nvPr/>
        </p:nvSpPr>
        <p:spPr>
          <a:xfrm>
            <a:off x="8412480" y="2414016"/>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7EDF4"/>
                </a:solidFill>
                <a:latin typeface="Segoe UI"/>
              </a:rPr>
              <a:t>16 384</a:t>
            </a:r>
          </a:p>
        </p:txBody>
      </p:sp>
      <p:sp>
        <p:nvSpPr>
          <p:cNvPr id="52" name="TextBox 51"/>
          <p:cNvSpPr txBox="1"/>
          <p:nvPr/>
        </p:nvSpPr>
        <p:spPr>
          <a:xfrm>
            <a:off x="8412480" y="309067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128 SMS × 128 LANES</a:t>
            </a:r>
          </a:p>
        </p:txBody>
      </p:sp>
      <p:sp>
        <p:nvSpPr>
          <p:cNvPr id="53" name="TextBox 52"/>
          <p:cNvSpPr txBox="1"/>
          <p:nvPr/>
        </p:nvSpPr>
        <p:spPr>
          <a:xfrm>
            <a:off x="8412480" y="3291840"/>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A5B2C4"/>
                </a:solidFill>
                <a:latin typeface="Segoe UI"/>
              </a:rPr>
              <a:t>vs 32 CPU streams</a:t>
            </a:r>
          </a:p>
        </p:txBody>
      </p:sp>
      <p:sp>
        <p:nvSpPr>
          <p:cNvPr id="54" name="TextBox 53"/>
          <p:cNvSpPr txBox="1"/>
          <p:nvPr/>
        </p:nvSpPr>
        <p:spPr>
          <a:xfrm>
            <a:off x="8412480" y="3822191"/>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RESIDENT THREAD SLOTS</a:t>
            </a:r>
          </a:p>
        </p:txBody>
      </p:sp>
      <p:sp>
        <p:nvSpPr>
          <p:cNvPr id="55" name="TextBox 54"/>
          <p:cNvSpPr txBox="1"/>
          <p:nvPr/>
        </p:nvSpPr>
        <p:spPr>
          <a:xfrm>
            <a:off x="8412480" y="4041648"/>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1E90C2"/>
                </a:solidFill>
                <a:latin typeface="Segoe UI"/>
              </a:rPr>
              <a:t>196 608</a:t>
            </a:r>
          </a:p>
        </p:txBody>
      </p:sp>
      <p:sp>
        <p:nvSpPr>
          <p:cNvPr id="56" name="TextBox 55"/>
          <p:cNvSpPr txBox="1"/>
          <p:nvPr/>
        </p:nvSpPr>
        <p:spPr>
          <a:xfrm>
            <a:off x="8412480" y="471830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THE FRAME NEEDS</a:t>
            </a:r>
          </a:p>
        </p:txBody>
      </p:sp>
      <p:sp>
        <p:nvSpPr>
          <p:cNvPr id="57" name="TextBox 56"/>
          <p:cNvSpPr txBox="1"/>
          <p:nvPr/>
        </p:nvSpPr>
        <p:spPr>
          <a:xfrm>
            <a:off x="8412480" y="4919472"/>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E8B25C"/>
                </a:solidFill>
                <a:latin typeface="Segoe UI"/>
              </a:rPr>
              <a:t>160 000  →  all at once</a:t>
            </a:r>
          </a:p>
        </p:txBody>
      </p:sp>
      <p:sp>
        <p:nvSpPr>
          <p:cNvPr id="58" name="TextBox 57"/>
          <p:cNvSpPr txBox="1"/>
          <p:nvPr/>
        </p:nvSpPr>
        <p:spPr>
          <a:xfrm>
            <a:off x="8412480" y="5504688"/>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Device memory runs at 1 008 GB/s (384-bit, 21 Gbps); PCIe delivers 25. Two copy engines, so H2D and D2H run at the same time.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THE CUDA KERNEL · EXECUTION MODEL</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One thread per pixel</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7 / 33</a:t>
            </a:r>
          </a:p>
        </p:txBody>
      </p:sp>
      <p:sp>
        <p:nvSpPr>
          <p:cNvPr id="40" name="Rectangle 39"/>
          <p:cNvSpPr/>
          <p:nvPr/>
        </p:nvSpPr>
        <p:spPr>
          <a:xfrm>
            <a:off x="640080" y="1737360"/>
            <a:ext cx="1956816"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40080" y="1737360"/>
            <a:ext cx="27432"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22959" y="1783080"/>
            <a:ext cx="1664208" cy="475488"/>
          </a:xfrm>
          <a:prstGeom prst="rect">
            <a:avLst/>
          </a:prstGeom>
          <a:noFill/>
        </p:spPr>
        <p:txBody>
          <a:bodyPr wrap="square" lIns="0" rIns="0" tIns="0" bIns="0" anchor="ctr">
            <a:spAutoFit/>
          </a:bodyPr>
          <a:lstStyle/>
          <a:p>
            <a:pPr>
              <a:lnSpc>
                <a:spcPct val="110000"/>
              </a:lnSpc>
              <a:spcBef>
                <a:spcPts val="0"/>
              </a:spcBef>
              <a:spcAft>
                <a:spcPts val="0"/>
              </a:spcAft>
            </a:pPr>
            <a:r>
              <a:rPr sz="900" b="1" i="0">
                <a:solidFill>
                  <a:srgbClr val="1E90C2"/>
                </a:solidFill>
                <a:latin typeface="Consolas"/>
              </a:rPr>
              <a:t>1  </a:t>
            </a:r>
            <a:r>
              <a:rPr sz="950" b="0" i="0">
                <a:solidFill>
                  <a:srgbClr val="E7EDF4"/>
                </a:solidFill>
                <a:latin typeface="Segoe UI"/>
              </a:rPr>
              <a:t>load tile + halo</a:t>
            </a:r>
          </a:p>
        </p:txBody>
      </p:sp>
      <p:sp>
        <p:nvSpPr>
          <p:cNvPr id="43" name="TextBox 42"/>
          <p:cNvSpPr txBox="1"/>
          <p:nvPr/>
        </p:nvSpPr>
        <p:spPr>
          <a:xfrm>
            <a:off x="2596896" y="1783080"/>
            <a:ext cx="274320" cy="475488"/>
          </a:xfrm>
          <a:prstGeom prst="rect">
            <a:avLst/>
          </a:prstGeom>
          <a:noFill/>
        </p:spPr>
        <p:txBody>
          <a:bodyPr wrap="square" lIns="0" rIns="0" tIns="0" bIns="0" anchor="ctr">
            <a:spAutoFit/>
          </a:bodyPr>
          <a:lstStyle/>
          <a:p>
            <a:pPr algn="ctr">
              <a:spcBef>
                <a:spcPts val="0"/>
              </a:spcBef>
              <a:spcAft>
                <a:spcPts val="0"/>
              </a:spcAft>
            </a:pPr>
            <a:r>
              <a:rPr sz="1500" b="1" i="0">
                <a:solidFill>
                  <a:srgbClr val="6B7A90"/>
                </a:solidFill>
                <a:latin typeface="Segoe UI"/>
              </a:rPr>
              <a:t>›</a:t>
            </a:r>
          </a:p>
        </p:txBody>
      </p:sp>
      <p:sp>
        <p:nvSpPr>
          <p:cNvPr id="44" name="Rectangle 43"/>
          <p:cNvSpPr/>
          <p:nvPr/>
        </p:nvSpPr>
        <p:spPr>
          <a:xfrm>
            <a:off x="2871215" y="1737360"/>
            <a:ext cx="1956816"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2871215" y="1737360"/>
            <a:ext cx="27432"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054096" y="1783080"/>
            <a:ext cx="1664208" cy="475488"/>
          </a:xfrm>
          <a:prstGeom prst="rect">
            <a:avLst/>
          </a:prstGeom>
          <a:noFill/>
        </p:spPr>
        <p:txBody>
          <a:bodyPr wrap="square" lIns="0" rIns="0" tIns="0" bIns="0" anchor="ctr">
            <a:spAutoFit/>
          </a:bodyPr>
          <a:lstStyle/>
          <a:p>
            <a:pPr>
              <a:lnSpc>
                <a:spcPct val="110000"/>
              </a:lnSpc>
              <a:spcBef>
                <a:spcPts val="0"/>
              </a:spcBef>
              <a:spcAft>
                <a:spcPts val="0"/>
              </a:spcAft>
            </a:pPr>
            <a:r>
              <a:rPr sz="900" b="1" i="0">
                <a:solidFill>
                  <a:srgbClr val="1E90C2"/>
                </a:solidFill>
                <a:latin typeface="Consolas"/>
              </a:rPr>
              <a:t>2  </a:t>
            </a:r>
            <a:r>
              <a:rPr sz="950" b="0" i="0">
                <a:solidFill>
                  <a:srgbClr val="E7EDF4"/>
                </a:solidFill>
                <a:latin typeface="Segoe UI"/>
              </a:rPr>
              <a:t>__syncthreads</a:t>
            </a:r>
          </a:p>
        </p:txBody>
      </p:sp>
      <p:sp>
        <p:nvSpPr>
          <p:cNvPr id="47" name="TextBox 46"/>
          <p:cNvSpPr txBox="1"/>
          <p:nvPr/>
        </p:nvSpPr>
        <p:spPr>
          <a:xfrm>
            <a:off x="4828031" y="1783080"/>
            <a:ext cx="274320" cy="475488"/>
          </a:xfrm>
          <a:prstGeom prst="rect">
            <a:avLst/>
          </a:prstGeom>
          <a:noFill/>
        </p:spPr>
        <p:txBody>
          <a:bodyPr wrap="square" lIns="0" rIns="0" tIns="0" bIns="0" anchor="ctr">
            <a:spAutoFit/>
          </a:bodyPr>
          <a:lstStyle/>
          <a:p>
            <a:pPr algn="ctr">
              <a:spcBef>
                <a:spcPts val="0"/>
              </a:spcBef>
              <a:spcAft>
                <a:spcPts val="0"/>
              </a:spcAft>
            </a:pPr>
            <a:r>
              <a:rPr sz="1500" b="1" i="0">
                <a:solidFill>
                  <a:srgbClr val="6B7A90"/>
                </a:solidFill>
                <a:latin typeface="Segoe UI"/>
              </a:rPr>
              <a:t>›</a:t>
            </a:r>
          </a:p>
        </p:txBody>
      </p:sp>
      <p:sp>
        <p:nvSpPr>
          <p:cNvPr id="48" name="Rectangle 47"/>
          <p:cNvSpPr/>
          <p:nvPr/>
        </p:nvSpPr>
        <p:spPr>
          <a:xfrm>
            <a:off x="5102352" y="1737360"/>
            <a:ext cx="1956816"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5102352" y="1737360"/>
            <a:ext cx="27432"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285232" y="1783080"/>
            <a:ext cx="1664208" cy="475488"/>
          </a:xfrm>
          <a:prstGeom prst="rect">
            <a:avLst/>
          </a:prstGeom>
          <a:noFill/>
        </p:spPr>
        <p:txBody>
          <a:bodyPr wrap="square" lIns="0" rIns="0" tIns="0" bIns="0" anchor="ctr">
            <a:spAutoFit/>
          </a:bodyPr>
          <a:lstStyle/>
          <a:p>
            <a:pPr>
              <a:lnSpc>
                <a:spcPct val="110000"/>
              </a:lnSpc>
              <a:spcBef>
                <a:spcPts val="0"/>
              </a:spcBef>
              <a:spcAft>
                <a:spcPts val="0"/>
              </a:spcAft>
            </a:pPr>
            <a:r>
              <a:rPr sz="900" b="1" i="0">
                <a:solidFill>
                  <a:srgbClr val="1E90C2"/>
                </a:solidFill>
                <a:latin typeface="Consolas"/>
              </a:rPr>
              <a:t>3  </a:t>
            </a:r>
            <a:r>
              <a:rPr sz="950" b="0" i="0">
                <a:solidFill>
                  <a:srgbClr val="E7EDF4"/>
                </a:solidFill>
                <a:latin typeface="Segoe UI"/>
              </a:rPr>
              <a:t>stencil reduction</a:t>
            </a:r>
          </a:p>
        </p:txBody>
      </p:sp>
      <p:sp>
        <p:nvSpPr>
          <p:cNvPr id="51" name="TextBox 50"/>
          <p:cNvSpPr txBox="1"/>
          <p:nvPr/>
        </p:nvSpPr>
        <p:spPr>
          <a:xfrm>
            <a:off x="7059168" y="1783080"/>
            <a:ext cx="274320" cy="475488"/>
          </a:xfrm>
          <a:prstGeom prst="rect">
            <a:avLst/>
          </a:prstGeom>
          <a:noFill/>
        </p:spPr>
        <p:txBody>
          <a:bodyPr wrap="square" lIns="0" rIns="0" tIns="0" bIns="0" anchor="ctr">
            <a:spAutoFit/>
          </a:bodyPr>
          <a:lstStyle/>
          <a:p>
            <a:pPr algn="ctr">
              <a:spcBef>
                <a:spcPts val="0"/>
              </a:spcBef>
              <a:spcAft>
                <a:spcPts val="0"/>
              </a:spcAft>
            </a:pPr>
            <a:r>
              <a:rPr sz="1500" b="1" i="0">
                <a:solidFill>
                  <a:srgbClr val="6B7A90"/>
                </a:solidFill>
                <a:latin typeface="Segoe UI"/>
              </a:rPr>
              <a:t>›</a:t>
            </a:r>
          </a:p>
        </p:txBody>
      </p:sp>
      <p:sp>
        <p:nvSpPr>
          <p:cNvPr id="52" name="Rectangle 51"/>
          <p:cNvSpPr/>
          <p:nvPr/>
        </p:nvSpPr>
        <p:spPr>
          <a:xfrm>
            <a:off x="7333488" y="1737360"/>
            <a:ext cx="1956816"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7333488" y="1737360"/>
            <a:ext cx="27432"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516367" y="1783080"/>
            <a:ext cx="1664208" cy="475488"/>
          </a:xfrm>
          <a:prstGeom prst="rect">
            <a:avLst/>
          </a:prstGeom>
          <a:noFill/>
        </p:spPr>
        <p:txBody>
          <a:bodyPr wrap="square" lIns="0" rIns="0" tIns="0" bIns="0" anchor="ctr">
            <a:spAutoFit/>
          </a:bodyPr>
          <a:lstStyle/>
          <a:p>
            <a:pPr>
              <a:lnSpc>
                <a:spcPct val="110000"/>
              </a:lnSpc>
              <a:spcBef>
                <a:spcPts val="0"/>
              </a:spcBef>
              <a:spcAft>
                <a:spcPts val="0"/>
              </a:spcAft>
            </a:pPr>
            <a:r>
              <a:rPr sz="900" b="1" i="0">
                <a:solidFill>
                  <a:srgbClr val="1E90C2"/>
                </a:solidFill>
                <a:latin typeface="Consolas"/>
              </a:rPr>
              <a:t>4  </a:t>
            </a:r>
            <a:r>
              <a:rPr sz="950" b="0" i="0">
                <a:solidFill>
                  <a:srgbClr val="E7EDF4"/>
                </a:solidFill>
                <a:latin typeface="Segoe UI"/>
              </a:rPr>
              <a:t>classify</a:t>
            </a:r>
          </a:p>
        </p:txBody>
      </p:sp>
      <p:sp>
        <p:nvSpPr>
          <p:cNvPr id="55" name="TextBox 54"/>
          <p:cNvSpPr txBox="1"/>
          <p:nvPr/>
        </p:nvSpPr>
        <p:spPr>
          <a:xfrm>
            <a:off x="9290304" y="1783080"/>
            <a:ext cx="274320" cy="475488"/>
          </a:xfrm>
          <a:prstGeom prst="rect">
            <a:avLst/>
          </a:prstGeom>
          <a:noFill/>
        </p:spPr>
        <p:txBody>
          <a:bodyPr wrap="square" lIns="0" rIns="0" tIns="0" bIns="0" anchor="ctr">
            <a:spAutoFit/>
          </a:bodyPr>
          <a:lstStyle/>
          <a:p>
            <a:pPr algn="ctr">
              <a:spcBef>
                <a:spcPts val="0"/>
              </a:spcBef>
              <a:spcAft>
                <a:spcPts val="0"/>
              </a:spcAft>
            </a:pPr>
            <a:r>
              <a:rPr sz="1500" b="1" i="0">
                <a:solidFill>
                  <a:srgbClr val="6B7A90"/>
                </a:solidFill>
                <a:latin typeface="Segoe UI"/>
              </a:rPr>
              <a:t>›</a:t>
            </a:r>
          </a:p>
        </p:txBody>
      </p:sp>
      <p:sp>
        <p:nvSpPr>
          <p:cNvPr id="56" name="Rectangle 55"/>
          <p:cNvSpPr/>
          <p:nvPr/>
        </p:nvSpPr>
        <p:spPr>
          <a:xfrm>
            <a:off x="9564624" y="1737360"/>
            <a:ext cx="1956816"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9564624" y="1737360"/>
            <a:ext cx="27432"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747503" y="1783080"/>
            <a:ext cx="1664208" cy="475488"/>
          </a:xfrm>
          <a:prstGeom prst="rect">
            <a:avLst/>
          </a:prstGeom>
          <a:noFill/>
        </p:spPr>
        <p:txBody>
          <a:bodyPr wrap="square" lIns="0" rIns="0" tIns="0" bIns="0" anchor="ctr">
            <a:spAutoFit/>
          </a:bodyPr>
          <a:lstStyle/>
          <a:p>
            <a:pPr>
              <a:lnSpc>
                <a:spcPct val="110000"/>
              </a:lnSpc>
              <a:spcBef>
                <a:spcPts val="0"/>
              </a:spcBef>
              <a:spcAft>
                <a:spcPts val="0"/>
              </a:spcAft>
            </a:pPr>
            <a:r>
              <a:rPr sz="900" b="1" i="0">
                <a:solidFill>
                  <a:srgbClr val="1E90C2"/>
                </a:solidFill>
                <a:latin typeface="Consolas"/>
              </a:rPr>
              <a:t>5  </a:t>
            </a:r>
            <a:r>
              <a:rPr sz="950" b="0" i="0">
                <a:solidFill>
                  <a:srgbClr val="E7EDF4"/>
                </a:solidFill>
                <a:latin typeface="Segoe UI"/>
              </a:rPr>
              <a:t>append or update pedestal</a:t>
            </a:r>
          </a:p>
        </p:txBody>
      </p:sp>
      <p:sp>
        <p:nvSpPr>
          <p:cNvPr id="59" name="TextBox 58"/>
          <p:cNvSpPr txBox="1"/>
          <p:nvPr/>
        </p:nvSpPr>
        <p:spPr>
          <a:xfrm>
            <a:off x="640080" y="2606040"/>
            <a:ext cx="685800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A </a:t>
            </a:r>
            <a:r>
              <a:rPr sz="1050" b="1" i="0">
                <a:solidFill>
                  <a:srgbClr val="E7EDF4"/>
                </a:solidFill>
                <a:latin typeface="Segoe UI"/>
              </a:rPr>
              <a:t>16×16 block = 256 threads</a:t>
            </a:r>
            <a:r>
              <a:rPr sz="1050" b="0" i="0">
                <a:solidFill>
                  <a:srgbClr val="A5B2C4"/>
                </a:solidFill>
                <a:latin typeface="Segoe UI"/>
              </a:rPr>
              <a:t> covers 256 pixels; the grid tiles the whole 400×400 frame. Cluster geometry is a </a:t>
            </a:r>
            <a:r>
              <a:rPr sz="1050" b="1" i="0">
                <a:solidFill>
                  <a:srgbClr val="E7EDF4"/>
                </a:solidFill>
                <a:latin typeface="Segoe UI"/>
              </a:rPr>
              <a:t>template parameter</a:t>
            </a:r>
            <a:r>
              <a:rPr sz="1050" b="0" i="0">
                <a:solidFill>
                  <a:srgbClr val="A5B2C4"/>
                </a:solidFill>
                <a:latin typeface="Segoe UI"/>
              </a:rPr>
              <a:t>, so the stencil is fully unrolled at compile time.</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The output is </a:t>
            </a:r>
            <a:r>
              <a:rPr sz="1050" b="1" i="0">
                <a:solidFill>
                  <a:srgbClr val="E7EDF4"/>
                </a:solidFill>
                <a:latin typeface="Segoe UI"/>
              </a:rPr>
              <a:t>sparse</a:t>
            </a:r>
            <a:r>
              <a:rPr sz="1050" b="0" i="0">
                <a:solidFill>
                  <a:srgbClr val="A5B2C4"/>
                </a:solidFill>
                <a:latin typeface="Segoe UI"/>
              </a:rPr>
              <a:t>: only detections touch global memory, through one atomic bump of a per-frame counter. The </a:t>
            </a:r>
            <a:r>
              <a:rPr sz="1050" b="1" i="0">
                <a:solidFill>
                  <a:srgbClr val="E7EDF4"/>
                </a:solidFill>
                <a:latin typeface="Segoe UI"/>
              </a:rPr>
              <a:t>decision work is dense</a:t>
            </a:r>
            <a:r>
              <a:rPr sz="1050" b="0" i="0">
                <a:solidFill>
                  <a:srgbClr val="A5B2C4"/>
                </a:solidFill>
                <a:latin typeface="Segoe UI"/>
              </a:rPr>
              <a:t>: every pixel is tested, independently and identically.</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That is exactly the shape a GPU wants: regular, independent, repeated 160 000 times per frame.</a:t>
            </a:r>
          </a:p>
        </p:txBody>
      </p:sp>
      <p:sp>
        <p:nvSpPr>
          <p:cNvPr id="60" name="Rounded Rectangle 59"/>
          <p:cNvSpPr/>
          <p:nvPr/>
        </p:nvSpPr>
        <p:spPr>
          <a:xfrm>
            <a:off x="640080" y="3977639"/>
            <a:ext cx="6858000" cy="1298082"/>
          </a:xfrm>
          <a:prstGeom prst="round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04671" y="4087368"/>
            <a:ext cx="6528816" cy="182880"/>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LAUNCH CONFIGURATION · ClusterFinderCUDA.hpp</a:t>
            </a:r>
          </a:p>
        </p:txBody>
      </p:sp>
      <p:sp>
        <p:nvSpPr>
          <p:cNvPr id="62" name="TextBox 61"/>
          <p:cNvSpPr txBox="1"/>
          <p:nvPr/>
        </p:nvSpPr>
        <p:spPr>
          <a:xfrm>
            <a:off x="804671" y="4306824"/>
            <a:ext cx="6528816" cy="1078626"/>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A5B2C4"/>
                </a:solidFill>
                <a:latin typeface="Consolas"/>
              </a:rPr>
              <a:t>block = dim3(BLOCK_X, BLOCK_Y);            // 16 x 16</a:t>
            </a:r>
          </a:p>
          <a:p>
            <a:pPr>
              <a:lnSpc>
                <a:spcPct val="112000"/>
              </a:lnSpc>
              <a:spcBef>
                <a:spcPts val="0"/>
              </a:spcBef>
              <a:spcAft>
                <a:spcPts val="0"/>
              </a:spcAft>
            </a:pPr>
            <a:r>
              <a:rPr sz="900" b="0" i="0">
                <a:solidFill>
                  <a:srgbClr val="A5B2C4"/>
                </a:solidFill>
                <a:latin typeface="Consolas"/>
              </a:rPr>
              <a:t>grid  = dim3((ncols + BLOCK_X - 1)/BLOCK_X,</a:t>
            </a:r>
          </a:p>
          <a:p>
            <a:pPr>
              <a:lnSpc>
                <a:spcPct val="112000"/>
              </a:lnSpc>
              <a:spcBef>
                <a:spcPts val="0"/>
              </a:spcBef>
              <a:spcAft>
                <a:spcPts val="0"/>
              </a:spcAft>
            </a:pPr>
            <a:r>
              <a:rPr sz="900" b="0" i="0">
                <a:solidFill>
                  <a:srgbClr val="A5B2C4"/>
                </a:solidFill>
                <a:latin typeface="Consolas"/>
              </a:rPr>
              <a:t>             (nrows + BLOCK_Y - 1)/BLOCK_Y);</a:t>
            </a:r>
          </a:p>
          <a:p>
            <a:pPr>
              <a:lnSpc>
                <a:spcPct val="112000"/>
              </a:lnSpc>
              <a:spcBef>
                <a:spcPts val="0"/>
              </a:spcBef>
              <a:spcAft>
                <a:spcPts val="0"/>
              </a:spcAft>
            </a:pPr>
            <a:r>
              <a:rPr sz="900" b="0" i="0">
                <a:solidFill>
                  <a:srgbClr val="A5B2C4"/>
                </a:solidFill>
                <a:latin typeface="Consolas"/>
              </a:rPr>
              <a:t>device::find_clusters_in_single_frame&lt;&lt;&lt;grid, block, </a:t>
            </a:r>
            <a:r>
              <a:rPr sz="900" b="1" i="0">
                <a:solidFill>
                  <a:srgbClr val="1E90C2"/>
                </a:solidFill>
                <a:latin typeface="Consolas"/>
              </a:rPr>
              <a:t>shmem</a:t>
            </a:r>
            <a:r>
              <a:rPr sz="900" b="0" i="0">
                <a:solidFill>
                  <a:srgbClr val="A5B2C4"/>
                </a:solidFill>
                <a:latin typeface="Consolas"/>
              </a:rPr>
              <a:t>, stream&gt;&gt;&gt;(</a:t>
            </a:r>
          </a:p>
          <a:p>
            <a:pPr>
              <a:lnSpc>
                <a:spcPct val="112000"/>
              </a:lnSpc>
              <a:spcBef>
                <a:spcPts val="0"/>
              </a:spcBef>
              <a:spcAft>
                <a:spcPts val="0"/>
              </a:spcAft>
            </a:pPr>
            <a:r>
              <a:rPr sz="900" b="0" i="0">
                <a:solidFill>
                  <a:srgbClr val="A5B2C4"/>
                </a:solidFill>
                <a:latin typeface="Consolas"/>
              </a:rPr>
              <a:t>    d_frame, d_pd_mean, d_pd_sum, d_pd_sum2, d_pd_off, n_pd_samples,</a:t>
            </a:r>
          </a:p>
          <a:p>
            <a:pPr>
              <a:lnSpc>
                <a:spcPct val="112000"/>
              </a:lnSpc>
              <a:spcBef>
                <a:spcPts val="0"/>
              </a:spcBef>
              <a:spcAft>
                <a:spcPts val="0"/>
              </a:spcAft>
            </a:pPr>
            <a:r>
              <a:rPr sz="900" b="0" i="0">
                <a:solidFill>
                  <a:srgbClr val="A5B2C4"/>
                </a:solidFill>
                <a:latin typeface="Consolas"/>
              </a:rPr>
              <a:t>    nSigma, nrows, ncols, d_clusters, d_cluster_count, max_clusters);</a:t>
            </a:r>
          </a:p>
        </p:txBody>
      </p:sp>
      <p:sp>
        <p:nvSpPr>
          <p:cNvPr id="63" name="TextBox 62"/>
          <p:cNvSpPr txBox="1"/>
          <p:nvPr/>
        </p:nvSpPr>
        <p:spPr>
          <a:xfrm>
            <a:off x="640080" y="5431536"/>
            <a:ext cx="685800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400×400 pixels → a 25×25 grid of 16×16 blocks = 625 blocks per frame, handed to 128 SMs. Nothing about the launch depends on how many clusters the frame happens to contain, which is what makes the work uniform.</a:t>
            </a:r>
          </a:p>
        </p:txBody>
      </p:sp>
      <p:sp>
        <p:nvSpPr>
          <p:cNvPr id="64" name="Rounded Rectangle 63"/>
          <p:cNvSpPr/>
          <p:nvPr/>
        </p:nvSpPr>
        <p:spPr>
          <a:xfrm>
            <a:off x="7772400" y="2606040"/>
            <a:ext cx="3749039" cy="1870862"/>
          </a:xfrm>
          <a:prstGeom prst="round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936992" y="2715768"/>
            <a:ext cx="3419856" cy="182880"/>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THREE OUTCOMES, NOT TWO</a:t>
            </a:r>
          </a:p>
        </p:txBody>
      </p:sp>
      <p:sp>
        <p:nvSpPr>
          <p:cNvPr id="66" name="TextBox 65"/>
          <p:cNvSpPr txBox="1"/>
          <p:nvPr/>
        </p:nvSpPr>
        <p:spPr>
          <a:xfrm>
            <a:off x="7936992" y="2935224"/>
            <a:ext cx="3419856" cy="1651406"/>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6B7A90"/>
                </a:solidFill>
                <a:latin typeface="Consolas"/>
              </a:rPr>
              <a:t>// ClusterFinder.hpp — the serial CPU</a:t>
            </a:r>
          </a:p>
          <a:p>
            <a:pPr>
              <a:lnSpc>
                <a:spcPct val="112000"/>
              </a:lnSpc>
              <a:spcBef>
                <a:spcPts val="0"/>
              </a:spcBef>
              <a:spcAft>
                <a:spcPts val="0"/>
              </a:spcAft>
            </a:pPr>
            <a:r>
              <a:rPr sz="900" b="0" i="0">
                <a:solidFill>
                  <a:srgbClr val="A5B2C4"/>
                </a:solidFill>
                <a:latin typeface="Consolas"/>
              </a:rPr>
              <a:t>if (max &gt; nSigma * rms) {</a:t>
            </a:r>
          </a:p>
          <a:p>
            <a:pPr>
              <a:lnSpc>
                <a:spcPct val="112000"/>
              </a:lnSpc>
              <a:spcBef>
                <a:spcPts val="0"/>
              </a:spcBef>
              <a:spcAft>
                <a:spcPts val="0"/>
              </a:spcAft>
            </a:pPr>
            <a:r>
              <a:rPr sz="900" b="0" i="0">
                <a:solidFill>
                  <a:srgbClr val="A5B2C4"/>
                </a:solidFill>
                <a:latin typeface="Consolas"/>
              </a:rPr>
              <a:t>    if (value &lt; max)</a:t>
            </a:r>
          </a:p>
          <a:p>
            <a:pPr>
              <a:lnSpc>
                <a:spcPct val="112000"/>
              </a:lnSpc>
              <a:spcBef>
                <a:spcPts val="0"/>
              </a:spcBef>
              <a:spcAft>
                <a:spcPts val="0"/>
              </a:spcAft>
            </a:pPr>
            <a:r>
              <a:rPr sz="900" b="0" i="0">
                <a:solidFill>
                  <a:srgbClr val="A5B2C4"/>
                </a:solidFill>
                <a:latin typeface="Consolas"/>
              </a:rPr>
              <a:t>        continue;  // Not max go to the</a:t>
            </a:r>
          </a:p>
          <a:p>
            <a:pPr>
              <a:lnSpc>
                <a:spcPct val="112000"/>
              </a:lnSpc>
              <a:spcBef>
                <a:spcPts val="0"/>
              </a:spcBef>
              <a:spcAft>
                <a:spcPts val="0"/>
              </a:spcAft>
            </a:pPr>
            <a:r>
              <a:rPr sz="900" b="0" i="0">
                <a:solidFill>
                  <a:srgbClr val="6B7A90"/>
                </a:solidFill>
                <a:latin typeface="Consolas"/>
              </a:rPr>
              <a:t>                   // next pixel — but</a:t>
            </a:r>
          </a:p>
          <a:p>
            <a:pPr>
              <a:lnSpc>
                <a:spcPct val="112000"/>
              </a:lnSpc>
              <a:spcBef>
                <a:spcPts val="0"/>
              </a:spcBef>
              <a:spcAft>
                <a:spcPts val="0"/>
              </a:spcAft>
            </a:pPr>
            <a:r>
              <a:rPr sz="900" b="0" i="0">
                <a:solidFill>
                  <a:srgbClr val="6B7A90"/>
                </a:solidFill>
                <a:latin typeface="Consolas"/>
              </a:rPr>
              <a:t>                   // also no pedestal</a:t>
            </a:r>
          </a:p>
          <a:p>
            <a:pPr>
              <a:lnSpc>
                <a:spcPct val="112000"/>
              </a:lnSpc>
              <a:spcBef>
                <a:spcPts val="0"/>
              </a:spcBef>
              <a:spcAft>
                <a:spcPts val="0"/>
              </a:spcAft>
            </a:pPr>
            <a:r>
              <a:rPr sz="900" b="0" i="0">
                <a:solidFill>
                  <a:srgbClr val="6B7A90"/>
                </a:solidFill>
                <a:latin typeface="Consolas"/>
              </a:rPr>
              <a:t>                   // update</a:t>
            </a:r>
          </a:p>
          <a:p>
            <a:pPr>
              <a:lnSpc>
                <a:spcPct val="112000"/>
              </a:lnSpc>
              <a:spcBef>
                <a:spcPts val="0"/>
              </a:spcBef>
              <a:spcAft>
                <a:spcPts val="0"/>
              </a:spcAft>
            </a:pPr>
            <a:r>
              <a:rPr sz="900" b="0" i="0">
                <a:solidFill>
                  <a:srgbClr val="A5B2C4"/>
                </a:solidFill>
                <a:latin typeface="Consolas"/>
              </a:rPr>
              <a:t>} else {</a:t>
            </a:r>
          </a:p>
          <a:p>
            <a:pPr>
              <a:lnSpc>
                <a:spcPct val="112000"/>
              </a:lnSpc>
              <a:spcBef>
                <a:spcPts val="0"/>
              </a:spcBef>
              <a:spcAft>
                <a:spcPts val="0"/>
              </a:spcAft>
            </a:pPr>
            <a:r>
              <a:rPr sz="900" b="0" i="0">
                <a:solidFill>
                  <a:srgbClr val="A5B2C4"/>
                </a:solidFill>
                <a:latin typeface="Consolas"/>
              </a:rPr>
              <a:t>    pedestal.</a:t>
            </a:r>
            <a:r>
              <a:rPr sz="900" b="1" i="0">
                <a:solidFill>
                  <a:srgbClr val="1E90C2"/>
                </a:solidFill>
                <a:latin typeface="Consolas"/>
              </a:rPr>
              <a:t>push_fast</a:t>
            </a:r>
            <a:r>
              <a:rPr sz="900" b="0" i="0">
                <a:solidFill>
                  <a:srgbClr val="A5B2C4"/>
                </a:solidFill>
                <a:latin typeface="Consolas"/>
              </a:rPr>
              <a:t>(iy, ix, ...);</a:t>
            </a:r>
          </a:p>
          <a:p>
            <a:pPr>
              <a:lnSpc>
                <a:spcPct val="112000"/>
              </a:lnSpc>
              <a:spcBef>
                <a:spcPts val="0"/>
              </a:spcBef>
              <a:spcAft>
                <a:spcPts val="0"/>
              </a:spcAft>
            </a:pPr>
            <a:r>
              <a:rPr sz="900" b="0" i="0">
                <a:solidFill>
                  <a:srgbClr val="A5B2C4"/>
                </a:solidFill>
                <a:latin typeface="Consolas"/>
              </a:rPr>
              <a:t>}</a:t>
            </a:r>
          </a:p>
        </p:txBody>
      </p:sp>
      <p:sp>
        <p:nvSpPr>
          <p:cNvPr id="67" name="Rectangle 66"/>
          <p:cNvSpPr/>
          <p:nvPr/>
        </p:nvSpPr>
        <p:spPr>
          <a:xfrm>
            <a:off x="7813548" y="4608576"/>
            <a:ext cx="3707891" cy="105156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7772400" y="4608576"/>
            <a:ext cx="41148" cy="105156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8028431" y="4700016"/>
            <a:ext cx="3291839" cy="868680"/>
          </a:xfrm>
          <a:prstGeom prst="rect">
            <a:avLst/>
          </a:prstGeom>
          <a:noFill/>
        </p:spPr>
        <p:txBody>
          <a:bodyPr wrap="square" lIns="0" rIns="0" tIns="0" bIns="0" anchor="ctr">
            <a:spAutoFit/>
          </a:bodyPr>
          <a:lstStyle/>
          <a:p>
            <a:pPr>
              <a:lnSpc>
                <a:spcPct val="120000"/>
              </a:lnSpc>
              <a:spcBef>
                <a:spcPts val="0"/>
              </a:spcBef>
              <a:spcAft>
                <a:spcPts val="0"/>
              </a:spcAft>
            </a:pPr>
            <a:r>
              <a:rPr sz="1000" b="0" i="0">
                <a:solidFill>
                  <a:srgbClr val="A5B2C4"/>
                </a:solidFill>
                <a:latin typeface="Segoe UI"/>
              </a:rPr>
              <a:t>That comment is </a:t>
            </a:r>
            <a:r>
              <a:rPr sz="1000" b="1" i="0">
                <a:solidFill>
                  <a:srgbClr val="E7EDF4"/>
                </a:solidFill>
                <a:latin typeface="Segoe UI"/>
              </a:rPr>
              <a:t>verbatim from the CPU source</a:t>
            </a:r>
            <a:r>
              <a:rPr sz="1000" b="0" i="0">
                <a:solidFill>
                  <a:srgbClr val="A5B2C4"/>
                </a:solidFill>
                <a:latin typeface="Segoe UI"/>
              </a:rPr>
              <a:t>. A pixel in a photon's shadow is </a:t>
            </a:r>
            <a:r>
              <a:rPr sz="1000" b="1" i="0">
                <a:solidFill>
                  <a:srgbClr val="E7EDF4"/>
                </a:solidFill>
                <a:latin typeface="Segoe UI"/>
              </a:rPr>
              <a:t>neither recorded nor fed back</a:t>
            </a:r>
            <a:r>
              <a:rPr sz="1000" b="0" i="0">
                <a:solidFill>
                  <a:srgbClr val="A5B2C4"/>
                </a:solidFill>
                <a:latin typeface="Segoe UI"/>
              </a:rPr>
              <a:t>, and the CUDA kernel reproduces it exactly.</a:t>
            </a:r>
          </a:p>
        </p:txBody>
      </p:sp>
      <p:sp>
        <p:nvSpPr>
          <p:cNvPr id="70" name="Rectangle 69"/>
          <p:cNvSpPr/>
          <p:nvPr/>
        </p:nvSpPr>
        <p:spPr>
          <a:xfrm>
            <a:off x="7813548" y="5577840"/>
            <a:ext cx="3707891" cy="100584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7772400" y="5577840"/>
            <a:ext cx="41148" cy="1005840"/>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028431" y="5669279"/>
            <a:ext cx="3291839" cy="822960"/>
          </a:xfrm>
          <a:prstGeom prst="rect">
            <a:avLst/>
          </a:prstGeom>
          <a:noFill/>
        </p:spPr>
        <p:txBody>
          <a:bodyPr wrap="square" lIns="0" rIns="0" tIns="0" bIns="0" anchor="ctr">
            <a:spAutoFit/>
          </a:bodyPr>
          <a:lstStyle/>
          <a:p>
            <a:pPr>
              <a:lnSpc>
                <a:spcPct val="120000"/>
              </a:lnSpc>
              <a:spcBef>
                <a:spcPts val="0"/>
              </a:spcBef>
              <a:spcAft>
                <a:spcPts val="0"/>
              </a:spcAft>
            </a:pPr>
            <a:r>
              <a:rPr sz="1000" b="1" i="0">
                <a:solidFill>
                  <a:srgbClr val="E7EDF4"/>
                </a:solidFill>
                <a:latin typeface="Segoe UI"/>
              </a:rPr>
              <a:t>~80 % of threads update the pedestal</a:t>
            </a:r>
            <a:r>
              <a:rPr sz="1000" b="0" i="0">
                <a:solidFill>
                  <a:srgbClr val="A5B2C4"/>
                </a:solidFill>
                <a:latin typeface="Segoe UI"/>
              </a:rPr>
              <a:t>: every pixel with no photon in its window. ~1.5 % are peaks, ~18 % are shadow. The update, not the cluster write, dominates.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THE CUDA KERNEL · SHARED MEMORY</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Load the tile once, reuse it nine times</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8 / 33</a:t>
            </a:r>
          </a:p>
        </p:txBody>
      </p:sp>
      <p:sp>
        <p:nvSpPr>
          <p:cNvPr id="40" name="TextBox 39"/>
          <p:cNvSpPr txBox="1"/>
          <p:nvPr/>
        </p:nvSpPr>
        <p:spPr>
          <a:xfrm>
            <a:off x="640080" y="1755648"/>
            <a:ext cx="1097280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Neighbouring threads need </a:t>
            </a:r>
            <a:r>
              <a:rPr sz="1050" b="1" i="0">
                <a:solidFill>
                  <a:srgbClr val="E7EDF4"/>
                </a:solidFill>
                <a:latin typeface="Segoe UI"/>
              </a:rPr>
              <a:t>overlapping</a:t>
            </a:r>
            <a:r>
              <a:rPr sz="1050" b="0" i="0">
                <a:solidFill>
                  <a:srgbClr val="A5B2C4"/>
                </a:solidFill>
                <a:latin typeface="Segoe UI"/>
              </a:rPr>
              <a:t> 3×3 windows. Without shared memory each pixel would be fetched from global memory up to nine times.</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Each block stages a tile of (16 + 2r) × (16 + 2r) </a:t>
            </a:r>
            <a:r>
              <a:rPr sz="1050" b="1" i="0">
                <a:solidFill>
                  <a:srgbClr val="E7EDF4"/>
                </a:solidFill>
                <a:latin typeface="Segoe UI"/>
              </a:rPr>
              <a:t>pedestal-subtracted</a:t>
            </a:r>
            <a:r>
              <a:rPr sz="1050" b="0" i="0">
                <a:solidFill>
                  <a:srgbClr val="A5B2C4"/>
                </a:solidFill>
                <a:latin typeface="Segoe UI"/>
              </a:rPr>
              <a:t> values, the halo is the price of the stencil, and it is loaded cooperatively by the threads on the block edges.</a:t>
            </a:r>
          </a:p>
        </p:txBody>
      </p:sp>
      <p:pic>
        <p:nvPicPr>
          <p:cNvPr id="41" name="Picture 40" descr="fig_tile.png"/>
          <p:cNvPicPr>
            <a:picLocks noChangeAspect="1"/>
          </p:cNvPicPr>
          <p:nvPr/>
        </p:nvPicPr>
        <p:blipFill>
          <a:blip r:embed="rId2"/>
          <a:stretch>
            <a:fillRect/>
          </a:stretch>
        </p:blipFill>
        <p:spPr>
          <a:xfrm>
            <a:off x="640080" y="2788920"/>
            <a:ext cx="6858000" cy="3063667"/>
          </a:xfrm>
          <a:prstGeom prst="rect">
            <a:avLst/>
          </a:prstGeom>
        </p:spPr>
      </p:pic>
      <p:sp>
        <p:nvSpPr>
          <p:cNvPr id="42" name="Rounded Rectangle 41"/>
          <p:cNvSpPr/>
          <p:nvPr/>
        </p:nvSpPr>
        <p:spPr>
          <a:xfrm>
            <a:off x="7680960" y="2788920"/>
            <a:ext cx="3931920" cy="1441277"/>
          </a:xfrm>
          <a:prstGeom prst="round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845552" y="2898648"/>
            <a:ext cx="3602736" cy="182880"/>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clusterfinder_kernel.cuh</a:t>
            </a:r>
          </a:p>
        </p:txBody>
      </p:sp>
      <p:sp>
        <p:nvSpPr>
          <p:cNvPr id="44" name="TextBox 43"/>
          <p:cNvSpPr txBox="1"/>
          <p:nvPr/>
        </p:nvSpPr>
        <p:spPr>
          <a:xfrm>
            <a:off x="7845552" y="3118104"/>
            <a:ext cx="3602736" cy="1221821"/>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A5B2C4"/>
                </a:solidFill>
                <a:latin typeface="Consolas"/>
              </a:rPr>
              <a:t>extern __shared__ unsigned char smem[];</a:t>
            </a:r>
          </a:p>
          <a:p>
            <a:pPr>
              <a:lnSpc>
                <a:spcPct val="112000"/>
              </a:lnSpc>
              <a:spcBef>
                <a:spcPts val="0"/>
              </a:spcBef>
              <a:spcAft>
                <a:spcPts val="0"/>
              </a:spcAft>
            </a:pPr>
            <a:r>
              <a:rPr sz="900" b="0" i="0">
                <a:solidFill>
                  <a:srgbClr val="A5B2C4"/>
                </a:solidFill>
                <a:latin typeface="Consolas"/>
              </a:rPr>
              <a:t>auto *sh = (COMPUTE_TYPE*)smem;</a:t>
            </a:r>
          </a:p>
          <a:p>
            <a:pPr>
              <a:lnSpc>
                <a:spcPct val="112000"/>
              </a:lnSpc>
              <a:spcBef>
                <a:spcPts val="0"/>
              </a:spcBef>
              <a:spcAft>
                <a:spcPts val="0"/>
              </a:spcAft>
            </a:pPr>
            <a:r>
              <a:rPr sz="900" b="0" i="0">
                <a:solidFill>
                  <a:srgbClr val="A5B2C4"/>
                </a:solidFill>
                <a:latin typeface="Consolas"/>
              </a:rPr>
              <a:t>auto stride = blockDim.x + 2*col_radius;</a:t>
            </a:r>
          </a:p>
          <a:p>
            <a:pPr>
              <a:lnSpc>
                <a:spcPct val="112000"/>
              </a:lnSpc>
              <a:spcBef>
                <a:spcPts val="0"/>
              </a:spcBef>
              <a:spcAft>
                <a:spcPts val="0"/>
              </a:spcAft>
            </a:pPr>
            <a:r>
              <a:rPr sz="900" b="0" i="0">
                <a:solidFill>
                  <a:srgbClr val="A5B2C4"/>
                </a:solidFill>
                <a:latin typeface="Consolas"/>
              </a:rPr>
              <a:t>auto tid = (threadIdx.y + row_radius)*stride</a:t>
            </a:r>
          </a:p>
          <a:p>
            <a:pPr>
              <a:lnSpc>
                <a:spcPct val="112000"/>
              </a:lnSpc>
              <a:spcBef>
                <a:spcPts val="0"/>
              </a:spcBef>
              <a:spcAft>
                <a:spcPts val="0"/>
              </a:spcAft>
            </a:pPr>
            <a:r>
              <a:rPr sz="900" b="0" i="0">
                <a:solidFill>
                  <a:srgbClr val="A5B2C4"/>
                </a:solidFill>
                <a:latin typeface="Consolas"/>
              </a:rPr>
              <a:t>         + (threadIdx.x + col_radius);</a:t>
            </a:r>
          </a:p>
          <a:p>
            <a:pPr>
              <a:lnSpc>
                <a:spcPct val="112000"/>
              </a:lnSpc>
              <a:spcBef>
                <a:spcPts val="0"/>
              </a:spcBef>
              <a:spcAft>
                <a:spcPts val="0"/>
              </a:spcAft>
            </a:pPr>
            <a:r>
              <a:rPr sz="900" b="0" i="0">
                <a:solidFill>
                  <a:srgbClr val="6B7A90"/>
                </a:solidFill>
                <a:latin typeface="Consolas"/>
              </a:rPr>
              <a:t>// pedestal subtraction fused into the load</a:t>
            </a:r>
          </a:p>
          <a:p>
            <a:pPr>
              <a:lnSpc>
                <a:spcPct val="112000"/>
              </a:lnSpc>
              <a:spcBef>
                <a:spcPts val="0"/>
              </a:spcBef>
              <a:spcAft>
                <a:spcPts val="0"/>
              </a:spcAft>
            </a:pPr>
            <a:r>
              <a:rPr sz="900" b="0" i="0">
                <a:solidFill>
                  <a:srgbClr val="A5B2C4"/>
                </a:solidFill>
                <a:latin typeface="Consolas"/>
              </a:rPr>
              <a:t>sh[tid] = d_frame[gid] - </a:t>
            </a:r>
            <a:r>
              <a:rPr sz="900" b="1" i="0">
                <a:solidFill>
                  <a:srgbClr val="1E90C2"/>
                </a:solidFill>
                <a:latin typeface="Consolas"/>
              </a:rPr>
              <a:t>d_pd_mean</a:t>
            </a:r>
            <a:r>
              <a:rPr sz="900" b="0" i="0">
                <a:solidFill>
                  <a:srgbClr val="A5B2C4"/>
                </a:solidFill>
                <a:latin typeface="Consolas"/>
              </a:rPr>
              <a:t>[gid];</a:t>
            </a:r>
          </a:p>
        </p:txBody>
      </p:sp>
      <p:sp>
        <p:nvSpPr>
          <p:cNvPr id="45" name="Rectangle 44"/>
          <p:cNvSpPr/>
          <p:nvPr/>
        </p:nvSpPr>
        <p:spPr>
          <a:xfrm>
            <a:off x="7722108" y="4389120"/>
            <a:ext cx="3890772" cy="105156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680960" y="4389120"/>
            <a:ext cx="41148" cy="105156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936992" y="4480559"/>
            <a:ext cx="3474720" cy="868680"/>
          </a:xfrm>
          <a:prstGeom prst="rect">
            <a:avLst/>
          </a:prstGeom>
          <a:noFill/>
        </p:spPr>
        <p:txBody>
          <a:bodyPr wrap="square" lIns="0" rIns="0" tIns="0" bIns="0" anchor="ctr">
            <a:spAutoFit/>
          </a:bodyPr>
          <a:lstStyle/>
          <a:p>
            <a:pPr>
              <a:lnSpc>
                <a:spcPct val="120000"/>
              </a:lnSpc>
              <a:spcBef>
                <a:spcPts val="0"/>
              </a:spcBef>
              <a:spcAft>
                <a:spcPts val="0"/>
              </a:spcAft>
            </a:pPr>
            <a:r>
              <a:rPr sz="1000" b="0" i="0">
                <a:solidFill>
                  <a:srgbClr val="A5B2C4"/>
                </a:solidFill>
                <a:latin typeface="Segoe UI"/>
              </a:rPr>
              <a:t>Only </a:t>
            </a:r>
            <a:r>
              <a:rPr sz="1000" b="1" i="0">
                <a:solidFill>
                  <a:srgbClr val="E7EDF4"/>
                </a:solidFill>
                <a:latin typeface="Segoe UI"/>
              </a:rPr>
              <a:t>odd</a:t>
            </a:r>
            <a:r>
              <a:rPr sz="1000" b="0" i="0">
                <a:solidFill>
                  <a:srgbClr val="A5B2C4"/>
                </a:solidFill>
                <a:latin typeface="Segoe UI"/>
              </a:rPr>
              <a:t> cluster sizes are supported (3×3, 5×5, 7×7, 9×9), so that the centre pixel is unique and local-maximum suppression is well defined.</a:t>
            </a:r>
          </a:p>
        </p:txBody>
      </p:sp>
      <p:sp>
        <p:nvSpPr>
          <p:cNvPr id="48" name="TextBox 47"/>
          <p:cNvSpPr txBox="1"/>
          <p:nvPr/>
        </p:nvSpPr>
        <p:spPr>
          <a:xfrm>
            <a:off x="7680960" y="5541264"/>
            <a:ext cx="393192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The tile is stored in COMPUTE_TYPE (float), not in the pedestal type: 1.3 KB for 3×3, 2.3 KB for 9×9, against 100 KB of shared memory per SM. Even the old double-precision tile only reached 4.5 KB.</a:t>
            </a:r>
          </a:p>
        </p:txBody>
      </p:sp>
      <p:sp>
        <p:nvSpPr>
          <p:cNvPr id="49" name="TextBox 48"/>
          <p:cNvSpPr txBox="1"/>
          <p:nvPr/>
        </p:nvSpPr>
        <p:spPr>
          <a:xfrm>
            <a:off x="640080" y="6126480"/>
            <a:ext cx="685800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Halo cost falls with block size: 56 % of the tile at 8×8, 27 % at 16×16, 13 % at 32×32, which is the first half of the block-size argument. The second half is registers, next slide.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HARDWARE · WHAT RUNS OUT FIRST</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38 registers per thread at 3×3, 128 at 9×9</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9 / 33</a:t>
            </a:r>
          </a:p>
        </p:txBody>
      </p:sp>
      <p:sp>
        <p:nvSpPr>
          <p:cNvPr id="40" name="TextBox 39"/>
          <p:cNvSpPr txBox="1"/>
          <p:nvPr/>
        </p:nvSpPr>
        <p:spPr>
          <a:xfrm>
            <a:off x="640080" y="1737360"/>
            <a:ext cx="722376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An SM has a fixed budget: </a:t>
            </a:r>
            <a:r>
              <a:rPr sz="1050" b="1" i="0">
                <a:solidFill>
                  <a:srgbClr val="E7EDF4"/>
                </a:solidFill>
                <a:latin typeface="Segoe UI"/>
              </a:rPr>
              <a:t>65 536 registers</a:t>
            </a:r>
            <a:r>
              <a:rPr sz="1050" b="0" i="0">
                <a:solidFill>
                  <a:srgbClr val="A5B2C4"/>
                </a:solidFill>
                <a:latin typeface="Segoe UI"/>
              </a:rPr>
              <a:t> and </a:t>
            </a:r>
            <a:r>
              <a:rPr sz="1050" b="1" i="0">
                <a:solidFill>
                  <a:srgbClr val="E7EDF4"/>
                </a:solidFill>
                <a:latin typeface="Segoe UI"/>
              </a:rPr>
              <a:t>1 536 thread slots</a:t>
            </a:r>
            <a:r>
              <a:rPr sz="1050" b="0" i="0">
                <a:solidFill>
                  <a:srgbClr val="A5B2C4"/>
                </a:solidFill>
                <a:latin typeface="Segoe UI"/>
              </a:rPr>
              <a:t>. A 16×16 block claims 256 slots and 256 × (registers per thread), and whichever budget runs out first decides how many blocks fit on the SM at once.</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Every thread keeps a private </a:t>
            </a:r>
            <a:r>
              <a:rPr sz="1050" b="1" i="0">
                <a:solidFill>
                  <a:srgbClr val="E7EDF4"/>
                </a:solidFill>
                <a:latin typeface="Segoe UI"/>
              </a:rPr>
              <a:t>clusterData[CSX × CSY]</a:t>
            </a:r>
            <a:r>
              <a:rPr sz="1050" b="0" i="0">
                <a:solidFill>
                  <a:srgbClr val="A5B2C4"/>
                </a:solidFill>
                <a:latin typeface="Segoe UI"/>
              </a:rPr>
              <a:t> staging array, so register demand grows with the </a:t>
            </a:r>
            <a:r>
              <a:rPr sz="1050" b="1" i="0">
                <a:solidFill>
                  <a:srgbClr val="E7EDF4"/>
                </a:solidFill>
                <a:latin typeface="Segoe UI"/>
              </a:rPr>
              <a:t>square</a:t>
            </a:r>
            <a:r>
              <a:rPr sz="1050" b="0" i="0">
                <a:solidFill>
                  <a:srgbClr val="A5B2C4"/>
                </a:solidFill>
                <a:latin typeface="Segoe UI"/>
              </a:rPr>
              <a:t> of the cluster size. Neither build spills: ptxas would rather hold fewer blocks than go to local memory.</a:t>
            </a:r>
          </a:p>
        </p:txBody>
      </p:sp>
      <p:pic>
        <p:nvPicPr>
          <p:cNvPr id="41" name="Picture 40" descr="fig_regpressure.png"/>
          <p:cNvPicPr>
            <a:picLocks noChangeAspect="1"/>
          </p:cNvPicPr>
          <p:nvPr/>
        </p:nvPicPr>
        <p:blipFill>
          <a:blip r:embed="rId2"/>
          <a:stretch>
            <a:fillRect/>
          </a:stretch>
        </p:blipFill>
        <p:spPr>
          <a:xfrm>
            <a:off x="640080" y="3054096"/>
            <a:ext cx="7223760" cy="1665204"/>
          </a:xfrm>
          <a:prstGeom prst="rect">
            <a:avLst/>
          </a:prstGeom>
        </p:spPr>
      </p:pic>
      <p:sp>
        <p:nvSpPr>
          <p:cNvPr id="42" name="Rectangle 41"/>
          <p:cNvSpPr/>
          <p:nvPr/>
        </p:nvSpPr>
        <p:spPr>
          <a:xfrm>
            <a:off x="681228" y="4846320"/>
            <a:ext cx="7182612" cy="73152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40080" y="4846320"/>
            <a:ext cx="41148" cy="73152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4937759"/>
            <a:ext cx="6766560" cy="548640"/>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At 9×9 the register file is exactly full at two blocks</a:t>
            </a:r>
            <a:r>
              <a:rPr sz="1050" b="0" i="0">
                <a:solidFill>
                  <a:srgbClr val="A5B2C4"/>
                </a:solidFill>
                <a:latin typeface="Segoe UI"/>
              </a:rPr>
              <a:t> (2 × 128 × 256 = 65 536), so two thirds of the thread slots are stranded. At 3×3 the slots run out first and the registers still have room.</a:t>
            </a:r>
          </a:p>
        </p:txBody>
      </p:sp>
      <p:sp>
        <p:nvSpPr>
          <p:cNvPr id="45" name="Rounded Rectangle 44"/>
          <p:cNvSpPr/>
          <p:nvPr/>
        </p:nvSpPr>
        <p:spPr>
          <a:xfrm>
            <a:off x="640080" y="5687568"/>
            <a:ext cx="7223760" cy="868497"/>
          </a:xfrm>
          <a:prstGeom prst="round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04671" y="5797296"/>
            <a:ext cx="6894576" cy="182880"/>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MEASURED, NOT ESTIMATED · READ FROM THE BUILT .SO</a:t>
            </a:r>
          </a:p>
        </p:txBody>
      </p:sp>
      <p:sp>
        <p:nvSpPr>
          <p:cNvPr id="47" name="TextBox 46"/>
          <p:cNvSpPr txBox="1"/>
          <p:nvPr/>
        </p:nvSpPr>
        <p:spPr>
          <a:xfrm>
            <a:off x="804671" y="6016752"/>
            <a:ext cx="6894576" cy="649041"/>
          </a:xfrm>
          <a:prstGeom prst="rect">
            <a:avLst/>
          </a:prstGeom>
          <a:noFill/>
        </p:spPr>
        <p:txBody>
          <a:bodyPr wrap="square" lIns="0" rIns="0" tIns="0" bIns="0" anchor="t">
            <a:spAutoFit/>
          </a:bodyPr>
          <a:lstStyle/>
          <a:p>
            <a:pPr>
              <a:lnSpc>
                <a:spcPct val="112000"/>
              </a:lnSpc>
              <a:spcBef>
                <a:spcPts val="0"/>
              </a:spcBef>
              <a:spcAft>
                <a:spcPts val="0"/>
              </a:spcAft>
            </a:pPr>
            <a:r>
              <a:rPr sz="900" b="1" i="0">
                <a:solidFill>
                  <a:srgbClr val="1E90C2"/>
                </a:solidFill>
                <a:latin typeface="Consolas"/>
              </a:rPr>
              <a:t>cuobjdump -res-usage</a:t>
            </a:r>
            <a:r>
              <a:rPr sz="900" b="0" i="0">
                <a:solidFill>
                  <a:srgbClr val="A5B2C4"/>
                </a:solidFill>
                <a:latin typeface="Consolas"/>
              </a:rPr>
              <a:t> build/aare/_aare_cuda*.so | c++filt</a:t>
            </a:r>
          </a:p>
          <a:p>
            <a:pPr>
              <a:lnSpc>
                <a:spcPct val="112000"/>
              </a:lnSpc>
              <a:spcBef>
                <a:spcPts val="0"/>
              </a:spcBef>
              <a:spcAft>
                <a:spcPts val="0"/>
              </a:spcAft>
            </a:pPr>
            <a:r>
              <a:rPr sz="900" b="0" i="0">
                <a:solidFill>
                  <a:srgbClr val="A5B2C4"/>
                </a:solidFill>
                <a:latin typeface="Consolas"/>
              </a:rPr>
              <a:t>  3x3: REG:</a:t>
            </a:r>
            <a:r>
              <a:rPr sz="900" b="1" i="0">
                <a:solidFill>
                  <a:srgbClr val="1E90C2"/>
                </a:solidFill>
                <a:latin typeface="Consolas"/>
              </a:rPr>
              <a:t>38</a:t>
            </a:r>
            <a:r>
              <a:rPr sz="900" b="0" i="0">
                <a:solidFill>
                  <a:srgbClr val="A5B2C4"/>
                </a:solidFill>
                <a:latin typeface="Consolas"/>
              </a:rPr>
              <a:t>  STACK:0 LOCAL:0     # STACK/LOCAL 0 = no spills</a:t>
            </a:r>
          </a:p>
          <a:p>
            <a:pPr>
              <a:lnSpc>
                <a:spcPct val="112000"/>
              </a:lnSpc>
              <a:spcBef>
                <a:spcPts val="0"/>
              </a:spcBef>
              <a:spcAft>
                <a:spcPts val="0"/>
              </a:spcAft>
            </a:pPr>
            <a:r>
              <a:rPr sz="900" b="0" i="0">
                <a:solidFill>
                  <a:srgbClr val="A5B2C4"/>
                </a:solidFill>
                <a:latin typeface="Consolas"/>
              </a:rPr>
              <a:t>  9x9: REG:</a:t>
            </a:r>
            <a:r>
              <a:rPr sz="900" b="1" i="0">
                <a:solidFill>
                  <a:srgbClr val="1E90C2"/>
                </a:solidFill>
                <a:latin typeface="Consolas"/>
              </a:rPr>
              <a:t>128</a:t>
            </a:r>
            <a:r>
              <a:rPr sz="900" b="0" i="0">
                <a:solidFill>
                  <a:srgbClr val="A5B2C4"/>
                </a:solidFill>
                <a:latin typeface="Consolas"/>
              </a:rPr>
              <a:t> STACK:0 LOCAL:0</a:t>
            </a:r>
          </a:p>
        </p:txBody>
      </p:sp>
      <p:sp>
        <p:nvSpPr>
          <p:cNvPr id="48" name="Rectangle 47"/>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PER SM · SM_89 · F32 BUILD</a:t>
            </a:r>
          </a:p>
        </p:txBody>
      </p:sp>
      <p:sp>
        <p:nvSpPr>
          <p:cNvPr id="50" name="TextBox 49"/>
          <p:cNvSpPr txBox="1"/>
          <p:nvPr/>
        </p:nvSpPr>
        <p:spPr>
          <a:xfrm>
            <a:off x="8412480" y="222199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3×3 · BLOCKS RESIDENT</a:t>
            </a:r>
          </a:p>
        </p:txBody>
      </p:sp>
      <p:sp>
        <p:nvSpPr>
          <p:cNvPr id="51" name="TextBox 50"/>
          <p:cNvSpPr txBox="1"/>
          <p:nvPr/>
        </p:nvSpPr>
        <p:spPr>
          <a:xfrm>
            <a:off x="8412480" y="2441448"/>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1E90C2"/>
                </a:solidFill>
                <a:latin typeface="Segoe UI"/>
              </a:rPr>
              <a:t>6</a:t>
            </a:r>
          </a:p>
        </p:txBody>
      </p:sp>
      <p:sp>
        <p:nvSpPr>
          <p:cNvPr id="52" name="TextBox 51"/>
          <p:cNvSpPr txBox="1"/>
          <p:nvPr/>
        </p:nvSpPr>
        <p:spPr>
          <a:xfrm>
            <a:off x="8412480" y="311810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9×9 · BLOCKS RESIDENT</a:t>
            </a:r>
          </a:p>
        </p:txBody>
      </p:sp>
      <p:sp>
        <p:nvSpPr>
          <p:cNvPr id="53" name="TextBox 52"/>
          <p:cNvSpPr txBox="1"/>
          <p:nvPr/>
        </p:nvSpPr>
        <p:spPr>
          <a:xfrm>
            <a:off x="8412480" y="3337560"/>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8B25C"/>
                </a:solidFill>
                <a:latin typeface="Segoe UI"/>
              </a:rPr>
              <a:t>2</a:t>
            </a:r>
          </a:p>
        </p:txBody>
      </p:sp>
      <p:sp>
        <p:nvSpPr>
          <p:cNvPr id="54" name="TextBox 53"/>
          <p:cNvSpPr txBox="1"/>
          <p:nvPr/>
        </p:nvSpPr>
        <p:spPr>
          <a:xfrm>
            <a:off x="8412480" y="4059936"/>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SPILLS, EITHER CASE</a:t>
            </a:r>
          </a:p>
        </p:txBody>
      </p:sp>
      <p:sp>
        <p:nvSpPr>
          <p:cNvPr id="55" name="TextBox 54"/>
          <p:cNvSpPr txBox="1"/>
          <p:nvPr/>
        </p:nvSpPr>
        <p:spPr>
          <a:xfrm>
            <a:off x="8412480" y="4261104"/>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A5B2C4"/>
                </a:solidFill>
                <a:latin typeface="Segoe UI"/>
              </a:rPr>
              <a:t>0 bytes</a:t>
            </a:r>
          </a:p>
        </p:txBody>
      </p:sp>
      <p:sp>
        <p:nvSpPr>
          <p:cNvPr id="56" name="TextBox 55"/>
          <p:cNvSpPr txBox="1"/>
          <p:nvPr/>
        </p:nvSpPr>
        <p:spPr>
          <a:xfrm>
            <a:off x="8412480" y="466344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3×3 ON THE F64 BUILD</a:t>
            </a:r>
          </a:p>
        </p:txBody>
      </p:sp>
      <p:sp>
        <p:nvSpPr>
          <p:cNvPr id="57" name="TextBox 56"/>
          <p:cNvSpPr txBox="1"/>
          <p:nvPr/>
        </p:nvSpPr>
        <p:spPr>
          <a:xfrm>
            <a:off x="8412480" y="4864608"/>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E8B25C"/>
                </a:solidFill>
                <a:latin typeface="Segoe UI"/>
              </a:rPr>
              <a:t>47 regs → 5 blocks</a:t>
            </a:r>
          </a:p>
        </p:txBody>
      </p:sp>
      <p:sp>
        <p:nvSpPr>
          <p:cNvPr id="58" name="TextBox 57"/>
          <p:cNvSpPr txBox="1"/>
          <p:nvPr/>
        </p:nvSpPr>
        <p:spPr>
          <a:xfrm>
            <a:off x="8412480" y="5449824"/>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How many blocks fit is the whole hardware story. The next slide is what that buys.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HARDWARE · OCCUPANCY</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Occupancy is a latency-hiding budget</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10 / 33</a:t>
            </a:r>
          </a:p>
        </p:txBody>
      </p:sp>
      <p:sp>
        <p:nvSpPr>
          <p:cNvPr id="40" name="TextBox 39"/>
          <p:cNvSpPr txBox="1"/>
          <p:nvPr/>
        </p:nvSpPr>
        <p:spPr>
          <a:xfrm>
            <a:off x="640080" y="1700784"/>
            <a:ext cx="10881360" cy="274320"/>
          </a:xfrm>
          <a:prstGeom prst="rect">
            <a:avLst/>
          </a:prstGeom>
          <a:noFill/>
        </p:spPr>
        <p:txBody>
          <a:bodyPr wrap="square" lIns="0" rIns="0" tIns="0" bIns="0" anchor="t">
            <a:spAutoFit/>
          </a:bodyPr>
          <a:lstStyle/>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When a warp stalls on memory the SM switches to another warp that is already resident. </a:t>
            </a:r>
            <a:r>
              <a:rPr sz="1100" b="1" i="0">
                <a:solidFill>
                  <a:srgbClr val="E7EDF4"/>
                </a:solidFill>
                <a:latin typeface="Segoe UI"/>
              </a:rPr>
              <a:t>Occupancy = resident warps / the maximum the SM can hold</a:t>
            </a:r>
            <a:r>
              <a:rPr sz="1100" b="0" i="0">
                <a:solidFill>
                  <a:srgbClr val="A5B2C4"/>
                </a:solidFill>
                <a:latin typeface="Segoe UI"/>
              </a:rPr>
              <a:t>: how many alternatives it has to switch to. More resident warps, more stalls hidden.</a:t>
            </a:r>
          </a:p>
        </p:txBody>
      </p:sp>
      <p:sp>
        <p:nvSpPr>
          <p:cNvPr id="41" name="Rectangle 40"/>
          <p:cNvSpPr/>
          <p:nvPr/>
        </p:nvSpPr>
        <p:spPr>
          <a:xfrm>
            <a:off x="640080" y="2231136"/>
            <a:ext cx="2015337" cy="67665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22959" y="2340864"/>
            <a:ext cx="1649577" cy="201168"/>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BLOCK SIZE</a:t>
            </a:r>
          </a:p>
        </p:txBody>
      </p:sp>
      <p:sp>
        <p:nvSpPr>
          <p:cNvPr id="43" name="TextBox 42"/>
          <p:cNvSpPr txBox="1"/>
          <p:nvPr/>
        </p:nvSpPr>
        <p:spPr>
          <a:xfrm>
            <a:off x="822959" y="2569464"/>
            <a:ext cx="1649577" cy="310896"/>
          </a:xfrm>
          <a:prstGeom prst="rect">
            <a:avLst/>
          </a:prstGeom>
          <a:noFill/>
        </p:spPr>
        <p:txBody>
          <a:bodyPr wrap="square" lIns="0" rIns="0" tIns="0" bIns="0" anchor="t">
            <a:spAutoFit/>
          </a:bodyPr>
          <a:lstStyle/>
          <a:p>
            <a:pPr>
              <a:spcBef>
                <a:spcPts val="0"/>
              </a:spcBef>
              <a:spcAft>
                <a:spcPts val="0"/>
              </a:spcAft>
            </a:pPr>
            <a:r>
              <a:rPr sz="1500" b="1" i="0">
                <a:solidFill>
                  <a:srgbClr val="E7EDF4"/>
                </a:solidFill>
                <a:latin typeface="Segoe UI"/>
              </a:rPr>
              <a:t>16 × 16</a:t>
            </a:r>
          </a:p>
        </p:txBody>
      </p:sp>
      <p:sp>
        <p:nvSpPr>
          <p:cNvPr id="44" name="Rectangle 43"/>
          <p:cNvSpPr/>
          <p:nvPr/>
        </p:nvSpPr>
        <p:spPr>
          <a:xfrm>
            <a:off x="2856585" y="2231136"/>
            <a:ext cx="2015337" cy="67665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039465" y="2340864"/>
            <a:ext cx="1649577" cy="201168"/>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THREADS / BLOCK</a:t>
            </a:r>
          </a:p>
        </p:txBody>
      </p:sp>
      <p:sp>
        <p:nvSpPr>
          <p:cNvPr id="46" name="TextBox 45"/>
          <p:cNvSpPr txBox="1"/>
          <p:nvPr/>
        </p:nvSpPr>
        <p:spPr>
          <a:xfrm>
            <a:off x="3039465" y="2569464"/>
            <a:ext cx="1649577" cy="310896"/>
          </a:xfrm>
          <a:prstGeom prst="rect">
            <a:avLst/>
          </a:prstGeom>
          <a:noFill/>
        </p:spPr>
        <p:txBody>
          <a:bodyPr wrap="square" lIns="0" rIns="0" tIns="0" bIns="0" anchor="t">
            <a:spAutoFit/>
          </a:bodyPr>
          <a:lstStyle/>
          <a:p>
            <a:pPr>
              <a:spcBef>
                <a:spcPts val="0"/>
              </a:spcBef>
              <a:spcAft>
                <a:spcPts val="0"/>
              </a:spcAft>
            </a:pPr>
            <a:r>
              <a:rPr sz="1500" b="1" i="0">
                <a:solidFill>
                  <a:srgbClr val="E7EDF4"/>
                </a:solidFill>
                <a:latin typeface="Segoe UI"/>
              </a:rPr>
              <a:t>256</a:t>
            </a:r>
          </a:p>
        </p:txBody>
      </p:sp>
      <p:sp>
        <p:nvSpPr>
          <p:cNvPr id="47" name="Rectangle 46"/>
          <p:cNvSpPr/>
          <p:nvPr/>
        </p:nvSpPr>
        <p:spPr>
          <a:xfrm>
            <a:off x="5073091" y="2231136"/>
            <a:ext cx="2015337" cy="67665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255971" y="2340864"/>
            <a:ext cx="1649577" cy="201168"/>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THREAD SLOTS / SM</a:t>
            </a:r>
          </a:p>
        </p:txBody>
      </p:sp>
      <p:sp>
        <p:nvSpPr>
          <p:cNvPr id="49" name="TextBox 48"/>
          <p:cNvSpPr txBox="1"/>
          <p:nvPr/>
        </p:nvSpPr>
        <p:spPr>
          <a:xfrm>
            <a:off x="5255971" y="2569464"/>
            <a:ext cx="1649577" cy="310896"/>
          </a:xfrm>
          <a:prstGeom prst="rect">
            <a:avLst/>
          </a:prstGeom>
          <a:noFill/>
        </p:spPr>
        <p:txBody>
          <a:bodyPr wrap="square" lIns="0" rIns="0" tIns="0" bIns="0" anchor="t">
            <a:spAutoFit/>
          </a:bodyPr>
          <a:lstStyle/>
          <a:p>
            <a:pPr>
              <a:spcBef>
                <a:spcPts val="0"/>
              </a:spcBef>
              <a:spcAft>
                <a:spcPts val="0"/>
              </a:spcAft>
            </a:pPr>
            <a:r>
              <a:rPr sz="1500" b="1" i="0">
                <a:solidFill>
                  <a:srgbClr val="E7EDF4"/>
                </a:solidFill>
                <a:latin typeface="Segoe UI"/>
              </a:rPr>
              <a:t>1 536</a:t>
            </a:r>
          </a:p>
        </p:txBody>
      </p:sp>
      <p:sp>
        <p:nvSpPr>
          <p:cNvPr id="50" name="Rectangle 49"/>
          <p:cNvSpPr/>
          <p:nvPr/>
        </p:nvSpPr>
        <p:spPr>
          <a:xfrm>
            <a:off x="7289596" y="2231136"/>
            <a:ext cx="2015337" cy="67665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472476" y="2340864"/>
            <a:ext cx="1649577" cy="201168"/>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MAX WARPS / SM</a:t>
            </a:r>
          </a:p>
        </p:txBody>
      </p:sp>
      <p:sp>
        <p:nvSpPr>
          <p:cNvPr id="52" name="TextBox 51"/>
          <p:cNvSpPr txBox="1"/>
          <p:nvPr/>
        </p:nvSpPr>
        <p:spPr>
          <a:xfrm>
            <a:off x="7472476" y="2569464"/>
            <a:ext cx="1649577" cy="310896"/>
          </a:xfrm>
          <a:prstGeom prst="rect">
            <a:avLst/>
          </a:prstGeom>
          <a:noFill/>
        </p:spPr>
        <p:txBody>
          <a:bodyPr wrap="square" lIns="0" rIns="0" tIns="0" bIns="0" anchor="t">
            <a:spAutoFit/>
          </a:bodyPr>
          <a:lstStyle/>
          <a:p>
            <a:pPr>
              <a:spcBef>
                <a:spcPts val="0"/>
              </a:spcBef>
              <a:spcAft>
                <a:spcPts val="0"/>
              </a:spcAft>
            </a:pPr>
            <a:r>
              <a:rPr sz="1500" b="1" i="0">
                <a:solidFill>
                  <a:srgbClr val="E7EDF4"/>
                </a:solidFill>
                <a:latin typeface="Segoe UI"/>
              </a:rPr>
              <a:t>48</a:t>
            </a:r>
          </a:p>
        </p:txBody>
      </p:sp>
      <p:sp>
        <p:nvSpPr>
          <p:cNvPr id="53" name="Rectangle 52"/>
          <p:cNvSpPr/>
          <p:nvPr/>
        </p:nvSpPr>
        <p:spPr>
          <a:xfrm>
            <a:off x="9506102" y="2231136"/>
            <a:ext cx="2015337" cy="67665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688982" y="2340864"/>
            <a:ext cx="1649577" cy="201168"/>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OCCUPANCY 3×3 · 9×9</a:t>
            </a:r>
          </a:p>
        </p:txBody>
      </p:sp>
      <p:sp>
        <p:nvSpPr>
          <p:cNvPr id="55" name="TextBox 54"/>
          <p:cNvSpPr txBox="1"/>
          <p:nvPr/>
        </p:nvSpPr>
        <p:spPr>
          <a:xfrm>
            <a:off x="9688982" y="2569464"/>
            <a:ext cx="1649577" cy="310896"/>
          </a:xfrm>
          <a:prstGeom prst="rect">
            <a:avLst/>
          </a:prstGeom>
          <a:noFill/>
        </p:spPr>
        <p:txBody>
          <a:bodyPr wrap="square" lIns="0" rIns="0" tIns="0" bIns="0" anchor="t">
            <a:spAutoFit/>
          </a:bodyPr>
          <a:lstStyle/>
          <a:p>
            <a:pPr>
              <a:spcBef>
                <a:spcPts val="0"/>
              </a:spcBef>
              <a:spcAft>
                <a:spcPts val="0"/>
              </a:spcAft>
            </a:pPr>
            <a:r>
              <a:rPr sz="1500" b="1" i="0">
                <a:solidFill>
                  <a:srgbClr val="E7EDF4"/>
                </a:solidFill>
                <a:latin typeface="Segoe UI"/>
              </a:rPr>
              <a:t>100 % · 33 %</a:t>
            </a:r>
          </a:p>
        </p:txBody>
      </p:sp>
      <p:pic>
        <p:nvPicPr>
          <p:cNvPr id="56" name="Picture 55" descr="fig_occupancy.png"/>
          <p:cNvPicPr>
            <a:picLocks noChangeAspect="1"/>
          </p:cNvPicPr>
          <p:nvPr/>
        </p:nvPicPr>
        <p:blipFill>
          <a:blip r:embed="rId2"/>
          <a:stretch>
            <a:fillRect/>
          </a:stretch>
        </p:blipFill>
        <p:spPr>
          <a:xfrm>
            <a:off x="1252728" y="3054096"/>
            <a:ext cx="9692640" cy="2718608"/>
          </a:xfrm>
          <a:prstGeom prst="rect">
            <a:avLst/>
          </a:prstGeom>
        </p:spPr>
      </p:pic>
      <p:sp>
        <p:nvSpPr>
          <p:cNvPr id="57" name="Rectangle 56"/>
          <p:cNvSpPr/>
          <p:nvPr/>
        </p:nvSpPr>
        <p:spPr>
          <a:xfrm>
            <a:off x="681228" y="5888736"/>
            <a:ext cx="10840212"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640080" y="5888736"/>
            <a:ext cx="41148"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96112" y="5980176"/>
            <a:ext cx="10424160" cy="384048"/>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16×16 is the balance point</a:t>
            </a:r>
            <a:r>
              <a:rPr sz="1050" b="0" i="0">
                <a:solidFill>
                  <a:srgbClr val="A5B2C4"/>
                </a:solidFill>
                <a:latin typeface="Segoe UI"/>
              </a:rPr>
              <a:t>: enough threads to amortise the halo, few enough that 6 blocks still fit. But 33 % is not a failure to fix — it is what the register budget allows, and at 9×9 one kernel nearly fills the machine on its own.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ROADMAP</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Three acts, ordered by which bar is tallest</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11 / 33</a:t>
            </a:r>
          </a:p>
        </p:txBody>
      </p:sp>
      <p:sp>
        <p:nvSpPr>
          <p:cNvPr id="40" name="Rectangle 39"/>
          <p:cNvSpPr/>
          <p:nvPr/>
        </p:nvSpPr>
        <p:spPr>
          <a:xfrm>
            <a:off x="640080" y="1828800"/>
            <a:ext cx="10881360" cy="1463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8368" y="1554480"/>
            <a:ext cx="7315200" cy="256032"/>
          </a:xfrm>
          <a:prstGeom prst="rect">
            <a:avLst/>
          </a:prstGeom>
          <a:noFill/>
        </p:spPr>
        <p:txBody>
          <a:bodyPr wrap="square" lIns="0" rIns="0" tIns="0" bIns="0" anchor="t">
            <a:spAutoFit/>
          </a:bodyPr>
          <a:lstStyle/>
          <a:p>
            <a:pPr>
              <a:spcBef>
                <a:spcPts val="0"/>
              </a:spcBef>
              <a:spcAft>
                <a:spcPts val="0"/>
              </a:spcAft>
            </a:pPr>
            <a:r>
              <a:rPr sz="1100" b="1" i="0" spc="140">
                <a:solidFill>
                  <a:srgbClr val="1E90C2"/>
                </a:solidFill>
                <a:latin typeface="Segoe UI"/>
              </a:rPr>
              <a:t>ACT I  ·  FEED THE GPU</a:t>
            </a:r>
          </a:p>
        </p:txBody>
      </p:sp>
      <p:sp>
        <p:nvSpPr>
          <p:cNvPr id="42" name="TextBox 41"/>
          <p:cNvSpPr txBox="1"/>
          <p:nvPr/>
        </p:nvSpPr>
        <p:spPr>
          <a:xfrm>
            <a:off x="5394960" y="1581912"/>
            <a:ext cx="6126480" cy="237744"/>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the host cannot submit work fast enough   at 3×3  [f64]</a:t>
            </a:r>
          </a:p>
        </p:txBody>
      </p:sp>
      <p:sp>
        <p:nvSpPr>
          <p:cNvPr id="43" name="Rectangle 42"/>
          <p:cNvSpPr/>
          <p:nvPr/>
        </p:nvSpPr>
        <p:spPr>
          <a:xfrm>
            <a:off x="640080" y="1920240"/>
            <a:ext cx="10881360" cy="43891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40080" y="1920240"/>
            <a:ext cx="32004" cy="438912"/>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6112" y="2002536"/>
            <a:ext cx="914400" cy="292608"/>
          </a:xfrm>
          <a:prstGeom prst="rect">
            <a:avLst/>
          </a:prstGeom>
          <a:noFill/>
        </p:spPr>
        <p:txBody>
          <a:bodyPr wrap="square" lIns="0" rIns="0" tIns="0" bIns="0" anchor="t">
            <a:spAutoFit/>
          </a:bodyPr>
          <a:lstStyle/>
          <a:p>
            <a:pPr>
              <a:spcBef>
                <a:spcPts val="0"/>
              </a:spcBef>
              <a:spcAft>
                <a:spcPts val="0"/>
              </a:spcAft>
            </a:pPr>
            <a:r>
              <a:rPr sz="1250" b="1" i="0">
                <a:solidFill>
                  <a:srgbClr val="1E90C2"/>
                </a:solidFill>
                <a:latin typeface="Consolas"/>
              </a:rPr>
              <a:t>opt1</a:t>
            </a:r>
          </a:p>
        </p:txBody>
      </p:sp>
      <p:sp>
        <p:nvSpPr>
          <p:cNvPr id="46" name="TextBox 45"/>
          <p:cNvSpPr txBox="1"/>
          <p:nvPr/>
        </p:nvSpPr>
        <p:spPr>
          <a:xfrm>
            <a:off x="1965960" y="1956816"/>
            <a:ext cx="4572000" cy="256032"/>
          </a:xfrm>
          <a:prstGeom prst="rect">
            <a:avLst/>
          </a:prstGeom>
          <a:noFill/>
        </p:spPr>
        <p:txBody>
          <a:bodyPr wrap="square" lIns="0" rIns="0" tIns="0" bIns="0" anchor="t">
            <a:spAutoFit/>
          </a:bodyPr>
          <a:lstStyle/>
          <a:p>
            <a:pPr>
              <a:spcBef>
                <a:spcPts val="0"/>
              </a:spcBef>
              <a:spcAft>
                <a:spcPts val="0"/>
              </a:spcAft>
            </a:pPr>
            <a:r>
              <a:rPr sz="1150" b="1" i="0">
                <a:solidFill>
                  <a:srgbClr val="E7EDF4"/>
                </a:solidFill>
                <a:latin typeface="Segoe UI"/>
              </a:rPr>
              <a:t>First CUDA port</a:t>
            </a:r>
          </a:p>
        </p:txBody>
      </p:sp>
      <p:sp>
        <p:nvSpPr>
          <p:cNvPr id="47" name="TextBox 46"/>
          <p:cNvSpPr txBox="1"/>
          <p:nvPr/>
        </p:nvSpPr>
        <p:spPr>
          <a:xfrm>
            <a:off x="1965960" y="2157984"/>
            <a:ext cx="5120640" cy="237744"/>
          </a:xfrm>
          <a:prstGeom prst="rect">
            <a:avLst/>
          </a:prstGeom>
          <a:noFill/>
        </p:spPr>
        <p:txBody>
          <a:bodyPr wrap="square" lIns="0" rIns="0" tIns="0" bIns="0" anchor="t">
            <a:spAutoFit/>
          </a:bodyPr>
          <a:lstStyle/>
          <a:p>
            <a:pPr>
              <a:spcBef>
                <a:spcPts val="0"/>
              </a:spcBef>
              <a:spcAft>
                <a:spcPts val="0"/>
              </a:spcAft>
            </a:pPr>
            <a:r>
              <a:rPr sz="900" b="0" i="0">
                <a:solidFill>
                  <a:srgbClr val="6B7A90"/>
                </a:solidFill>
                <a:latin typeface="Segoe UI"/>
              </a:rPr>
              <a:t>1 stream, one launch per frame</a:t>
            </a:r>
          </a:p>
        </p:txBody>
      </p:sp>
      <p:sp>
        <p:nvSpPr>
          <p:cNvPr id="48" name="TextBox 47"/>
          <p:cNvSpPr txBox="1"/>
          <p:nvPr/>
        </p:nvSpPr>
        <p:spPr>
          <a:xfrm>
            <a:off x="8595360" y="2002536"/>
            <a:ext cx="2834640" cy="320040"/>
          </a:xfrm>
          <a:prstGeom prst="rect">
            <a:avLst/>
          </a:prstGeom>
          <a:noFill/>
        </p:spPr>
        <p:txBody>
          <a:bodyPr wrap="square" lIns="0" rIns="0" tIns="0" bIns="0" anchor="t">
            <a:spAutoFit/>
          </a:bodyPr>
          <a:lstStyle/>
          <a:p>
            <a:pPr algn="r">
              <a:spcBef>
                <a:spcPts val="0"/>
              </a:spcBef>
              <a:spcAft>
                <a:spcPts val="0"/>
              </a:spcAft>
            </a:pPr>
            <a:r>
              <a:rPr sz="1250" b="1" i="0">
                <a:solidFill>
                  <a:srgbClr val="1E90C2"/>
                </a:solidFill>
                <a:latin typeface="Segoe UI"/>
              </a:rPr>
              <a:t>×2.34</a:t>
            </a:r>
          </a:p>
        </p:txBody>
      </p:sp>
      <p:sp>
        <p:nvSpPr>
          <p:cNvPr id="49" name="Rectangle 48"/>
          <p:cNvSpPr/>
          <p:nvPr/>
        </p:nvSpPr>
        <p:spPr>
          <a:xfrm>
            <a:off x="640080" y="2395728"/>
            <a:ext cx="10881360" cy="43891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40080" y="2395728"/>
            <a:ext cx="32004" cy="438912"/>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96112" y="2478024"/>
            <a:ext cx="914400" cy="292608"/>
          </a:xfrm>
          <a:prstGeom prst="rect">
            <a:avLst/>
          </a:prstGeom>
          <a:noFill/>
        </p:spPr>
        <p:txBody>
          <a:bodyPr wrap="square" lIns="0" rIns="0" tIns="0" bIns="0" anchor="t">
            <a:spAutoFit/>
          </a:bodyPr>
          <a:lstStyle/>
          <a:p>
            <a:pPr>
              <a:spcBef>
                <a:spcPts val="0"/>
              </a:spcBef>
              <a:spcAft>
                <a:spcPts val="0"/>
              </a:spcAft>
            </a:pPr>
            <a:r>
              <a:rPr sz="1250" b="1" i="0">
                <a:solidFill>
                  <a:srgbClr val="1E90C2"/>
                </a:solidFill>
                <a:latin typeface="Consolas"/>
              </a:rPr>
              <a:t>opt2</a:t>
            </a:r>
          </a:p>
        </p:txBody>
      </p:sp>
      <p:sp>
        <p:nvSpPr>
          <p:cNvPr id="52" name="TextBox 51"/>
          <p:cNvSpPr txBox="1"/>
          <p:nvPr/>
        </p:nvSpPr>
        <p:spPr>
          <a:xfrm>
            <a:off x="1965960" y="2432304"/>
            <a:ext cx="4572000" cy="256032"/>
          </a:xfrm>
          <a:prstGeom prst="rect">
            <a:avLst/>
          </a:prstGeom>
          <a:noFill/>
        </p:spPr>
        <p:txBody>
          <a:bodyPr wrap="square" lIns="0" rIns="0" tIns="0" bIns="0" anchor="t">
            <a:spAutoFit/>
          </a:bodyPr>
          <a:lstStyle/>
          <a:p>
            <a:pPr>
              <a:spcBef>
                <a:spcPts val="0"/>
              </a:spcBef>
              <a:spcAft>
                <a:spcPts val="0"/>
              </a:spcAft>
            </a:pPr>
            <a:r>
              <a:rPr sz="1150" b="1" i="0">
                <a:solidFill>
                  <a:srgbClr val="E7EDF4"/>
                </a:solidFill>
                <a:latin typeface="Segoe UI"/>
              </a:rPr>
              <a:t>Streams + batching</a:t>
            </a:r>
          </a:p>
        </p:txBody>
      </p:sp>
      <p:sp>
        <p:nvSpPr>
          <p:cNvPr id="53" name="TextBox 52"/>
          <p:cNvSpPr txBox="1"/>
          <p:nvPr/>
        </p:nvSpPr>
        <p:spPr>
          <a:xfrm>
            <a:off x="1965960" y="2633472"/>
            <a:ext cx="5120640" cy="237744"/>
          </a:xfrm>
          <a:prstGeom prst="rect">
            <a:avLst/>
          </a:prstGeom>
          <a:noFill/>
        </p:spPr>
        <p:txBody>
          <a:bodyPr wrap="square" lIns="0" rIns="0" tIns="0" bIns="0" anchor="t">
            <a:spAutoFit/>
          </a:bodyPr>
          <a:lstStyle/>
          <a:p>
            <a:pPr>
              <a:spcBef>
                <a:spcPts val="0"/>
              </a:spcBef>
              <a:spcAft>
                <a:spcPts val="0"/>
              </a:spcAft>
            </a:pPr>
            <a:r>
              <a:rPr sz="900" b="0" i="0">
                <a:solidFill>
                  <a:srgbClr val="6B7A90"/>
                </a:solidFill>
                <a:latin typeface="Segoe UI"/>
              </a:rPr>
              <a:t>4 streams, 2 000-frame batches</a:t>
            </a:r>
          </a:p>
        </p:txBody>
      </p:sp>
      <p:sp>
        <p:nvSpPr>
          <p:cNvPr id="54" name="TextBox 53"/>
          <p:cNvSpPr txBox="1"/>
          <p:nvPr/>
        </p:nvSpPr>
        <p:spPr>
          <a:xfrm>
            <a:off x="8595360" y="2478024"/>
            <a:ext cx="2834640" cy="320040"/>
          </a:xfrm>
          <a:prstGeom prst="rect">
            <a:avLst/>
          </a:prstGeom>
          <a:noFill/>
        </p:spPr>
        <p:txBody>
          <a:bodyPr wrap="square" lIns="0" rIns="0" tIns="0" bIns="0" anchor="t">
            <a:spAutoFit/>
          </a:bodyPr>
          <a:lstStyle/>
          <a:p>
            <a:pPr algn="r">
              <a:spcBef>
                <a:spcPts val="0"/>
              </a:spcBef>
              <a:spcAft>
                <a:spcPts val="0"/>
              </a:spcAft>
            </a:pPr>
            <a:r>
              <a:rPr sz="1250" b="1" i="0">
                <a:solidFill>
                  <a:srgbClr val="1E90C2"/>
                </a:solidFill>
                <a:latin typeface="Segoe UI"/>
              </a:rPr>
              <a:t>×3.66</a:t>
            </a:r>
          </a:p>
        </p:txBody>
      </p:sp>
      <p:sp>
        <p:nvSpPr>
          <p:cNvPr id="55" name="Rectangle 54"/>
          <p:cNvSpPr/>
          <p:nvPr/>
        </p:nvSpPr>
        <p:spPr>
          <a:xfrm>
            <a:off x="640080" y="2871216"/>
            <a:ext cx="10881360" cy="43891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640080" y="2871216"/>
            <a:ext cx="32004" cy="438912"/>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96112" y="2953512"/>
            <a:ext cx="914400" cy="292608"/>
          </a:xfrm>
          <a:prstGeom prst="rect">
            <a:avLst/>
          </a:prstGeom>
          <a:noFill/>
        </p:spPr>
        <p:txBody>
          <a:bodyPr wrap="square" lIns="0" rIns="0" tIns="0" bIns="0" anchor="t">
            <a:spAutoFit/>
          </a:bodyPr>
          <a:lstStyle/>
          <a:p>
            <a:pPr>
              <a:spcBef>
                <a:spcPts val="0"/>
              </a:spcBef>
              <a:spcAft>
                <a:spcPts val="0"/>
              </a:spcAft>
            </a:pPr>
            <a:r>
              <a:rPr sz="1250" b="1" i="0">
                <a:solidFill>
                  <a:srgbClr val="1E90C2"/>
                </a:solidFill>
                <a:latin typeface="Consolas"/>
              </a:rPr>
              <a:t>opt3</a:t>
            </a:r>
          </a:p>
        </p:txBody>
      </p:sp>
      <p:sp>
        <p:nvSpPr>
          <p:cNvPr id="58" name="TextBox 57"/>
          <p:cNvSpPr txBox="1"/>
          <p:nvPr/>
        </p:nvSpPr>
        <p:spPr>
          <a:xfrm>
            <a:off x="1965960" y="2907792"/>
            <a:ext cx="4572000" cy="256032"/>
          </a:xfrm>
          <a:prstGeom prst="rect">
            <a:avLst/>
          </a:prstGeom>
          <a:noFill/>
        </p:spPr>
        <p:txBody>
          <a:bodyPr wrap="square" lIns="0" rIns="0" tIns="0" bIns="0" anchor="t">
            <a:spAutoFit/>
          </a:bodyPr>
          <a:lstStyle/>
          <a:p>
            <a:pPr>
              <a:spcBef>
                <a:spcPts val="0"/>
              </a:spcBef>
              <a:spcAft>
                <a:spcPts val="0"/>
              </a:spcAft>
            </a:pPr>
            <a:r>
              <a:rPr sz="1150" b="1" i="0">
                <a:solidFill>
                  <a:srgbClr val="E7EDF4"/>
                </a:solidFill>
                <a:latin typeface="Segoe UI"/>
              </a:rPr>
              <a:t>Pipeline rework</a:t>
            </a:r>
          </a:p>
        </p:txBody>
      </p:sp>
      <p:sp>
        <p:nvSpPr>
          <p:cNvPr id="59" name="TextBox 58"/>
          <p:cNvSpPr txBox="1"/>
          <p:nvPr/>
        </p:nvSpPr>
        <p:spPr>
          <a:xfrm>
            <a:off x="1965960" y="3108960"/>
            <a:ext cx="5120640" cy="237744"/>
          </a:xfrm>
          <a:prstGeom prst="rect">
            <a:avLst/>
          </a:prstGeom>
          <a:noFill/>
        </p:spPr>
        <p:txBody>
          <a:bodyPr wrap="square" lIns="0" rIns="0" tIns="0" bIns="0" anchor="t">
            <a:spAutoFit/>
          </a:bodyPr>
          <a:lstStyle/>
          <a:p>
            <a:pPr>
              <a:spcBef>
                <a:spcPts val="0"/>
              </a:spcBef>
              <a:spcAft>
                <a:spcPts val="0"/>
              </a:spcAft>
            </a:pPr>
            <a:r>
              <a:rPr sz="900" b="0" i="0">
                <a:solidFill>
                  <a:srgbClr val="6B7A90"/>
                </a:solidFill>
                <a:latin typeface="Segoe UI"/>
              </a:rPr>
              <a:t>sync barriers removed</a:t>
            </a:r>
          </a:p>
        </p:txBody>
      </p:sp>
      <p:sp>
        <p:nvSpPr>
          <p:cNvPr id="60" name="TextBox 59"/>
          <p:cNvSpPr txBox="1"/>
          <p:nvPr/>
        </p:nvSpPr>
        <p:spPr>
          <a:xfrm>
            <a:off x="8595360" y="2953512"/>
            <a:ext cx="2834640" cy="320040"/>
          </a:xfrm>
          <a:prstGeom prst="rect">
            <a:avLst/>
          </a:prstGeom>
          <a:noFill/>
        </p:spPr>
        <p:txBody>
          <a:bodyPr wrap="square" lIns="0" rIns="0" tIns="0" bIns="0" anchor="t">
            <a:spAutoFit/>
          </a:bodyPr>
          <a:lstStyle/>
          <a:p>
            <a:pPr algn="r">
              <a:spcBef>
                <a:spcPts val="0"/>
              </a:spcBef>
              <a:spcAft>
                <a:spcPts val="0"/>
              </a:spcAft>
            </a:pPr>
            <a:r>
              <a:rPr sz="1250" b="1" i="0">
                <a:solidFill>
                  <a:srgbClr val="1E90C2"/>
                </a:solidFill>
                <a:latin typeface="Segoe UI"/>
              </a:rPr>
              <a:t>×4.32</a:t>
            </a:r>
          </a:p>
        </p:txBody>
      </p:sp>
      <p:sp>
        <p:nvSpPr>
          <p:cNvPr id="61" name="Rectangle 60"/>
          <p:cNvSpPr/>
          <p:nvPr/>
        </p:nvSpPr>
        <p:spPr>
          <a:xfrm>
            <a:off x="640080" y="3346704"/>
            <a:ext cx="10881360" cy="43891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640080" y="3346704"/>
            <a:ext cx="32004" cy="438912"/>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896112" y="3429000"/>
            <a:ext cx="914400" cy="292608"/>
          </a:xfrm>
          <a:prstGeom prst="rect">
            <a:avLst/>
          </a:prstGeom>
          <a:noFill/>
        </p:spPr>
        <p:txBody>
          <a:bodyPr wrap="square" lIns="0" rIns="0" tIns="0" bIns="0" anchor="t">
            <a:spAutoFit/>
          </a:bodyPr>
          <a:lstStyle/>
          <a:p>
            <a:pPr>
              <a:spcBef>
                <a:spcPts val="0"/>
              </a:spcBef>
              <a:spcAft>
                <a:spcPts val="0"/>
              </a:spcAft>
            </a:pPr>
            <a:r>
              <a:rPr sz="1250" b="1" i="0">
                <a:solidFill>
                  <a:srgbClr val="1E90C2"/>
                </a:solidFill>
                <a:latin typeface="Consolas"/>
              </a:rPr>
              <a:t>opt4</a:t>
            </a:r>
          </a:p>
        </p:txBody>
      </p:sp>
      <p:sp>
        <p:nvSpPr>
          <p:cNvPr id="64" name="TextBox 63"/>
          <p:cNvSpPr txBox="1"/>
          <p:nvPr/>
        </p:nvSpPr>
        <p:spPr>
          <a:xfrm>
            <a:off x="1965960" y="3383280"/>
            <a:ext cx="4572000" cy="256032"/>
          </a:xfrm>
          <a:prstGeom prst="rect">
            <a:avLst/>
          </a:prstGeom>
          <a:noFill/>
        </p:spPr>
        <p:txBody>
          <a:bodyPr wrap="square" lIns="0" rIns="0" tIns="0" bIns="0" anchor="t">
            <a:spAutoFit/>
          </a:bodyPr>
          <a:lstStyle/>
          <a:p>
            <a:pPr>
              <a:spcBef>
                <a:spcPts val="0"/>
              </a:spcBef>
              <a:spcAft>
                <a:spcPts val="0"/>
              </a:spcAft>
            </a:pPr>
            <a:r>
              <a:rPr sz="1150" b="1" i="0">
                <a:solidFill>
                  <a:srgbClr val="E7EDF4"/>
                </a:solidFill>
                <a:latin typeface="Segoe UI"/>
              </a:rPr>
              <a:t>Pinned memory</a:t>
            </a:r>
          </a:p>
        </p:txBody>
      </p:sp>
      <p:sp>
        <p:nvSpPr>
          <p:cNvPr id="65" name="TextBox 64"/>
          <p:cNvSpPr txBox="1"/>
          <p:nvPr/>
        </p:nvSpPr>
        <p:spPr>
          <a:xfrm>
            <a:off x="1965960" y="3584448"/>
            <a:ext cx="5120640" cy="237744"/>
          </a:xfrm>
          <a:prstGeom prst="rect">
            <a:avLst/>
          </a:prstGeom>
          <a:noFill/>
        </p:spPr>
        <p:txBody>
          <a:bodyPr wrap="square" lIns="0" rIns="0" tIns="0" bIns="0" anchor="t">
            <a:spAutoFit/>
          </a:bodyPr>
          <a:lstStyle/>
          <a:p>
            <a:pPr>
              <a:spcBef>
                <a:spcPts val="0"/>
              </a:spcBef>
              <a:spcAft>
                <a:spcPts val="0"/>
              </a:spcAft>
            </a:pPr>
            <a:r>
              <a:rPr sz="900" b="0" i="0">
                <a:solidFill>
                  <a:srgbClr val="6B7A90"/>
                </a:solidFill>
                <a:latin typeface="Segoe UI"/>
              </a:rPr>
              <a:t>DMA-speed host transfers</a:t>
            </a:r>
          </a:p>
        </p:txBody>
      </p:sp>
      <p:sp>
        <p:nvSpPr>
          <p:cNvPr id="66" name="TextBox 65"/>
          <p:cNvSpPr txBox="1"/>
          <p:nvPr/>
        </p:nvSpPr>
        <p:spPr>
          <a:xfrm>
            <a:off x="8595360" y="3429000"/>
            <a:ext cx="2834640" cy="320040"/>
          </a:xfrm>
          <a:prstGeom prst="rect">
            <a:avLst/>
          </a:prstGeom>
          <a:noFill/>
        </p:spPr>
        <p:txBody>
          <a:bodyPr wrap="square" lIns="0" rIns="0" tIns="0" bIns="0" anchor="t">
            <a:spAutoFit/>
          </a:bodyPr>
          <a:lstStyle/>
          <a:p>
            <a:pPr algn="r">
              <a:spcBef>
                <a:spcPts val="0"/>
              </a:spcBef>
              <a:spcAft>
                <a:spcPts val="0"/>
              </a:spcAft>
            </a:pPr>
            <a:r>
              <a:rPr sz="1250" b="1" i="0">
                <a:solidFill>
                  <a:srgbClr val="1E90C2"/>
                </a:solidFill>
                <a:latin typeface="Segoe UI"/>
              </a:rPr>
              <a:t>×5.69</a:t>
            </a:r>
          </a:p>
        </p:txBody>
      </p:sp>
      <p:sp>
        <p:nvSpPr>
          <p:cNvPr id="67" name="Rectangle 66"/>
          <p:cNvSpPr/>
          <p:nvPr/>
        </p:nvSpPr>
        <p:spPr>
          <a:xfrm>
            <a:off x="640080" y="4096511"/>
            <a:ext cx="10881360" cy="14630"/>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58368" y="3822191"/>
            <a:ext cx="7315200" cy="256032"/>
          </a:xfrm>
          <a:prstGeom prst="rect">
            <a:avLst/>
          </a:prstGeom>
          <a:noFill/>
        </p:spPr>
        <p:txBody>
          <a:bodyPr wrap="square" lIns="0" rIns="0" tIns="0" bIns="0" anchor="t">
            <a:spAutoFit/>
          </a:bodyPr>
          <a:lstStyle/>
          <a:p>
            <a:pPr>
              <a:spcBef>
                <a:spcPts val="0"/>
              </a:spcBef>
              <a:spcAft>
                <a:spcPts val="0"/>
              </a:spcAft>
            </a:pPr>
            <a:r>
              <a:rPr sz="1100" b="1" i="0" spc="140">
                <a:solidFill>
                  <a:srgbClr val="E7EDF4"/>
                </a:solidFill>
                <a:latin typeface="Segoe UI"/>
              </a:rPr>
              <a:t>ACT II  ·  GET THE RESULTS BACK</a:t>
            </a:r>
          </a:p>
        </p:txBody>
      </p:sp>
      <p:sp>
        <p:nvSpPr>
          <p:cNvPr id="69" name="TextBox 68"/>
          <p:cNvSpPr txBox="1"/>
          <p:nvPr/>
        </p:nvSpPr>
        <p:spPr>
          <a:xfrm>
            <a:off x="5394960" y="3849624"/>
            <a:ext cx="6126480" cy="237744"/>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the host copy is now the tallest bar   at 3×3  [f64]</a:t>
            </a:r>
          </a:p>
        </p:txBody>
      </p:sp>
      <p:sp>
        <p:nvSpPr>
          <p:cNvPr id="70" name="Rectangle 69"/>
          <p:cNvSpPr/>
          <p:nvPr/>
        </p:nvSpPr>
        <p:spPr>
          <a:xfrm>
            <a:off x="640080" y="4187952"/>
            <a:ext cx="10881360" cy="43891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640080" y="4187952"/>
            <a:ext cx="32004" cy="438912"/>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96112" y="4270248"/>
            <a:ext cx="914400" cy="292608"/>
          </a:xfrm>
          <a:prstGeom prst="rect">
            <a:avLst/>
          </a:prstGeom>
          <a:noFill/>
        </p:spPr>
        <p:txBody>
          <a:bodyPr wrap="square" lIns="0" rIns="0" tIns="0" bIns="0" anchor="t">
            <a:spAutoFit/>
          </a:bodyPr>
          <a:lstStyle/>
          <a:p>
            <a:pPr>
              <a:spcBef>
                <a:spcPts val="0"/>
              </a:spcBef>
              <a:spcAft>
                <a:spcPts val="0"/>
              </a:spcAft>
            </a:pPr>
            <a:r>
              <a:rPr sz="1250" b="1" i="0">
                <a:solidFill>
                  <a:srgbClr val="E7EDF4"/>
                </a:solidFill>
                <a:latin typeface="Consolas"/>
              </a:rPr>
              <a:t>opt5</a:t>
            </a:r>
          </a:p>
        </p:txBody>
      </p:sp>
      <p:sp>
        <p:nvSpPr>
          <p:cNvPr id="73" name="TextBox 72"/>
          <p:cNvSpPr txBox="1"/>
          <p:nvPr/>
        </p:nvSpPr>
        <p:spPr>
          <a:xfrm>
            <a:off x="1965960" y="4224528"/>
            <a:ext cx="4572000" cy="256032"/>
          </a:xfrm>
          <a:prstGeom prst="rect">
            <a:avLst/>
          </a:prstGeom>
          <a:noFill/>
        </p:spPr>
        <p:txBody>
          <a:bodyPr wrap="square" lIns="0" rIns="0" tIns="0" bIns="0" anchor="t">
            <a:spAutoFit/>
          </a:bodyPr>
          <a:lstStyle/>
          <a:p>
            <a:pPr>
              <a:spcBef>
                <a:spcPts val="0"/>
              </a:spcBef>
              <a:spcAft>
                <a:spcPts val="0"/>
              </a:spcAft>
            </a:pPr>
            <a:r>
              <a:rPr sz="1150" b="1" i="0">
                <a:solidFill>
                  <a:srgbClr val="E7EDF4"/>
                </a:solidFill>
                <a:latin typeface="Segoe UI"/>
              </a:rPr>
              <a:t>Host↔GPU overlap</a:t>
            </a:r>
          </a:p>
        </p:txBody>
      </p:sp>
      <p:sp>
        <p:nvSpPr>
          <p:cNvPr id="74" name="TextBox 73"/>
          <p:cNvSpPr txBox="1"/>
          <p:nvPr/>
        </p:nvSpPr>
        <p:spPr>
          <a:xfrm>
            <a:off x="1965960" y="4425696"/>
            <a:ext cx="5120640" cy="237744"/>
          </a:xfrm>
          <a:prstGeom prst="rect">
            <a:avLst/>
          </a:prstGeom>
          <a:noFill/>
        </p:spPr>
        <p:txBody>
          <a:bodyPr wrap="square" lIns="0" rIns="0" tIns="0" bIns="0" anchor="t">
            <a:spAutoFit/>
          </a:bodyPr>
          <a:lstStyle/>
          <a:p>
            <a:pPr>
              <a:spcBef>
                <a:spcPts val="0"/>
              </a:spcBef>
              <a:spcAft>
                <a:spcPts val="0"/>
              </a:spcAft>
            </a:pPr>
            <a:r>
              <a:rPr sz="900" b="0" i="0">
                <a:solidFill>
                  <a:srgbClr val="6B7A90"/>
                </a:solidFill>
                <a:latin typeface="Segoe UI"/>
              </a:rPr>
              <a:t>chunked submit / collect</a:t>
            </a:r>
          </a:p>
        </p:txBody>
      </p:sp>
      <p:sp>
        <p:nvSpPr>
          <p:cNvPr id="75" name="TextBox 74"/>
          <p:cNvSpPr txBox="1"/>
          <p:nvPr/>
        </p:nvSpPr>
        <p:spPr>
          <a:xfrm>
            <a:off x="8595360" y="4270248"/>
            <a:ext cx="2834640" cy="320040"/>
          </a:xfrm>
          <a:prstGeom prst="rect">
            <a:avLst/>
          </a:prstGeom>
          <a:noFill/>
        </p:spPr>
        <p:txBody>
          <a:bodyPr wrap="square" lIns="0" rIns="0" tIns="0" bIns="0" anchor="t">
            <a:spAutoFit/>
          </a:bodyPr>
          <a:lstStyle/>
          <a:p>
            <a:pPr algn="r">
              <a:spcBef>
                <a:spcPts val="0"/>
              </a:spcBef>
              <a:spcAft>
                <a:spcPts val="0"/>
              </a:spcAft>
            </a:pPr>
            <a:r>
              <a:rPr sz="1250" b="1" i="0">
                <a:solidFill>
                  <a:srgbClr val="E7EDF4"/>
                </a:solidFill>
                <a:latin typeface="Segoe UI"/>
              </a:rPr>
              <a:t>×7.45</a:t>
            </a:r>
          </a:p>
        </p:txBody>
      </p:sp>
      <p:sp>
        <p:nvSpPr>
          <p:cNvPr id="76" name="Rectangle 75"/>
          <p:cNvSpPr/>
          <p:nvPr/>
        </p:nvSpPr>
        <p:spPr>
          <a:xfrm>
            <a:off x="640080" y="4663440"/>
            <a:ext cx="10881360" cy="43891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640080" y="4663440"/>
            <a:ext cx="32004" cy="438912"/>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96112" y="4745736"/>
            <a:ext cx="914400" cy="292608"/>
          </a:xfrm>
          <a:prstGeom prst="rect">
            <a:avLst/>
          </a:prstGeom>
          <a:noFill/>
        </p:spPr>
        <p:txBody>
          <a:bodyPr wrap="square" lIns="0" rIns="0" tIns="0" bIns="0" anchor="t">
            <a:spAutoFit/>
          </a:bodyPr>
          <a:lstStyle/>
          <a:p>
            <a:pPr>
              <a:spcBef>
                <a:spcPts val="0"/>
              </a:spcBef>
              <a:spcAft>
                <a:spcPts val="0"/>
              </a:spcAft>
            </a:pPr>
            <a:r>
              <a:rPr sz="1250" b="1" i="0">
                <a:solidFill>
                  <a:srgbClr val="E7EDF4"/>
                </a:solidFill>
                <a:latin typeface="Consolas"/>
              </a:rPr>
              <a:t>opt6</a:t>
            </a:r>
          </a:p>
        </p:txBody>
      </p:sp>
      <p:sp>
        <p:nvSpPr>
          <p:cNvPr id="79" name="TextBox 78"/>
          <p:cNvSpPr txBox="1"/>
          <p:nvPr/>
        </p:nvSpPr>
        <p:spPr>
          <a:xfrm>
            <a:off x="1965960" y="4700016"/>
            <a:ext cx="4572000" cy="256032"/>
          </a:xfrm>
          <a:prstGeom prst="rect">
            <a:avLst/>
          </a:prstGeom>
          <a:noFill/>
        </p:spPr>
        <p:txBody>
          <a:bodyPr wrap="square" lIns="0" rIns="0" tIns="0" bIns="0" anchor="t">
            <a:spAutoFit/>
          </a:bodyPr>
          <a:lstStyle/>
          <a:p>
            <a:pPr>
              <a:spcBef>
                <a:spcPts val="0"/>
              </a:spcBef>
              <a:spcAft>
                <a:spcPts val="0"/>
              </a:spcAft>
            </a:pPr>
            <a:r>
              <a:rPr sz="1150" b="1" i="0">
                <a:solidFill>
                  <a:srgbClr val="E7EDF4"/>
                </a:solidFill>
                <a:latin typeface="Segoe UI"/>
              </a:rPr>
              <a:t>Zero-copy collection</a:t>
            </a:r>
          </a:p>
        </p:txBody>
      </p:sp>
      <p:sp>
        <p:nvSpPr>
          <p:cNvPr id="80" name="TextBox 79"/>
          <p:cNvSpPr txBox="1"/>
          <p:nvPr/>
        </p:nvSpPr>
        <p:spPr>
          <a:xfrm>
            <a:off x="1965960" y="4901183"/>
            <a:ext cx="5120640" cy="237744"/>
          </a:xfrm>
          <a:prstGeom prst="rect">
            <a:avLst/>
          </a:prstGeom>
          <a:noFill/>
        </p:spPr>
        <p:txBody>
          <a:bodyPr wrap="square" lIns="0" rIns="0" tIns="0" bIns="0" anchor="t">
            <a:spAutoFit/>
          </a:bodyPr>
          <a:lstStyle/>
          <a:p>
            <a:pPr>
              <a:spcBef>
                <a:spcPts val="0"/>
              </a:spcBef>
              <a:spcAft>
                <a:spcPts val="0"/>
              </a:spcAft>
            </a:pPr>
            <a:r>
              <a:rPr sz="900" b="0" i="0">
                <a:solidFill>
                  <a:srgbClr val="6B7A90"/>
                </a:solidFill>
                <a:latin typeface="Segoe UI"/>
              </a:rPr>
              <a:t>read in place, never copy</a:t>
            </a:r>
          </a:p>
        </p:txBody>
      </p:sp>
      <p:sp>
        <p:nvSpPr>
          <p:cNvPr id="81" name="TextBox 80"/>
          <p:cNvSpPr txBox="1"/>
          <p:nvPr/>
        </p:nvSpPr>
        <p:spPr>
          <a:xfrm>
            <a:off x="8595360" y="4745736"/>
            <a:ext cx="2834640" cy="320040"/>
          </a:xfrm>
          <a:prstGeom prst="rect">
            <a:avLst/>
          </a:prstGeom>
          <a:noFill/>
        </p:spPr>
        <p:txBody>
          <a:bodyPr wrap="square" lIns="0" rIns="0" tIns="0" bIns="0" anchor="t">
            <a:spAutoFit/>
          </a:bodyPr>
          <a:lstStyle/>
          <a:p>
            <a:pPr algn="r">
              <a:spcBef>
                <a:spcPts val="0"/>
              </a:spcBef>
              <a:spcAft>
                <a:spcPts val="0"/>
              </a:spcAft>
            </a:pPr>
            <a:r>
              <a:rPr sz="1250" b="1" i="0">
                <a:solidFill>
                  <a:srgbClr val="E7EDF4"/>
                </a:solidFill>
                <a:latin typeface="Segoe UI"/>
              </a:rPr>
              <a:t>×8.65</a:t>
            </a:r>
          </a:p>
        </p:txBody>
      </p:sp>
      <p:sp>
        <p:nvSpPr>
          <p:cNvPr id="82" name="Rectangle 81"/>
          <p:cNvSpPr/>
          <p:nvPr/>
        </p:nvSpPr>
        <p:spPr>
          <a:xfrm>
            <a:off x="640080" y="5413247"/>
            <a:ext cx="10881360" cy="14630"/>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58368" y="5138927"/>
            <a:ext cx="7315200" cy="256032"/>
          </a:xfrm>
          <a:prstGeom prst="rect">
            <a:avLst/>
          </a:prstGeom>
          <a:noFill/>
        </p:spPr>
        <p:txBody>
          <a:bodyPr wrap="square" lIns="0" rIns="0" tIns="0" bIns="0" anchor="t">
            <a:spAutoFit/>
          </a:bodyPr>
          <a:lstStyle/>
          <a:p>
            <a:pPr>
              <a:spcBef>
                <a:spcPts val="0"/>
              </a:spcBef>
              <a:spcAft>
                <a:spcPts val="0"/>
              </a:spcAft>
            </a:pPr>
            <a:r>
              <a:rPr sz="1100" b="1" i="0" spc="140">
                <a:solidFill>
                  <a:srgbClr val="E8B25C"/>
                </a:solidFill>
                <a:latin typeface="Segoe UI"/>
              </a:rPr>
              <a:t>ACT III  ·  THE KERNEL</a:t>
            </a:r>
          </a:p>
        </p:txBody>
      </p:sp>
      <p:sp>
        <p:nvSpPr>
          <p:cNvPr id="84" name="TextBox 83"/>
          <p:cNvSpPr txBox="1"/>
          <p:nvPr/>
        </p:nvSpPr>
        <p:spPr>
          <a:xfrm>
            <a:off x="5394960" y="5166359"/>
            <a:ext cx="6126480" cy="237744"/>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the kernel is the tallest bar, at 9×9   at 9×9  [f32]</a:t>
            </a:r>
          </a:p>
        </p:txBody>
      </p:sp>
      <p:sp>
        <p:nvSpPr>
          <p:cNvPr id="85" name="Rectangle 84"/>
          <p:cNvSpPr/>
          <p:nvPr/>
        </p:nvSpPr>
        <p:spPr>
          <a:xfrm>
            <a:off x="640080" y="5504688"/>
            <a:ext cx="10881360" cy="43891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640080" y="5504688"/>
            <a:ext cx="32004" cy="438912"/>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896112" y="5586983"/>
            <a:ext cx="914400" cy="292608"/>
          </a:xfrm>
          <a:prstGeom prst="rect">
            <a:avLst/>
          </a:prstGeom>
          <a:noFill/>
        </p:spPr>
        <p:txBody>
          <a:bodyPr wrap="square" lIns="0" rIns="0" tIns="0" bIns="0" anchor="t">
            <a:spAutoFit/>
          </a:bodyPr>
          <a:lstStyle/>
          <a:p>
            <a:pPr>
              <a:spcBef>
                <a:spcPts val="0"/>
              </a:spcBef>
              <a:spcAft>
                <a:spcPts val="0"/>
              </a:spcAft>
            </a:pPr>
            <a:r>
              <a:rPr sz="1250" b="1" i="0">
                <a:solidFill>
                  <a:srgbClr val="E8B25C"/>
                </a:solidFill>
                <a:latin typeface="Consolas"/>
              </a:rPr>
              <a:t>opt7</a:t>
            </a:r>
          </a:p>
        </p:txBody>
      </p:sp>
      <p:sp>
        <p:nvSpPr>
          <p:cNvPr id="88" name="TextBox 87"/>
          <p:cNvSpPr txBox="1"/>
          <p:nvPr/>
        </p:nvSpPr>
        <p:spPr>
          <a:xfrm>
            <a:off x="1965960" y="5541264"/>
            <a:ext cx="4572000" cy="256032"/>
          </a:xfrm>
          <a:prstGeom prst="rect">
            <a:avLst/>
          </a:prstGeom>
          <a:noFill/>
        </p:spPr>
        <p:txBody>
          <a:bodyPr wrap="square" lIns="0" rIns="0" tIns="0" bIns="0" anchor="t">
            <a:spAutoFit/>
          </a:bodyPr>
          <a:lstStyle/>
          <a:p>
            <a:pPr>
              <a:spcBef>
                <a:spcPts val="0"/>
              </a:spcBef>
              <a:spcAft>
                <a:spcPts val="0"/>
              </a:spcAft>
            </a:pPr>
            <a:r>
              <a:rPr sz="1150" b="1" i="0">
                <a:solidFill>
                  <a:srgbClr val="E7EDF4"/>
                </a:solidFill>
                <a:latin typeface="Segoe UI"/>
              </a:rPr>
              <a:t>FP32 pedestal + variance rewrite</a:t>
            </a:r>
          </a:p>
        </p:txBody>
      </p:sp>
      <p:sp>
        <p:nvSpPr>
          <p:cNvPr id="89" name="TextBox 88"/>
          <p:cNvSpPr txBox="1"/>
          <p:nvPr/>
        </p:nvSpPr>
        <p:spPr>
          <a:xfrm>
            <a:off x="1965960" y="5742431"/>
            <a:ext cx="5120640" cy="237744"/>
          </a:xfrm>
          <a:prstGeom prst="rect">
            <a:avLst/>
          </a:prstGeom>
          <a:noFill/>
        </p:spPr>
        <p:txBody>
          <a:bodyPr wrap="square" lIns="0" rIns="0" tIns="0" bIns="0" anchor="t">
            <a:spAutoFit/>
          </a:bodyPr>
          <a:lstStyle/>
          <a:p>
            <a:pPr>
              <a:spcBef>
                <a:spcPts val="0"/>
              </a:spcBef>
              <a:spcAft>
                <a:spcPts val="0"/>
              </a:spcAft>
            </a:pPr>
            <a:r>
              <a:rPr sz="900" b="0" i="0">
                <a:solidFill>
                  <a:srgbClr val="6B7A90"/>
                </a:solidFill>
                <a:latin typeface="Segoe UI"/>
              </a:rPr>
              <a:t>the only kernel change in the deck</a:t>
            </a:r>
          </a:p>
        </p:txBody>
      </p:sp>
      <p:sp>
        <p:nvSpPr>
          <p:cNvPr id="90" name="TextBox 89"/>
          <p:cNvSpPr txBox="1"/>
          <p:nvPr/>
        </p:nvSpPr>
        <p:spPr>
          <a:xfrm>
            <a:off x="8595360" y="5586983"/>
            <a:ext cx="2834640" cy="320040"/>
          </a:xfrm>
          <a:prstGeom prst="rect">
            <a:avLst/>
          </a:prstGeom>
          <a:noFill/>
        </p:spPr>
        <p:txBody>
          <a:bodyPr wrap="square" lIns="0" rIns="0" tIns="0" bIns="0" anchor="t">
            <a:spAutoFit/>
          </a:bodyPr>
          <a:lstStyle/>
          <a:p>
            <a:pPr algn="r">
              <a:spcBef>
                <a:spcPts val="0"/>
              </a:spcBef>
              <a:spcAft>
                <a:spcPts val="0"/>
              </a:spcAft>
            </a:pPr>
            <a:r>
              <a:rPr sz="1250" b="1" i="0">
                <a:solidFill>
                  <a:srgbClr val="E8B25C"/>
                </a:solidFill>
                <a:latin typeface="Segoe UI"/>
              </a:rPr>
              <a:t>kernel −41%</a:t>
            </a:r>
          </a:p>
        </p:txBody>
      </p:sp>
      <p:sp>
        <p:nvSpPr>
          <p:cNvPr id="91" name="TextBox 90"/>
          <p:cNvSpPr txBox="1"/>
          <p:nvPr/>
        </p:nvSpPr>
        <p:spPr>
          <a:xfrm>
            <a:off x="640080" y="6053328"/>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Speedups are 3×3 vs the best CPU configuration, 24 threads. Three routes were measured and rejected: CUDA Graphs, and two faster ways of copying the results. All three are in annex A2, because the rule that predicts the wins predicts the failures too.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389888"/>
            <a:ext cx="5303520" cy="274320"/>
          </a:xfrm>
          <a:prstGeom prst="rect">
            <a:avLst/>
          </a:prstGeom>
          <a:noFill/>
        </p:spPr>
        <p:txBody>
          <a:bodyPr wrap="square" lIns="0" rIns="0" tIns="0" bIns="0" anchor="t">
            <a:spAutoFit/>
          </a:bodyPr>
          <a:lstStyle/>
          <a:p>
            <a:pPr>
              <a:spcBef>
                <a:spcPts val="0"/>
              </a:spcBef>
              <a:spcAft>
                <a:spcPts val="0"/>
              </a:spcAft>
            </a:pPr>
            <a:r>
              <a:rPr sz="950" b="1" i="0" spc="180">
                <a:solidFill>
                  <a:srgbClr val="6B7A90"/>
                </a:solidFill>
                <a:latin typeface="Segoe UI"/>
              </a:rPr>
              <a:t>ACT I OF III · FEED THE GPU</a:t>
            </a:r>
          </a:p>
        </p:txBody>
      </p:sp>
      <p:sp>
        <p:nvSpPr>
          <p:cNvPr id="5" name="TextBox 4"/>
          <p:cNvSpPr txBox="1"/>
          <p:nvPr/>
        </p:nvSpPr>
        <p:spPr>
          <a:xfrm>
            <a:off x="914400" y="1737360"/>
            <a:ext cx="5486400" cy="1234440"/>
          </a:xfrm>
          <a:prstGeom prst="rect">
            <a:avLst/>
          </a:prstGeom>
          <a:noFill/>
        </p:spPr>
        <p:txBody>
          <a:bodyPr wrap="square" lIns="0" rIns="0" tIns="0" bIns="0" anchor="t">
            <a:spAutoFit/>
          </a:bodyPr>
          <a:lstStyle/>
          <a:p>
            <a:pPr>
              <a:lnSpc>
                <a:spcPct val="103000"/>
              </a:lnSpc>
              <a:spcBef>
                <a:spcPts val="0"/>
              </a:spcBef>
              <a:spcAft>
                <a:spcPts val="0"/>
              </a:spcAft>
            </a:pPr>
            <a:r>
              <a:rPr sz="3200" b="1" i="0">
                <a:solidFill>
                  <a:srgbClr val="E7EDF4"/>
                </a:solidFill>
                <a:latin typeface="Segoe UI"/>
              </a:rPr>
              <a:t>The host cannot submit work fast enough</a:t>
            </a:r>
          </a:p>
        </p:txBody>
      </p:sp>
      <p:sp>
        <p:nvSpPr>
          <p:cNvPr id="6" name="Rectangle 5"/>
          <p:cNvSpPr/>
          <p:nvPr/>
        </p:nvSpPr>
        <p:spPr>
          <a:xfrm>
            <a:off x="914400" y="3127248"/>
            <a:ext cx="1371600" cy="27432"/>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383280"/>
            <a:ext cx="5212080" cy="1463040"/>
          </a:xfrm>
          <a:prstGeom prst="rect">
            <a:avLst/>
          </a:prstGeom>
          <a:noFill/>
        </p:spPr>
        <p:txBody>
          <a:bodyPr wrap="square" lIns="0" rIns="0" tIns="0" bIns="0" anchor="t">
            <a:spAutoFit/>
          </a:bodyPr>
          <a:lstStyle/>
          <a:p>
            <a:pPr>
              <a:lnSpc>
                <a:spcPct val="140000"/>
              </a:lnSpc>
              <a:spcBef>
                <a:spcPts val="0"/>
              </a:spcBef>
              <a:spcAft>
                <a:spcPts val="0"/>
              </a:spcAft>
            </a:pPr>
            <a:r>
              <a:rPr sz="1350" b="0" i="0">
                <a:solidFill>
                  <a:srgbClr val="A5B2C4"/>
                </a:solidFill>
                <a:latin typeface="Segoe UI"/>
              </a:rPr>
              <a:t>The kernel was fast almost immediately. This act is about the host, and it is told at 3×3, where the wire is the floor.</a:t>
            </a:r>
          </a:p>
        </p:txBody>
      </p:sp>
      <p:sp>
        <p:nvSpPr>
          <p:cNvPr id="8" name="Rectangle 7"/>
          <p:cNvSpPr/>
          <p:nvPr/>
        </p:nvSpPr>
        <p:spPr>
          <a:xfrm>
            <a:off x="914400" y="5074920"/>
            <a:ext cx="5212080" cy="10241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14400" y="5074920"/>
            <a:ext cx="32004" cy="10241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19" y="5230368"/>
            <a:ext cx="4754880" cy="219456"/>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STARTING FROM</a:t>
            </a:r>
          </a:p>
        </p:txBody>
      </p:sp>
      <p:sp>
        <p:nvSpPr>
          <p:cNvPr id="11" name="TextBox 10"/>
          <p:cNvSpPr txBox="1"/>
          <p:nvPr/>
        </p:nvSpPr>
        <p:spPr>
          <a:xfrm>
            <a:off x="1188719" y="5431536"/>
            <a:ext cx="4754880" cy="365760"/>
          </a:xfrm>
          <a:prstGeom prst="rect">
            <a:avLst/>
          </a:prstGeom>
          <a:noFill/>
        </p:spPr>
        <p:txBody>
          <a:bodyPr wrap="square" lIns="0" rIns="0" tIns="0" bIns="0" anchor="t">
            <a:spAutoFit/>
          </a:bodyPr>
          <a:lstStyle/>
          <a:p>
            <a:pPr>
              <a:spcBef>
                <a:spcPts val="0"/>
              </a:spcBef>
              <a:spcAft>
                <a:spcPts val="0"/>
              </a:spcAft>
            </a:pPr>
            <a:r>
              <a:rPr sz="2400" b="1" i="0">
                <a:solidFill>
                  <a:srgbClr val="1E90C2"/>
                </a:solidFill>
                <a:latin typeface="Segoe UI"/>
              </a:rPr>
              <a:t>6 762 FPS</a:t>
            </a:r>
          </a:p>
        </p:txBody>
      </p:sp>
      <p:sp>
        <p:nvSpPr>
          <p:cNvPr id="12" name="TextBox 11"/>
          <p:cNvSpPr txBox="1"/>
          <p:nvPr/>
        </p:nvSpPr>
        <p:spPr>
          <a:xfrm>
            <a:off x="1188719" y="5852160"/>
            <a:ext cx="4754880" cy="219456"/>
          </a:xfrm>
          <a:prstGeom prst="rect">
            <a:avLst/>
          </a:prstGeom>
          <a:noFill/>
        </p:spPr>
        <p:txBody>
          <a:bodyPr wrap="square" lIns="0" rIns="0" tIns="0" bIns="0" anchor="t">
            <a:spAutoFit/>
          </a:bodyPr>
          <a:lstStyle/>
          <a:p>
            <a:pPr>
              <a:spcBef>
                <a:spcPts val="0"/>
              </a:spcBef>
              <a:spcAft>
                <a:spcPts val="0"/>
              </a:spcAft>
            </a:pPr>
            <a:r>
              <a:rPr sz="950" b="0" i="0">
                <a:solidFill>
                  <a:srgbClr val="6B7A90"/>
                </a:solidFill>
                <a:latin typeface="Segoe UI"/>
              </a:rPr>
              <a:t>24-thread CPU · 14.8 s for 100 000 frames</a:t>
            </a:r>
          </a:p>
        </p:txBody>
      </p:sp>
      <p:sp>
        <p:nvSpPr>
          <p:cNvPr id="13" name="Rectangle 12"/>
          <p:cNvSpPr/>
          <p:nvPr/>
        </p:nvSpPr>
        <p:spPr>
          <a:xfrm>
            <a:off x="6537960" y="1783080"/>
            <a:ext cx="10972" cy="402336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12280" y="2423160"/>
            <a:ext cx="4572000" cy="237744"/>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COMING UP</a:t>
            </a:r>
          </a:p>
        </p:txBody>
      </p:sp>
      <p:sp>
        <p:nvSpPr>
          <p:cNvPr id="15" name="TextBox 14"/>
          <p:cNvSpPr txBox="1"/>
          <p:nvPr/>
        </p:nvSpPr>
        <p:spPr>
          <a:xfrm>
            <a:off x="6812280" y="2807208"/>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1E90C2"/>
                </a:solidFill>
                <a:latin typeface="Consolas"/>
              </a:rPr>
              <a:t>12</a:t>
            </a:r>
          </a:p>
        </p:txBody>
      </p:sp>
      <p:sp>
        <p:nvSpPr>
          <p:cNvPr id="16" name="TextBox 15"/>
          <p:cNvSpPr txBox="1"/>
          <p:nvPr/>
        </p:nvSpPr>
        <p:spPr>
          <a:xfrm>
            <a:off x="7452360" y="2807208"/>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opt1 · first port</a:t>
            </a:r>
          </a:p>
        </p:txBody>
      </p:sp>
      <p:sp>
        <p:nvSpPr>
          <p:cNvPr id="17" name="TextBox 16"/>
          <p:cNvSpPr txBox="1"/>
          <p:nvPr/>
        </p:nvSpPr>
        <p:spPr>
          <a:xfrm>
            <a:off x="6812280" y="3300984"/>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1E90C2"/>
                </a:solidFill>
                <a:latin typeface="Consolas"/>
              </a:rPr>
              <a:t>13</a:t>
            </a:r>
          </a:p>
        </p:txBody>
      </p:sp>
      <p:sp>
        <p:nvSpPr>
          <p:cNvPr id="18" name="TextBox 17"/>
          <p:cNvSpPr txBox="1"/>
          <p:nvPr/>
        </p:nvSpPr>
        <p:spPr>
          <a:xfrm>
            <a:off x="7452360" y="3300984"/>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opt2 · streams + batching</a:t>
            </a:r>
          </a:p>
        </p:txBody>
      </p:sp>
      <p:sp>
        <p:nvSpPr>
          <p:cNvPr id="19" name="TextBox 18"/>
          <p:cNvSpPr txBox="1"/>
          <p:nvPr/>
        </p:nvSpPr>
        <p:spPr>
          <a:xfrm>
            <a:off x="6812280" y="3794760"/>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1E90C2"/>
                </a:solidFill>
                <a:latin typeface="Consolas"/>
              </a:rPr>
              <a:t>14</a:t>
            </a:r>
          </a:p>
        </p:txBody>
      </p:sp>
      <p:sp>
        <p:nvSpPr>
          <p:cNvPr id="20" name="TextBox 19"/>
          <p:cNvSpPr txBox="1"/>
          <p:nvPr/>
        </p:nvSpPr>
        <p:spPr>
          <a:xfrm>
            <a:off x="7452360" y="3794760"/>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opt3 · no barriers</a:t>
            </a:r>
          </a:p>
        </p:txBody>
      </p:sp>
      <p:sp>
        <p:nvSpPr>
          <p:cNvPr id="21" name="TextBox 20"/>
          <p:cNvSpPr txBox="1"/>
          <p:nvPr/>
        </p:nvSpPr>
        <p:spPr>
          <a:xfrm>
            <a:off x="6812280" y="4288536"/>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1E90C2"/>
                </a:solidFill>
                <a:latin typeface="Consolas"/>
              </a:rPr>
              <a:t>15</a:t>
            </a:r>
          </a:p>
        </p:txBody>
      </p:sp>
      <p:sp>
        <p:nvSpPr>
          <p:cNvPr id="22" name="TextBox 21"/>
          <p:cNvSpPr txBox="1"/>
          <p:nvPr/>
        </p:nvSpPr>
        <p:spPr>
          <a:xfrm>
            <a:off x="7452360" y="4288536"/>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opt4 · pinned memory</a:t>
            </a:r>
          </a:p>
        </p:txBody>
      </p:sp>
      <p:sp>
        <p:nvSpPr>
          <p:cNvPr id="23" name="Rectangle 22"/>
          <p:cNvSpPr/>
          <p:nvPr/>
        </p:nvSpPr>
        <p:spPr>
          <a:xfrm>
            <a:off x="6400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44879"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2496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5544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8592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164079"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4688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7736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078479"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3832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880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992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297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602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907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212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16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821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126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431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736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040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345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 · OPT1 · THE FIRST CUDA PORT</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 first port runs at 26 % of the GPU's floor</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12 / 33</a:t>
            </a:r>
          </a:p>
        </p:txBody>
      </p:sp>
      <p:sp>
        <p:nvSpPr>
          <p:cNvPr id="40" name="TextBox 39"/>
          <p:cNvSpPr txBox="1"/>
          <p:nvPr/>
        </p:nvSpPr>
        <p:spPr>
          <a:xfrm>
            <a:off x="640080" y="1783080"/>
            <a:ext cx="7223760" cy="274320"/>
          </a:xfrm>
          <a:prstGeom prst="rect">
            <a:avLst/>
          </a:prstGeom>
          <a:noFill/>
        </p:spPr>
        <p:txBody>
          <a:bodyPr wrap="square" lIns="0" rIns="0" tIns="0" bIns="0" anchor="t">
            <a:spAutoFit/>
          </a:bodyPr>
          <a:lstStyle/>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Shared-memory tiling with </a:t>
            </a:r>
            <a:r>
              <a:rPr sz="1100" b="1" i="0">
                <a:solidFill>
                  <a:srgbClr val="E7EDF4"/>
                </a:solidFill>
                <a:latin typeface="Segoe UI"/>
              </a:rPr>
              <a:t>halo loading</a:t>
            </a:r>
            <a:r>
              <a:rPr sz="1100" b="0" i="0">
                <a:solidFill>
                  <a:srgbClr val="A5B2C4"/>
                </a:solidFill>
                <a:latin typeface="Segoe UI"/>
              </a:rPr>
              <a:t> for any cluster size; pedestal subtraction fused into the tile load.</a:t>
            </a:r>
          </a:p>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Cluster geometry is a </a:t>
            </a:r>
            <a:r>
              <a:rPr sz="1100" b="1" i="0">
                <a:solidFill>
                  <a:srgbClr val="E7EDF4"/>
                </a:solidFill>
                <a:latin typeface="Segoe UI"/>
              </a:rPr>
              <a:t>compile-time template parameter</a:t>
            </a:r>
            <a:r>
              <a:rPr sz="1100" b="0" i="0">
                <a:solidFill>
                  <a:srgbClr val="A5B2C4"/>
                </a:solidFill>
                <a:latin typeface="Segoe UI"/>
              </a:rPr>
              <a:t> → the 3×3 stencil is fully unrolled.</a:t>
            </a:r>
          </a:p>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One cudaMemcpy in, one kernel, one cudaMemcpy out; </a:t>
            </a:r>
            <a:r>
              <a:rPr sz="1100" b="1" i="0">
                <a:solidFill>
                  <a:srgbClr val="E7EDF4"/>
                </a:solidFill>
                <a:latin typeface="Segoe UI"/>
              </a:rPr>
              <a:t>the host blocks on every frame</a:t>
            </a:r>
            <a:r>
              <a:rPr sz="1100" b="0" i="0">
                <a:solidFill>
                  <a:srgbClr val="A5B2C4"/>
                </a:solidFill>
                <a:latin typeface="Segoe UI"/>
              </a:rPr>
              <a:t>.</a:t>
            </a:r>
          </a:p>
        </p:txBody>
      </p:sp>
      <p:sp>
        <p:nvSpPr>
          <p:cNvPr id="41" name="Rounded Rectangle 40"/>
          <p:cNvSpPr/>
          <p:nvPr/>
        </p:nvSpPr>
        <p:spPr>
          <a:xfrm>
            <a:off x="640080" y="2907792"/>
            <a:ext cx="7223760" cy="1154887"/>
          </a:xfrm>
          <a:prstGeom prst="round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04671" y="3017520"/>
            <a:ext cx="6894576" cy="182880"/>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ClusterFinderCUDAOpt2.hpp · find_clusters()</a:t>
            </a:r>
          </a:p>
        </p:txBody>
      </p:sp>
      <p:sp>
        <p:nvSpPr>
          <p:cNvPr id="43" name="TextBox 42"/>
          <p:cNvSpPr txBox="1"/>
          <p:nvPr/>
        </p:nvSpPr>
        <p:spPr>
          <a:xfrm>
            <a:off x="804671" y="3236976"/>
            <a:ext cx="6894576" cy="935431"/>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6B7A90"/>
                </a:solidFill>
                <a:latin typeface="Consolas"/>
              </a:rPr>
              <a:t>// one frame at a time, the host waits at every step</a:t>
            </a:r>
          </a:p>
          <a:p>
            <a:pPr>
              <a:lnSpc>
                <a:spcPct val="112000"/>
              </a:lnSpc>
              <a:spcBef>
                <a:spcPts val="0"/>
              </a:spcBef>
              <a:spcAft>
                <a:spcPts val="0"/>
              </a:spcAft>
            </a:pPr>
            <a:r>
              <a:rPr sz="900" b="0" i="0">
                <a:solidFill>
                  <a:srgbClr val="A5B2C4"/>
                </a:solidFill>
                <a:latin typeface="Consolas"/>
              </a:rPr>
              <a:t>cudaMemcpy(d_frame, h_frame, bytes, cudaMemcpyHostToDevice);</a:t>
            </a:r>
          </a:p>
          <a:p>
            <a:pPr>
              <a:lnSpc>
                <a:spcPct val="112000"/>
              </a:lnSpc>
              <a:spcBef>
                <a:spcPts val="0"/>
              </a:spcBef>
              <a:spcAft>
                <a:spcPts val="0"/>
              </a:spcAft>
            </a:pPr>
            <a:r>
              <a:rPr sz="900" b="0" i="0">
                <a:solidFill>
                  <a:srgbClr val="A5B2C4"/>
                </a:solidFill>
                <a:latin typeface="Consolas"/>
              </a:rPr>
              <a:t>find_clusters_in_single_frame&lt;ClusterType, FRAME_TYPE&gt;</a:t>
            </a:r>
          </a:p>
          <a:p>
            <a:pPr>
              <a:lnSpc>
                <a:spcPct val="112000"/>
              </a:lnSpc>
              <a:spcBef>
                <a:spcPts val="0"/>
              </a:spcBef>
              <a:spcAft>
                <a:spcPts val="0"/>
              </a:spcAft>
            </a:pPr>
            <a:r>
              <a:rPr sz="900" b="0" i="0">
                <a:solidFill>
                  <a:srgbClr val="A5B2C4"/>
                </a:solidFill>
                <a:latin typeface="Consolas"/>
              </a:rPr>
              <a:t>    &lt;&lt;&lt;grid, block, shmem&gt;&gt;&gt;(d_frame, d_pd_mean, ...);</a:t>
            </a:r>
          </a:p>
          <a:p>
            <a:pPr>
              <a:lnSpc>
                <a:spcPct val="112000"/>
              </a:lnSpc>
              <a:spcBef>
                <a:spcPts val="0"/>
              </a:spcBef>
              <a:spcAft>
                <a:spcPts val="0"/>
              </a:spcAft>
            </a:pPr>
            <a:r>
              <a:rPr sz="900" b="0" i="0">
                <a:solidFill>
                  <a:srgbClr val="A5B2C4"/>
                </a:solidFill>
                <a:latin typeface="Consolas"/>
              </a:rPr>
              <a:t>cudaMemcpy(h_out, d_out, out_bytes, cudaMemcpyDeviceToHost);</a:t>
            </a:r>
          </a:p>
        </p:txBody>
      </p:sp>
      <p:sp>
        <p:nvSpPr>
          <p:cNvPr id="44" name="Rectangle 43"/>
          <p:cNvSpPr/>
          <p:nvPr/>
        </p:nvSpPr>
        <p:spPr>
          <a:xfrm>
            <a:off x="681228" y="4224528"/>
            <a:ext cx="7182612" cy="9144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40080" y="4224528"/>
            <a:ext cx="41148" cy="91440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6112" y="4315968"/>
            <a:ext cx="6766560" cy="731520"/>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PCIe is full-duplex</a:t>
            </a:r>
            <a:r>
              <a:rPr sz="1050" b="0" i="0">
                <a:solidFill>
                  <a:srgbClr val="A5B2C4"/>
                </a:solidFill>
                <a:latin typeface="Segoe UI"/>
              </a:rPr>
              <a:t>: H2D, kernel and D2H run on independent engines and overlap, so the </a:t>
            </a:r>
            <a:r>
              <a:rPr sz="1050" b="1" i="0">
                <a:solidFill>
                  <a:srgbClr val="E7EDF4"/>
                </a:solidFill>
                <a:latin typeface="Segoe UI"/>
              </a:rPr>
              <a:t>floor</a:t>
            </a:r>
            <a:r>
              <a:rPr sz="1050" b="0" i="0">
                <a:solidFill>
                  <a:srgbClr val="A5B2C4"/>
                </a:solidFill>
                <a:latin typeface="Segoe UI"/>
              </a:rPr>
              <a:t> — the fastest a frame can go if the host cost nothing — is </a:t>
            </a:r>
            <a:r>
              <a:rPr sz="1050" b="1" i="0">
                <a:solidFill>
                  <a:srgbClr val="E7EDF4"/>
                </a:solidFill>
                <a:latin typeface="Segoe UI"/>
              </a:rPr>
              <a:t>max(H2D, kernel, D2H)</a:t>
            </a:r>
            <a:r>
              <a:rPr sz="1050" b="0" i="0">
                <a:solidFill>
                  <a:srgbClr val="A5B2C4"/>
                </a:solidFill>
                <a:latin typeface="Segoe UI"/>
              </a:rPr>
              <a:t>, never the sum. At 3×3 that is max(</a:t>
            </a:r>
            <a:r>
              <a:rPr sz="1050" b="1" i="0">
                <a:solidFill>
                  <a:srgbClr val="E7EDF4"/>
                </a:solidFill>
                <a:latin typeface="Segoe UI"/>
              </a:rPr>
              <a:t>16.17</a:t>
            </a:r>
            <a:r>
              <a:rPr sz="1050" b="0" i="0">
                <a:solidFill>
                  <a:srgbClr val="A5B2C4"/>
                </a:solidFill>
                <a:latin typeface="Segoe UI"/>
              </a:rPr>
              <a:t>, 15.17, 7.69) = </a:t>
            </a:r>
            <a:r>
              <a:rPr sz="1050" b="1" i="0">
                <a:solidFill>
                  <a:srgbClr val="E7EDF4"/>
                </a:solidFill>
                <a:latin typeface="Segoe UI"/>
              </a:rPr>
              <a:t>16.2 µs → 61 859 FPS</a:t>
            </a:r>
            <a:r>
              <a:rPr sz="1050" b="0" i="0">
                <a:solidFill>
                  <a:srgbClr val="A5B2C4"/>
                </a:solidFill>
                <a:latin typeface="Segoe UI"/>
              </a:rPr>
              <a:t>. Exactly how each of those three is measured is slide 18; it does not change this one.</a:t>
            </a:r>
          </a:p>
        </p:txBody>
      </p:sp>
      <p:pic>
        <p:nvPicPr>
          <p:cNvPr id="47" name="Picture 46" descr="fig_opt1_timeline.png"/>
          <p:cNvPicPr>
            <a:picLocks noChangeAspect="1"/>
          </p:cNvPicPr>
          <p:nvPr/>
        </p:nvPicPr>
        <p:blipFill>
          <a:blip r:embed="rId2"/>
          <a:stretch>
            <a:fillRect/>
          </a:stretch>
        </p:blipFill>
        <p:spPr>
          <a:xfrm>
            <a:off x="640080" y="5303520"/>
            <a:ext cx="7223760" cy="1159004"/>
          </a:xfrm>
          <a:prstGeom prst="rect">
            <a:avLst/>
          </a:prstGeom>
        </p:spPr>
      </p:pic>
      <p:sp>
        <p:nvSpPr>
          <p:cNvPr id="48" name="Rectangle 47"/>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OPT1 · 3×3 · 100 K FRAMES · F64</a:t>
            </a:r>
          </a:p>
        </p:txBody>
      </p:sp>
      <p:sp>
        <p:nvSpPr>
          <p:cNvPr id="50" name="TextBox 49"/>
          <p:cNvSpPr txBox="1"/>
          <p:nvPr/>
        </p:nvSpPr>
        <p:spPr>
          <a:xfrm>
            <a:off x="8412480" y="217627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THROUGHPUT</a:t>
            </a:r>
          </a:p>
        </p:txBody>
      </p:sp>
      <p:sp>
        <p:nvSpPr>
          <p:cNvPr id="51" name="TextBox 50"/>
          <p:cNvSpPr txBox="1"/>
          <p:nvPr/>
        </p:nvSpPr>
        <p:spPr>
          <a:xfrm>
            <a:off x="8412480" y="2395728"/>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7EDF4"/>
                </a:solidFill>
                <a:latin typeface="Segoe UI"/>
              </a:rPr>
              <a:t>15 807 FPS</a:t>
            </a:r>
          </a:p>
        </p:txBody>
      </p:sp>
      <p:sp>
        <p:nvSpPr>
          <p:cNvPr id="52" name="TextBox 51"/>
          <p:cNvSpPr txBox="1"/>
          <p:nvPr/>
        </p:nvSpPr>
        <p:spPr>
          <a:xfrm>
            <a:off x="8412480" y="307238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VS 24-THREAD CPU</a:t>
            </a:r>
          </a:p>
        </p:txBody>
      </p:sp>
      <p:sp>
        <p:nvSpPr>
          <p:cNvPr id="53" name="TextBox 52"/>
          <p:cNvSpPr txBox="1"/>
          <p:nvPr/>
        </p:nvSpPr>
        <p:spPr>
          <a:xfrm>
            <a:off x="8412480" y="3291840"/>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1E90C2"/>
                </a:solidFill>
                <a:latin typeface="Segoe UI"/>
              </a:rPr>
              <a:t>×2.34</a:t>
            </a:r>
          </a:p>
        </p:txBody>
      </p:sp>
      <p:sp>
        <p:nvSpPr>
          <p:cNvPr id="54" name="TextBox 53"/>
          <p:cNvSpPr txBox="1"/>
          <p:nvPr/>
        </p:nvSpPr>
        <p:spPr>
          <a:xfrm>
            <a:off x="8412480" y="4014215"/>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PER FRAME</a:t>
            </a:r>
          </a:p>
        </p:txBody>
      </p:sp>
      <p:sp>
        <p:nvSpPr>
          <p:cNvPr id="55" name="TextBox 54"/>
          <p:cNvSpPr txBox="1"/>
          <p:nvPr/>
        </p:nvSpPr>
        <p:spPr>
          <a:xfrm>
            <a:off x="8412480" y="4215383"/>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A5B2C4"/>
                </a:solidFill>
                <a:latin typeface="Segoe UI"/>
              </a:rPr>
              <a:t>63.3 µs</a:t>
            </a:r>
          </a:p>
        </p:txBody>
      </p:sp>
      <p:sp>
        <p:nvSpPr>
          <p:cNvPr id="56" name="TextBox 55"/>
          <p:cNvSpPr txBox="1"/>
          <p:nvPr/>
        </p:nvSpPr>
        <p:spPr>
          <a:xfrm>
            <a:off x="8412480" y="461772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THE GPU FLOOR</a:t>
            </a:r>
          </a:p>
        </p:txBody>
      </p:sp>
      <p:sp>
        <p:nvSpPr>
          <p:cNvPr id="57" name="TextBox 56"/>
          <p:cNvSpPr txBox="1"/>
          <p:nvPr/>
        </p:nvSpPr>
        <p:spPr>
          <a:xfrm>
            <a:off x="8412480" y="4818888"/>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61 859 FPS</a:t>
            </a:r>
          </a:p>
        </p:txBody>
      </p:sp>
      <p:sp>
        <p:nvSpPr>
          <p:cNvPr id="58" name="TextBox 57"/>
          <p:cNvSpPr txBox="1"/>
          <p:nvPr/>
        </p:nvSpPr>
        <p:spPr>
          <a:xfrm>
            <a:off x="8412480" y="522122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 OF FLOOR</a:t>
            </a:r>
          </a:p>
        </p:txBody>
      </p:sp>
      <p:sp>
        <p:nvSpPr>
          <p:cNvPr id="59" name="TextBox 58"/>
          <p:cNvSpPr txBox="1"/>
          <p:nvPr/>
        </p:nvSpPr>
        <p:spPr>
          <a:xfrm>
            <a:off x="8412480" y="5422392"/>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E8B25C"/>
                </a:solidFill>
                <a:latin typeface="Segoe UI"/>
              </a:rPr>
              <a:t>26 %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 · OPT2 · STREAMS AND BATCHING</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Four streams and 2 000-frame batches: ×1.56</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13 / 33</a:t>
            </a:r>
          </a:p>
        </p:txBody>
      </p:sp>
      <p:sp>
        <p:nvSpPr>
          <p:cNvPr id="40" name="TextBox 39"/>
          <p:cNvSpPr txBox="1"/>
          <p:nvPr/>
        </p:nvSpPr>
        <p:spPr>
          <a:xfrm>
            <a:off x="640080" y="1783080"/>
            <a:ext cx="7223760" cy="274320"/>
          </a:xfrm>
          <a:prstGeom prst="rect">
            <a:avLst/>
          </a:prstGeom>
          <a:noFill/>
        </p:spPr>
        <p:txBody>
          <a:bodyPr wrap="square" lIns="0" rIns="0" tIns="0" bIns="0" anchor="t">
            <a:spAutoFit/>
          </a:bodyPr>
          <a:lstStyle/>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A </a:t>
            </a:r>
            <a:r>
              <a:rPr sz="1100" b="1" i="0">
                <a:solidFill>
                  <a:srgbClr val="E7EDF4"/>
                </a:solidFill>
                <a:latin typeface="Segoe UI"/>
              </a:rPr>
              <a:t>stream</a:t>
            </a:r>
            <a:r>
              <a:rPr sz="1100" b="0" i="0">
                <a:solidFill>
                  <a:srgbClr val="A5B2C4"/>
                </a:solidFill>
                <a:latin typeface="Segoe UI"/>
              </a:rPr>
              <a:t> is an ordered queue of GPU work. Work in </a:t>
            </a:r>
            <a:r>
              <a:rPr sz="1100" b="1" i="0">
                <a:solidFill>
                  <a:srgbClr val="E7EDF4"/>
                </a:solidFill>
                <a:latin typeface="Segoe UI"/>
              </a:rPr>
              <a:t>different</a:t>
            </a:r>
            <a:r>
              <a:rPr sz="1100" b="0" i="0">
                <a:solidFill>
                  <a:srgbClr val="A5B2C4"/>
                </a:solidFill>
                <a:latin typeface="Segoe UI"/>
              </a:rPr>
              <a:t> streams may overlap, so a copy can run while another stream computes.</a:t>
            </a:r>
          </a:p>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Each stream gets its own </a:t>
            </a:r>
            <a:r>
              <a:rPr sz="1100" b="1" i="0">
                <a:solidFill>
                  <a:srgbClr val="E7EDF4"/>
                </a:solidFill>
                <a:latin typeface="Segoe UI"/>
              </a:rPr>
              <a:t>StreamContext</a:t>
            </a:r>
            <a:r>
              <a:rPr sz="1100" b="0" i="0">
                <a:solidFill>
                  <a:srgbClr val="A5B2C4"/>
                </a:solidFill>
                <a:latin typeface="Segoe UI"/>
              </a:rPr>
              <a:t>: device frame buffer, output buffer and pedestal. Frames are handed out </a:t>
            </a:r>
            <a:r>
              <a:rPr sz="1100" b="1" i="0">
                <a:solidFill>
                  <a:srgbClr val="E7EDF4"/>
                </a:solidFill>
                <a:latin typeface="Segoe UI"/>
              </a:rPr>
              <a:t>round-robin</a:t>
            </a:r>
            <a:r>
              <a:rPr sz="1100" b="0" i="0">
                <a:solidFill>
                  <a:srgbClr val="A5B2C4"/>
                </a:solidFill>
                <a:latin typeface="Segoe UI"/>
              </a:rPr>
              <a:t>.</a:t>
            </a:r>
          </a:p>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The host now submits </a:t>
            </a:r>
            <a:r>
              <a:rPr sz="1100" b="1" i="0">
                <a:solidFill>
                  <a:srgbClr val="E7EDF4"/>
                </a:solidFill>
                <a:latin typeface="Segoe UI"/>
              </a:rPr>
              <a:t>2 000 frames per call</a:t>
            </a:r>
            <a:r>
              <a:rPr sz="1100" b="0" i="0">
                <a:solidFill>
                  <a:srgbClr val="A5B2C4"/>
                </a:solidFill>
                <a:latin typeface="Segoe UI"/>
              </a:rPr>
              <a:t> instead of one.</a:t>
            </a:r>
          </a:p>
        </p:txBody>
      </p:sp>
      <p:sp>
        <p:nvSpPr>
          <p:cNvPr id="41" name="Rounded Rectangle 40"/>
          <p:cNvSpPr/>
          <p:nvPr/>
        </p:nvSpPr>
        <p:spPr>
          <a:xfrm>
            <a:off x="640080" y="3017520"/>
            <a:ext cx="7223760" cy="1298082"/>
          </a:xfrm>
          <a:prstGeom prst="round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04671" y="3127248"/>
            <a:ext cx="6894576" cy="182880"/>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ClusterFinderCUDA.hpp · per-stream state</a:t>
            </a:r>
          </a:p>
        </p:txBody>
      </p:sp>
      <p:sp>
        <p:nvSpPr>
          <p:cNvPr id="43" name="TextBox 42"/>
          <p:cNvSpPr txBox="1"/>
          <p:nvPr/>
        </p:nvSpPr>
        <p:spPr>
          <a:xfrm>
            <a:off x="804671" y="3346704"/>
            <a:ext cx="6894576" cy="1078626"/>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A5B2C4"/>
                </a:solidFill>
                <a:latin typeface="Consolas"/>
              </a:rPr>
              <a:t>struct StreamContext {</a:t>
            </a:r>
          </a:p>
          <a:p>
            <a:pPr>
              <a:lnSpc>
                <a:spcPct val="112000"/>
              </a:lnSpc>
              <a:spcBef>
                <a:spcPts val="0"/>
              </a:spcBef>
              <a:spcAft>
                <a:spcPts val="0"/>
              </a:spcAft>
            </a:pPr>
            <a:r>
              <a:rPr sz="900" b="0" i="0">
                <a:solidFill>
                  <a:srgbClr val="A5B2C4"/>
                </a:solidFill>
                <a:latin typeface="Consolas"/>
              </a:rPr>
              <a:t>    cudaStream_t   stream;</a:t>
            </a:r>
          </a:p>
          <a:p>
            <a:pPr>
              <a:lnSpc>
                <a:spcPct val="112000"/>
              </a:lnSpc>
              <a:spcBef>
                <a:spcPts val="0"/>
              </a:spcBef>
              <a:spcAft>
                <a:spcPts val="0"/>
              </a:spcAft>
            </a:pPr>
            <a:r>
              <a:rPr sz="900" b="0" i="0">
                <a:solidFill>
                  <a:srgbClr val="A5B2C4"/>
                </a:solidFill>
                <a:latin typeface="Consolas"/>
              </a:rPr>
              <a:t>    FRAME_TYPE    *d_frame;      ClusterType *d_clusters;</a:t>
            </a:r>
          </a:p>
          <a:p>
            <a:pPr>
              <a:lnSpc>
                <a:spcPct val="112000"/>
              </a:lnSpc>
              <a:spcBef>
                <a:spcPts val="0"/>
              </a:spcBef>
              <a:spcAft>
                <a:spcPts val="0"/>
              </a:spcAft>
            </a:pPr>
            <a:r>
              <a:rPr sz="900" b="0" i="0">
                <a:solidFill>
                  <a:srgbClr val="A5B2C4"/>
                </a:solidFill>
                <a:latin typeface="Consolas"/>
              </a:rPr>
              <a:t>    PEDESTAL_TYPE *d_pd_mean, *d_pd_sum, *d_pd_sum2;</a:t>
            </a:r>
          </a:p>
          <a:p>
            <a:pPr>
              <a:lnSpc>
                <a:spcPct val="112000"/>
              </a:lnSpc>
              <a:spcBef>
                <a:spcPts val="0"/>
              </a:spcBef>
              <a:spcAft>
                <a:spcPts val="0"/>
              </a:spcAft>
            </a:pPr>
            <a:r>
              <a:rPr sz="900" b="0" i="0">
                <a:solidFill>
                  <a:srgbClr val="A5B2C4"/>
                </a:solidFill>
                <a:latin typeface="Consolas"/>
              </a:rPr>
              <a:t>};</a:t>
            </a:r>
          </a:p>
          <a:p>
            <a:pPr>
              <a:lnSpc>
                <a:spcPct val="112000"/>
              </a:lnSpc>
              <a:spcBef>
                <a:spcPts val="0"/>
              </a:spcBef>
              <a:spcAft>
                <a:spcPts val="0"/>
              </a:spcAft>
            </a:pPr>
            <a:r>
              <a:rPr sz="900" b="0" i="0">
                <a:solidFill>
                  <a:srgbClr val="A5B2C4"/>
                </a:solidFill>
                <a:latin typeface="Consolas"/>
              </a:rPr>
              <a:t>auto &amp;sc = v_sc[frame_idx % </a:t>
            </a:r>
            <a:r>
              <a:rPr sz="900" b="1" i="0">
                <a:solidFill>
                  <a:srgbClr val="1E90C2"/>
                </a:solidFill>
                <a:latin typeface="Consolas"/>
              </a:rPr>
              <a:t>n_streams</a:t>
            </a:r>
            <a:r>
              <a:rPr sz="900" b="0" i="0">
                <a:solidFill>
                  <a:srgbClr val="A5B2C4"/>
                </a:solidFill>
                <a:latin typeface="Consolas"/>
              </a:rPr>
              <a:t>];   // round-robin</a:t>
            </a:r>
          </a:p>
        </p:txBody>
      </p:sp>
      <p:pic>
        <p:nvPicPr>
          <p:cNvPr id="44" name="Picture 43" descr="fig_opt2_timeline.png"/>
          <p:cNvPicPr>
            <a:picLocks noChangeAspect="1"/>
          </p:cNvPicPr>
          <p:nvPr/>
        </p:nvPicPr>
        <p:blipFill>
          <a:blip r:embed="rId2"/>
          <a:stretch>
            <a:fillRect/>
          </a:stretch>
        </p:blipFill>
        <p:spPr>
          <a:xfrm>
            <a:off x="640080" y="4361688"/>
            <a:ext cx="7223760" cy="1521457"/>
          </a:xfrm>
          <a:prstGeom prst="rect">
            <a:avLst/>
          </a:prstGeom>
        </p:spPr>
      </p:pic>
      <p:sp>
        <p:nvSpPr>
          <p:cNvPr id="45" name="Rectangle 44"/>
          <p:cNvSpPr/>
          <p:nvPr/>
        </p:nvSpPr>
        <p:spPr>
          <a:xfrm>
            <a:off x="681228" y="5925312"/>
            <a:ext cx="7182612" cy="54864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40080" y="5925312"/>
            <a:ext cx="41148" cy="54864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96112" y="6016752"/>
            <a:ext cx="6766560" cy="365759"/>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Scaffolding, not yet the payoff.</a:t>
            </a:r>
            <a:r>
              <a:rPr sz="1050" b="0" i="0">
                <a:solidFill>
                  <a:srgbClr val="A5B2C4"/>
                </a:solidFill>
                <a:latin typeface="Segoe UI"/>
              </a:rPr>
              <a:t> The streams exist, but the host still synchronises after every round: see opt3.</a:t>
            </a:r>
          </a:p>
        </p:txBody>
      </p:sp>
      <p:sp>
        <p:nvSpPr>
          <p:cNvPr id="48" name="Rectangle 47"/>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OPT2 · 3×3 · 4 STREAMS · BATCH 2 000</a:t>
            </a:r>
          </a:p>
        </p:txBody>
      </p:sp>
      <p:sp>
        <p:nvSpPr>
          <p:cNvPr id="50" name="TextBox 49"/>
          <p:cNvSpPr txBox="1"/>
          <p:nvPr/>
        </p:nvSpPr>
        <p:spPr>
          <a:xfrm>
            <a:off x="8412480" y="217627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THROUGHPUT</a:t>
            </a:r>
          </a:p>
        </p:txBody>
      </p:sp>
      <p:sp>
        <p:nvSpPr>
          <p:cNvPr id="51" name="TextBox 50"/>
          <p:cNvSpPr txBox="1"/>
          <p:nvPr/>
        </p:nvSpPr>
        <p:spPr>
          <a:xfrm>
            <a:off x="8412480" y="2395728"/>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7EDF4"/>
                </a:solidFill>
                <a:latin typeface="Segoe UI"/>
              </a:rPr>
              <a:t>24 726 FPS</a:t>
            </a:r>
          </a:p>
        </p:txBody>
      </p:sp>
      <p:sp>
        <p:nvSpPr>
          <p:cNvPr id="52" name="TextBox 51"/>
          <p:cNvSpPr txBox="1"/>
          <p:nvPr/>
        </p:nvSpPr>
        <p:spPr>
          <a:xfrm>
            <a:off x="8412480" y="307238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VS 24-THREAD CPU</a:t>
            </a:r>
          </a:p>
        </p:txBody>
      </p:sp>
      <p:sp>
        <p:nvSpPr>
          <p:cNvPr id="53" name="TextBox 52"/>
          <p:cNvSpPr txBox="1"/>
          <p:nvPr/>
        </p:nvSpPr>
        <p:spPr>
          <a:xfrm>
            <a:off x="8412480" y="3291840"/>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1E90C2"/>
                </a:solidFill>
                <a:latin typeface="Segoe UI"/>
              </a:rPr>
              <a:t>×3.66</a:t>
            </a:r>
          </a:p>
        </p:txBody>
      </p:sp>
      <p:sp>
        <p:nvSpPr>
          <p:cNvPr id="54" name="TextBox 53"/>
          <p:cNvSpPr txBox="1"/>
          <p:nvPr/>
        </p:nvSpPr>
        <p:spPr>
          <a:xfrm>
            <a:off x="8412480" y="4014215"/>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PER FRAME</a:t>
            </a:r>
          </a:p>
        </p:txBody>
      </p:sp>
      <p:sp>
        <p:nvSpPr>
          <p:cNvPr id="55" name="TextBox 54"/>
          <p:cNvSpPr txBox="1"/>
          <p:nvPr/>
        </p:nvSpPr>
        <p:spPr>
          <a:xfrm>
            <a:off x="8412480" y="4215383"/>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A5B2C4"/>
                </a:solidFill>
                <a:latin typeface="Segoe UI"/>
              </a:rPr>
              <a:t>40.4 µs</a:t>
            </a:r>
          </a:p>
        </p:txBody>
      </p:sp>
      <p:sp>
        <p:nvSpPr>
          <p:cNvPr id="56" name="TextBox 55"/>
          <p:cNvSpPr txBox="1"/>
          <p:nvPr/>
        </p:nvSpPr>
        <p:spPr>
          <a:xfrm>
            <a:off x="8412480" y="461772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STEP GAIN OVER OPT1</a:t>
            </a:r>
          </a:p>
        </p:txBody>
      </p:sp>
      <p:sp>
        <p:nvSpPr>
          <p:cNvPr id="57" name="TextBox 56"/>
          <p:cNvSpPr txBox="1"/>
          <p:nvPr/>
        </p:nvSpPr>
        <p:spPr>
          <a:xfrm>
            <a:off x="8412480" y="4818888"/>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×1.56</a:t>
            </a:r>
          </a:p>
        </p:txBody>
      </p:sp>
      <p:sp>
        <p:nvSpPr>
          <p:cNvPr id="58" name="TextBox 57"/>
          <p:cNvSpPr txBox="1"/>
          <p:nvPr/>
        </p:nvSpPr>
        <p:spPr>
          <a:xfrm>
            <a:off x="8412480" y="522122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 OF FLOOR · 61 859 FPS</a:t>
            </a:r>
          </a:p>
        </p:txBody>
      </p:sp>
      <p:sp>
        <p:nvSpPr>
          <p:cNvPr id="59" name="TextBox 58"/>
          <p:cNvSpPr txBox="1"/>
          <p:nvPr/>
        </p:nvSpPr>
        <p:spPr>
          <a:xfrm>
            <a:off x="8412480" y="5422392"/>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E8B25C"/>
                </a:solidFill>
                <a:latin typeface="Segoe UI"/>
              </a:rPr>
              <a:t>40 %  (was 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 · OPT3 · REMOVE THE SYNC BARRIERS</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One sync per batch, not one per round: ×1.18</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14 / 33</a:t>
            </a:r>
          </a:p>
        </p:txBody>
      </p:sp>
      <p:sp>
        <p:nvSpPr>
          <p:cNvPr id="40" name="TextBox 39"/>
          <p:cNvSpPr txBox="1"/>
          <p:nvPr/>
        </p:nvSpPr>
        <p:spPr>
          <a:xfrm>
            <a:off x="640080" y="1783080"/>
            <a:ext cx="676656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opt2 synchronised </a:t>
            </a:r>
            <a:r>
              <a:rPr sz="1050" b="1" i="0">
                <a:solidFill>
                  <a:srgbClr val="E7EDF4"/>
                </a:solidFill>
                <a:latin typeface="Segoe UI"/>
              </a:rPr>
              <a:t>all streams after every round</a:t>
            </a:r>
            <a:r>
              <a:rPr sz="1050" b="0" i="0">
                <a:solidFill>
                  <a:srgbClr val="A5B2C4"/>
                </a:solidFill>
                <a:latin typeface="Segoe UI"/>
              </a:rPr>
              <a:t> of n_streams frames. The GPU drained to empty each time.</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opt3 submits every frame's H2D → kernel → D2H </a:t>
            </a:r>
            <a:r>
              <a:rPr sz="1050" b="1" i="0">
                <a:solidFill>
                  <a:srgbClr val="E7EDF4"/>
                </a:solidFill>
                <a:latin typeface="Segoe UI"/>
              </a:rPr>
              <a:t>asynchronously</a:t>
            </a:r>
            <a:r>
              <a:rPr sz="1050" b="0" i="0">
                <a:solidFill>
                  <a:srgbClr val="A5B2C4"/>
                </a:solidFill>
                <a:latin typeface="Segoe UI"/>
              </a:rPr>
              <a:t>, then synchronises </a:t>
            </a:r>
            <a:r>
              <a:rPr sz="1050" b="1" i="0">
                <a:solidFill>
                  <a:srgbClr val="E7EDF4"/>
                </a:solidFill>
                <a:latin typeface="Segoe UI"/>
              </a:rPr>
              <a:t>once at the end of the batch</a:t>
            </a:r>
            <a:r>
              <a:rPr sz="1050" b="0" i="0">
                <a:solidFill>
                  <a:srgbClr val="A5B2C4"/>
                </a:solidFill>
                <a:latin typeface="Segoe UI"/>
              </a:rPr>
              <a:t>.</a:t>
            </a:r>
          </a:p>
        </p:txBody>
      </p:sp>
      <p:pic>
        <p:nvPicPr>
          <p:cNvPr id="41" name="Picture 40" descr="fig_streams.png"/>
          <p:cNvPicPr>
            <a:picLocks noChangeAspect="1"/>
          </p:cNvPicPr>
          <p:nvPr/>
        </p:nvPicPr>
        <p:blipFill>
          <a:blip r:embed="rId2"/>
          <a:stretch>
            <a:fillRect/>
          </a:stretch>
        </p:blipFill>
        <p:spPr>
          <a:xfrm>
            <a:off x="640080" y="2788920"/>
            <a:ext cx="5989320" cy="3545148"/>
          </a:xfrm>
          <a:prstGeom prst="rect">
            <a:avLst/>
          </a:prstGeom>
        </p:spPr>
      </p:pic>
      <p:sp>
        <p:nvSpPr>
          <p:cNvPr id="42" name="Rounded Rectangle 41"/>
          <p:cNvSpPr/>
          <p:nvPr/>
        </p:nvSpPr>
        <p:spPr>
          <a:xfrm>
            <a:off x="7635240" y="1783080"/>
            <a:ext cx="3886200" cy="2443642"/>
          </a:xfrm>
          <a:prstGeom prst="round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799831" y="1892807"/>
            <a:ext cx="3557016" cy="182880"/>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THE ONE-LINE IDEA</a:t>
            </a:r>
          </a:p>
        </p:txBody>
      </p:sp>
      <p:sp>
        <p:nvSpPr>
          <p:cNvPr id="44" name="TextBox 43"/>
          <p:cNvSpPr txBox="1"/>
          <p:nvPr/>
        </p:nvSpPr>
        <p:spPr>
          <a:xfrm>
            <a:off x="7799831" y="2112263"/>
            <a:ext cx="3557016" cy="2224186"/>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6B7A90"/>
                </a:solidFill>
                <a:latin typeface="Consolas"/>
              </a:rPr>
              <a:t>// opt2:  barrier after every round</a:t>
            </a:r>
          </a:p>
          <a:p>
            <a:pPr>
              <a:lnSpc>
                <a:spcPct val="112000"/>
              </a:lnSpc>
              <a:spcBef>
                <a:spcPts val="0"/>
              </a:spcBef>
              <a:spcAft>
                <a:spcPts val="0"/>
              </a:spcAft>
            </a:pPr>
            <a:r>
              <a:rPr sz="900" b="0" i="0">
                <a:solidFill>
                  <a:srgbClr val="A5B2C4"/>
                </a:solidFill>
                <a:latin typeface="Consolas"/>
              </a:rPr>
              <a:t>for (round) {</a:t>
            </a:r>
          </a:p>
          <a:p>
            <a:pPr>
              <a:lnSpc>
                <a:spcPct val="112000"/>
              </a:lnSpc>
              <a:spcBef>
                <a:spcPts val="0"/>
              </a:spcBef>
              <a:spcAft>
                <a:spcPts val="0"/>
              </a:spcAft>
            </a:pPr>
            <a:r>
              <a:rPr sz="900" b="0" i="0">
                <a:solidFill>
                  <a:srgbClr val="A5B2C4"/>
                </a:solidFill>
                <a:latin typeface="Consolas"/>
              </a:rPr>
              <a:t>   submit(n_streams frames);</a:t>
            </a:r>
          </a:p>
          <a:p>
            <a:pPr>
              <a:lnSpc>
                <a:spcPct val="112000"/>
              </a:lnSpc>
              <a:spcBef>
                <a:spcPts val="0"/>
              </a:spcBef>
              <a:spcAft>
                <a:spcPts val="0"/>
              </a:spcAft>
            </a:pPr>
            <a:r>
              <a:rPr sz="900" b="0" i="0">
                <a:solidFill>
                  <a:srgbClr val="A5B2C4"/>
                </a:solidFill>
                <a:latin typeface="Consolas"/>
              </a:rPr>
              <a:t>   </a:t>
            </a:r>
            <a:r>
              <a:rPr sz="900" b="1" i="0">
                <a:solidFill>
                  <a:srgbClr val="1E90C2"/>
                </a:solidFill>
                <a:latin typeface="Consolas"/>
              </a:rPr>
              <a:t>cudaDeviceSynchronize</a:t>
            </a:r>
            <a:r>
              <a:rPr sz="900" b="0" i="0">
                <a:solidFill>
                  <a:srgbClr val="A5B2C4"/>
                </a:solidFill>
                <a:latin typeface="Consolas"/>
              </a:rPr>
              <a:t>();</a:t>
            </a:r>
          </a:p>
          <a:p>
            <a:pPr>
              <a:lnSpc>
                <a:spcPct val="112000"/>
              </a:lnSpc>
              <a:spcBef>
                <a:spcPts val="0"/>
              </a:spcBef>
              <a:spcAft>
                <a:spcPts val="0"/>
              </a:spcAft>
            </a:pPr>
            <a:r>
              <a:rPr sz="900" b="0" i="0">
                <a:solidFill>
                  <a:srgbClr val="A5B2C4"/>
                </a:solidFill>
                <a:latin typeface="Consolas"/>
              </a:rPr>
              <a:t>}</a:t>
            </a:r>
          </a:p>
          <a:p>
            <a:pPr>
              <a:lnSpc>
                <a:spcPct val="112000"/>
              </a:lnSpc>
              <a:spcBef>
                <a:spcPts val="0"/>
              </a:spcBef>
              <a:spcAft>
                <a:spcPts val="0"/>
              </a:spcAft>
            </a:pPr>
          </a:p>
          <a:p>
            <a:pPr>
              <a:lnSpc>
                <a:spcPct val="112000"/>
              </a:lnSpc>
              <a:spcBef>
                <a:spcPts val="0"/>
              </a:spcBef>
              <a:spcAft>
                <a:spcPts val="0"/>
              </a:spcAft>
            </a:pPr>
            <a:r>
              <a:rPr sz="900" b="0" i="0">
                <a:solidFill>
                  <a:srgbClr val="6B7A90"/>
                </a:solidFill>
                <a:latin typeface="Consolas"/>
              </a:rPr>
              <a:t>// opt3:  submit everything, sync once</a:t>
            </a:r>
          </a:p>
          <a:p>
            <a:pPr>
              <a:lnSpc>
                <a:spcPct val="112000"/>
              </a:lnSpc>
              <a:spcBef>
                <a:spcPts val="0"/>
              </a:spcBef>
              <a:spcAft>
                <a:spcPts val="0"/>
              </a:spcAft>
            </a:pPr>
            <a:r>
              <a:rPr sz="900" b="0" i="0">
                <a:solidFill>
                  <a:srgbClr val="A5B2C4"/>
                </a:solidFill>
                <a:latin typeface="Consolas"/>
              </a:rPr>
              <a:t>for (frame : batch) {</a:t>
            </a:r>
          </a:p>
          <a:p>
            <a:pPr>
              <a:lnSpc>
                <a:spcPct val="112000"/>
              </a:lnSpc>
              <a:spcBef>
                <a:spcPts val="0"/>
              </a:spcBef>
              <a:spcAft>
                <a:spcPts val="0"/>
              </a:spcAft>
            </a:pPr>
            <a:r>
              <a:rPr sz="900" b="0" i="0">
                <a:solidFill>
                  <a:srgbClr val="A5B2C4"/>
                </a:solidFill>
                <a:latin typeface="Consolas"/>
              </a:rPr>
              <a:t>   cudaMemcpyAsync(..., sc.stream);</a:t>
            </a:r>
          </a:p>
          <a:p>
            <a:pPr>
              <a:lnSpc>
                <a:spcPct val="112000"/>
              </a:lnSpc>
              <a:spcBef>
                <a:spcPts val="0"/>
              </a:spcBef>
              <a:spcAft>
                <a:spcPts val="0"/>
              </a:spcAft>
            </a:pPr>
            <a:r>
              <a:rPr sz="900" b="0" i="0">
                <a:solidFill>
                  <a:srgbClr val="A5B2C4"/>
                </a:solidFill>
                <a:latin typeface="Consolas"/>
              </a:rPr>
              <a:t>   kernel&lt;&lt;&lt;..., sc.stream&gt;&gt;&gt;(...);</a:t>
            </a:r>
          </a:p>
          <a:p>
            <a:pPr>
              <a:lnSpc>
                <a:spcPct val="112000"/>
              </a:lnSpc>
              <a:spcBef>
                <a:spcPts val="0"/>
              </a:spcBef>
              <a:spcAft>
                <a:spcPts val="0"/>
              </a:spcAft>
            </a:pPr>
            <a:r>
              <a:rPr sz="900" b="0" i="0">
                <a:solidFill>
                  <a:srgbClr val="A5B2C4"/>
                </a:solidFill>
                <a:latin typeface="Consolas"/>
              </a:rPr>
              <a:t>   cudaMemcpyAsync(..., sc.stream);</a:t>
            </a:r>
          </a:p>
          <a:p>
            <a:pPr>
              <a:lnSpc>
                <a:spcPct val="112000"/>
              </a:lnSpc>
              <a:spcBef>
                <a:spcPts val="0"/>
              </a:spcBef>
              <a:spcAft>
                <a:spcPts val="0"/>
              </a:spcAft>
            </a:pPr>
            <a:r>
              <a:rPr sz="900" b="0" i="0">
                <a:solidFill>
                  <a:srgbClr val="A5B2C4"/>
                </a:solidFill>
                <a:latin typeface="Consolas"/>
              </a:rPr>
              <a:t>}</a:t>
            </a:r>
          </a:p>
          <a:p>
            <a:pPr>
              <a:lnSpc>
                <a:spcPct val="112000"/>
              </a:lnSpc>
              <a:spcBef>
                <a:spcPts val="0"/>
              </a:spcBef>
              <a:spcAft>
                <a:spcPts val="0"/>
              </a:spcAft>
            </a:pPr>
            <a:r>
              <a:rPr sz="900" b="0" i="0">
                <a:solidFill>
                  <a:srgbClr val="A5B2C4"/>
                </a:solidFill>
                <a:latin typeface="Consolas"/>
              </a:rPr>
              <a:t>for (sc : streams)</a:t>
            </a:r>
          </a:p>
          <a:p>
            <a:pPr>
              <a:lnSpc>
                <a:spcPct val="112000"/>
              </a:lnSpc>
              <a:spcBef>
                <a:spcPts val="0"/>
              </a:spcBef>
              <a:spcAft>
                <a:spcPts val="0"/>
              </a:spcAft>
            </a:pPr>
            <a:r>
              <a:rPr sz="900" b="0" i="0">
                <a:solidFill>
                  <a:srgbClr val="A5B2C4"/>
                </a:solidFill>
                <a:latin typeface="Consolas"/>
              </a:rPr>
              <a:t>   </a:t>
            </a:r>
            <a:r>
              <a:rPr sz="900" b="1" i="0">
                <a:solidFill>
                  <a:srgbClr val="1E90C2"/>
                </a:solidFill>
                <a:latin typeface="Consolas"/>
              </a:rPr>
              <a:t>cudaStreamSynchronize</a:t>
            </a:r>
            <a:r>
              <a:rPr sz="900" b="0" i="0">
                <a:solidFill>
                  <a:srgbClr val="A5B2C4"/>
                </a:solidFill>
                <a:latin typeface="Consolas"/>
              </a:rPr>
              <a:t>(sc.stream);</a:t>
            </a:r>
          </a:p>
        </p:txBody>
      </p:sp>
      <p:sp>
        <p:nvSpPr>
          <p:cNvPr id="45" name="Rectangle 44"/>
          <p:cNvSpPr/>
          <p:nvPr/>
        </p:nvSpPr>
        <p:spPr>
          <a:xfrm>
            <a:off x="7676388" y="4617720"/>
            <a:ext cx="3845052" cy="78638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635240" y="4617720"/>
            <a:ext cx="41148" cy="78638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891271" y="4709159"/>
            <a:ext cx="3429000" cy="603503"/>
          </a:xfrm>
          <a:prstGeom prst="rect">
            <a:avLst/>
          </a:prstGeom>
          <a:noFill/>
        </p:spPr>
        <p:txBody>
          <a:bodyPr wrap="square" lIns="0" rIns="0" tIns="0" bIns="0" anchor="ctr">
            <a:spAutoFit/>
          </a:bodyPr>
          <a:lstStyle/>
          <a:p>
            <a:pPr>
              <a:lnSpc>
                <a:spcPct val="120000"/>
              </a:lnSpc>
              <a:spcBef>
                <a:spcPts val="0"/>
              </a:spcBef>
              <a:spcAft>
                <a:spcPts val="0"/>
              </a:spcAft>
            </a:pPr>
            <a:r>
              <a:rPr sz="1100" b="1" i="0">
                <a:solidFill>
                  <a:srgbClr val="E7EDF4"/>
                </a:solidFill>
                <a:latin typeface="Segoe UI"/>
              </a:rPr>
              <a:t>29 188 FPS · ×4.32</a:t>
            </a:r>
            <a:r>
              <a:rPr sz="1100" b="0" i="0">
                <a:solidFill>
                  <a:srgbClr val="A5B2C4"/>
                </a:solidFill>
                <a:latin typeface="Segoe UI"/>
              </a:rPr>
              <a:t>
34.3 µs/frame · 47 % of floor (was 40)</a:t>
            </a:r>
          </a:p>
        </p:txBody>
      </p:sp>
      <p:sp>
        <p:nvSpPr>
          <p:cNvPr id="48" name="TextBox 47"/>
          <p:cNvSpPr txBox="1"/>
          <p:nvPr/>
        </p:nvSpPr>
        <p:spPr>
          <a:xfrm>
            <a:off x="7635240" y="5623560"/>
            <a:ext cx="388620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Each lane is one stream. Removing the barrier lets a stream start its next frame while its neighbours are still copying. The three panels are scheduled, not sketched: H2D and D2H are one FIFO engine each, so a stream waits for the copy engine, never for another stream's copy to finish overlapping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 · OPT4 · PINNED (PAGE-LOCKED) MEMORY</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Pinning the input buys DMA-speed H2D: ×1.32</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15 / 33</a:t>
            </a:r>
          </a:p>
        </p:txBody>
      </p:sp>
      <p:sp>
        <p:nvSpPr>
          <p:cNvPr id="40" name="TextBox 39"/>
          <p:cNvSpPr txBox="1"/>
          <p:nvPr/>
        </p:nvSpPr>
        <p:spPr>
          <a:xfrm>
            <a:off x="640080" y="1783080"/>
            <a:ext cx="1097280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Normal host memory is </a:t>
            </a:r>
            <a:r>
              <a:rPr sz="1050" b="1" i="0">
                <a:solidFill>
                  <a:srgbClr val="E7EDF4"/>
                </a:solidFill>
                <a:latin typeface="Segoe UI"/>
              </a:rPr>
              <a:t>pageable</a:t>
            </a:r>
            <a:r>
              <a:rPr sz="1050" b="0" i="0">
                <a:solidFill>
                  <a:srgbClr val="A5B2C4"/>
                </a:solidFill>
                <a:latin typeface="Segoe UI"/>
              </a:rPr>
              <a:t>: the OS may move or swap it. A DMA engine cannot safely read that, so the driver first copies your data into a </a:t>
            </a:r>
            <a:r>
              <a:rPr sz="1050" b="1" i="0">
                <a:solidFill>
                  <a:srgbClr val="E7EDF4"/>
                </a:solidFill>
                <a:latin typeface="Segoe UI"/>
              </a:rPr>
              <a:t>hidden pinned staging buffer</a:t>
            </a:r>
            <a:r>
              <a:rPr sz="1050" b="0" i="0">
                <a:solidFill>
                  <a:srgbClr val="A5B2C4"/>
                </a:solidFill>
                <a:latin typeface="Segoe UI"/>
              </a:rPr>
              <a:t>. Every transfer is copied twice.</a:t>
            </a:r>
          </a:p>
          <a:p>
            <a:pPr>
              <a:lnSpc>
                <a:spcPct val="125000"/>
              </a:lnSpc>
              <a:spcBef>
                <a:spcPts val="0"/>
              </a:spcBef>
              <a:spcAft>
                <a:spcPts val="700"/>
              </a:spcAft>
            </a:pPr>
            <a:r>
              <a:rPr sz="1050" b="0" i="0">
                <a:solidFill>
                  <a:srgbClr val="6B7A90"/>
                </a:solidFill>
                <a:latin typeface="Segoe UI"/>
              </a:rPr>
              <a:t>•  </a:t>
            </a:r>
            <a:r>
              <a:rPr sz="1050" b="1" i="0">
                <a:solidFill>
                  <a:srgbClr val="E7EDF4"/>
                </a:solidFill>
                <a:latin typeface="Segoe UI"/>
              </a:rPr>
              <a:t>Pinning</a:t>
            </a:r>
            <a:r>
              <a:rPr sz="1050" b="0" i="0">
                <a:solidFill>
                  <a:srgbClr val="A5B2C4"/>
                </a:solidFill>
                <a:latin typeface="Segoe UI"/>
              </a:rPr>
              <a:t> locks the pages in physical RAM. The GPU's DMA engine then reads host memory </a:t>
            </a:r>
            <a:r>
              <a:rPr sz="1050" b="1" i="0">
                <a:solidFill>
                  <a:srgbClr val="E7EDF4"/>
                </a:solidFill>
                <a:latin typeface="Segoe UI"/>
              </a:rPr>
              <a:t>directly</a:t>
            </a:r>
            <a:r>
              <a:rPr sz="1050" b="0" i="0">
                <a:solidFill>
                  <a:srgbClr val="A5B2C4"/>
                </a:solidFill>
                <a:latin typeface="Segoe UI"/>
              </a:rPr>
              <a:t>, no staging copy, and the transfer can be truly asynchronous.</a:t>
            </a:r>
          </a:p>
        </p:txBody>
      </p:sp>
      <p:pic>
        <p:nvPicPr>
          <p:cNvPr id="41" name="Picture 40" descr="fig_pinning.png"/>
          <p:cNvPicPr>
            <a:picLocks noChangeAspect="1"/>
          </p:cNvPicPr>
          <p:nvPr/>
        </p:nvPicPr>
        <p:blipFill>
          <a:blip r:embed="rId2"/>
          <a:stretch>
            <a:fillRect/>
          </a:stretch>
        </p:blipFill>
        <p:spPr>
          <a:xfrm>
            <a:off x="640080" y="2880360"/>
            <a:ext cx="6949440" cy="2696977"/>
          </a:xfrm>
          <a:prstGeom prst="rect">
            <a:avLst/>
          </a:prstGeom>
        </p:spPr>
      </p:pic>
      <p:sp>
        <p:nvSpPr>
          <p:cNvPr id="42" name="Rounded Rectangle 41"/>
          <p:cNvSpPr/>
          <p:nvPr/>
        </p:nvSpPr>
        <p:spPr>
          <a:xfrm>
            <a:off x="7772400" y="2880360"/>
            <a:ext cx="3749039" cy="1441277"/>
          </a:xfrm>
          <a:prstGeom prst="round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936992" y="2990088"/>
            <a:ext cx="3419856" cy="182880"/>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ClusterFinderCUDA.hpp</a:t>
            </a:r>
          </a:p>
        </p:txBody>
      </p:sp>
      <p:sp>
        <p:nvSpPr>
          <p:cNvPr id="44" name="TextBox 43"/>
          <p:cNvSpPr txBox="1"/>
          <p:nvPr/>
        </p:nvSpPr>
        <p:spPr>
          <a:xfrm>
            <a:off x="7936992" y="3209544"/>
            <a:ext cx="3419856" cy="1221821"/>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6B7A90"/>
                </a:solidFill>
                <a:latin typeface="Consolas"/>
              </a:rPr>
              <a:t>// pin the whole dataset once</a:t>
            </a:r>
          </a:p>
          <a:p>
            <a:pPr>
              <a:lnSpc>
                <a:spcPct val="112000"/>
              </a:lnSpc>
              <a:spcBef>
                <a:spcPts val="0"/>
              </a:spcBef>
              <a:spcAft>
                <a:spcPts val="0"/>
              </a:spcAft>
            </a:pPr>
            <a:r>
              <a:rPr sz="900" b="1" i="0">
                <a:solidFill>
                  <a:srgbClr val="1E90C2"/>
                </a:solidFill>
                <a:latin typeface="Consolas"/>
              </a:rPr>
              <a:t>cudaHostRegister</a:t>
            </a:r>
            <a:r>
              <a:rPr sz="900" b="0" i="0">
                <a:solidFill>
                  <a:srgbClr val="A5B2C4"/>
                </a:solidFill>
                <a:latin typeface="Consolas"/>
              </a:rPr>
              <a:t>(ptr, bytes,</a:t>
            </a:r>
          </a:p>
          <a:p>
            <a:pPr>
              <a:lnSpc>
                <a:spcPct val="112000"/>
              </a:lnSpc>
              <a:spcBef>
                <a:spcPts val="0"/>
              </a:spcBef>
              <a:spcAft>
                <a:spcPts val="0"/>
              </a:spcAft>
            </a:pPr>
            <a:r>
              <a:rPr sz="900" b="0" i="0">
                <a:solidFill>
                  <a:srgbClr val="A5B2C4"/>
                </a:solidFill>
                <a:latin typeface="Consolas"/>
              </a:rPr>
              <a:t>                 cudaHostRegisterDefault);</a:t>
            </a:r>
          </a:p>
          <a:p>
            <a:pPr>
              <a:lnSpc>
                <a:spcPct val="112000"/>
              </a:lnSpc>
              <a:spcBef>
                <a:spcPts val="0"/>
              </a:spcBef>
              <a:spcAft>
                <a:spcPts val="0"/>
              </a:spcAft>
            </a:pPr>
          </a:p>
          <a:p>
            <a:pPr>
              <a:lnSpc>
                <a:spcPct val="112000"/>
              </a:lnSpc>
              <a:spcBef>
                <a:spcPts val="0"/>
              </a:spcBef>
              <a:spcAft>
                <a:spcPts val="0"/>
              </a:spcAft>
            </a:pPr>
            <a:r>
              <a:rPr sz="900" b="0" i="0">
                <a:solidFill>
                  <a:srgbClr val="6B7A90"/>
                </a:solidFill>
                <a:latin typeface="Consolas"/>
              </a:rPr>
              <a:t>// ... run the whole campaign ...</a:t>
            </a:r>
          </a:p>
          <a:p>
            <a:pPr>
              <a:lnSpc>
                <a:spcPct val="112000"/>
              </a:lnSpc>
              <a:spcBef>
                <a:spcPts val="0"/>
              </a:spcBef>
              <a:spcAft>
                <a:spcPts val="0"/>
              </a:spcAft>
            </a:pPr>
          </a:p>
          <a:p>
            <a:pPr>
              <a:lnSpc>
                <a:spcPct val="112000"/>
              </a:lnSpc>
              <a:spcBef>
                <a:spcPts val="0"/>
              </a:spcBef>
              <a:spcAft>
                <a:spcPts val="0"/>
              </a:spcAft>
            </a:pPr>
            <a:r>
              <a:rPr sz="900" b="1" i="0">
                <a:solidFill>
                  <a:srgbClr val="1E90C2"/>
                </a:solidFill>
                <a:latin typeface="Consolas"/>
              </a:rPr>
              <a:t>cudaHostUnregister</a:t>
            </a:r>
            <a:r>
              <a:rPr sz="900" b="0" i="0">
                <a:solidFill>
                  <a:srgbClr val="A5B2C4"/>
                </a:solidFill>
                <a:latin typeface="Consolas"/>
              </a:rPr>
              <a:t>(ptr);</a:t>
            </a:r>
          </a:p>
        </p:txBody>
      </p:sp>
      <p:sp>
        <p:nvSpPr>
          <p:cNvPr id="45" name="Rectangle 44"/>
          <p:cNvSpPr/>
          <p:nvPr/>
        </p:nvSpPr>
        <p:spPr>
          <a:xfrm>
            <a:off x="7813548" y="4480560"/>
            <a:ext cx="3707891" cy="78638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772400" y="4480560"/>
            <a:ext cx="41148" cy="78638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028431" y="4572000"/>
            <a:ext cx="3291839" cy="603503"/>
          </a:xfrm>
          <a:prstGeom prst="rect">
            <a:avLst/>
          </a:prstGeom>
          <a:noFill/>
        </p:spPr>
        <p:txBody>
          <a:bodyPr wrap="square" lIns="0" rIns="0" tIns="0" bIns="0" anchor="ctr">
            <a:spAutoFit/>
          </a:bodyPr>
          <a:lstStyle/>
          <a:p>
            <a:pPr>
              <a:lnSpc>
                <a:spcPct val="120000"/>
              </a:lnSpc>
              <a:spcBef>
                <a:spcPts val="0"/>
              </a:spcBef>
              <a:spcAft>
                <a:spcPts val="0"/>
              </a:spcAft>
            </a:pPr>
            <a:r>
              <a:rPr sz="1100" b="1" i="0">
                <a:solidFill>
                  <a:srgbClr val="E7EDF4"/>
                </a:solidFill>
                <a:latin typeface="Segoe UI"/>
              </a:rPr>
              <a:t>38 486 FPS · ×5.69</a:t>
            </a:r>
            <a:r>
              <a:rPr sz="1100" b="0" i="0">
                <a:solidFill>
                  <a:srgbClr val="A5B2C4"/>
                </a:solidFill>
                <a:latin typeface="Segoe UI"/>
              </a:rPr>
              <a:t>
26.0 µs/frame · 62 % of floor, the largest step in Act I</a:t>
            </a:r>
          </a:p>
        </p:txBody>
      </p:sp>
      <p:sp>
        <p:nvSpPr>
          <p:cNvPr id="48" name="TextBox 47"/>
          <p:cNvSpPr txBox="1"/>
          <p:nvPr/>
        </p:nvSpPr>
        <p:spPr>
          <a:xfrm>
            <a:off x="7772400" y="5431536"/>
            <a:ext cx="3749039"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Measured H2D [s1, uncontended]: one 400×400 uint16 frame (312.5 KiB = 320 000 B) in 13.2 µs = 24.2 GB/s, 77 % of PCIe 4.0 ×16 theoretical, i.e. true DMA speed. In the shipped pipeline it reads 16.6 [s4], +26 % of H2D↔D2H contention (A1). Pageable staging runs ~15 GB/s.</a:t>
            </a:r>
          </a:p>
        </p:txBody>
      </p:sp>
      <p:sp>
        <p:nvSpPr>
          <p:cNvPr id="49" name="Rectangle 48"/>
          <p:cNvSpPr/>
          <p:nvPr/>
        </p:nvSpPr>
        <p:spPr>
          <a:xfrm>
            <a:off x="681228" y="5897880"/>
            <a:ext cx="6908292" cy="65836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40080" y="5897880"/>
            <a:ext cx="41148" cy="65836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96112" y="5989320"/>
            <a:ext cx="6492240" cy="475488"/>
          </a:xfrm>
          <a:prstGeom prst="rect">
            <a:avLst/>
          </a:prstGeom>
          <a:noFill/>
        </p:spPr>
        <p:txBody>
          <a:bodyPr wrap="square" lIns="0" rIns="0" tIns="0" bIns="0" anchor="ctr">
            <a:spAutoFit/>
          </a:bodyPr>
          <a:lstStyle/>
          <a:p>
            <a:pPr>
              <a:lnSpc>
                <a:spcPct val="120000"/>
              </a:lnSpc>
              <a:spcBef>
                <a:spcPts val="0"/>
              </a:spcBef>
              <a:spcAft>
                <a:spcPts val="0"/>
              </a:spcAft>
            </a:pPr>
            <a:r>
              <a:rPr sz="1000" b="1" i="0">
                <a:solidFill>
                  <a:srgbClr val="E7EDF4"/>
                </a:solidFill>
                <a:latin typeface="Segoe UI"/>
              </a:rPr>
              <a:t>The rule, first sighting: ×1.32 at 3×3 but only ×1.03 at 9×9.</a:t>
            </a:r>
            <a:r>
              <a:rPr sz="1000" b="0" i="0">
                <a:solidFill>
                  <a:srgbClr val="A5B2C4"/>
                </a:solidFill>
                <a:latin typeface="Segoe UI"/>
              </a:rPr>
              <a:t> Pinning attacks H2D, the tallest bar at 3×3, the shortest at 9×9.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389888"/>
            <a:ext cx="5303520" cy="274320"/>
          </a:xfrm>
          <a:prstGeom prst="rect">
            <a:avLst/>
          </a:prstGeom>
          <a:noFill/>
        </p:spPr>
        <p:txBody>
          <a:bodyPr wrap="square" lIns="0" rIns="0" tIns="0" bIns="0" anchor="t">
            <a:spAutoFit/>
          </a:bodyPr>
          <a:lstStyle/>
          <a:p>
            <a:pPr>
              <a:spcBef>
                <a:spcPts val="0"/>
              </a:spcBef>
              <a:spcAft>
                <a:spcPts val="0"/>
              </a:spcAft>
            </a:pPr>
            <a:r>
              <a:rPr sz="950" b="1" i="0" spc="180">
                <a:solidFill>
                  <a:srgbClr val="6B7A90"/>
                </a:solidFill>
                <a:latin typeface="Segoe UI"/>
              </a:rPr>
              <a:t>ACT II OF III · GET THE RESULTS BACK</a:t>
            </a:r>
          </a:p>
        </p:txBody>
      </p:sp>
      <p:sp>
        <p:nvSpPr>
          <p:cNvPr id="5" name="TextBox 4"/>
          <p:cNvSpPr txBox="1"/>
          <p:nvPr/>
        </p:nvSpPr>
        <p:spPr>
          <a:xfrm>
            <a:off x="914400" y="1737360"/>
            <a:ext cx="5486400" cy="1234440"/>
          </a:xfrm>
          <a:prstGeom prst="rect">
            <a:avLst/>
          </a:prstGeom>
          <a:noFill/>
        </p:spPr>
        <p:txBody>
          <a:bodyPr wrap="square" lIns="0" rIns="0" tIns="0" bIns="0" anchor="t">
            <a:spAutoFit/>
          </a:bodyPr>
          <a:lstStyle/>
          <a:p>
            <a:pPr>
              <a:lnSpc>
                <a:spcPct val="103000"/>
              </a:lnSpc>
              <a:spcBef>
                <a:spcPts val="0"/>
              </a:spcBef>
              <a:spcAft>
                <a:spcPts val="0"/>
              </a:spcAft>
            </a:pPr>
            <a:r>
              <a:rPr sz="3600" b="1" i="0">
                <a:solidFill>
                  <a:srgbClr val="E7EDF4"/>
                </a:solidFill>
                <a:latin typeface="Segoe UI"/>
              </a:rPr>
              <a:t>The host copy is now the tallest bar</a:t>
            </a:r>
          </a:p>
        </p:txBody>
      </p:sp>
      <p:sp>
        <p:nvSpPr>
          <p:cNvPr id="6" name="Rectangle 5"/>
          <p:cNvSpPr/>
          <p:nvPr/>
        </p:nvSpPr>
        <p:spPr>
          <a:xfrm>
            <a:off x="914400" y="3127248"/>
            <a:ext cx="1371600" cy="27432"/>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383280"/>
            <a:ext cx="5212080" cy="1463040"/>
          </a:xfrm>
          <a:prstGeom prst="rect">
            <a:avLst/>
          </a:prstGeom>
          <a:noFill/>
        </p:spPr>
        <p:txBody>
          <a:bodyPr wrap="square" lIns="0" rIns="0" tIns="0" bIns="0" anchor="t">
            <a:spAutoFit/>
          </a:bodyPr>
          <a:lstStyle/>
          <a:p>
            <a:pPr>
              <a:lnSpc>
                <a:spcPct val="140000"/>
              </a:lnSpc>
              <a:spcBef>
                <a:spcPts val="0"/>
              </a:spcBef>
              <a:spcAft>
                <a:spcPts val="0"/>
              </a:spcAft>
            </a:pPr>
            <a:r>
              <a:rPr sz="1350" b="0" i="0">
                <a:solidFill>
                  <a:srgbClr val="A5B2C4"/>
                </a:solidFill>
                <a:latin typeface="Segoe UI"/>
              </a:rPr>
              <a:t>Frames go in at DMA speed. The results still come back slowly. Still 3×3, but 9×9 is where this act pays most.</a:t>
            </a:r>
          </a:p>
        </p:txBody>
      </p:sp>
      <p:sp>
        <p:nvSpPr>
          <p:cNvPr id="8" name="Rectangle 7"/>
          <p:cNvSpPr/>
          <p:nvPr/>
        </p:nvSpPr>
        <p:spPr>
          <a:xfrm>
            <a:off x="914400" y="5074920"/>
            <a:ext cx="5212080" cy="10241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14400" y="5074920"/>
            <a:ext cx="32004" cy="102412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19" y="5230368"/>
            <a:ext cx="4754880" cy="219456"/>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ARRIVING AT</a:t>
            </a:r>
          </a:p>
        </p:txBody>
      </p:sp>
      <p:sp>
        <p:nvSpPr>
          <p:cNvPr id="11" name="TextBox 10"/>
          <p:cNvSpPr txBox="1"/>
          <p:nvPr/>
        </p:nvSpPr>
        <p:spPr>
          <a:xfrm>
            <a:off x="1188719" y="5431536"/>
            <a:ext cx="4754880" cy="365760"/>
          </a:xfrm>
          <a:prstGeom prst="rect">
            <a:avLst/>
          </a:prstGeom>
          <a:noFill/>
        </p:spPr>
        <p:txBody>
          <a:bodyPr wrap="square" lIns="0" rIns="0" tIns="0" bIns="0" anchor="t">
            <a:spAutoFit/>
          </a:bodyPr>
          <a:lstStyle/>
          <a:p>
            <a:pPr>
              <a:spcBef>
                <a:spcPts val="0"/>
              </a:spcBef>
              <a:spcAft>
                <a:spcPts val="0"/>
              </a:spcAft>
            </a:pPr>
            <a:r>
              <a:rPr sz="2400" b="1" i="0">
                <a:solidFill>
                  <a:srgbClr val="E7EDF4"/>
                </a:solidFill>
                <a:latin typeface="Segoe UI"/>
              </a:rPr>
              <a:t>38 486 FPS</a:t>
            </a:r>
          </a:p>
        </p:txBody>
      </p:sp>
      <p:sp>
        <p:nvSpPr>
          <p:cNvPr id="12" name="TextBox 11"/>
          <p:cNvSpPr txBox="1"/>
          <p:nvPr/>
        </p:nvSpPr>
        <p:spPr>
          <a:xfrm>
            <a:off x="1188719" y="5852160"/>
            <a:ext cx="4754880" cy="219456"/>
          </a:xfrm>
          <a:prstGeom prst="rect">
            <a:avLst/>
          </a:prstGeom>
          <a:noFill/>
        </p:spPr>
        <p:txBody>
          <a:bodyPr wrap="square" lIns="0" rIns="0" tIns="0" bIns="0" anchor="t">
            <a:spAutoFit/>
          </a:bodyPr>
          <a:lstStyle/>
          <a:p>
            <a:pPr>
              <a:spcBef>
                <a:spcPts val="0"/>
              </a:spcBef>
              <a:spcAft>
                <a:spcPts val="0"/>
              </a:spcAft>
            </a:pPr>
            <a:r>
              <a:rPr sz="950" b="0" i="0">
                <a:solidFill>
                  <a:srgbClr val="6B7A90"/>
                </a:solidFill>
                <a:latin typeface="Segoe UI"/>
              </a:rPr>
              <a:t>opt4 · 26.0 µs per frame · 62 % of the GPU floor</a:t>
            </a:r>
          </a:p>
        </p:txBody>
      </p:sp>
      <p:sp>
        <p:nvSpPr>
          <p:cNvPr id="13" name="Rectangle 12"/>
          <p:cNvSpPr/>
          <p:nvPr/>
        </p:nvSpPr>
        <p:spPr>
          <a:xfrm>
            <a:off x="6537960" y="1783080"/>
            <a:ext cx="10972" cy="402336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12280" y="2916936"/>
            <a:ext cx="4572000" cy="237744"/>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COMING UP</a:t>
            </a:r>
          </a:p>
        </p:txBody>
      </p:sp>
      <p:sp>
        <p:nvSpPr>
          <p:cNvPr id="15" name="TextBox 14"/>
          <p:cNvSpPr txBox="1"/>
          <p:nvPr/>
        </p:nvSpPr>
        <p:spPr>
          <a:xfrm>
            <a:off x="6812280" y="3300984"/>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7EDF4"/>
                </a:solidFill>
                <a:latin typeface="Consolas"/>
              </a:rPr>
              <a:t>16</a:t>
            </a:r>
          </a:p>
        </p:txBody>
      </p:sp>
      <p:sp>
        <p:nvSpPr>
          <p:cNvPr id="16" name="TextBox 15"/>
          <p:cNvSpPr txBox="1"/>
          <p:nvPr/>
        </p:nvSpPr>
        <p:spPr>
          <a:xfrm>
            <a:off x="7452360" y="3300984"/>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opt5 · host↔GPU overlap</a:t>
            </a:r>
          </a:p>
        </p:txBody>
      </p:sp>
      <p:sp>
        <p:nvSpPr>
          <p:cNvPr id="17" name="TextBox 16"/>
          <p:cNvSpPr txBox="1"/>
          <p:nvPr/>
        </p:nvSpPr>
        <p:spPr>
          <a:xfrm>
            <a:off x="6812280" y="3794760"/>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7EDF4"/>
                </a:solidFill>
                <a:latin typeface="Consolas"/>
              </a:rPr>
              <a:t>17</a:t>
            </a:r>
          </a:p>
        </p:txBody>
      </p:sp>
      <p:sp>
        <p:nvSpPr>
          <p:cNvPr id="18" name="TextBox 17"/>
          <p:cNvSpPr txBox="1"/>
          <p:nvPr/>
        </p:nvSpPr>
        <p:spPr>
          <a:xfrm>
            <a:off x="7452360" y="3794760"/>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opt6 · zero-copy</a:t>
            </a:r>
          </a:p>
        </p:txBody>
      </p:sp>
      <p:sp>
        <p:nvSpPr>
          <p:cNvPr id="19" name="Rectangle 18"/>
          <p:cNvSpPr/>
          <p:nvPr/>
        </p:nvSpPr>
        <p:spPr>
          <a:xfrm>
            <a:off x="6400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44879"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2496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5544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8592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164079"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4688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7736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078479"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3832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6880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992879"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2976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6024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9072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212080" y="6656832"/>
            <a:ext cx="274320"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16880" y="6656832"/>
            <a:ext cx="274320"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821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126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431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736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040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345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II · OPT5 · HOST↔GPU OVERLAP</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Overlapping host and GPU hides min(host, GPU): ×1.31</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16 / 33</a:t>
            </a:r>
          </a:p>
        </p:txBody>
      </p:sp>
      <p:sp>
        <p:nvSpPr>
          <p:cNvPr id="40" name="TextBox 39"/>
          <p:cNvSpPr txBox="1"/>
          <p:nvPr/>
        </p:nvSpPr>
        <p:spPr>
          <a:xfrm>
            <a:off x="640080" y="1755648"/>
            <a:ext cx="7223760" cy="274320"/>
          </a:xfrm>
          <a:prstGeom prst="rect">
            <a:avLst/>
          </a:prstGeom>
          <a:noFill/>
        </p:spPr>
        <p:txBody>
          <a:bodyPr wrap="square" lIns="0" rIns="0" tIns="0" bIns="0" anchor="t">
            <a:spAutoFit/>
          </a:bodyPr>
          <a:lstStyle/>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opt3 overlapped H2D ∥ kernel ∥ D2H </a:t>
            </a:r>
            <a:r>
              <a:rPr sz="1100" b="1" i="0">
                <a:solidFill>
                  <a:srgbClr val="E7EDF4"/>
                </a:solidFill>
                <a:latin typeface="Segoe UI"/>
              </a:rPr>
              <a:t>across streams, inside one batch</a:t>
            </a:r>
            <a:r>
              <a:rPr sz="1100" b="0" i="0">
                <a:solidFill>
                  <a:srgbClr val="A5B2C4"/>
                </a:solidFill>
                <a:latin typeface="Segoe UI"/>
              </a:rPr>
              <a:t>, but never the </a:t>
            </a:r>
            <a:r>
              <a:rPr sz="1100" b="1" i="0">
                <a:solidFill>
                  <a:srgbClr val="E7EDF4"/>
                </a:solidFill>
                <a:latin typeface="Segoe UI"/>
              </a:rPr>
              <a:t>host</a:t>
            </a:r>
            <a:r>
              <a:rPr sz="1100" b="0" i="0">
                <a:solidFill>
                  <a:srgbClr val="A5B2C4"/>
                </a:solidFill>
                <a:latin typeface="Segoe UI"/>
              </a:rPr>
              <a:t> with the GPU: find_clusters_batched synchronised, then built thousands of ClusterVectors with the GPU idle.</a:t>
            </a:r>
          </a:p>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opt5 keeps </a:t>
            </a:r>
            <a:r>
              <a:rPr sz="1100" b="1" i="0">
                <a:solidFill>
                  <a:srgbClr val="E7EDF4"/>
                </a:solidFill>
                <a:latin typeface="Segoe UI"/>
              </a:rPr>
              <a:t>one batch in flight while materialising the previous one</a:t>
            </a:r>
            <a:r>
              <a:rPr sz="1100" b="0" i="0">
                <a:solidFill>
                  <a:srgbClr val="A5B2C4"/>
                </a:solidFill>
                <a:latin typeface="Segoe UI"/>
              </a:rPr>
              <a:t>: chunk i+1 is submitted before chunk i is collected.</a:t>
            </a:r>
          </a:p>
        </p:txBody>
      </p:sp>
      <p:pic>
        <p:nvPicPr>
          <p:cNvPr id="41" name="Picture 40" descr="fig_overlap.png"/>
          <p:cNvPicPr>
            <a:picLocks noChangeAspect="1"/>
          </p:cNvPicPr>
          <p:nvPr/>
        </p:nvPicPr>
        <p:blipFill>
          <a:blip r:embed="rId2"/>
          <a:stretch>
            <a:fillRect/>
          </a:stretch>
        </p:blipFill>
        <p:spPr>
          <a:xfrm>
            <a:off x="502919" y="2999232"/>
            <a:ext cx="7498080" cy="2304573"/>
          </a:xfrm>
          <a:prstGeom prst="rect">
            <a:avLst/>
          </a:prstGeom>
        </p:spPr>
      </p:pic>
      <p:sp>
        <p:nvSpPr>
          <p:cNvPr id="42" name="Rectangle 41"/>
          <p:cNvSpPr/>
          <p:nvPr/>
        </p:nvSpPr>
        <p:spPr>
          <a:xfrm>
            <a:off x="681228" y="5358384"/>
            <a:ext cx="7182612" cy="71323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40080" y="5358384"/>
            <a:ext cx="41148" cy="713232"/>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5449824"/>
            <a:ext cx="6766560" cy="530352"/>
          </a:xfrm>
          <a:prstGeom prst="rect">
            <a:avLst/>
          </a:prstGeom>
          <a:noFill/>
        </p:spPr>
        <p:txBody>
          <a:bodyPr wrap="square" lIns="0" rIns="0" tIns="0" bIns="0" anchor="ctr">
            <a:spAutoFit/>
          </a:bodyPr>
          <a:lstStyle/>
          <a:p>
            <a:pPr>
              <a:lnSpc>
                <a:spcPct val="120000"/>
              </a:lnSpc>
              <a:spcBef>
                <a:spcPts val="0"/>
              </a:spcBef>
              <a:spcAft>
                <a:spcPts val="0"/>
              </a:spcAft>
            </a:pPr>
            <a:r>
              <a:rPr sz="1050" b="0" i="0">
                <a:solidFill>
                  <a:srgbClr val="A5B2C4"/>
                </a:solidFill>
                <a:latin typeface="Segoe UI"/>
              </a:rPr>
              <a:t>The time hidden is </a:t>
            </a:r>
            <a:r>
              <a:rPr sz="1050" b="1" i="0">
                <a:solidFill>
                  <a:srgbClr val="E7EDF4"/>
                </a:solidFill>
                <a:latin typeface="Segoe UI"/>
              </a:rPr>
              <a:t>min(GPU, host)</a:t>
            </a:r>
            <a:r>
              <a:rPr sz="1050" b="0" i="0">
                <a:solidFill>
                  <a:srgbClr val="A5B2C4"/>
                </a:solidFill>
                <a:latin typeface="Segoe UI"/>
              </a:rPr>
              <a:t>, so this pays most when the two are comparable, and cannot rescue a host term that is simply larger.</a:t>
            </a:r>
          </a:p>
        </p:txBody>
      </p:sp>
      <p:sp>
        <p:nvSpPr>
          <p:cNvPr id="45" name="Rectangle 44"/>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OPT5 · 3×3 AND 9×9 · NO CUDA WORK AT ALL</a:t>
            </a:r>
          </a:p>
        </p:txBody>
      </p:sp>
      <p:sp>
        <p:nvSpPr>
          <p:cNvPr id="47" name="TextBox 46"/>
          <p:cNvSpPr txBox="1"/>
          <p:nvPr/>
        </p:nvSpPr>
        <p:spPr>
          <a:xfrm>
            <a:off x="8412480" y="217627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3×3 THROUGHPUT</a:t>
            </a:r>
          </a:p>
        </p:txBody>
      </p:sp>
      <p:sp>
        <p:nvSpPr>
          <p:cNvPr id="48" name="TextBox 47"/>
          <p:cNvSpPr txBox="1"/>
          <p:nvPr/>
        </p:nvSpPr>
        <p:spPr>
          <a:xfrm>
            <a:off x="8412480" y="2395728"/>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7EDF4"/>
                </a:solidFill>
                <a:latin typeface="Segoe UI"/>
              </a:rPr>
              <a:t>50 410 FPS</a:t>
            </a:r>
          </a:p>
        </p:txBody>
      </p:sp>
      <p:sp>
        <p:nvSpPr>
          <p:cNvPr id="49" name="TextBox 48"/>
          <p:cNvSpPr txBox="1"/>
          <p:nvPr/>
        </p:nvSpPr>
        <p:spPr>
          <a:xfrm>
            <a:off x="8412480" y="307238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PER FRAME · STEP · OF FLOOR</a:t>
            </a:r>
          </a:p>
        </p:txBody>
      </p:sp>
      <p:sp>
        <p:nvSpPr>
          <p:cNvPr id="50" name="TextBox 49"/>
          <p:cNvSpPr txBox="1"/>
          <p:nvPr/>
        </p:nvSpPr>
        <p:spPr>
          <a:xfrm>
            <a:off x="8412480" y="3273552"/>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19.8 µs · ×1.31 · 81 %</a:t>
            </a:r>
          </a:p>
        </p:txBody>
      </p:sp>
      <p:sp>
        <p:nvSpPr>
          <p:cNvPr id="51" name="TextBox 50"/>
          <p:cNvSpPr txBox="1"/>
          <p:nvPr/>
        </p:nvSpPr>
        <p:spPr>
          <a:xfrm>
            <a:off x="8412480" y="380390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9×9 THROUGHPUT</a:t>
            </a:r>
          </a:p>
        </p:txBody>
      </p:sp>
      <p:sp>
        <p:nvSpPr>
          <p:cNvPr id="52" name="TextBox 51"/>
          <p:cNvSpPr txBox="1"/>
          <p:nvPr/>
        </p:nvSpPr>
        <p:spPr>
          <a:xfrm>
            <a:off x="8412480" y="4023360"/>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7EDF4"/>
                </a:solidFill>
                <a:latin typeface="Segoe UI"/>
              </a:rPr>
              <a:t>15 063 FPS</a:t>
            </a:r>
          </a:p>
        </p:txBody>
      </p:sp>
      <p:sp>
        <p:nvSpPr>
          <p:cNvPr id="53" name="TextBox 52"/>
          <p:cNvSpPr txBox="1"/>
          <p:nvPr/>
        </p:nvSpPr>
        <p:spPr>
          <a:xfrm>
            <a:off x="8412480" y="4700016"/>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PER FRAME · STEP · OF FLOOR</a:t>
            </a:r>
          </a:p>
        </p:txBody>
      </p:sp>
      <p:sp>
        <p:nvSpPr>
          <p:cNvPr id="54" name="TextBox 53"/>
          <p:cNvSpPr txBox="1"/>
          <p:nvPr/>
        </p:nvSpPr>
        <p:spPr>
          <a:xfrm>
            <a:off x="8412480" y="4901184"/>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E8B25C"/>
                </a:solidFill>
                <a:latin typeface="Segoe UI"/>
              </a:rPr>
              <a:t>66.4 µs · ×1.20 · 45 %</a:t>
            </a:r>
          </a:p>
        </p:txBody>
      </p:sp>
      <p:sp>
        <p:nvSpPr>
          <p:cNvPr id="55" name="TextBox 54"/>
          <p:cNvSpPr txBox="1"/>
          <p:nvPr/>
        </p:nvSpPr>
        <p:spPr>
          <a:xfrm>
            <a:off x="8412480" y="5440680"/>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For clusters that must outlive the finder, this is the endpoint at 3×3: opt6 lends, it does not give.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II · OPT6 · ZERO-COPY COLLECTION</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Read the results in place: ×2.21 at 9×9</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17 / 33</a:t>
            </a:r>
          </a:p>
        </p:txBody>
      </p:sp>
      <p:sp>
        <p:nvSpPr>
          <p:cNvPr id="40" name="TextBox 39"/>
          <p:cNvSpPr txBox="1"/>
          <p:nvPr/>
        </p:nvSpPr>
        <p:spPr>
          <a:xfrm>
            <a:off x="640080" y="1755648"/>
            <a:ext cx="722376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The D2H lands in a </a:t>
            </a:r>
            <a:r>
              <a:rPr sz="1050" b="1" i="0">
                <a:solidFill>
                  <a:srgbClr val="E7EDF4"/>
                </a:solidFill>
                <a:latin typeface="Segoe UI"/>
              </a:rPr>
              <a:t>pinned host buffer</a:t>
            </a:r>
            <a:r>
              <a:rPr sz="1050" b="0" i="0">
                <a:solidFill>
                  <a:srgbClr val="A5B2C4"/>
                </a:solidFill>
                <a:latin typeface="Segoe UI"/>
              </a:rPr>
              <a:t>. collect() then allocates one ClusterVector per frame and memcpys into it; at 9×9 that is </a:t>
            </a:r>
            <a:r>
              <a:rPr sz="1050" b="1" i="0">
                <a:solidFill>
                  <a:srgbClr val="E7EDF4"/>
                </a:solidFill>
                <a:latin typeface="Segoe UI"/>
              </a:rPr>
              <a:t>467 kB per frame, ~9.3 GB per run</a:t>
            </a:r>
            <a:r>
              <a:rPr sz="1050" b="0" i="0">
                <a:solidFill>
                  <a:srgbClr val="A5B2C4"/>
                </a:solidFill>
                <a:latin typeface="Segoe UI"/>
              </a:rPr>
              <a:t>, single-threaded.</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collect_view() returns a </a:t>
            </a:r>
            <a:r>
              <a:rPr sz="1050" b="1" i="0">
                <a:solidFill>
                  <a:srgbClr val="E7EDF4"/>
                </a:solidFill>
                <a:latin typeface="Segoe UI"/>
              </a:rPr>
              <a:t>BatchView</a:t>
            </a:r>
            <a:r>
              <a:rPr sz="1050" b="0" i="0">
                <a:solidFill>
                  <a:srgbClr val="A5B2C4"/>
                </a:solidFill>
                <a:latin typeface="Segoe UI"/>
              </a:rPr>
              <a:t>: strided numpy views straight onto the pinned buffer. It withholds ownership past the chunk, </a:t>
            </a:r>
            <a:r>
              <a:rPr sz="1050" b="1" i="0">
                <a:solidFill>
                  <a:srgbClr val="E7EDF4"/>
                </a:solidFill>
                <a:latin typeface="Segoe UI"/>
              </a:rPr>
              <a:t>not access</a:t>
            </a:r>
            <a:r>
              <a:rPr sz="1050" b="0" i="0">
                <a:solidFill>
                  <a:srgbClr val="A5B2C4"/>
                </a:solidFill>
                <a:latin typeface="Segoe UI"/>
              </a:rPr>
              <a:t>, every cluster's payload and coordinates are readable.</a:t>
            </a:r>
          </a:p>
        </p:txBody>
      </p:sp>
      <p:pic>
        <p:nvPicPr>
          <p:cNvPr id="41" name="Picture 40" descr="fig_resultpath.png"/>
          <p:cNvPicPr>
            <a:picLocks noChangeAspect="1"/>
          </p:cNvPicPr>
          <p:nvPr/>
        </p:nvPicPr>
        <p:blipFill>
          <a:blip r:embed="rId2"/>
          <a:stretch>
            <a:fillRect/>
          </a:stretch>
        </p:blipFill>
        <p:spPr>
          <a:xfrm>
            <a:off x="502919" y="2788920"/>
            <a:ext cx="7498080" cy="2448816"/>
          </a:xfrm>
          <a:prstGeom prst="rect">
            <a:avLst/>
          </a:prstGeom>
        </p:spPr>
      </p:pic>
      <p:sp>
        <p:nvSpPr>
          <p:cNvPr id="42" name="Rectangle 41"/>
          <p:cNvSpPr/>
          <p:nvPr/>
        </p:nvSpPr>
        <p:spPr>
          <a:xfrm>
            <a:off x="681228" y="5358384"/>
            <a:ext cx="7182612" cy="73152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40080" y="5358384"/>
            <a:ext cx="41148" cy="73152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5449824"/>
            <a:ext cx="6766560" cy="548640"/>
          </a:xfrm>
          <a:prstGeom prst="rect">
            <a:avLst/>
          </a:prstGeom>
          <a:noFill/>
        </p:spPr>
        <p:txBody>
          <a:bodyPr wrap="square" lIns="0" rIns="0" tIns="0" bIns="0" anchor="ctr">
            <a:spAutoFit/>
          </a:bodyPr>
          <a:lstStyle/>
          <a:p>
            <a:pPr>
              <a:lnSpc>
                <a:spcPct val="120000"/>
              </a:lnSpc>
              <a:spcBef>
                <a:spcPts val="0"/>
              </a:spcBef>
              <a:spcAft>
                <a:spcPts val="0"/>
              </a:spcAft>
            </a:pPr>
            <a:r>
              <a:rPr sz="1000" b="0" i="0">
                <a:solidFill>
                  <a:srgbClr val="A5B2C4"/>
                </a:solidFill>
                <a:latin typeface="Segoe UI"/>
              </a:rPr>
              <a:t>The win is </a:t>
            </a:r>
            <a:r>
              <a:rPr sz="1000" b="1" i="0">
                <a:solidFill>
                  <a:srgbClr val="E7EDF4"/>
                </a:solidFill>
                <a:latin typeface="Segoe UI"/>
              </a:rPr>
              <a:t>max(0, host copy − GPU floor)</a:t>
            </a:r>
            <a:r>
              <a:rPr sz="1000" b="0" i="0">
                <a:solidFill>
                  <a:srgbClr val="A5B2C4"/>
                </a:solidFill>
                <a:latin typeface="Segoe UI"/>
              </a:rPr>
              <a:t>: at 3×3 the 8 µs copy hides under a 16.2 µs floor and opt5 had already absorbed most of it; at 9×9 the 40 µs copy is </a:t>
            </a:r>
            <a:r>
              <a:rPr sz="1000" b="1" i="0">
                <a:solidFill>
                  <a:srgbClr val="E7EDF4"/>
                </a:solidFill>
                <a:latin typeface="Segoe UI"/>
              </a:rPr>
              <a:t>larger than the floor</a:t>
            </a:r>
            <a:r>
              <a:rPr sz="1000" b="0" i="0">
                <a:solidFill>
                  <a:srgbClr val="A5B2C4"/>
                </a:solidFill>
                <a:latin typeface="Segoe UI"/>
              </a:rPr>
              <a:t> and cannot hide at any overlap.</a:t>
            </a:r>
          </a:p>
        </p:txBody>
      </p:sp>
      <p:sp>
        <p:nvSpPr>
          <p:cNvPr id="45" name="TextBox 44"/>
          <p:cNvSpPr txBox="1"/>
          <p:nvPr/>
        </p:nvSpPr>
        <p:spPr>
          <a:xfrm>
            <a:off x="640080" y="6199632"/>
            <a:ext cx="72237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The two bars are the competing costs, not the two steps; the step times are on the right.</a:t>
            </a:r>
          </a:p>
        </p:txBody>
      </p:sp>
      <p:sp>
        <p:nvSpPr>
          <p:cNvPr id="46" name="Rectangle 45"/>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OPT6 · 3×3 AND 9×9 · COLLECT_VIEW()</a:t>
            </a:r>
          </a:p>
        </p:txBody>
      </p:sp>
      <p:sp>
        <p:nvSpPr>
          <p:cNvPr id="48" name="TextBox 47"/>
          <p:cNvSpPr txBox="1"/>
          <p:nvPr/>
        </p:nvSpPr>
        <p:spPr>
          <a:xfrm>
            <a:off x="8412480" y="217627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3×3 THROUGHPUT</a:t>
            </a:r>
          </a:p>
        </p:txBody>
      </p:sp>
      <p:sp>
        <p:nvSpPr>
          <p:cNvPr id="49" name="TextBox 48"/>
          <p:cNvSpPr txBox="1"/>
          <p:nvPr/>
        </p:nvSpPr>
        <p:spPr>
          <a:xfrm>
            <a:off x="8412480" y="2395728"/>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7EDF4"/>
                </a:solidFill>
                <a:latin typeface="Segoe UI"/>
              </a:rPr>
              <a:t>58 495 FPS</a:t>
            </a:r>
          </a:p>
        </p:txBody>
      </p:sp>
      <p:sp>
        <p:nvSpPr>
          <p:cNvPr id="50" name="TextBox 49"/>
          <p:cNvSpPr txBox="1"/>
          <p:nvPr/>
        </p:nvSpPr>
        <p:spPr>
          <a:xfrm>
            <a:off x="8412480" y="307238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PER FRAME · STEP · OF FLOOR</a:t>
            </a:r>
          </a:p>
        </p:txBody>
      </p:sp>
      <p:sp>
        <p:nvSpPr>
          <p:cNvPr id="51" name="TextBox 50"/>
          <p:cNvSpPr txBox="1"/>
          <p:nvPr/>
        </p:nvSpPr>
        <p:spPr>
          <a:xfrm>
            <a:off x="8412480" y="3273552"/>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17.1 µs · ×1.16 · 95 %</a:t>
            </a:r>
          </a:p>
        </p:txBody>
      </p:sp>
      <p:sp>
        <p:nvSpPr>
          <p:cNvPr id="52" name="TextBox 51"/>
          <p:cNvSpPr txBox="1"/>
          <p:nvPr/>
        </p:nvSpPr>
        <p:spPr>
          <a:xfrm>
            <a:off x="8412480" y="380390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9×9 THROUGHPUT</a:t>
            </a:r>
          </a:p>
        </p:txBody>
      </p:sp>
      <p:sp>
        <p:nvSpPr>
          <p:cNvPr id="53" name="TextBox 52"/>
          <p:cNvSpPr txBox="1"/>
          <p:nvPr/>
        </p:nvSpPr>
        <p:spPr>
          <a:xfrm>
            <a:off x="8412480" y="4023360"/>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7EDF4"/>
                </a:solidFill>
                <a:latin typeface="Segoe UI"/>
              </a:rPr>
              <a:t>33 323 FPS</a:t>
            </a:r>
          </a:p>
        </p:txBody>
      </p:sp>
      <p:sp>
        <p:nvSpPr>
          <p:cNvPr id="54" name="TextBox 53"/>
          <p:cNvSpPr txBox="1"/>
          <p:nvPr/>
        </p:nvSpPr>
        <p:spPr>
          <a:xfrm>
            <a:off x="8412480" y="4700016"/>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PER FRAME · STEP · OF FLOOR</a:t>
            </a:r>
          </a:p>
        </p:txBody>
      </p:sp>
      <p:sp>
        <p:nvSpPr>
          <p:cNvPr id="55" name="TextBox 54"/>
          <p:cNvSpPr txBox="1"/>
          <p:nvPr/>
        </p:nvSpPr>
        <p:spPr>
          <a:xfrm>
            <a:off x="8412480" y="4901184"/>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E8B25C"/>
                </a:solidFill>
                <a:latin typeface="Segoe UI"/>
              </a:rPr>
              <a:t>30.0 µs · ×2.21 · 100 %</a:t>
            </a:r>
          </a:p>
        </p:txBody>
      </p:sp>
      <p:sp>
        <p:nvSpPr>
          <p:cNvPr id="56" name="TextBox 55"/>
          <p:cNvSpPr txBox="1"/>
          <p:nvPr/>
        </p:nvSpPr>
        <p:spPr>
          <a:xfrm>
            <a:off x="8412480" y="5413248"/>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opt5 → opt6: 19.8 → 17.1 and 66.4 → 30.0 µs, bit-identical, 0.2 % spread, zero warm faults. FLOOR = lower of the s4 engine max and the best sustained rate: at 3×3 the 16.17 µs max sets it; at 9×9 f64 the run BEATS the 32.66 µs max, so the 30.0 sustained sets it [A1].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389888"/>
            <a:ext cx="5303520" cy="274320"/>
          </a:xfrm>
          <a:prstGeom prst="rect">
            <a:avLst/>
          </a:prstGeom>
          <a:noFill/>
        </p:spPr>
        <p:txBody>
          <a:bodyPr wrap="square" lIns="0" rIns="0" tIns="0" bIns="0" anchor="t">
            <a:spAutoFit/>
          </a:bodyPr>
          <a:lstStyle/>
          <a:p>
            <a:pPr>
              <a:spcBef>
                <a:spcPts val="0"/>
              </a:spcBef>
              <a:spcAft>
                <a:spcPts val="0"/>
              </a:spcAft>
            </a:pPr>
            <a:r>
              <a:rPr sz="950" b="1" i="0" spc="180">
                <a:solidFill>
                  <a:srgbClr val="6B7A90"/>
                </a:solidFill>
                <a:latin typeface="Segoe UI"/>
              </a:rPr>
              <a:t>ACT III OF III · THE KERNEL</a:t>
            </a:r>
          </a:p>
        </p:txBody>
      </p:sp>
      <p:sp>
        <p:nvSpPr>
          <p:cNvPr id="5" name="TextBox 4"/>
          <p:cNvSpPr txBox="1"/>
          <p:nvPr/>
        </p:nvSpPr>
        <p:spPr>
          <a:xfrm>
            <a:off x="914400" y="1737360"/>
            <a:ext cx="5486400" cy="1234440"/>
          </a:xfrm>
          <a:prstGeom prst="rect">
            <a:avLst/>
          </a:prstGeom>
          <a:noFill/>
        </p:spPr>
        <p:txBody>
          <a:bodyPr wrap="square" lIns="0" rIns="0" tIns="0" bIns="0" anchor="t">
            <a:spAutoFit/>
          </a:bodyPr>
          <a:lstStyle/>
          <a:p>
            <a:pPr>
              <a:lnSpc>
                <a:spcPct val="103000"/>
              </a:lnSpc>
              <a:spcBef>
                <a:spcPts val="0"/>
              </a:spcBef>
              <a:spcAft>
                <a:spcPts val="0"/>
              </a:spcAft>
            </a:pPr>
            <a:r>
              <a:rPr sz="3200" b="1" i="0">
                <a:solidFill>
                  <a:srgbClr val="E7EDF4"/>
                </a:solidFill>
                <a:latin typeface="Segoe UI"/>
              </a:rPr>
              <a:t>Only now is the kernel the tallest bar</a:t>
            </a:r>
          </a:p>
        </p:txBody>
      </p:sp>
      <p:sp>
        <p:nvSpPr>
          <p:cNvPr id="6" name="Rectangle 5"/>
          <p:cNvSpPr/>
          <p:nvPr/>
        </p:nvSpPr>
        <p:spPr>
          <a:xfrm>
            <a:off x="914400" y="3127248"/>
            <a:ext cx="1371600" cy="27432"/>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383280"/>
            <a:ext cx="5212080" cy="1463040"/>
          </a:xfrm>
          <a:prstGeom prst="rect">
            <a:avLst/>
          </a:prstGeom>
          <a:noFill/>
        </p:spPr>
        <p:txBody>
          <a:bodyPr wrap="square" lIns="0" rIns="0" tIns="0" bIns="0" anchor="t">
            <a:spAutoFit/>
          </a:bodyPr>
          <a:lstStyle/>
          <a:p>
            <a:pPr>
              <a:lnSpc>
                <a:spcPct val="140000"/>
              </a:lnSpc>
              <a:spcBef>
                <a:spcPts val="0"/>
              </a:spcBef>
              <a:spcAft>
                <a:spcPts val="0"/>
              </a:spcAft>
            </a:pPr>
            <a:r>
              <a:rPr sz="1350" b="0" i="0">
                <a:solidFill>
                  <a:srgbClr val="A5B2C4"/>
                </a:solidFill>
                <a:latin typeface="Segoe UI"/>
              </a:rPr>
              <a:t>The story moves to 9×9, where the kernel is finally the tallest bar. First, how the engine times in this act are measured.</a:t>
            </a:r>
          </a:p>
        </p:txBody>
      </p:sp>
      <p:sp>
        <p:nvSpPr>
          <p:cNvPr id="8" name="Rectangle 7"/>
          <p:cNvSpPr/>
          <p:nvPr/>
        </p:nvSpPr>
        <p:spPr>
          <a:xfrm>
            <a:off x="914400" y="5074920"/>
            <a:ext cx="5212080" cy="10241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14400" y="5074920"/>
            <a:ext cx="32004" cy="102412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19" y="5230368"/>
            <a:ext cx="4754880" cy="219456"/>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ARRIVING AT</a:t>
            </a:r>
          </a:p>
        </p:txBody>
      </p:sp>
      <p:sp>
        <p:nvSpPr>
          <p:cNvPr id="11" name="TextBox 10"/>
          <p:cNvSpPr txBox="1"/>
          <p:nvPr/>
        </p:nvSpPr>
        <p:spPr>
          <a:xfrm>
            <a:off x="1188719" y="5431536"/>
            <a:ext cx="4754880" cy="365760"/>
          </a:xfrm>
          <a:prstGeom prst="rect">
            <a:avLst/>
          </a:prstGeom>
          <a:noFill/>
        </p:spPr>
        <p:txBody>
          <a:bodyPr wrap="square" lIns="0" rIns="0" tIns="0" bIns="0" anchor="t">
            <a:spAutoFit/>
          </a:bodyPr>
          <a:lstStyle/>
          <a:p>
            <a:pPr>
              <a:spcBef>
                <a:spcPts val="0"/>
              </a:spcBef>
              <a:spcAft>
                <a:spcPts val="0"/>
              </a:spcAft>
            </a:pPr>
            <a:r>
              <a:rPr sz="2400" b="1" i="0">
                <a:solidFill>
                  <a:srgbClr val="E8B25C"/>
                </a:solidFill>
                <a:latin typeface="Segoe UI"/>
              </a:rPr>
              <a:t>58 495 FPS</a:t>
            </a:r>
          </a:p>
        </p:txBody>
      </p:sp>
      <p:sp>
        <p:nvSpPr>
          <p:cNvPr id="12" name="TextBox 11"/>
          <p:cNvSpPr txBox="1"/>
          <p:nvPr/>
        </p:nvSpPr>
        <p:spPr>
          <a:xfrm>
            <a:off x="1188719" y="5852160"/>
            <a:ext cx="4754880" cy="219456"/>
          </a:xfrm>
          <a:prstGeom prst="rect">
            <a:avLst/>
          </a:prstGeom>
          <a:noFill/>
        </p:spPr>
        <p:txBody>
          <a:bodyPr wrap="square" lIns="0" rIns="0" tIns="0" bIns="0" anchor="t">
            <a:spAutoFit/>
          </a:bodyPr>
          <a:lstStyle/>
          <a:p>
            <a:pPr>
              <a:spcBef>
                <a:spcPts val="0"/>
              </a:spcBef>
              <a:spcAft>
                <a:spcPts val="0"/>
              </a:spcAft>
            </a:pPr>
            <a:r>
              <a:rPr sz="950" b="0" i="0">
                <a:solidFill>
                  <a:srgbClr val="6B7A90"/>
                </a:solidFill>
                <a:latin typeface="Segoe UI"/>
              </a:rPr>
              <a:t>opt6 · 3×3, and 33 323 FPS at 9×9, where this act pays</a:t>
            </a:r>
          </a:p>
        </p:txBody>
      </p:sp>
      <p:sp>
        <p:nvSpPr>
          <p:cNvPr id="13" name="Rectangle 12"/>
          <p:cNvSpPr/>
          <p:nvPr/>
        </p:nvSpPr>
        <p:spPr>
          <a:xfrm>
            <a:off x="6537960" y="1783080"/>
            <a:ext cx="10972" cy="402336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12280" y="2423160"/>
            <a:ext cx="4572000" cy="237744"/>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COMING UP</a:t>
            </a:r>
          </a:p>
        </p:txBody>
      </p:sp>
      <p:sp>
        <p:nvSpPr>
          <p:cNvPr id="15" name="TextBox 14"/>
          <p:cNvSpPr txBox="1"/>
          <p:nvPr/>
        </p:nvSpPr>
        <p:spPr>
          <a:xfrm>
            <a:off x="6812280" y="2807208"/>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8B25C"/>
                </a:solidFill>
                <a:latin typeface="Consolas"/>
              </a:rPr>
              <a:t>18</a:t>
            </a:r>
          </a:p>
        </p:txBody>
      </p:sp>
      <p:sp>
        <p:nvSpPr>
          <p:cNvPr id="16" name="TextBox 15"/>
          <p:cNvSpPr txBox="1"/>
          <p:nvPr/>
        </p:nvSpPr>
        <p:spPr>
          <a:xfrm>
            <a:off x="7452360" y="2807208"/>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how the engine times are measured</a:t>
            </a:r>
          </a:p>
        </p:txBody>
      </p:sp>
      <p:sp>
        <p:nvSpPr>
          <p:cNvPr id="17" name="TextBox 16"/>
          <p:cNvSpPr txBox="1"/>
          <p:nvPr/>
        </p:nvSpPr>
        <p:spPr>
          <a:xfrm>
            <a:off x="6812280" y="3300984"/>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8B25C"/>
                </a:solidFill>
                <a:latin typeface="Consolas"/>
              </a:rPr>
              <a:t>19</a:t>
            </a:r>
          </a:p>
        </p:txBody>
      </p:sp>
      <p:sp>
        <p:nvSpPr>
          <p:cNvPr id="18" name="TextBox 17"/>
          <p:cNvSpPr txBox="1"/>
          <p:nvPr/>
        </p:nvSpPr>
        <p:spPr>
          <a:xfrm>
            <a:off x="7452360" y="3300984"/>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opt7 · FP32 pedestal</a:t>
            </a:r>
          </a:p>
        </p:txBody>
      </p:sp>
      <p:sp>
        <p:nvSpPr>
          <p:cNvPr id="19" name="TextBox 18"/>
          <p:cNvSpPr txBox="1"/>
          <p:nvPr/>
        </p:nvSpPr>
        <p:spPr>
          <a:xfrm>
            <a:off x="6812280" y="3794760"/>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8B25C"/>
                </a:solidFill>
                <a:latin typeface="Consolas"/>
              </a:rPr>
              <a:t>20</a:t>
            </a:r>
          </a:p>
        </p:txBody>
      </p:sp>
      <p:sp>
        <p:nvSpPr>
          <p:cNvPr id="20" name="TextBox 19"/>
          <p:cNvSpPr txBox="1"/>
          <p:nvPr/>
        </p:nvSpPr>
        <p:spPr>
          <a:xfrm>
            <a:off x="7452360" y="3794760"/>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catastrophic cancellation</a:t>
            </a:r>
          </a:p>
        </p:txBody>
      </p:sp>
      <p:sp>
        <p:nvSpPr>
          <p:cNvPr id="21" name="TextBox 20"/>
          <p:cNvSpPr txBox="1"/>
          <p:nvPr/>
        </p:nvSpPr>
        <p:spPr>
          <a:xfrm>
            <a:off x="6812280" y="4288536"/>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8B25C"/>
                </a:solidFill>
                <a:latin typeface="Consolas"/>
              </a:rPr>
              <a:t>21</a:t>
            </a:r>
          </a:p>
        </p:txBody>
      </p:sp>
      <p:sp>
        <p:nvSpPr>
          <p:cNvPr id="22" name="TextBox 21"/>
          <p:cNvSpPr txBox="1"/>
          <p:nvPr/>
        </p:nvSpPr>
        <p:spPr>
          <a:xfrm>
            <a:off x="7452360" y="4288536"/>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why it comes last</a:t>
            </a:r>
          </a:p>
        </p:txBody>
      </p:sp>
      <p:sp>
        <p:nvSpPr>
          <p:cNvPr id="23" name="Rectangle 22"/>
          <p:cNvSpPr/>
          <p:nvPr/>
        </p:nvSpPr>
        <p:spPr>
          <a:xfrm>
            <a:off x="6400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44879"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2496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5544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8592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164079"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4688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7736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078479"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3832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880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992879"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2976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6024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9072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2120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168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821680" y="6656832"/>
            <a:ext cx="27432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126480" y="6656832"/>
            <a:ext cx="27432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431280" y="6656832"/>
            <a:ext cx="27432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736080" y="6656832"/>
            <a:ext cx="27432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040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345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HOW THE ENGINE TIMES ARE MEASURED</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Two configurations, one floor</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18 / 33</a:t>
            </a:r>
          </a:p>
        </p:txBody>
      </p:sp>
      <p:sp>
        <p:nvSpPr>
          <p:cNvPr id="40" name="Rectangle 39"/>
          <p:cNvSpPr/>
          <p:nvPr/>
        </p:nvSpPr>
        <p:spPr>
          <a:xfrm>
            <a:off x="640080" y="1664208"/>
            <a:ext cx="3502152" cy="155448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40080" y="1664208"/>
            <a:ext cx="3502152"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77824" y="1828800"/>
            <a:ext cx="3017520" cy="274320"/>
          </a:xfrm>
          <a:prstGeom prst="rect">
            <a:avLst/>
          </a:prstGeom>
          <a:noFill/>
        </p:spPr>
        <p:txBody>
          <a:bodyPr wrap="square" lIns="0" rIns="0" tIns="0" bIns="0" anchor="t">
            <a:spAutoFit/>
          </a:bodyPr>
          <a:lstStyle/>
          <a:p>
            <a:pPr>
              <a:spcBef>
                <a:spcPts val="0"/>
              </a:spcBef>
              <a:spcAft>
                <a:spcPts val="0"/>
              </a:spcAft>
            </a:pPr>
            <a:r>
              <a:rPr sz="1400" b="1" i="0">
                <a:solidFill>
                  <a:srgbClr val="1E90C2"/>
                </a:solidFill>
                <a:latin typeface="Consolas"/>
              </a:rPr>
              <a:t>s1</a:t>
            </a:r>
          </a:p>
        </p:txBody>
      </p:sp>
      <p:sp>
        <p:nvSpPr>
          <p:cNvPr id="43" name="TextBox 42"/>
          <p:cNvSpPr txBox="1"/>
          <p:nvPr/>
        </p:nvSpPr>
        <p:spPr>
          <a:xfrm>
            <a:off x="877824" y="2139696"/>
            <a:ext cx="3063240" cy="274320"/>
          </a:xfrm>
          <a:prstGeom prst="rect">
            <a:avLst/>
          </a:prstGeom>
          <a:noFill/>
        </p:spPr>
        <p:txBody>
          <a:bodyPr wrap="square" lIns="0" rIns="0" tIns="0" bIns="0" anchor="t">
            <a:spAutoFit/>
          </a:bodyPr>
          <a:lstStyle/>
          <a:p>
            <a:pPr>
              <a:lnSpc>
                <a:spcPct val="110000"/>
              </a:lnSpc>
              <a:spcBef>
                <a:spcPts val="0"/>
              </a:spcBef>
              <a:spcAft>
                <a:spcPts val="0"/>
              </a:spcAft>
            </a:pPr>
            <a:r>
              <a:rPr sz="1100" b="1" i="0">
                <a:solidFill>
                  <a:srgbClr val="E7EDF4"/>
                </a:solidFill>
                <a:latin typeface="Segoe UI"/>
              </a:rPr>
              <a:t>One stream, nothing else running</a:t>
            </a:r>
          </a:p>
        </p:txBody>
      </p:sp>
      <p:sp>
        <p:nvSpPr>
          <p:cNvPr id="44" name="TextBox 43"/>
          <p:cNvSpPr txBox="1"/>
          <p:nvPr/>
        </p:nvSpPr>
        <p:spPr>
          <a:xfrm>
            <a:off x="877824" y="2450592"/>
            <a:ext cx="3063240" cy="731520"/>
          </a:xfrm>
          <a:prstGeom prst="rect">
            <a:avLst/>
          </a:prstGeom>
          <a:noFill/>
        </p:spPr>
        <p:txBody>
          <a:bodyPr wrap="square" lIns="0" rIns="0" tIns="0" bIns="0" anchor="t">
            <a:spAutoFit/>
          </a:bodyPr>
          <a:lstStyle/>
          <a:p>
            <a:pPr>
              <a:lnSpc>
                <a:spcPct val="122000"/>
              </a:lnSpc>
              <a:spcBef>
                <a:spcPts val="0"/>
              </a:spcBef>
              <a:spcAft>
                <a:spcPts val="0"/>
              </a:spcAft>
            </a:pPr>
            <a:r>
              <a:rPr sz="950" b="0" i="0">
                <a:solidFill>
                  <a:srgbClr val="A5B2C4"/>
                </a:solidFill>
                <a:latin typeface="Segoe UI"/>
              </a:rPr>
              <a:t>How long an operation actually takes. The right number for a capability claim, and for the headroom that is left.</a:t>
            </a:r>
          </a:p>
        </p:txBody>
      </p:sp>
      <p:sp>
        <p:nvSpPr>
          <p:cNvPr id="45" name="Rectangle 44"/>
          <p:cNvSpPr/>
          <p:nvPr/>
        </p:nvSpPr>
        <p:spPr>
          <a:xfrm>
            <a:off x="4325112" y="1664208"/>
            <a:ext cx="3502152" cy="155448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325112" y="1664208"/>
            <a:ext cx="3502152" cy="32004"/>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562856" y="1828800"/>
            <a:ext cx="3017520" cy="274320"/>
          </a:xfrm>
          <a:prstGeom prst="rect">
            <a:avLst/>
          </a:prstGeom>
          <a:noFill/>
        </p:spPr>
        <p:txBody>
          <a:bodyPr wrap="square" lIns="0" rIns="0" tIns="0" bIns="0" anchor="t">
            <a:spAutoFit/>
          </a:bodyPr>
          <a:lstStyle/>
          <a:p>
            <a:pPr>
              <a:spcBef>
                <a:spcPts val="0"/>
              </a:spcBef>
              <a:spcAft>
                <a:spcPts val="0"/>
              </a:spcAft>
            </a:pPr>
            <a:r>
              <a:rPr sz="1400" b="1" i="0">
                <a:solidFill>
                  <a:srgbClr val="E7EDF4"/>
                </a:solidFill>
                <a:latin typeface="Consolas"/>
              </a:rPr>
              <a:t>s4</a:t>
            </a:r>
          </a:p>
        </p:txBody>
      </p:sp>
      <p:sp>
        <p:nvSpPr>
          <p:cNvPr id="48" name="TextBox 47"/>
          <p:cNvSpPr txBox="1"/>
          <p:nvPr/>
        </p:nvSpPr>
        <p:spPr>
          <a:xfrm>
            <a:off x="4562856" y="2139696"/>
            <a:ext cx="3063240" cy="274320"/>
          </a:xfrm>
          <a:prstGeom prst="rect">
            <a:avLst/>
          </a:prstGeom>
          <a:noFill/>
        </p:spPr>
        <p:txBody>
          <a:bodyPr wrap="square" lIns="0" rIns="0" tIns="0" bIns="0" anchor="t">
            <a:spAutoFit/>
          </a:bodyPr>
          <a:lstStyle/>
          <a:p>
            <a:pPr>
              <a:lnSpc>
                <a:spcPct val="110000"/>
              </a:lnSpc>
              <a:spcBef>
                <a:spcPts val="0"/>
              </a:spcBef>
              <a:spcAft>
                <a:spcPts val="0"/>
              </a:spcAft>
            </a:pPr>
            <a:r>
              <a:rPr sz="1100" b="1" i="0">
                <a:solidFill>
                  <a:srgbClr val="E7EDF4"/>
                </a:solidFill>
                <a:latin typeface="Segoe UI"/>
              </a:rPr>
              <a:t>The shipped pipeline, four streams</a:t>
            </a:r>
          </a:p>
        </p:txBody>
      </p:sp>
      <p:sp>
        <p:nvSpPr>
          <p:cNvPr id="49" name="TextBox 48"/>
          <p:cNvSpPr txBox="1"/>
          <p:nvPr/>
        </p:nvSpPr>
        <p:spPr>
          <a:xfrm>
            <a:off x="4562856" y="2450592"/>
            <a:ext cx="3063240" cy="731520"/>
          </a:xfrm>
          <a:prstGeom prst="rect">
            <a:avLst/>
          </a:prstGeom>
          <a:noFill/>
        </p:spPr>
        <p:txBody>
          <a:bodyPr wrap="square" lIns="0" rIns="0" tIns="0" bIns="0" anchor="t">
            <a:spAutoFit/>
          </a:bodyPr>
          <a:lstStyle/>
          <a:p>
            <a:pPr>
              <a:lnSpc>
                <a:spcPct val="122000"/>
              </a:lnSpc>
              <a:spcBef>
                <a:spcPts val="0"/>
              </a:spcBef>
              <a:spcAft>
                <a:spcPts val="0"/>
              </a:spcAft>
            </a:pPr>
            <a:r>
              <a:rPr sz="950" b="0" i="0">
                <a:solidFill>
                  <a:srgbClr val="A5B2C4"/>
                </a:solidFill>
                <a:latin typeface="Segoe UI"/>
              </a:rPr>
              <a:t>How BUSY each engine is per frame: the union of its intervals, which is not the sum of the durations. The only number that can set a floor.</a:t>
            </a:r>
          </a:p>
        </p:txBody>
      </p:sp>
      <p:sp>
        <p:nvSpPr>
          <p:cNvPr id="50" name="Rectangle 49"/>
          <p:cNvSpPr/>
          <p:nvPr/>
        </p:nvSpPr>
        <p:spPr>
          <a:xfrm>
            <a:off x="8010144" y="1664208"/>
            <a:ext cx="3502152" cy="155448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8010144" y="1664208"/>
            <a:ext cx="3502152" cy="3200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247888" y="1828800"/>
            <a:ext cx="3017520" cy="274320"/>
          </a:xfrm>
          <a:prstGeom prst="rect">
            <a:avLst/>
          </a:prstGeom>
          <a:noFill/>
        </p:spPr>
        <p:txBody>
          <a:bodyPr wrap="square" lIns="0" rIns="0" tIns="0" bIns="0" anchor="t">
            <a:spAutoFit/>
          </a:bodyPr>
          <a:lstStyle/>
          <a:p>
            <a:pPr>
              <a:spcBef>
                <a:spcPts val="0"/>
              </a:spcBef>
              <a:spcAft>
                <a:spcPts val="0"/>
              </a:spcAft>
            </a:pPr>
            <a:r>
              <a:rPr sz="1400" b="1" i="0">
                <a:solidFill>
                  <a:srgbClr val="E8B25C"/>
                </a:solidFill>
                <a:latin typeface="Consolas"/>
              </a:rPr>
              <a:t>floor</a:t>
            </a:r>
          </a:p>
        </p:txBody>
      </p:sp>
      <p:sp>
        <p:nvSpPr>
          <p:cNvPr id="53" name="TextBox 52"/>
          <p:cNvSpPr txBox="1"/>
          <p:nvPr/>
        </p:nvSpPr>
        <p:spPr>
          <a:xfrm>
            <a:off x="8247888" y="2139696"/>
            <a:ext cx="3063240" cy="274320"/>
          </a:xfrm>
          <a:prstGeom prst="rect">
            <a:avLst/>
          </a:prstGeom>
          <a:noFill/>
        </p:spPr>
        <p:txBody>
          <a:bodyPr wrap="square" lIns="0" rIns="0" tIns="0" bIns="0" anchor="t">
            <a:spAutoFit/>
          </a:bodyPr>
          <a:lstStyle/>
          <a:p>
            <a:pPr>
              <a:lnSpc>
                <a:spcPct val="110000"/>
              </a:lnSpc>
              <a:spcBef>
                <a:spcPts val="0"/>
              </a:spcBef>
              <a:spcAft>
                <a:spcPts val="0"/>
              </a:spcAft>
            </a:pPr>
            <a:r>
              <a:rPr sz="1100" b="1" i="0">
                <a:solidFill>
                  <a:srgbClr val="E7EDF4"/>
                </a:solidFill>
                <a:latin typeface="Segoe UI"/>
              </a:rPr>
              <a:t>Set by the busiest engine</a:t>
            </a:r>
          </a:p>
        </p:txBody>
      </p:sp>
      <p:sp>
        <p:nvSpPr>
          <p:cNvPr id="54" name="TextBox 53"/>
          <p:cNvSpPr txBox="1"/>
          <p:nvPr/>
        </p:nvSpPr>
        <p:spPr>
          <a:xfrm>
            <a:off x="8247888" y="2450592"/>
            <a:ext cx="3063240" cy="731520"/>
          </a:xfrm>
          <a:prstGeom prst="rect">
            <a:avLst/>
          </a:prstGeom>
          <a:noFill/>
        </p:spPr>
        <p:txBody>
          <a:bodyPr wrap="square" lIns="0" rIns="0" tIns="0" bIns="0" anchor="t">
            <a:spAutoFit/>
          </a:bodyPr>
          <a:lstStyle/>
          <a:p>
            <a:pPr>
              <a:lnSpc>
                <a:spcPct val="122000"/>
              </a:lnSpc>
              <a:spcBef>
                <a:spcPts val="0"/>
              </a:spcBef>
              <a:spcAft>
                <a:spcPts val="0"/>
              </a:spcAft>
            </a:pPr>
            <a:r>
              <a:rPr sz="950" b="0" i="0">
                <a:solidFill>
                  <a:srgbClr val="A5B2C4"/>
                </a:solidFill>
                <a:latin typeface="Segoe UI"/>
              </a:rPr>
              <a:t>The fastest a frame could go if the host cost nothing. In µs per frame, or its reciprocal in FPS. The LOWER of the profiled estimate and the best rate sustained.</a:t>
            </a:r>
          </a:p>
        </p:txBody>
      </p:sp>
      <p:pic>
        <p:nvPicPr>
          <p:cNvPr id="55" name="Picture 54" descr="fig_measure.png"/>
          <p:cNvPicPr>
            <a:picLocks noChangeAspect="1"/>
          </p:cNvPicPr>
          <p:nvPr/>
        </p:nvPicPr>
        <p:blipFill>
          <a:blip r:embed="rId2"/>
          <a:stretch>
            <a:fillRect/>
          </a:stretch>
        </p:blipFill>
        <p:spPr>
          <a:xfrm>
            <a:off x="1389888" y="3310128"/>
            <a:ext cx="9418320" cy="2534630"/>
          </a:xfrm>
          <a:prstGeom prst="rect">
            <a:avLst/>
          </a:prstGeom>
        </p:spPr>
      </p:pic>
      <p:sp>
        <p:nvSpPr>
          <p:cNvPr id="56" name="Rectangle 55"/>
          <p:cNvSpPr/>
          <p:nvPr/>
        </p:nvSpPr>
        <p:spPr>
          <a:xfrm>
            <a:off x="681228" y="5925312"/>
            <a:ext cx="10840212"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640080" y="5925312"/>
            <a:ext cx="41148"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96112" y="6016752"/>
            <a:ext cx="10424160" cy="384048"/>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Nothing that measures a duration falls under load</a:t>
            </a:r>
            <a:r>
              <a:rPr sz="1050" b="0" i="0">
                <a:solidFill>
                  <a:srgbClr val="A5B2C4"/>
                </a:solidFill>
                <a:latin typeface="Segoe UI"/>
              </a:rPr>
              <a:t> — yet the 9×9 kernel row falls 39.9 → 32.7 µs from s1 to s4. That is the tell: s4 is occupancy, not duration. </a:t>
            </a:r>
            <a:r>
              <a:rPr sz="1050" b="1" i="0">
                <a:solidFill>
                  <a:srgbClr val="E7EDF4"/>
                </a:solidFill>
                <a:latin typeface="Segoe UI"/>
              </a:rPr>
              <a:t>The floor is quoted both ways in this deck</a:t>
            </a:r>
            <a:r>
              <a:rPr sz="1050" b="0" i="0">
                <a:solidFill>
                  <a:srgbClr val="A5B2C4"/>
                </a:solidFill>
                <a:latin typeface="Segoe UI"/>
              </a:rPr>
              <a:t> — 30.01 µs per frame is 33 323 FPS. Full engine grid: </a:t>
            </a:r>
            <a:r>
              <a:rPr sz="1050" b="1" i="0">
                <a:solidFill>
                  <a:srgbClr val="E7EDF4"/>
                </a:solidFill>
                <a:latin typeface="Segoe UI"/>
              </a:rPr>
              <a:t>annex A1</a:t>
            </a:r>
            <a:r>
              <a:rPr sz="1050" b="0" i="0">
                <a:solidFill>
                  <a:srgbClr val="A5B2C4"/>
                </a:solidFill>
                <a:latin typeface="Segoe UI"/>
              </a:rPr>
              <a: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III · OPT7 · FP32 DEVICE PEDESTAL</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FP32 halves pedestal traffic: −41 % kernel time</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19 / 33</a:t>
            </a:r>
          </a:p>
        </p:txBody>
      </p:sp>
      <p:sp>
        <p:nvSpPr>
          <p:cNvPr id="40" name="TextBox 39"/>
          <p:cNvSpPr txBox="1"/>
          <p:nvPr/>
        </p:nvSpPr>
        <p:spPr>
          <a:xfrm>
            <a:off x="640080" y="1783080"/>
            <a:ext cx="685800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1" i="0">
                <a:solidFill>
                  <a:srgbClr val="E7EDF4"/>
                </a:solidFill>
                <a:latin typeface="Segoe UI"/>
              </a:rPr>
              <a:t>~80 % of pixels</a:t>
            </a:r>
            <a:r>
              <a:rPr sz="1050" b="0" i="0">
                <a:solidFill>
                  <a:srgbClr val="A5B2C4"/>
                </a:solidFill>
                <a:latin typeface="Segoe UI"/>
              </a:rPr>
              <a:t> take the </a:t>
            </a:r>
            <a:r>
              <a:rPr sz="1050" b="1" i="0">
                <a:solidFill>
                  <a:srgbClr val="E7EDF4"/>
                </a:solidFill>
                <a:latin typeface="Segoe UI"/>
              </a:rPr>
              <a:t>pedestal-update</a:t>
            </a:r>
            <a:r>
              <a:rPr sz="1050" b="0" i="0">
                <a:solidFill>
                  <a:srgbClr val="A5B2C4"/>
                </a:solidFill>
                <a:latin typeface="Segoe UI"/>
              </a:rPr>
              <a:t> branch: it reads off, sum and sum², and writes back sum, sum² and mean. All four pedestal arrays are DEVICE_PED_TYPE, so one typedef halves all six accesses: </a:t>
            </a:r>
            <a:r>
              <a:rPr sz="1050" b="1" i="0">
                <a:solidFill>
                  <a:srgbClr val="E7EDF4"/>
                </a:solidFill>
                <a:latin typeface="Segoe UI"/>
              </a:rPr>
              <a:t>48 bytes per updating pixel in FP64, 24 in FP32</a:t>
            </a:r>
            <a:r>
              <a:rPr sz="1050" b="0" i="0">
                <a:solidFill>
                  <a:srgbClr val="A5B2C4"/>
                </a:solidFill>
                <a:latin typeface="Segoe UI"/>
              </a:rPr>
              <a:t>.</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The kernel is </a:t>
            </a:r>
            <a:r>
              <a:rPr sz="1050" b="1" i="0">
                <a:solidFill>
                  <a:srgbClr val="E7EDF4"/>
                </a:solidFill>
                <a:latin typeface="Segoe UI"/>
              </a:rPr>
              <a:t>bandwidth-bound</a:t>
            </a:r>
            <a:r>
              <a:rPr sz="1050" b="0" i="0">
                <a:solidFill>
                  <a:srgbClr val="A5B2C4"/>
                </a:solidFill>
                <a:latin typeface="Segoe UI"/>
              </a:rPr>
              <a:t>, so halving that traffic nearly halves the time. On a GeForce part there is a second effect: </a:t>
            </a:r>
            <a:r>
              <a:rPr sz="1050" b="1" i="0">
                <a:solidFill>
                  <a:srgbClr val="E7EDF4"/>
                </a:solidFill>
                <a:latin typeface="Segoe UI"/>
              </a:rPr>
              <a:t>FP64 arithmetic runs at 1/64 of FP32</a:t>
            </a:r>
            <a:r>
              <a:rPr sz="1050" b="0" i="0">
                <a:solidFill>
                  <a:srgbClr val="A5B2C4"/>
                </a:solidFill>
                <a:latin typeface="Segoe UI"/>
              </a:rPr>
              <a:t>, and the pedestal update was paying that tax on every pixel.</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Quietly, a third: the narrower accumulators free </a:t>
            </a:r>
            <a:r>
              <a:rPr sz="1050" b="1" i="0">
                <a:solidFill>
                  <a:srgbClr val="E7EDF4"/>
                </a:solidFill>
                <a:latin typeface="Segoe UI"/>
              </a:rPr>
              <a:t>9 registers at 3×3</a:t>
            </a:r>
            <a:r>
              <a:rPr sz="1050" b="0" i="0">
                <a:solidFill>
                  <a:srgbClr val="A5B2C4"/>
                </a:solidFill>
                <a:latin typeface="Segoe UI"/>
              </a:rPr>
              <a:t>, 47 → 38, which buys back a block per SM.</a:t>
            </a:r>
          </a:p>
        </p:txBody>
      </p:sp>
      <p:pic>
        <p:nvPicPr>
          <p:cNvPr id="41" name="Picture 40" descr="fig_f32_kernel.png"/>
          <p:cNvPicPr>
            <a:picLocks noChangeAspect="1"/>
          </p:cNvPicPr>
          <p:nvPr/>
        </p:nvPicPr>
        <p:blipFill>
          <a:blip r:embed="rId2"/>
          <a:stretch>
            <a:fillRect/>
          </a:stretch>
        </p:blipFill>
        <p:spPr>
          <a:xfrm>
            <a:off x="640080" y="3566160"/>
            <a:ext cx="6858000" cy="2159439"/>
          </a:xfrm>
          <a:prstGeom prst="rect">
            <a:avLst/>
          </a:prstGeom>
        </p:spPr>
      </p:pic>
      <p:sp>
        <p:nvSpPr>
          <p:cNvPr id="42" name="Rounded Rectangle 41"/>
          <p:cNvSpPr/>
          <p:nvPr/>
        </p:nvSpPr>
        <p:spPr>
          <a:xfrm>
            <a:off x="7772400" y="1783080"/>
            <a:ext cx="3749039" cy="1011692"/>
          </a:xfrm>
          <a:prstGeom prst="round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936992" y="1892807"/>
            <a:ext cx="3419856" cy="182880"/>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ONE TYPEDEF</a:t>
            </a:r>
          </a:p>
        </p:txBody>
      </p:sp>
      <p:sp>
        <p:nvSpPr>
          <p:cNvPr id="44" name="TextBox 43"/>
          <p:cNvSpPr txBox="1"/>
          <p:nvPr/>
        </p:nvSpPr>
        <p:spPr>
          <a:xfrm>
            <a:off x="7936992" y="2112263"/>
            <a:ext cx="3419856" cy="792236"/>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6B7A90"/>
                </a:solidFill>
                <a:latin typeface="Consolas"/>
              </a:rPr>
              <a:t>// clusterfinder_kernel.cuh</a:t>
            </a:r>
          </a:p>
          <a:p>
            <a:pPr>
              <a:lnSpc>
                <a:spcPct val="112000"/>
              </a:lnSpc>
              <a:spcBef>
                <a:spcPts val="0"/>
              </a:spcBef>
              <a:spcAft>
                <a:spcPts val="0"/>
              </a:spcAft>
            </a:pPr>
            <a:r>
              <a:rPr sz="900" b="0" i="0">
                <a:solidFill>
                  <a:srgbClr val="A5B2C4"/>
                </a:solidFill>
                <a:latin typeface="Consolas"/>
              </a:rPr>
              <a:t>using COMPUTE_TYPE    = float;</a:t>
            </a:r>
          </a:p>
          <a:p>
            <a:pPr>
              <a:lnSpc>
                <a:spcPct val="112000"/>
              </a:lnSpc>
              <a:spcBef>
                <a:spcPts val="0"/>
              </a:spcBef>
              <a:spcAft>
                <a:spcPts val="0"/>
              </a:spcAft>
            </a:pPr>
            <a:r>
              <a:rPr sz="900" b="0" i="0">
                <a:solidFill>
                  <a:srgbClr val="A5B2C4"/>
                </a:solidFill>
                <a:latin typeface="Consolas"/>
              </a:rPr>
              <a:t>using DEVICE_PED_TYPE = </a:t>
            </a:r>
            <a:r>
              <a:rPr sz="900" b="1" i="0">
                <a:solidFill>
                  <a:srgbClr val="1E90C2"/>
                </a:solidFill>
                <a:latin typeface="Consolas"/>
              </a:rPr>
              <a:t>float</a:t>
            </a:r>
            <a:r>
              <a:rPr sz="900" b="0" i="0">
                <a:solidFill>
                  <a:srgbClr val="A5B2C4"/>
                </a:solidFill>
                <a:latin typeface="Consolas"/>
              </a:rPr>
              <a:t>;</a:t>
            </a:r>
          </a:p>
          <a:p>
            <a:pPr>
              <a:lnSpc>
                <a:spcPct val="112000"/>
              </a:lnSpc>
              <a:spcBef>
                <a:spcPts val="0"/>
              </a:spcBef>
              <a:spcAft>
                <a:spcPts val="0"/>
              </a:spcAft>
            </a:pPr>
            <a:r>
              <a:rPr sz="900" b="0" i="0">
                <a:solidFill>
                  <a:srgbClr val="6B7A90"/>
                </a:solidFill>
                <a:latin typeface="Consolas"/>
              </a:rPr>
              <a:t>//            was: double</a:t>
            </a:r>
          </a:p>
        </p:txBody>
      </p:sp>
      <p:sp>
        <p:nvSpPr>
          <p:cNvPr id="45" name="Rectangle 44"/>
          <p:cNvSpPr/>
          <p:nvPr/>
        </p:nvSpPr>
        <p:spPr>
          <a:xfrm>
            <a:off x="7813548" y="2962656"/>
            <a:ext cx="3707891" cy="120700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772400" y="2962656"/>
            <a:ext cx="41148" cy="120700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028431" y="3054096"/>
            <a:ext cx="3291839" cy="1024128"/>
          </a:xfrm>
          <a:prstGeom prst="rect">
            <a:avLst/>
          </a:prstGeom>
          <a:noFill/>
        </p:spPr>
        <p:txBody>
          <a:bodyPr wrap="square" lIns="0" rIns="0" tIns="0" bIns="0" anchor="ctr">
            <a:spAutoFit/>
          </a:bodyPr>
          <a:lstStyle/>
          <a:p>
            <a:pPr>
              <a:lnSpc>
                <a:spcPct val="120000"/>
              </a:lnSpc>
              <a:spcBef>
                <a:spcPts val="0"/>
              </a:spcBef>
              <a:spcAft>
                <a:spcPts val="0"/>
              </a:spcAft>
            </a:pPr>
            <a:r>
              <a:rPr sz="1050" b="0" i="0">
                <a:solidFill>
                  <a:srgbClr val="A5B2C4"/>
                </a:solidFill>
                <a:latin typeface="Segoe UI"/>
              </a:rPr>
              <a:t>Kernel, 9×9 </a:t>
            </a:r>
            <a:r>
              <a:rPr sz="1050" b="1" i="0">
                <a:solidFill>
                  <a:srgbClr val="E7EDF4"/>
                </a:solidFill>
                <a:latin typeface="Segoe UI"/>
              </a:rPr>
              <a:t>[s1 · cap 1700]</a:t>
            </a:r>
            <a:r>
              <a:rPr sz="1050" b="0" i="0">
                <a:solidFill>
                  <a:srgbClr val="A5B2C4"/>
                </a:solidFill>
                <a:latin typeface="Segoe UI"/>
              </a:rPr>
              <a:t>
</a:t>
            </a:r>
            <a:r>
              <a:rPr sz="1050" b="1" i="0">
                <a:solidFill>
                  <a:srgbClr val="E7EDF4"/>
                </a:solidFill>
                <a:latin typeface="Segoe UI"/>
              </a:rPr>
              <a:t>39.86 → 23.70 µs  (−40.5 %)</a:t>
            </a:r>
            <a:r>
              <a:rPr sz="1050" b="0" i="0">
                <a:solidFill>
                  <a:srgbClr val="A5B2C4"/>
                </a:solidFill>
                <a:latin typeface="Segoe UI"/>
              </a:rPr>
              <a:t>
Shipped </a:t>
            </a:r>
            <a:r>
              <a:rPr sz="1050" b="1" i="0">
                <a:solidFill>
                  <a:srgbClr val="E7EDF4"/>
                </a:solidFill>
                <a:latin typeface="Segoe UI"/>
              </a:rPr>
              <a:t>[s4]</a:t>
            </a:r>
            <a:r>
              <a:rPr sz="1050" b="0" i="0">
                <a:solidFill>
                  <a:srgbClr val="A5B2C4"/>
                </a:solidFill>
                <a:latin typeface="Segoe UI"/>
              </a:rPr>
              <a:t>: </a:t>
            </a:r>
            <a:r>
              <a:rPr sz="1050" b="1" i="0">
                <a:solidFill>
                  <a:srgbClr val="E7EDF4"/>
                </a:solidFill>
                <a:latin typeface="Segoe UI"/>
              </a:rPr>
              <a:t>30.0 → 25.1 µs</a:t>
            </a:r>
            <a:r>
              <a:rPr sz="1050" b="0" i="0">
                <a:solidFill>
                  <a:srgbClr val="A5B2C4"/>
                </a:solidFill>
                <a:latin typeface="Segoe UI"/>
              </a:rPr>
              <a:t> end to end.</a:t>
            </a:r>
          </a:p>
        </p:txBody>
      </p:sp>
      <p:sp>
        <p:nvSpPr>
          <p:cNvPr id="48" name="Rectangle 47"/>
          <p:cNvSpPr/>
          <p:nvPr/>
        </p:nvSpPr>
        <p:spPr>
          <a:xfrm>
            <a:off x="7813548" y="4279392"/>
            <a:ext cx="3707891" cy="78638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772400" y="4279392"/>
            <a:ext cx="41148" cy="78638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028431" y="4370831"/>
            <a:ext cx="3291839" cy="603503"/>
          </a:xfrm>
          <a:prstGeom prst="rect">
            <a:avLst/>
          </a:prstGeom>
          <a:noFill/>
        </p:spPr>
        <p:txBody>
          <a:bodyPr wrap="square" lIns="0" rIns="0" tIns="0" bIns="0" anchor="ctr">
            <a:spAutoFit/>
          </a:bodyPr>
          <a:lstStyle/>
          <a:p>
            <a:pPr>
              <a:lnSpc>
                <a:spcPct val="120000"/>
              </a:lnSpc>
              <a:spcBef>
                <a:spcPts val="0"/>
              </a:spcBef>
              <a:spcAft>
                <a:spcPts val="0"/>
              </a:spcAft>
            </a:pPr>
            <a:r>
              <a:rPr sz="1050" b="0" i="0">
                <a:solidFill>
                  <a:srgbClr val="A5B2C4"/>
                </a:solidFill>
                <a:latin typeface="Segoe UI"/>
              </a:rPr>
              <a:t>Naive FP32 is </a:t>
            </a:r>
            <a:r>
              <a:rPr sz="1050" b="1" i="0">
                <a:solidFill>
                  <a:srgbClr val="E7EDF4"/>
                </a:solidFill>
                <a:latin typeface="Segoe UI"/>
              </a:rPr>
              <a:t>wrong</a:t>
            </a:r>
            <a:r>
              <a:rPr sz="1050" b="0" i="0">
                <a:solidFill>
                  <a:srgbClr val="A5B2C4"/>
                </a:solidFill>
                <a:latin typeface="Segoe UI"/>
              </a:rPr>
              <a:t> (next slide), and even when correct it only pays </a:t>
            </a:r>
            <a:r>
              <a:rPr sz="1050" b="1" i="0">
                <a:solidFill>
                  <a:srgbClr val="E7EDF4"/>
                </a:solidFill>
                <a:latin typeface="Segoe UI"/>
              </a:rPr>
              <a:t>because Act II came first</a:t>
            </a:r>
            <a:r>
              <a:rPr sz="1050" b="0" i="0">
                <a:solidFill>
                  <a:srgbClr val="A5B2C4"/>
                </a:solidFill>
                <a:latin typeface="Segoe UI"/>
              </a:rPr>
              <a:t>.</a:t>
            </a:r>
          </a:p>
        </p:txBody>
      </p:sp>
      <p:sp>
        <p:nvSpPr>
          <p:cNvPr id="51" name="Rectangle 50"/>
          <p:cNvSpPr/>
          <p:nvPr/>
        </p:nvSpPr>
        <p:spPr>
          <a:xfrm>
            <a:off x="7813548" y="5266944"/>
            <a:ext cx="3707891" cy="9144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7772400" y="5266944"/>
            <a:ext cx="41148" cy="91440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028431" y="5358383"/>
            <a:ext cx="3291839" cy="731520"/>
          </a:xfrm>
          <a:prstGeom prst="rect">
            <a:avLst/>
          </a:prstGeom>
          <a:noFill/>
        </p:spPr>
        <p:txBody>
          <a:bodyPr wrap="square" lIns="0" rIns="0" tIns="0" bIns="0" anchor="ctr">
            <a:spAutoFit/>
          </a:bodyPr>
          <a:lstStyle/>
          <a:p>
            <a:pPr>
              <a:lnSpc>
                <a:spcPct val="120000"/>
              </a:lnSpc>
              <a:spcBef>
                <a:spcPts val="0"/>
              </a:spcBef>
              <a:spcAft>
                <a:spcPts val="0"/>
              </a:spcAft>
            </a:pPr>
            <a:r>
              <a:rPr sz="1050" b="0" i="0">
                <a:solidFill>
                  <a:srgbClr val="A5B2C4"/>
                </a:solidFill>
                <a:latin typeface="Segoe UI"/>
              </a:rPr>
              <a:t>At 3×3 the same typedef is worth </a:t>
            </a:r>
            <a:r>
              <a:rPr sz="1050" b="1" i="0">
                <a:solidFill>
                  <a:srgbClr val="E7EDF4"/>
                </a:solidFill>
                <a:latin typeface="Segoe UI"/>
              </a:rPr>
              <a:t>−70.6 %</a:t>
            </a:r>
            <a:r>
              <a:rPr sz="1050" b="0" i="0">
                <a:solidFill>
                  <a:srgbClr val="A5B2C4"/>
                </a:solidFill>
                <a:latin typeface="Segoe UI"/>
              </a:rPr>
              <a:t> (14.72 → 4.32 µs [s1]) yet buys only </a:t>
            </a:r>
            <a:r>
              <a:rPr sz="1050" b="1" i="0">
                <a:solidFill>
                  <a:srgbClr val="E7EDF4"/>
                </a:solidFill>
                <a:latin typeface="Segoe UI"/>
              </a:rPr>
              <a:t>4.6 %</a:t>
            </a:r>
            <a:r>
              <a:rPr sz="1050" b="0" i="0">
                <a:solidFill>
                  <a:srgbClr val="A5B2C4"/>
                </a:solidFill>
                <a:latin typeface="Segoe UI"/>
              </a:rPr>
              <a:t> end to end: there the kernel was never the tallest bar.</a:t>
            </a:r>
          </a:p>
        </p:txBody>
      </p:sp>
      <p:sp>
        <p:nvSpPr>
          <p:cNvPr id="54" name="TextBox 53"/>
          <p:cNvSpPr txBox="1"/>
          <p:nvPr/>
        </p:nvSpPr>
        <p:spPr>
          <a:xfrm>
            <a:off x="7772400" y="6345936"/>
            <a:ext cx="3749039"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Both builds, same git rev, 20 000 frames. Full engine grid: A1.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III · OPT7 · CATASTROPHIC CANCELLATION</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Accumulate what is small, not what is large</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20 / 33</a:t>
            </a:r>
          </a:p>
        </p:txBody>
      </p:sp>
      <p:sp>
        <p:nvSpPr>
          <p:cNvPr id="40" name="TextBox 39"/>
          <p:cNvSpPr txBox="1"/>
          <p:nvPr/>
        </p:nvSpPr>
        <p:spPr>
          <a:xfrm>
            <a:off x="640080" y="1737360"/>
            <a:ext cx="722376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1" i="0">
                <a:solidFill>
                  <a:srgbClr val="E7EDF4"/>
                </a:solidFill>
                <a:latin typeface="Segoe UI"/>
              </a:rPr>
              <a:t>The trap.</a:t>
            </a:r>
            <a:r>
              <a:rPr sz="1050" b="0" i="0">
                <a:solidFill>
                  <a:srgbClr val="A5B2C4"/>
                </a:solidFill>
                <a:latin typeface="Segoe UI"/>
              </a:rPr>
              <a:t> The variance was computed as </a:t>
            </a:r>
            <a:r>
              <a:rPr sz="1050" b="1" i="0">
                <a:solidFill>
                  <a:srgbClr val="E7EDF4"/>
                </a:solidFill>
                <a:latin typeface="Segoe UI"/>
              </a:rPr>
              <a:t>var = E[X²] − mean²</a:t>
            </a:r>
            <a:r>
              <a:rPr sz="1050" b="0" i="0">
                <a:solidFill>
                  <a:srgbClr val="A5B2C4"/>
                </a:solidFill>
                <a:latin typeface="Segoe UI"/>
              </a:rPr>
              <a:t>. With a pedestal at ~4 655 ADU both operands are ≈ 2.17 × 10⁷ while the answer is ≈ 2 000. FP32 carries ~7 digits, so the answer inherits an </a:t>
            </a:r>
            <a:r>
              <a:rPr sz="1050" b="1" i="0">
                <a:solidFill>
                  <a:srgbClr val="E7EDF4"/>
                </a:solidFill>
                <a:latin typeface="Segoe UI"/>
              </a:rPr>
              <a:t>absolute</a:t>
            </a:r>
            <a:r>
              <a:rPr sz="1050" b="0" i="0">
                <a:solidFill>
                  <a:srgbClr val="A5B2C4"/>
                </a:solidFill>
                <a:latin typeface="Segoe UI"/>
              </a:rPr>
              <a:t> error of </a:t>
            </a:r>
            <a:r>
              <a:rPr sz="1050" b="1" i="0">
                <a:solidFill>
                  <a:srgbClr val="E7EDF4"/>
                </a:solidFill>
                <a:latin typeface="Segoe UI"/>
              </a:rPr>
              <a:t>±3 ADU², which does not shrink as the answer does</a:t>
            </a:r>
            <a:r>
              <a:rPr sz="1050" b="0" i="0">
                <a:solidFill>
                  <a:srgbClr val="A5B2C4"/>
                </a:solidFill>
                <a:latin typeface="Segoe UI"/>
              </a:rPr>
              <a:t>.</a:t>
            </a:r>
          </a:p>
          <a:p>
            <a:pPr>
              <a:lnSpc>
                <a:spcPct val="125000"/>
              </a:lnSpc>
              <a:spcBef>
                <a:spcPts val="0"/>
              </a:spcBef>
              <a:spcAft>
                <a:spcPts val="700"/>
              </a:spcAft>
            </a:pPr>
            <a:r>
              <a:rPr sz="1050" b="0" i="0">
                <a:solidFill>
                  <a:srgbClr val="6B7A90"/>
                </a:solidFill>
                <a:latin typeface="Segoe UI"/>
              </a:rPr>
              <a:t>•  </a:t>
            </a:r>
            <a:r>
              <a:rPr sz="1050" b="1" i="0">
                <a:solidFill>
                  <a:srgbClr val="E7EDF4"/>
                </a:solidFill>
                <a:latin typeface="Segoe UI"/>
              </a:rPr>
              <a:t>What it cost.</a:t>
            </a:r>
            <a:r>
              <a:rPr sz="1050" b="0" i="0">
                <a:solidFill>
                  <a:srgbClr val="A5B2C4"/>
                </a:solidFill>
                <a:latin typeface="Segoe UI"/>
              </a:rPr>
              <a:t> For a quiet pixel whose true variance is 9, ±3 is a third of it; below rms ≈ 2 the variance goes negative, the rms </a:t>
            </a:r>
            <a:r>
              <a:rPr sz="1050" b="1" i="0">
                <a:solidFill>
                  <a:srgbClr val="E7EDF4"/>
                </a:solidFill>
                <a:latin typeface="Segoe UI"/>
              </a:rPr>
              <a:t>clamps to zero</a:t>
            </a:r>
            <a:r>
              <a:rPr sz="1050" b="0" i="0">
                <a:solidFill>
                  <a:srgbClr val="A5B2C4"/>
                </a:solidFill>
                <a:latin typeface="Segoe UI"/>
              </a:rPr>
              <a:t>, and its 5σ gate becomes a 0σ gate. </a:t>
            </a:r>
            <a:r>
              <a:rPr sz="1050" b="1" i="0">
                <a:solidFill>
                  <a:srgbClr val="E7EDF4"/>
                </a:solidFill>
                <a:latin typeface="Segoe UI"/>
              </a:rPr>
              <a:t>~1–2 % of the sensor</a:t>
            </a:r>
            <a:r>
              <a:rPr sz="1050" b="0" i="0">
                <a:solidFill>
                  <a:srgbClr val="A5B2C4"/>
                </a:solidFill>
                <a:latin typeface="Segoe UI"/>
              </a:rPr>
              <a:t> then fires every frame: </a:t>
            </a:r>
            <a:r>
              <a:rPr sz="1050" b="1" i="0">
                <a:solidFill>
                  <a:srgbClr val="E7EDF4"/>
                </a:solidFill>
                <a:latin typeface="Segoe UI"/>
              </a:rPr>
              <a:t>+28.06 % clusters</a:t>
            </a:r>
            <a:r>
              <a:rPr sz="1050" b="0" i="0">
                <a:solidFill>
                  <a:srgbClr val="A5B2C4"/>
                </a:solidFill>
                <a:latin typeface="Segoe UI"/>
              </a:rPr>
              <a:t> and a population of clusters below the physical threshold.</a:t>
            </a:r>
          </a:p>
          <a:p>
            <a:pPr>
              <a:lnSpc>
                <a:spcPct val="125000"/>
              </a:lnSpc>
              <a:spcBef>
                <a:spcPts val="0"/>
              </a:spcBef>
              <a:spcAft>
                <a:spcPts val="700"/>
              </a:spcAft>
            </a:pPr>
            <a:r>
              <a:rPr sz="1050" b="0" i="0">
                <a:solidFill>
                  <a:srgbClr val="6B7A90"/>
                </a:solidFill>
                <a:latin typeface="Segoe UI"/>
              </a:rPr>
              <a:t>•  </a:t>
            </a:r>
            <a:r>
              <a:rPr sz="1050" b="1" i="0">
                <a:solidFill>
                  <a:srgbClr val="E7EDF4"/>
                </a:solidFill>
                <a:latin typeface="Segoe UI"/>
              </a:rPr>
              <a:t>The fix.</a:t>
            </a:r>
            <a:r>
              <a:rPr sz="1050" b="0" i="0">
                <a:solidFill>
                  <a:srgbClr val="A5B2C4"/>
                </a:solidFill>
                <a:latin typeface="Segoe UI"/>
              </a:rPr>
              <a:t> Freeze </a:t>
            </a:r>
            <a:r>
              <a:rPr sz="1050" b="1" i="0">
                <a:solidFill>
                  <a:srgbClr val="E7EDF4"/>
                </a:solidFill>
                <a:latin typeface="Segoe UI"/>
              </a:rPr>
              <a:t>X₀ = round(mean)</a:t>
            </a:r>
            <a:r>
              <a:rPr sz="1050" b="0" i="0">
                <a:solidFill>
                  <a:srgbClr val="A5B2C4"/>
                </a:solidFill>
                <a:latin typeface="Segoe UI"/>
              </a:rPr>
              <a:t> once at the end of pedestal training and accumulate the </a:t>
            </a:r>
            <a:r>
              <a:rPr sz="1050" b="1" i="0">
                <a:solidFill>
                  <a:srgbClr val="E7EDF4"/>
                </a:solidFill>
                <a:latin typeface="Segoe UI"/>
              </a:rPr>
              <a:t>centred</a:t>
            </a:r>
            <a:r>
              <a:rPr sz="1050" b="0" i="0">
                <a:solidFill>
                  <a:srgbClr val="A5B2C4"/>
                </a:solidFill>
                <a:latin typeface="Segoe UI"/>
              </a:rPr>
              <a:t> value </a:t>
            </a:r>
            <a:r>
              <a:rPr sz="1050" b="1" i="0">
                <a:solidFill>
                  <a:srgbClr val="E7EDF4"/>
                </a:solidFill>
                <a:latin typeface="Segoe UI"/>
              </a:rPr>
              <a:t>Y = X − X₀</a:t>
            </a:r>
            <a:r>
              <a:rPr sz="1050" b="0" i="0">
                <a:solidFill>
                  <a:srgbClr val="A5B2C4"/>
                </a:solidFill>
                <a:latin typeface="Segoe UI"/>
              </a:rPr>
              <a:t>. Both operands become O(rms) and the cancellation is gone.</a:t>
            </a:r>
          </a:p>
        </p:txBody>
      </p:sp>
      <p:pic>
        <p:nvPicPr>
          <p:cNvPr id="41" name="Picture 40" descr="fig_cancellation.png"/>
          <p:cNvPicPr>
            <a:picLocks noChangeAspect="1"/>
          </p:cNvPicPr>
          <p:nvPr/>
        </p:nvPicPr>
        <p:blipFill>
          <a:blip r:embed="rId2"/>
          <a:stretch>
            <a:fillRect/>
          </a:stretch>
        </p:blipFill>
        <p:spPr>
          <a:xfrm>
            <a:off x="640080" y="3584448"/>
            <a:ext cx="7223760" cy="2167552"/>
          </a:xfrm>
          <a:prstGeom prst="rect">
            <a:avLst/>
          </a:prstGeom>
        </p:spPr>
      </p:pic>
      <p:sp>
        <p:nvSpPr>
          <p:cNvPr id="42" name="TextBox 41"/>
          <p:cNvSpPr txBox="1"/>
          <p:nvPr/>
        </p:nvSpPr>
        <p:spPr>
          <a:xfrm>
            <a:off x="640080" y="5870448"/>
            <a:ext cx="72237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Left: the two operands and the answer, log scale, against the ±3 ADU² error. Right: the f64 curve is measured (23.2 M clusters); the f32 curve is reconstructed — measured area, modelled shape, method in the notes. The two-line patch itself is in annex A5.</a:t>
            </a:r>
          </a:p>
        </p:txBody>
      </p:sp>
      <p:sp>
        <p:nvSpPr>
          <p:cNvPr id="43" name="Rectangle 42"/>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NAIVE F32 · WHAT IT DID</a:t>
            </a:r>
          </a:p>
        </p:txBody>
      </p:sp>
      <p:sp>
        <p:nvSpPr>
          <p:cNvPr id="45" name="TextBox 44"/>
          <p:cNvSpPr txBox="1"/>
          <p:nvPr/>
        </p:nvSpPr>
        <p:spPr>
          <a:xfrm>
            <a:off x="8412480" y="219456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EXTRA CLUSTERS</a:t>
            </a:r>
          </a:p>
        </p:txBody>
      </p:sp>
      <p:sp>
        <p:nvSpPr>
          <p:cNvPr id="46" name="TextBox 45"/>
          <p:cNvSpPr txBox="1"/>
          <p:nvPr/>
        </p:nvSpPr>
        <p:spPr>
          <a:xfrm>
            <a:off x="8412480" y="2414016"/>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8B25C"/>
                </a:solidFill>
                <a:latin typeface="Segoe UI"/>
              </a:rPr>
              <a:t>+28.06 %</a:t>
            </a:r>
          </a:p>
        </p:txBody>
      </p:sp>
      <p:sp>
        <p:nvSpPr>
          <p:cNvPr id="47" name="TextBox 46"/>
          <p:cNvSpPr txBox="1"/>
          <p:nvPr/>
        </p:nvSpPr>
        <p:spPr>
          <a:xfrm>
            <a:off x="8412480" y="309067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PIXELS AFFECTED</a:t>
            </a:r>
          </a:p>
        </p:txBody>
      </p:sp>
      <p:sp>
        <p:nvSpPr>
          <p:cNvPr id="48" name="TextBox 47"/>
          <p:cNvSpPr txBox="1"/>
          <p:nvPr/>
        </p:nvSpPr>
        <p:spPr>
          <a:xfrm>
            <a:off x="8412480" y="3291840"/>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E8B25C"/>
                </a:solidFill>
                <a:latin typeface="Segoe UI"/>
              </a:rPr>
              <a:t>~1–2 % of the sensor</a:t>
            </a:r>
          </a:p>
        </p:txBody>
      </p:sp>
      <p:sp>
        <p:nvSpPr>
          <p:cNvPr id="49" name="TextBox 48"/>
          <p:cNvSpPr txBox="1"/>
          <p:nvPr/>
        </p:nvSpPr>
        <p:spPr>
          <a:xfrm>
            <a:off x="8412480" y="3950208"/>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AFTER THE REWRITE</a:t>
            </a:r>
          </a:p>
        </p:txBody>
      </p:sp>
      <p:sp>
        <p:nvSpPr>
          <p:cNvPr id="50" name="TextBox 49"/>
          <p:cNvSpPr txBox="1"/>
          <p:nvPr/>
        </p:nvSpPr>
        <p:spPr>
          <a:xfrm>
            <a:off x="8412480" y="4315968"/>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F32 VS F64 COUNTS</a:t>
            </a:r>
          </a:p>
        </p:txBody>
      </p:sp>
      <p:sp>
        <p:nvSpPr>
          <p:cNvPr id="51" name="TextBox 50"/>
          <p:cNvSpPr txBox="1"/>
          <p:nvPr/>
        </p:nvSpPr>
        <p:spPr>
          <a:xfrm>
            <a:off x="8412480" y="4535424"/>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1E90C2"/>
                </a:solidFill>
                <a:latin typeface="Segoe UI"/>
              </a:rPr>
              <a:t>3 × 10⁻⁷</a:t>
            </a:r>
          </a:p>
        </p:txBody>
      </p:sp>
      <p:sp>
        <p:nvSpPr>
          <p:cNvPr id="52" name="TextBox 51"/>
          <p:cNvSpPr txBox="1"/>
          <p:nvPr/>
        </p:nvSpPr>
        <p:spPr>
          <a:xfrm>
            <a:off x="8412480" y="521208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VS THE CPU BASELINE</a:t>
            </a:r>
          </a:p>
        </p:txBody>
      </p:sp>
      <p:sp>
        <p:nvSpPr>
          <p:cNvPr id="53" name="TextBox 52"/>
          <p:cNvSpPr txBox="1"/>
          <p:nvPr/>
        </p:nvSpPr>
        <p:spPr>
          <a:xfrm>
            <a:off x="8412480" y="5413248"/>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0.0039 %</a:t>
            </a:r>
          </a:p>
        </p:txBody>
      </p:sp>
      <p:sp>
        <p:nvSpPr>
          <p:cNvPr id="54" name="TextBox 53"/>
          <p:cNvSpPr txBox="1"/>
          <p:nvPr/>
        </p:nvSpPr>
        <p:spPr>
          <a:xfrm>
            <a:off x="8412480" y="5998464"/>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X₀ must never be updated: the accumulators are defined relative to it.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III · WHY THIS ACT COMES LAST</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 saving never grew — the frame around it shrank</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21 / 33</a:t>
            </a:r>
          </a:p>
        </p:txBody>
      </p:sp>
      <p:pic>
        <p:nvPicPr>
          <p:cNvPr id="40" name="Picture 39" descr="fig_f32_absolute.png"/>
          <p:cNvPicPr>
            <a:picLocks noChangeAspect="1"/>
          </p:cNvPicPr>
          <p:nvPr/>
        </p:nvPicPr>
        <p:blipFill>
          <a:blip r:embed="rId2"/>
          <a:stretch>
            <a:fillRect/>
          </a:stretch>
        </p:blipFill>
        <p:spPr>
          <a:xfrm>
            <a:off x="640080" y="1783080"/>
            <a:ext cx="10881360" cy="2503597"/>
          </a:xfrm>
          <a:prstGeom prst="rect">
            <a:avLst/>
          </a:prstGeom>
        </p:spPr>
      </p:pic>
      <p:sp>
        <p:nvSpPr>
          <p:cNvPr id="41" name="Rectangle 40"/>
          <p:cNvSpPr/>
          <p:nvPr/>
        </p:nvSpPr>
        <p:spPr>
          <a:xfrm>
            <a:off x="681228" y="4443984"/>
            <a:ext cx="5308092" cy="117043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40080" y="4443984"/>
            <a:ext cx="41148" cy="1170432"/>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96112" y="4535424"/>
            <a:ext cx="4892040" cy="987552"/>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The same typedef saves −4.63 µs at opt4 and −4.87 µs at opt6</a:t>
            </a:r>
            <a:r>
              <a:rPr sz="1050" b="0" i="0">
                <a:solidFill>
                  <a:srgbClr val="A5B2C4"/>
                </a:solidFill>
                <a:latin typeface="Segoe UI"/>
              </a:rPr>
              <a:t>: the two readings whose fault counts match. What changes is the denominator: the frame falls 79.8 → 30.0 µs, so an identical saving reads </a:t>
            </a:r>
            <a:r>
              <a:rPr sz="1050" b="1" i="0">
                <a:solidFill>
                  <a:srgbClr val="E7EDF4"/>
                </a:solidFill>
                <a:latin typeface="Segoe UI"/>
              </a:rPr>
              <a:t>−5.8 %, then −16.2 %</a:t>
            </a:r>
            <a:r>
              <a:rPr sz="1050" b="0" i="0">
                <a:solidFill>
                  <a:srgbClr val="A5B2C4"/>
                </a:solidFill>
                <a:latin typeface="Segoe UI"/>
              </a:rPr>
              <a:t>. Act II did not make the kernel win bigger; it made it </a:t>
            </a:r>
            <a:r>
              <a:rPr sz="1050" b="1" i="0">
                <a:solidFill>
                  <a:srgbClr val="E7EDF4"/>
                </a:solidFill>
                <a:latin typeface="Segoe UI"/>
              </a:rPr>
              <a:t>separable</a:t>
            </a:r>
            <a:r>
              <a:rPr sz="1050" b="0" i="0">
                <a:solidFill>
                  <a:srgbClr val="A5B2C4"/>
                </a:solidFill>
                <a:latin typeface="Segoe UI"/>
              </a:rPr>
              <a:t>.</a:t>
            </a:r>
          </a:p>
        </p:txBody>
      </p:sp>
      <p:sp>
        <p:nvSpPr>
          <p:cNvPr id="44" name="Rectangle 43"/>
          <p:cNvSpPr/>
          <p:nvPr/>
        </p:nvSpPr>
        <p:spPr>
          <a:xfrm>
            <a:off x="6213348" y="4443984"/>
            <a:ext cx="5308092" cy="117043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172200" y="4443984"/>
            <a:ext cx="41148" cy="1170432"/>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28232" y="4535424"/>
            <a:ext cx="4892040" cy="987552"/>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And the act ends by handing the floor away.</a:t>
            </a:r>
            <a:r>
              <a:rPr sz="1050" b="0" i="0">
                <a:solidFill>
                  <a:srgbClr val="A5B2C4"/>
                </a:solidFill>
                <a:latin typeface="Segoe UI"/>
              </a:rPr>
              <a:t> At </a:t>
            </a:r>
            <a:r>
              <a:rPr sz="1050" b="1" i="0">
                <a:solidFill>
                  <a:srgbClr val="E7EDF4"/>
                </a:solidFill>
                <a:latin typeface="Segoe UI"/>
              </a:rPr>
              <a:t>s4</a:t>
            </a:r>
            <a:r>
              <a:rPr sz="1050" b="0" i="0">
                <a:solidFill>
                  <a:srgbClr val="A5B2C4"/>
                </a:solidFill>
                <a:latin typeface="Segoe UI"/>
              </a:rPr>
              <a:t>, the config that ships, the f64 arm is kernel-bound: </a:t>
            </a:r>
            <a:r>
              <a:rPr sz="1050" b="1" i="0">
                <a:solidFill>
                  <a:srgbClr val="E7EDF4"/>
                </a:solidFill>
                <a:latin typeface="Segoe UI"/>
              </a:rPr>
              <a:t>32.66</a:t>
            </a:r>
            <a:r>
              <a:rPr sz="1050" b="0" i="0">
                <a:solidFill>
                  <a:srgbClr val="A5B2C4"/>
                </a:solidFill>
                <a:latin typeface="Segoe UI"/>
              </a:rPr>
              <a:t> against a </a:t>
            </a:r>
            <a:r>
              <a:rPr sz="1050" b="1" i="0">
                <a:solidFill>
                  <a:srgbClr val="E7EDF4"/>
                </a:solidFill>
                <a:latin typeface="Segoe UI"/>
              </a:rPr>
              <a:t>25.25 µs</a:t>
            </a:r>
            <a:r>
              <a:rPr sz="1050" b="0" i="0">
                <a:solidFill>
                  <a:srgbClr val="A5B2C4"/>
                </a:solidFill>
                <a:latin typeface="Segoe UI"/>
              </a:rPr>
              <a:t> D2H. The typedef puts the kernel at </a:t>
            </a:r>
            <a:r>
              <a:rPr sz="1050" b="1" i="0">
                <a:solidFill>
                  <a:srgbClr val="E7EDF4"/>
                </a:solidFill>
                <a:latin typeface="Segoe UI"/>
              </a:rPr>
              <a:t>23.94</a:t>
            </a:r>
            <a:r>
              <a:rPr sz="1050" b="0" i="0">
                <a:solidFill>
                  <a:srgbClr val="A5B2C4"/>
                </a:solidFill>
                <a:latin typeface="Segoe UI"/>
              </a:rPr>
              <a:t>, </a:t>
            </a:r>
            <a:r>
              <a:rPr sz="1050" b="1" i="0">
                <a:solidFill>
                  <a:srgbClr val="E7EDF4"/>
                </a:solidFill>
                <a:latin typeface="Segoe UI"/>
              </a:rPr>
              <a:t>below a D2H that never moved</a:t>
            </a:r>
            <a:r>
              <a:rPr sz="1050" b="0" i="0">
                <a:solidFill>
                  <a:srgbClr val="A5B2C4"/>
                </a:solidFill>
                <a:latin typeface="Segoe UI"/>
              </a:rPr>
              <a:t>. The constraint is now the result path, not the arithmetic. [engines: 19/33]</a:t>
            </a:r>
          </a:p>
        </p:txBody>
      </p:sp>
      <p:sp>
        <p:nvSpPr>
          <p:cNvPr id="47" name="TextBox 46"/>
          <p:cNvSpPr txBox="1"/>
          <p:nvPr/>
        </p:nvSpPr>
        <p:spPr>
          <a:xfrm>
            <a:off x="640080" y="5760720"/>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9×9 · 20 000 frames · 4 streams · cap 1 700 · warm · both arms at the same git rev. opt3 is excluded: its two arms sat in different allocator states, so that comparison does not report the typedef at all. † opt5's arms differ the same way; its reading agrees with the other two but is not independently attributable. Both are worked through in annex A4. The f32 bar at opt6 is opt7, the shipped build; the f32 bars at opt4 and opt5 are the same typedef applied at earlier steps, configurations that exist only to make this comparison controlled.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389888"/>
            <a:ext cx="5303520" cy="274320"/>
          </a:xfrm>
          <a:prstGeom prst="rect">
            <a:avLst/>
          </a:prstGeom>
          <a:noFill/>
        </p:spPr>
        <p:txBody>
          <a:bodyPr wrap="square" lIns="0" rIns="0" tIns="0" bIns="0" anchor="t">
            <a:spAutoFit/>
          </a:bodyPr>
          <a:lstStyle/>
          <a:p>
            <a:pPr>
              <a:spcBef>
                <a:spcPts val="0"/>
              </a:spcBef>
              <a:spcAft>
                <a:spcPts val="0"/>
              </a:spcAft>
            </a:pPr>
            <a:r>
              <a:rPr sz="950" b="1" i="0" spc="180">
                <a:solidFill>
                  <a:srgbClr val="6B7A90"/>
                </a:solidFill>
                <a:latin typeface="Segoe UI"/>
              </a:rPr>
              <a:t>RESULTS · WHAT CAME OUT OF IT</a:t>
            </a:r>
          </a:p>
        </p:txBody>
      </p:sp>
      <p:sp>
        <p:nvSpPr>
          <p:cNvPr id="5" name="TextBox 4"/>
          <p:cNvSpPr txBox="1"/>
          <p:nvPr/>
        </p:nvSpPr>
        <p:spPr>
          <a:xfrm>
            <a:off x="914400" y="1737360"/>
            <a:ext cx="5486400" cy="1234440"/>
          </a:xfrm>
          <a:prstGeom prst="rect">
            <a:avLst/>
          </a:prstGeom>
          <a:noFill/>
        </p:spPr>
        <p:txBody>
          <a:bodyPr wrap="square" lIns="0" rIns="0" tIns="0" bIns="0" anchor="t">
            <a:spAutoFit/>
          </a:bodyPr>
          <a:lstStyle/>
          <a:p>
            <a:pPr>
              <a:lnSpc>
                <a:spcPct val="103000"/>
              </a:lnSpc>
              <a:spcBef>
                <a:spcPts val="0"/>
              </a:spcBef>
              <a:spcAft>
                <a:spcPts val="0"/>
              </a:spcAft>
            </a:pPr>
            <a:r>
              <a:rPr sz="3600" b="1" i="0">
                <a:solidFill>
                  <a:srgbClr val="E7EDF4"/>
                </a:solidFill>
                <a:latin typeface="Segoe UI"/>
              </a:rPr>
              <a:t>The whole ladder, and how to use it</a:t>
            </a:r>
          </a:p>
        </p:txBody>
      </p:sp>
      <p:sp>
        <p:nvSpPr>
          <p:cNvPr id="6" name="Rectangle 5"/>
          <p:cNvSpPr/>
          <p:nvPr/>
        </p:nvSpPr>
        <p:spPr>
          <a:xfrm>
            <a:off x="914400" y="3127248"/>
            <a:ext cx="1371600" cy="27432"/>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383280"/>
            <a:ext cx="5212080" cy="1463040"/>
          </a:xfrm>
          <a:prstGeom prst="rect">
            <a:avLst/>
          </a:prstGeom>
          <a:noFill/>
        </p:spPr>
        <p:txBody>
          <a:bodyPr wrap="square" lIns="0" rIns="0" tIns="0" bIns="0" anchor="t">
            <a:spAutoFit/>
          </a:bodyPr>
          <a:lstStyle/>
          <a:p>
            <a:pPr>
              <a:lnSpc>
                <a:spcPct val="140000"/>
              </a:lnSpc>
              <a:spcBef>
                <a:spcPts val="0"/>
              </a:spcBef>
              <a:spcAft>
                <a:spcPts val="0"/>
              </a:spcAft>
            </a:pPr>
            <a:r>
              <a:rPr sz="1350" b="0" i="0">
                <a:solidFill>
                  <a:srgbClr val="A5B2C4"/>
                </a:solidFill>
                <a:latin typeface="Segoe UI"/>
              </a:rPr>
              <a:t>Both cluster sizes end to end, and the audit behind the numbers.</a:t>
            </a:r>
          </a:p>
        </p:txBody>
      </p:sp>
      <p:sp>
        <p:nvSpPr>
          <p:cNvPr id="8" name="Rectangle 7"/>
          <p:cNvSpPr/>
          <p:nvPr/>
        </p:nvSpPr>
        <p:spPr>
          <a:xfrm>
            <a:off x="914400" y="5074920"/>
            <a:ext cx="5212080" cy="10241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14400" y="5074920"/>
            <a:ext cx="32004" cy="102412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19" y="5230368"/>
            <a:ext cx="4754880" cy="219456"/>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ARRIVING AT</a:t>
            </a:r>
          </a:p>
        </p:txBody>
      </p:sp>
      <p:sp>
        <p:nvSpPr>
          <p:cNvPr id="11" name="TextBox 10"/>
          <p:cNvSpPr txBox="1"/>
          <p:nvPr/>
        </p:nvSpPr>
        <p:spPr>
          <a:xfrm>
            <a:off x="1188719" y="5431536"/>
            <a:ext cx="4754880" cy="365760"/>
          </a:xfrm>
          <a:prstGeom prst="rect">
            <a:avLst/>
          </a:prstGeom>
          <a:noFill/>
        </p:spPr>
        <p:txBody>
          <a:bodyPr wrap="square" lIns="0" rIns="0" tIns="0" bIns="0" anchor="t">
            <a:spAutoFit/>
          </a:bodyPr>
          <a:lstStyle/>
          <a:p>
            <a:pPr>
              <a:spcBef>
                <a:spcPts val="0"/>
              </a:spcBef>
              <a:spcAft>
                <a:spcPts val="0"/>
              </a:spcAft>
            </a:pPr>
            <a:r>
              <a:rPr sz="2400" b="1" i="0">
                <a:solidFill>
                  <a:srgbClr val="E7EDF4"/>
                </a:solidFill>
                <a:latin typeface="Segoe UI"/>
              </a:rPr>
              <a:t>58 495 FPS</a:t>
            </a:r>
          </a:p>
        </p:txBody>
      </p:sp>
      <p:sp>
        <p:nvSpPr>
          <p:cNvPr id="12" name="TextBox 11"/>
          <p:cNvSpPr txBox="1"/>
          <p:nvPr/>
        </p:nvSpPr>
        <p:spPr>
          <a:xfrm>
            <a:off x="1188719" y="5852160"/>
            <a:ext cx="4754880" cy="219456"/>
          </a:xfrm>
          <a:prstGeom prst="rect">
            <a:avLst/>
          </a:prstGeom>
          <a:noFill/>
        </p:spPr>
        <p:txBody>
          <a:bodyPr wrap="square" lIns="0" rIns="0" tIns="0" bIns="0" anchor="t">
            <a:spAutoFit/>
          </a:bodyPr>
          <a:lstStyle/>
          <a:p>
            <a:pPr>
              <a:spcBef>
                <a:spcPts val="0"/>
              </a:spcBef>
              <a:spcAft>
                <a:spcPts val="0"/>
              </a:spcAft>
            </a:pPr>
            <a:r>
              <a:rPr sz="950" b="0" i="0">
                <a:solidFill>
                  <a:srgbClr val="6B7A90"/>
                </a:solidFill>
                <a:latin typeface="Segoe UI"/>
              </a:rPr>
              <a:t>opt6 · everything after this is the ladder seen whole</a:t>
            </a:r>
          </a:p>
        </p:txBody>
      </p:sp>
      <p:sp>
        <p:nvSpPr>
          <p:cNvPr id="13" name="Rectangle 12"/>
          <p:cNvSpPr/>
          <p:nvPr/>
        </p:nvSpPr>
        <p:spPr>
          <a:xfrm>
            <a:off x="6537960" y="1783080"/>
            <a:ext cx="10972" cy="402336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12280" y="2670048"/>
            <a:ext cx="4572000" cy="237744"/>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COMING UP</a:t>
            </a:r>
          </a:p>
        </p:txBody>
      </p:sp>
      <p:sp>
        <p:nvSpPr>
          <p:cNvPr id="15" name="TextBox 14"/>
          <p:cNvSpPr txBox="1"/>
          <p:nvPr/>
        </p:nvSpPr>
        <p:spPr>
          <a:xfrm>
            <a:off x="6812280" y="3054096"/>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7EDF4"/>
                </a:solidFill>
                <a:latin typeface="Consolas"/>
              </a:rPr>
              <a:t>22–23</a:t>
            </a:r>
          </a:p>
        </p:txBody>
      </p:sp>
      <p:sp>
        <p:nvSpPr>
          <p:cNvPr id="16" name="TextBox 15"/>
          <p:cNvSpPr txBox="1"/>
          <p:nvPr/>
        </p:nvSpPr>
        <p:spPr>
          <a:xfrm>
            <a:off x="7452360" y="3054096"/>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Results, both cluster sizes</a:t>
            </a:r>
          </a:p>
        </p:txBody>
      </p:sp>
      <p:sp>
        <p:nvSpPr>
          <p:cNvPr id="17" name="TextBox 16"/>
          <p:cNvSpPr txBox="1"/>
          <p:nvPr/>
        </p:nvSpPr>
        <p:spPr>
          <a:xfrm>
            <a:off x="6812280" y="3547872"/>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7EDF4"/>
                </a:solidFill>
                <a:latin typeface="Consolas"/>
              </a:rPr>
              <a:t>24</a:t>
            </a:r>
          </a:p>
        </p:txBody>
      </p:sp>
      <p:sp>
        <p:nvSpPr>
          <p:cNvPr id="18" name="TextBox 17"/>
          <p:cNvSpPr txBox="1"/>
          <p:nvPr/>
        </p:nvSpPr>
        <p:spPr>
          <a:xfrm>
            <a:off x="7452360" y="3547872"/>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Where the time went</a:t>
            </a:r>
          </a:p>
        </p:txBody>
      </p:sp>
      <p:sp>
        <p:nvSpPr>
          <p:cNvPr id="19" name="TextBox 18"/>
          <p:cNvSpPr txBox="1"/>
          <p:nvPr/>
        </p:nvSpPr>
        <p:spPr>
          <a:xfrm>
            <a:off x="6812280" y="4041648"/>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7EDF4"/>
                </a:solidFill>
                <a:latin typeface="Consolas"/>
              </a:rPr>
              <a:t>25–26</a:t>
            </a:r>
          </a:p>
        </p:txBody>
      </p:sp>
      <p:sp>
        <p:nvSpPr>
          <p:cNvPr id="20" name="TextBox 19"/>
          <p:cNvSpPr txBox="1"/>
          <p:nvPr/>
        </p:nvSpPr>
        <p:spPr>
          <a:xfrm>
            <a:off x="7452360" y="4041648"/>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What the numbers survived</a:t>
            </a:r>
          </a:p>
        </p:txBody>
      </p:sp>
      <p:sp>
        <p:nvSpPr>
          <p:cNvPr id="21" name="Rectangle 20"/>
          <p:cNvSpPr/>
          <p:nvPr/>
        </p:nvSpPr>
        <p:spPr>
          <a:xfrm>
            <a:off x="6400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44879"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2496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5544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8592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164079"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4688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7736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078479"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3832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880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992879"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2976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6024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9072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2120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5168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8216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264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4312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7360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040880" y="6656832"/>
            <a:ext cx="274320"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345680" y="6656832"/>
            <a:ext cx="274320"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650479" y="6656832"/>
            <a:ext cx="274320"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955279" y="6656832"/>
            <a:ext cx="274320"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8260079" y="6656832"/>
            <a:ext cx="274320"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RESULTS · 3×3</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×9.1 at 3×3, sitting on the H2D floor</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22 / 33</a:t>
            </a:r>
          </a:p>
        </p:txBody>
      </p:sp>
      <p:pic>
        <p:nvPicPr>
          <p:cNvPr id="40" name="Picture 39" descr="fig_arc.png"/>
          <p:cNvPicPr>
            <a:picLocks noChangeAspect="1"/>
          </p:cNvPicPr>
          <p:nvPr/>
        </p:nvPicPr>
        <p:blipFill>
          <a:blip r:embed="rId2"/>
          <a:stretch>
            <a:fillRect/>
          </a:stretch>
        </p:blipFill>
        <p:spPr>
          <a:xfrm>
            <a:off x="1783080" y="1719072"/>
            <a:ext cx="8595360" cy="3506802"/>
          </a:xfrm>
          <a:prstGeom prst="rect">
            <a:avLst/>
          </a:prstGeom>
        </p:spPr>
      </p:pic>
      <p:sp>
        <p:nvSpPr>
          <p:cNvPr id="41" name="Rectangle 40"/>
          <p:cNvSpPr/>
          <p:nvPr/>
        </p:nvSpPr>
        <p:spPr>
          <a:xfrm>
            <a:off x="681228" y="5303520"/>
            <a:ext cx="5308092" cy="73152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40080" y="5303520"/>
            <a:ext cx="41148" cy="73152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96112" y="5394959"/>
            <a:ext cx="4892040" cy="548640"/>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×9.1 over 24 CPU threads</a:t>
            </a:r>
            <a:r>
              <a:rPr sz="1050" b="0" i="0">
                <a:solidFill>
                  <a:srgbClr val="A5B2C4"/>
                </a:solidFill>
                <a:latin typeface="Segoe UI"/>
              </a:rPr>
              <a:t>, 14.8 s → 1.63 s for 100 000 frames, and </a:t>
            </a:r>
            <a:r>
              <a:rPr sz="1050" b="1" i="0">
                <a:solidFill>
                  <a:srgbClr val="E7EDF4"/>
                </a:solidFill>
                <a:latin typeface="Segoe UI"/>
              </a:rPr>
              <a:t>at the H2D floor</a:t>
            </a:r>
            <a:r>
              <a:rPr sz="1050" b="0" i="0">
                <a:solidFill>
                  <a:srgbClr val="A5B2C4"/>
                </a:solidFill>
                <a:latin typeface="Segoe UI"/>
              </a:rPr>
              <a:t>.</a:t>
            </a:r>
          </a:p>
        </p:txBody>
      </p:sp>
      <p:sp>
        <p:nvSpPr>
          <p:cNvPr id="44" name="Rectangle 43"/>
          <p:cNvSpPr/>
          <p:nvPr/>
        </p:nvSpPr>
        <p:spPr>
          <a:xfrm>
            <a:off x="6213348" y="5303520"/>
            <a:ext cx="5308092" cy="73152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172200" y="5303520"/>
            <a:ext cx="41148" cy="731520"/>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28232" y="5394959"/>
            <a:ext cx="4892040" cy="548640"/>
          </a:xfrm>
          <a:prstGeom prst="rect">
            <a:avLst/>
          </a:prstGeom>
          <a:noFill/>
        </p:spPr>
        <p:txBody>
          <a:bodyPr wrap="square" lIns="0" rIns="0" tIns="0" bIns="0" anchor="ctr">
            <a:spAutoFit/>
          </a:bodyPr>
          <a:lstStyle/>
          <a:p>
            <a:pPr>
              <a:lnSpc>
                <a:spcPct val="120000"/>
              </a:lnSpc>
              <a:spcBef>
                <a:spcPts val="0"/>
              </a:spcBef>
              <a:spcAft>
                <a:spcPts val="0"/>
              </a:spcAft>
            </a:pPr>
            <a:r>
              <a:rPr sz="1050" b="0" i="0">
                <a:solidFill>
                  <a:srgbClr val="A5B2C4"/>
                </a:solidFill>
                <a:latin typeface="Segoe UI"/>
              </a:rPr>
              <a:t>Every step is </a:t>
            </a:r>
            <a:r>
              <a:rPr sz="1050" b="1" i="0">
                <a:solidFill>
                  <a:srgbClr val="E7EDF4"/>
                </a:solidFill>
                <a:latin typeface="Segoe UI"/>
              </a:rPr>
              <a:t>monotonic</a:t>
            </a:r>
            <a:r>
              <a:rPr sz="1050" b="0" i="0">
                <a:solidFill>
                  <a:srgbClr val="A5B2C4"/>
                </a:solidFill>
                <a:latin typeface="Segoe UI"/>
              </a:rPr>
              <a:t>, and correctness is held constant </a:t>
            </a:r>
            <a:r>
              <a:rPr sz="1050" b="1" i="0">
                <a:solidFill>
                  <a:srgbClr val="E7EDF4"/>
                </a:solidFill>
                <a:latin typeface="Segoe UI"/>
              </a:rPr>
              <a:t>throughout</a:t>
            </a:r>
            <a:r>
              <a:rPr sz="1050" b="0" i="0">
                <a:solidFill>
                  <a:srgbClr val="A5B2C4"/>
                </a:solidFill>
                <a:latin typeface="Segoe UI"/>
              </a:rPr>
              <a:t>: 0.004 % against the CPU baseline; against the CPU twin that isolates the port, </a:t>
            </a:r>
            <a:r>
              <a:rPr sz="1050" b="1" i="0">
                <a:solidFill>
                  <a:srgbClr val="E7EDF4"/>
                </a:solidFill>
                <a:latin typeface="Segoe UI"/>
              </a:rPr>
              <a:t>exact on the f64 pedestal</a:t>
            </a:r>
            <a:r>
              <a:rPr sz="1050" b="0" i="0">
                <a:solidFill>
                  <a:srgbClr val="A5B2C4"/>
                </a:solidFill>
                <a:latin typeface="Segoe UI"/>
              </a:rPr>
              <a:t> and </a:t>
            </a:r>
            <a:r>
              <a:rPr sz="1050" b="1" i="0">
                <a:solidFill>
                  <a:srgbClr val="E7EDF4"/>
                </a:solidFill>
                <a:latin typeface="Segoe UI"/>
              </a:rPr>
              <a:t>6 clusters in 23 M</a:t>
            </a:r>
            <a:r>
              <a:rPr sz="1050" b="0" i="0">
                <a:solidFill>
                  <a:srgbClr val="A5B2C4"/>
                </a:solidFill>
                <a:latin typeface="Segoe UI"/>
              </a:rPr>
              <a:t> on the shipped f32 (slides 27–30).</a:t>
            </a:r>
          </a:p>
        </p:txBody>
      </p:sp>
      <p:sp>
        <p:nvSpPr>
          <p:cNvPr id="47" name="TextBox 46"/>
          <p:cNvSpPr txBox="1"/>
          <p:nvPr/>
        </p:nvSpPr>
        <p:spPr>
          <a:xfrm>
            <a:off x="640080" y="6053328"/>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3×3 clusters · nσ = 5 · 100 000 frames · batch 2 000 · 4 streams · 5 reps · warm = best of reps 1–4 (collect() does not converge, it oscillates between allocator states) · each step in its own process · CPU baseline = ClusterFinderMT at its best thread count, 24 here, first pass only.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RESULTS · 9×9</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×26.5 at 9×9, and opt7 hands the floor to D2H</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23 / 33</a:t>
            </a:r>
          </a:p>
        </p:txBody>
      </p:sp>
      <p:pic>
        <p:nvPicPr>
          <p:cNvPr id="40" name="Picture 39" descr="fig_arc_9x9.png"/>
          <p:cNvPicPr>
            <a:picLocks noChangeAspect="1"/>
          </p:cNvPicPr>
          <p:nvPr/>
        </p:nvPicPr>
        <p:blipFill>
          <a:blip r:embed="rId2"/>
          <a:stretch>
            <a:fillRect/>
          </a:stretch>
        </p:blipFill>
        <p:spPr>
          <a:xfrm>
            <a:off x="1783080" y="1719072"/>
            <a:ext cx="8595360" cy="3506802"/>
          </a:xfrm>
          <a:prstGeom prst="rect">
            <a:avLst/>
          </a:prstGeom>
        </p:spPr>
      </p:pic>
      <p:sp>
        <p:nvSpPr>
          <p:cNvPr id="41" name="Rectangle 40"/>
          <p:cNvSpPr/>
          <p:nvPr/>
        </p:nvSpPr>
        <p:spPr>
          <a:xfrm>
            <a:off x="681228" y="5303520"/>
            <a:ext cx="5308092" cy="73152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40080" y="5303520"/>
            <a:ext cx="41148" cy="73152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96112" y="5394959"/>
            <a:ext cx="4892040" cy="548640"/>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×26.5 over 32 CPU threads</a:t>
            </a:r>
            <a:r>
              <a:rPr sz="1050" b="0" i="0">
                <a:solidFill>
                  <a:srgbClr val="A5B2C4"/>
                </a:solidFill>
                <a:latin typeface="Segoe UI"/>
              </a:rPr>
              <a:t>; the kernel is the tallest bar for the whole f64 arm, and opt7's −40 % drops it </a:t>
            </a:r>
            <a:r>
              <a:rPr sz="1050" b="1" i="0">
                <a:solidFill>
                  <a:srgbClr val="E7EDF4"/>
                </a:solidFill>
                <a:latin typeface="Segoe UI"/>
              </a:rPr>
              <a:t>below D2H</a:t>
            </a:r>
            <a:r>
              <a:rPr sz="1050" b="0" i="0">
                <a:solidFill>
                  <a:srgbClr val="A5B2C4"/>
                </a:solidFill>
                <a:latin typeface="Segoe UI"/>
              </a:rPr>
              <a:t>.</a:t>
            </a:r>
          </a:p>
        </p:txBody>
      </p:sp>
      <p:sp>
        <p:nvSpPr>
          <p:cNvPr id="44" name="Rectangle 43"/>
          <p:cNvSpPr/>
          <p:nvPr/>
        </p:nvSpPr>
        <p:spPr>
          <a:xfrm>
            <a:off x="6213348" y="5303520"/>
            <a:ext cx="5308092" cy="73152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172200" y="5303520"/>
            <a:ext cx="41148" cy="731520"/>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28232" y="5394959"/>
            <a:ext cx="4892040" cy="548640"/>
          </a:xfrm>
          <a:prstGeom prst="rect">
            <a:avLst/>
          </a:prstGeom>
          <a:noFill/>
        </p:spPr>
        <p:txBody>
          <a:bodyPr wrap="square" lIns="0" rIns="0" tIns="0" bIns="0" anchor="ctr">
            <a:spAutoFit/>
          </a:bodyPr>
          <a:lstStyle/>
          <a:p>
            <a:pPr>
              <a:lnSpc>
                <a:spcPct val="120000"/>
              </a:lnSpc>
              <a:spcBef>
                <a:spcPts val="0"/>
              </a:spcBef>
              <a:spcAft>
                <a:spcPts val="0"/>
              </a:spcAft>
            </a:pPr>
            <a:r>
              <a:rPr sz="1050" b="0" i="0">
                <a:solidFill>
                  <a:srgbClr val="A5B2C4"/>
                </a:solidFill>
                <a:latin typeface="Segoe UI"/>
              </a:rPr>
              <a:t>opt4 buys </a:t>
            </a:r>
            <a:r>
              <a:rPr sz="1050" b="1" i="0">
                <a:solidFill>
                  <a:srgbClr val="E7EDF4"/>
                </a:solidFill>
                <a:latin typeface="Segoe UI"/>
              </a:rPr>
              <a:t>×1.03</a:t>
            </a:r>
            <a:r>
              <a:rPr sz="1050" b="0" i="0">
                <a:solidFill>
                  <a:srgbClr val="A5B2C4"/>
                </a:solidFill>
                <a:latin typeface="Segoe UI"/>
              </a:rPr>
              <a:t> here and </a:t>
            </a:r>
            <a:r>
              <a:rPr sz="1050" b="1" i="0">
                <a:solidFill>
                  <a:srgbClr val="E7EDF4"/>
                </a:solidFill>
                <a:latin typeface="Segoe UI"/>
              </a:rPr>
              <a:t>×1.32</a:t>
            </a:r>
            <a:r>
              <a:rPr sz="1050" b="0" i="0">
                <a:solidFill>
                  <a:srgbClr val="A5B2C4"/>
                </a:solidFill>
                <a:latin typeface="Segoe UI"/>
              </a:rPr>
              <a:t> at 3×3. Same code, opposite regimes, the rule, twice.</a:t>
            </a:r>
          </a:p>
        </p:txBody>
      </p:sp>
      <p:sp>
        <p:nvSpPr>
          <p:cNvPr id="47" name="TextBox 46"/>
          <p:cNvSpPr txBox="1"/>
          <p:nvPr/>
        </p:nvSpPr>
        <p:spPr>
          <a:xfrm>
            <a:off x="640080" y="6053328"/>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9×9 · cap 1 700 (lossless; 1 500 truncated 0.0095 % of clusters) · 20 000 frames · opt1/opt2 are 3×3-only · CPU baseline ClusterFinderMT at 32 threads. The floor is the lower of the nsys estimate and the best sustained rate; both arms are sustained-bound, corroborated to 8.8 % (f64) and 0.4 % (f32). Why the arms differ: 544.5 kB of D2H costs 25.2 µs on both [s4], hidden under the 32.7 µs f64 kernel, not under the 23.9 µs f32 one.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WHERE THE TIME ACTUALLY WENT</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 host bar dies first, then the floor itself drops</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24 / 33</a:t>
            </a:r>
          </a:p>
        </p:txBody>
      </p:sp>
      <p:pic>
        <p:nvPicPr>
          <p:cNvPr id="40" name="Picture 39" descr="fig_overhead.png"/>
          <p:cNvPicPr>
            <a:picLocks noChangeAspect="1"/>
          </p:cNvPicPr>
          <p:nvPr/>
        </p:nvPicPr>
        <p:blipFill>
          <a:blip r:embed="rId2"/>
          <a:stretch>
            <a:fillRect/>
          </a:stretch>
        </p:blipFill>
        <p:spPr>
          <a:xfrm>
            <a:off x="1783080" y="1783080"/>
            <a:ext cx="8595360" cy="2853828"/>
          </a:xfrm>
          <a:prstGeom prst="rect">
            <a:avLst/>
          </a:prstGeom>
        </p:spPr>
      </p:pic>
      <p:sp>
        <p:nvSpPr>
          <p:cNvPr id="41" name="Rectangle 40"/>
          <p:cNvSpPr/>
          <p:nvPr/>
        </p:nvSpPr>
        <p:spPr>
          <a:xfrm>
            <a:off x="681228" y="4846320"/>
            <a:ext cx="5308092" cy="78638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40080" y="4846320"/>
            <a:ext cx="41148" cy="78638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96112" y="4937759"/>
            <a:ext cx="4892040" cy="603503"/>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Acts I and II never touch the arithmetic.</a:t>
            </a:r>
            <a:r>
              <a:rPr sz="1050" b="0" i="0">
                <a:solidFill>
                  <a:srgbClr val="A5B2C4"/>
                </a:solidFill>
                <a:latin typeface="Segoe UI"/>
              </a:rPr>
              <a:t> The GPU floor is a flat 16.2 µs at 3×3 / 30.0 µs at 9×9; what collapses is everything stacked on it.</a:t>
            </a:r>
          </a:p>
        </p:txBody>
      </p:sp>
      <p:sp>
        <p:nvSpPr>
          <p:cNvPr id="44" name="Rectangle 43"/>
          <p:cNvSpPr/>
          <p:nvPr/>
        </p:nvSpPr>
        <p:spPr>
          <a:xfrm>
            <a:off x="6213348" y="4846320"/>
            <a:ext cx="5308092" cy="78638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172200" y="4846320"/>
            <a:ext cx="41148" cy="78638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28232" y="4937759"/>
            <a:ext cx="4892040" cy="603503"/>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Act III is the only step that lowers the floor itself</a:t>
            </a:r>
            <a:r>
              <a:rPr sz="1050" b="0" i="0">
                <a:solidFill>
                  <a:srgbClr val="A5B2C4"/>
                </a:solidFill>
                <a:latin typeface="Segoe UI"/>
              </a:rPr>
              <a:t>, and it could not have been seen until the stack above it was gone.</a:t>
            </a:r>
          </a:p>
        </p:txBody>
      </p:sp>
      <p:sp>
        <p:nvSpPr>
          <p:cNvPr id="47" name="TextBox 46"/>
          <p:cNvSpPr txBox="1"/>
          <p:nvPr/>
        </p:nvSpPr>
        <p:spPr>
          <a:xfrm>
            <a:off x="640080" y="5897880"/>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Blue/white/amber = the GPU floor for that act's build: the LOWER of the s4 engine max (max of H2D, kernel, D2H; PCIe is full duplex, so never the sum) and the best sustained rate. At 3×3 the engine max sets it, 16.17 µs; at 9×9 f64 the sustained rate does, 30.01 against a 32.66 µs max. Grey = everything the host adds on top. At 9×9 the host contributes +50 µs at opt3 and nothing at opt6.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BEHIND THE NUMBERS · THE ARTEFACT THAT DOMINATES</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A GPU benchmark mostly measures the operating system</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25 / 33</a:t>
            </a:r>
          </a:p>
        </p:txBody>
      </p:sp>
      <p:sp>
        <p:nvSpPr>
          <p:cNvPr id="40" name="TextBox 39"/>
          <p:cNvSpPr txBox="1"/>
          <p:nvPr/>
        </p:nvSpPr>
        <p:spPr>
          <a:xfrm>
            <a:off x="640080" y="1737360"/>
            <a:ext cx="722376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Every run that keeps its results materialises </a:t>
            </a:r>
            <a:r>
              <a:rPr sz="1050" b="1" i="0">
                <a:solidFill>
                  <a:srgbClr val="E7EDF4"/>
                </a:solidFill>
                <a:latin typeface="Segoe UI"/>
              </a:rPr>
              <a:t>~10 GB of clusters</a:t>
            </a:r>
            <a:r>
              <a:rPr sz="1050" b="0" i="0">
                <a:solidFill>
                  <a:srgbClr val="A5B2C4"/>
                </a:solidFill>
                <a:latin typeface="Segoe UI"/>
              </a:rPr>
              <a:t>. The first pass </a:t>
            </a:r>
            <a:r>
              <a:rPr sz="1050" b="1" i="0">
                <a:solidFill>
                  <a:srgbClr val="E7EDF4"/>
                </a:solidFill>
                <a:latin typeface="Segoe UI"/>
              </a:rPr>
              <a:t>faults in ~2.6 M pages</a:t>
            </a:r>
            <a:r>
              <a:rPr sz="1050" b="0" i="0">
                <a:solidFill>
                  <a:srgbClr val="A5B2C4"/>
                </a:solidFill>
                <a:latin typeface="Segoe UI"/>
              </a:rPr>
              <a:t>, and each fault costs the kernel a page it must find and </a:t>
            </a:r>
            <a:r>
              <a:rPr sz="1050" b="1" i="0">
                <a:solidFill>
                  <a:srgbClr val="E7EDF4"/>
                </a:solidFill>
                <a:latin typeface="Segoe UI"/>
              </a:rPr>
              <a:t>zero</a:t>
            </a:r>
            <a:r>
              <a:rPr sz="1050" b="0" i="0">
                <a:solidFill>
                  <a:srgbClr val="A5B2C4"/>
                </a:solidFill>
                <a:latin typeface="Segoe UI"/>
              </a:rPr>
              <a:t> before the write can proceed.</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At </a:t>
            </a:r>
            <a:r>
              <a:rPr sz="1050" b="1" i="0">
                <a:solidFill>
                  <a:srgbClr val="E7EDF4"/>
                </a:solidFill>
                <a:latin typeface="Segoe UI"/>
              </a:rPr>
              <a:t>0.7 µs a fault</a:t>
            </a:r>
            <a:r>
              <a:rPr sz="1050" b="0" i="0">
                <a:solidFill>
                  <a:srgbClr val="A5B2C4"/>
                </a:solidFill>
                <a:latin typeface="Segoe UI"/>
              </a:rPr>
              <a:t>, that is up to </a:t>
            </a:r>
            <a:r>
              <a:rPr sz="1050" b="1" i="0">
                <a:solidFill>
                  <a:srgbClr val="E7EDF4"/>
                </a:solidFill>
                <a:latin typeface="Segoe UI"/>
              </a:rPr>
              <a:t>4 seconds of pure OS work inside the timer</a:t>
            </a:r>
            <a:r>
              <a:rPr sz="1050" b="0" i="0">
                <a:solidFill>
                  <a:srgbClr val="A5B2C4"/>
                </a:solidFill>
                <a:latin typeface="Segoe UI"/>
              </a:rPr>
              <a:t> — on a run whose GPU work is under 2 seconds. Nothing about the GPU changed; kernel time is constant across every one of these runs. Nor is it a warm-up you can wave away: it is what a </a:t>
            </a:r>
            <a:r>
              <a:rPr sz="1050" b="1" i="0">
                <a:solidFill>
                  <a:srgbClr val="E7EDF4"/>
                </a:solidFill>
                <a:latin typeface="Segoe UI"/>
              </a:rPr>
              <a:t>user's first run</a:t>
            </a:r>
            <a:r>
              <a:rPr sz="1050" b="0" i="0">
                <a:solidFill>
                  <a:srgbClr val="A5B2C4"/>
                </a:solidFill>
                <a:latin typeface="Segoe UI"/>
              </a:rPr>
              <a:t> looks like, which is the next slide.</a:t>
            </a:r>
          </a:p>
        </p:txBody>
      </p:sp>
      <p:sp>
        <p:nvSpPr>
          <p:cNvPr id="41" name="Rounded Rectangle 40"/>
          <p:cNvSpPr/>
          <p:nvPr/>
        </p:nvSpPr>
        <p:spPr>
          <a:xfrm>
            <a:off x="640080" y="3438144"/>
            <a:ext cx="7223760" cy="1011692"/>
          </a:xfrm>
          <a:prstGeom prst="round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04671" y="3547872"/>
            <a:ext cx="6894576" cy="182880"/>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THE PROTOCOL · python/tests/ClusterFinderCUDA_perf.ipynb</a:t>
            </a:r>
          </a:p>
        </p:txBody>
      </p:sp>
      <p:sp>
        <p:nvSpPr>
          <p:cNvPr id="43" name="TextBox 42"/>
          <p:cNvSpPr txBox="1"/>
          <p:nvPr/>
        </p:nvSpPr>
        <p:spPr>
          <a:xfrm>
            <a:off x="804671" y="3767328"/>
            <a:ext cx="6894576" cy="792236"/>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6B7A90"/>
                </a:solidFill>
                <a:latin typeface="Consolas"/>
              </a:rPr>
              <a:t># every timed cell in the benchmark notebook is bracketed with:</a:t>
            </a:r>
          </a:p>
          <a:p>
            <a:pPr>
              <a:lnSpc>
                <a:spcPct val="112000"/>
              </a:lnSpc>
              <a:spcBef>
                <a:spcPts val="0"/>
              </a:spcBef>
              <a:spcAft>
                <a:spcPts val="0"/>
              </a:spcAft>
            </a:pPr>
            <a:r>
              <a:rPr sz="900" b="0" i="0">
                <a:solidFill>
                  <a:srgbClr val="A5B2C4"/>
                </a:solidFill>
                <a:latin typeface="Consolas"/>
              </a:rPr>
              <a:t>mf0 = resource.getrusage(resource.RUSAGE_SELF).ru_minflt</a:t>
            </a:r>
          </a:p>
          <a:p>
            <a:pPr>
              <a:lnSpc>
                <a:spcPct val="112000"/>
              </a:lnSpc>
              <a:spcBef>
                <a:spcPts val="0"/>
              </a:spcBef>
              <a:spcAft>
                <a:spcPts val="0"/>
              </a:spcAft>
            </a:pPr>
            <a:r>
              <a:rPr sz="900" b="0" i="0">
                <a:solidFill>
                  <a:srgbClr val="A5B2C4"/>
                </a:solidFill>
                <a:latin typeface="Consolas"/>
              </a:rPr>
              <a:t>...   t = time.perf_counter() - t0   ...</a:t>
            </a:r>
          </a:p>
          <a:p>
            <a:pPr>
              <a:lnSpc>
                <a:spcPct val="112000"/>
              </a:lnSpc>
              <a:spcBef>
                <a:spcPts val="0"/>
              </a:spcBef>
              <a:spcAft>
                <a:spcPts val="0"/>
              </a:spcAft>
            </a:pPr>
            <a:r>
              <a:rPr sz="900" b="0" i="0">
                <a:solidFill>
                  <a:srgbClr val="A5B2C4"/>
                </a:solidFill>
                <a:latin typeface="Consolas"/>
              </a:rPr>
              <a:t>print(f'minor faults: {mf1-mf0:,}')   # quote the run where this plateaus</a:t>
            </a:r>
          </a:p>
        </p:txBody>
      </p:sp>
      <p:sp>
        <p:nvSpPr>
          <p:cNvPr id="44" name="Rectangle 43"/>
          <p:cNvSpPr/>
          <p:nvPr/>
        </p:nvSpPr>
        <p:spPr>
          <a:xfrm>
            <a:off x="681228" y="4663440"/>
            <a:ext cx="7182612" cy="78638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40080" y="4663440"/>
            <a:ext cx="41148" cy="78638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6112" y="4754879"/>
            <a:ext cx="6766560" cy="603503"/>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The protocol: re-run until getrusage() minor faults plateau</a:t>
            </a:r>
            <a:r>
              <a:rPr sz="1050" b="0" i="0">
                <a:solidFill>
                  <a:srgbClr val="A5B2C4"/>
                </a:solidFill>
                <a:latin typeface="Segoe UI"/>
              </a:rPr>
              <a:t> (&lt; 200 k), and quote that run. Validated: </a:t>
            </a:r>
            <a:r>
              <a:rPr sz="1050" b="1" i="0">
                <a:solidFill>
                  <a:srgbClr val="E7EDF4"/>
                </a:solidFill>
                <a:latin typeface="Segoe UI"/>
              </a:rPr>
              <a:t>wall = steady-state + faults × 0.68 µs</a:t>
            </a:r>
            <a:r>
              <a:rPr sz="1050" b="0" i="0">
                <a:solidFill>
                  <a:srgbClr val="A5B2C4"/>
                </a:solidFill>
                <a:latin typeface="Segoe UI"/>
              </a:rPr>
              <a:t> reproduced a 6.110 s run to within </a:t>
            </a:r>
            <a:r>
              <a:rPr sz="1050" b="1" i="0">
                <a:solidFill>
                  <a:srgbClr val="E7EDF4"/>
                </a:solidFill>
                <a:latin typeface="Segoe UI"/>
              </a:rPr>
              <a:t>1 ms</a:t>
            </a:r>
            <a:r>
              <a:rPr sz="1050" b="0" i="0">
                <a:solidFill>
                  <a:srgbClr val="A5B2C4"/>
                </a:solidFill>
                <a:latin typeface="Segoe UI"/>
              </a:rPr>
              <a:t>.</a:t>
            </a:r>
          </a:p>
        </p:txBody>
      </p:sp>
      <p:sp>
        <p:nvSpPr>
          <p:cNvPr id="47" name="Rectangle 46"/>
          <p:cNvSpPr/>
          <p:nvPr/>
        </p:nvSpPr>
        <p:spPr>
          <a:xfrm>
            <a:off x="681228" y="5541264"/>
            <a:ext cx="7182612" cy="78638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40080" y="5541264"/>
            <a:ext cx="41148" cy="78638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96112" y="5632703"/>
            <a:ext cx="6766560" cy="603503"/>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Two instrument caveats, named and then set aside.</a:t>
            </a:r>
            <a:r>
              <a:rPr sz="1050" b="0" i="0">
                <a:solidFill>
                  <a:srgbClr val="A5B2C4"/>
                </a:solidFill>
                <a:latin typeface="Segoe UI"/>
              </a:rPr>
              <a:t> Under nsys, host-side CUDA API calls read ~4× high and wall time inflates with them, so every wall time in this deck comes from an </a:t>
            </a:r>
            <a:r>
              <a:rPr sz="1050" b="1" i="0">
                <a:solidFill>
                  <a:srgbClr val="E7EDF4"/>
                </a:solidFill>
                <a:latin typeface="Segoe UI"/>
              </a:rPr>
              <a:t>unprofiled</a:t>
            </a:r>
            <a:r>
              <a:rPr sz="1050" b="0" i="0">
                <a:solidFill>
                  <a:srgbClr val="A5B2C4"/>
                </a:solidFill>
                <a:latin typeface="Segoe UI"/>
              </a:rPr>
              <a:t> run and only GPU-side timestamps come from nsys. CUDA events measure a stream, not a kernel. Both worked through in </a:t>
            </a:r>
            <a:r>
              <a:rPr sz="1050" b="1" i="0">
                <a:solidFill>
                  <a:srgbClr val="E7EDF4"/>
                </a:solidFill>
                <a:latin typeface="Segoe UI"/>
              </a:rPr>
              <a:t>A6</a:t>
            </a:r>
            <a:r>
              <a:rPr sz="1050" b="0" i="0">
                <a:solidFill>
                  <a:srgbClr val="A5B2C4"/>
                </a:solidFill>
                <a:latin typeface="Segoe UI"/>
              </a:rPr>
              <a:t>.</a:t>
            </a:r>
          </a:p>
        </p:txBody>
      </p:sp>
      <p:sp>
        <p:nvSpPr>
          <p:cNvPr id="50" name="Rectangle 49"/>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ONE 100 000-FRAME PASS · 9×9</a:t>
            </a:r>
          </a:p>
        </p:txBody>
      </p:sp>
      <p:sp>
        <p:nvSpPr>
          <p:cNvPr id="52" name="TextBox 51"/>
          <p:cNvSpPr txBox="1"/>
          <p:nvPr/>
        </p:nvSpPr>
        <p:spPr>
          <a:xfrm>
            <a:off x="8412480" y="219456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PAGES FAULTED IN</a:t>
            </a:r>
          </a:p>
        </p:txBody>
      </p:sp>
      <p:sp>
        <p:nvSpPr>
          <p:cNvPr id="53" name="TextBox 52"/>
          <p:cNvSpPr txBox="1"/>
          <p:nvPr/>
        </p:nvSpPr>
        <p:spPr>
          <a:xfrm>
            <a:off x="8412480" y="2414016"/>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8B25C"/>
                </a:solidFill>
                <a:latin typeface="Segoe UI"/>
              </a:rPr>
              <a:t>~2.6 M</a:t>
            </a:r>
          </a:p>
        </p:txBody>
      </p:sp>
      <p:sp>
        <p:nvSpPr>
          <p:cNvPr id="54" name="TextBox 53"/>
          <p:cNvSpPr txBox="1"/>
          <p:nvPr/>
        </p:nvSpPr>
        <p:spPr>
          <a:xfrm>
            <a:off x="8412480" y="309067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COST INSIDE THE TIMER</a:t>
            </a:r>
          </a:p>
        </p:txBody>
      </p:sp>
      <p:sp>
        <p:nvSpPr>
          <p:cNvPr id="55" name="TextBox 54"/>
          <p:cNvSpPr txBox="1"/>
          <p:nvPr/>
        </p:nvSpPr>
        <p:spPr>
          <a:xfrm>
            <a:off x="8412480" y="3310128"/>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8B25C"/>
                </a:solidFill>
                <a:latin typeface="Segoe UI"/>
              </a:rPr>
              <a:t>up to 4 s</a:t>
            </a:r>
          </a:p>
        </p:txBody>
      </p:sp>
      <p:sp>
        <p:nvSpPr>
          <p:cNvPr id="56" name="TextBox 55"/>
          <p:cNvSpPr txBox="1"/>
          <p:nvPr/>
        </p:nvSpPr>
        <p:spPr>
          <a:xfrm>
            <a:off x="8412480" y="4059936"/>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COST PER FAULT, FITTED</a:t>
            </a:r>
          </a:p>
        </p:txBody>
      </p:sp>
      <p:sp>
        <p:nvSpPr>
          <p:cNvPr id="57" name="TextBox 56"/>
          <p:cNvSpPr txBox="1"/>
          <p:nvPr/>
        </p:nvSpPr>
        <p:spPr>
          <a:xfrm>
            <a:off x="8412480" y="4261104"/>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A5B2C4"/>
                </a:solidFill>
                <a:latin typeface="Segoe UI"/>
              </a:rPr>
              <a:t>0.68 µs</a:t>
            </a:r>
          </a:p>
        </p:txBody>
      </p:sp>
      <p:sp>
        <p:nvSpPr>
          <p:cNvPr id="58" name="TextBox 57"/>
          <p:cNvSpPr txBox="1"/>
          <p:nvPr/>
        </p:nvSpPr>
        <p:spPr>
          <a:xfrm>
            <a:off x="8412480" y="466344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MAJOR FAULTS, ALL CAMPAIGN</a:t>
            </a:r>
          </a:p>
        </p:txBody>
      </p:sp>
      <p:sp>
        <p:nvSpPr>
          <p:cNvPr id="59" name="TextBox 58"/>
          <p:cNvSpPr txBox="1"/>
          <p:nvPr/>
        </p:nvSpPr>
        <p:spPr>
          <a:xfrm>
            <a:off x="8412480" y="4864608"/>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0</a:t>
            </a:r>
          </a:p>
        </p:txBody>
      </p:sp>
      <p:sp>
        <p:nvSpPr>
          <p:cNvPr id="60" name="TextBox 59"/>
          <p:cNvSpPr txBox="1"/>
          <p:nvPr/>
        </p:nvSpPr>
        <p:spPr>
          <a:xfrm>
            <a:off x="8412480" y="5486400"/>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No disk is involved. A minor fault is the kernel finding a physical page and zeroing it, which is mandatory and cannot be avoided by copying faster. Only by not allocating, which is opt6.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BEHIND THE NUMBERS · WHAT A USER ACTUALLY GETS</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A first run loses a third of its throughput to page faults</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26 / 33</a:t>
            </a:r>
          </a:p>
        </p:txBody>
      </p:sp>
      <p:pic>
        <p:nvPicPr>
          <p:cNvPr id="40" name="Picture 39" descr="fig_first_run.png"/>
          <p:cNvPicPr>
            <a:picLocks noChangeAspect="1"/>
          </p:cNvPicPr>
          <p:nvPr/>
        </p:nvPicPr>
        <p:blipFill>
          <a:blip r:embed="rId2"/>
          <a:stretch>
            <a:fillRect/>
          </a:stretch>
        </p:blipFill>
        <p:spPr>
          <a:xfrm>
            <a:off x="1252728" y="1554480"/>
            <a:ext cx="9692640" cy="3846062"/>
          </a:xfrm>
          <a:prstGeom prst="rect">
            <a:avLst/>
          </a:prstGeom>
        </p:spPr>
      </p:pic>
      <p:sp>
        <p:nvSpPr>
          <p:cNvPr id="41" name="Rectangle 40"/>
          <p:cNvSpPr/>
          <p:nvPr/>
        </p:nvSpPr>
        <p:spPr>
          <a:xfrm>
            <a:off x="681228" y="5468112"/>
            <a:ext cx="5308092" cy="62179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40080" y="5468112"/>
            <a:ext cx="41148" cy="621792"/>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96112" y="5559552"/>
            <a:ext cx="4892040" cy="438912"/>
          </a:xfrm>
          <a:prstGeom prst="rect">
            <a:avLst/>
          </a:prstGeom>
          <a:noFill/>
        </p:spPr>
        <p:txBody>
          <a:bodyPr wrap="square" lIns="0" rIns="0" tIns="0" bIns="0" anchor="ctr">
            <a:spAutoFit/>
          </a:bodyPr>
          <a:lstStyle/>
          <a:p>
            <a:pPr>
              <a:lnSpc>
                <a:spcPct val="120000"/>
              </a:lnSpc>
              <a:spcBef>
                <a:spcPts val="0"/>
              </a:spcBef>
              <a:spcAft>
                <a:spcPts val="0"/>
              </a:spcAft>
            </a:pPr>
            <a:r>
              <a:rPr sz="950" b="1" i="0">
                <a:solidFill>
                  <a:srgbClr val="E7EDF4"/>
                </a:solidFill>
                <a:latin typeface="Segoe UI"/>
              </a:rPr>
              <a:t>Everything that materialises clusters loses a third of its throughput on the first run</a:t>
            </a:r>
            <a:r>
              <a:rPr sz="950" b="0" i="0">
                <a:solidFill>
                  <a:srgbClr val="A5B2C4"/>
                </a:solidFill>
                <a:latin typeface="Segoe UI"/>
              </a:rPr>
              <a:t>, +7 to +20 µs per frame, depending on how much of it the GPU can hide behind its own work.</a:t>
            </a:r>
          </a:p>
        </p:txBody>
      </p:sp>
      <p:sp>
        <p:nvSpPr>
          <p:cNvPr id="44" name="Rectangle 43"/>
          <p:cNvSpPr/>
          <p:nvPr/>
        </p:nvSpPr>
        <p:spPr>
          <a:xfrm>
            <a:off x="6213348" y="5468112"/>
            <a:ext cx="5308092" cy="62179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172200" y="5468112"/>
            <a:ext cx="41148" cy="621792"/>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28232" y="5559552"/>
            <a:ext cx="4892040" cy="438912"/>
          </a:xfrm>
          <a:prstGeom prst="rect">
            <a:avLst/>
          </a:prstGeom>
          <a:noFill/>
        </p:spPr>
        <p:txBody>
          <a:bodyPr wrap="square" lIns="0" rIns="0" tIns="0" bIns="0" anchor="ctr">
            <a:spAutoFit/>
          </a:bodyPr>
          <a:lstStyle/>
          <a:p>
            <a:pPr>
              <a:lnSpc>
                <a:spcPct val="120000"/>
              </a:lnSpc>
              <a:spcBef>
                <a:spcPts val="0"/>
              </a:spcBef>
              <a:spcAft>
                <a:spcPts val="0"/>
              </a:spcAft>
            </a:pPr>
            <a:r>
              <a:rPr sz="950" b="1" i="0">
                <a:solidFill>
                  <a:srgbClr val="E7EDF4"/>
                </a:solidFill>
                <a:latin typeface="Segoe UI"/>
              </a:rPr>
              <a:t>Only the two ends escape, for opposite reasons.</a:t>
            </a:r>
            <a:r>
              <a:rPr sz="950" b="0" i="0">
                <a:solidFill>
                  <a:srgbClr val="A5B2C4"/>
                </a:solidFill>
                <a:latin typeface="Segoe UI"/>
              </a:rPr>
              <a:t> opt1 never grows the heap: it discards each frame. opt6 never needs one, and reaches </a:t>
            </a:r>
            <a:r>
              <a:rPr sz="950" b="1" i="0">
                <a:solidFill>
                  <a:srgbClr val="E7EDF4"/>
                </a:solidFill>
                <a:latin typeface="Segoe UI"/>
              </a:rPr>
              <a:t>98 % of its peak on a cold process</a:t>
            </a:r>
            <a:r>
              <a:rPr sz="950" b="0" i="0">
                <a:solidFill>
                  <a:srgbClr val="A5B2C4"/>
                </a:solidFill>
                <a:latin typeface="Segoe UI"/>
              </a:rPr>
              <a:t>.</a:t>
            </a:r>
          </a:p>
        </p:txBody>
      </p:sp>
      <p:sp>
        <p:nvSpPr>
          <p:cNvPr id="47" name="TextBox 46"/>
          <p:cNvSpPr txBox="1"/>
          <p:nvPr/>
        </p:nvSpPr>
        <p:spPr>
          <a:xfrm>
            <a:off x="640080" y="6181344"/>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Single pass, one process, every ClusterVector retained, python/tests/ClusterFinderCUDA_perf.ipynb, f32, the same 100 000 frames. Not the campaign's "cold" rep, which discards results and so never grows the heap. Repeat the run and the amber bars climb onto the blue ones; opt1 and opt6 never move, because neither ever paid.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389888"/>
            <a:ext cx="5303520" cy="274320"/>
          </a:xfrm>
          <a:prstGeom prst="rect">
            <a:avLst/>
          </a:prstGeom>
          <a:noFill/>
        </p:spPr>
        <p:txBody>
          <a:bodyPr wrap="square" lIns="0" rIns="0" tIns="0" bIns="0" anchor="t">
            <a:spAutoFit/>
          </a:bodyPr>
          <a:lstStyle/>
          <a:p>
            <a:pPr>
              <a:spcBef>
                <a:spcPts val="0"/>
              </a:spcBef>
              <a:spcAft>
                <a:spcPts val="0"/>
              </a:spcAft>
            </a:pPr>
            <a:r>
              <a:rPr sz="950" b="1" i="0" spc="180">
                <a:solidFill>
                  <a:srgbClr val="6B7A90"/>
                </a:solidFill>
                <a:latin typeface="Segoe UI"/>
              </a:rPr>
              <a:t>VALIDATION · DOES IT FIND THE SAME PHOTONS</a:t>
            </a:r>
          </a:p>
        </p:txBody>
      </p:sp>
      <p:sp>
        <p:nvSpPr>
          <p:cNvPr id="5" name="TextBox 4"/>
          <p:cNvSpPr txBox="1"/>
          <p:nvPr/>
        </p:nvSpPr>
        <p:spPr>
          <a:xfrm>
            <a:off x="914400" y="1737360"/>
            <a:ext cx="5486400" cy="1234440"/>
          </a:xfrm>
          <a:prstGeom prst="rect">
            <a:avLst/>
          </a:prstGeom>
          <a:noFill/>
        </p:spPr>
        <p:txBody>
          <a:bodyPr wrap="square" lIns="0" rIns="0" tIns="0" bIns="0" anchor="t">
            <a:spAutoFit/>
          </a:bodyPr>
          <a:lstStyle/>
          <a:p>
            <a:pPr>
              <a:lnSpc>
                <a:spcPct val="103000"/>
              </a:lnSpc>
              <a:spcBef>
                <a:spcPts val="0"/>
              </a:spcBef>
              <a:spcAft>
                <a:spcPts val="0"/>
              </a:spcAft>
            </a:pPr>
            <a:r>
              <a:rPr sz="2400" b="1" i="0">
                <a:solidFill>
                  <a:srgbClr val="E7EDF4"/>
                </a:solidFill>
                <a:latin typeface="Segoe UI"/>
              </a:rPr>
              <a:t>Every number so far assumed the answers are identical</a:t>
            </a:r>
          </a:p>
        </p:txBody>
      </p:sp>
      <p:sp>
        <p:nvSpPr>
          <p:cNvPr id="6" name="Rectangle 5"/>
          <p:cNvSpPr/>
          <p:nvPr/>
        </p:nvSpPr>
        <p:spPr>
          <a:xfrm>
            <a:off x="914400" y="3127248"/>
            <a:ext cx="1371600" cy="27432"/>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383280"/>
            <a:ext cx="5212080" cy="1463040"/>
          </a:xfrm>
          <a:prstGeom prst="rect">
            <a:avLst/>
          </a:prstGeom>
          <a:noFill/>
        </p:spPr>
        <p:txBody>
          <a:bodyPr wrap="square" lIns="0" rIns="0" tIns="0" bIns="0" anchor="t">
            <a:spAutoFit/>
          </a:bodyPr>
          <a:lstStyle/>
          <a:p>
            <a:pPr>
              <a:lnSpc>
                <a:spcPct val="140000"/>
              </a:lnSpc>
              <a:spcBef>
                <a:spcPts val="0"/>
              </a:spcBef>
              <a:spcAft>
                <a:spcPts val="0"/>
              </a:spcAft>
            </a:pPr>
            <a:r>
              <a:rPr sz="1350" b="0" i="0">
                <a:solidFill>
                  <a:srgbClr val="A5B2C4"/>
                </a:solidFill>
                <a:latin typeface="Segoe UI"/>
              </a:rPr>
              <a:t>Whether the CUDA finder returns the same clusters as the CPU.</a:t>
            </a:r>
          </a:p>
        </p:txBody>
      </p:sp>
      <p:sp>
        <p:nvSpPr>
          <p:cNvPr id="8" name="Rectangle 7"/>
          <p:cNvSpPr/>
          <p:nvPr/>
        </p:nvSpPr>
        <p:spPr>
          <a:xfrm>
            <a:off x="914400" y="5074920"/>
            <a:ext cx="5212080" cy="10241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14400" y="5074920"/>
            <a:ext cx="32004" cy="102412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19" y="5230368"/>
            <a:ext cx="4754880" cy="219456"/>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ESTABLISHED</a:t>
            </a:r>
          </a:p>
        </p:txBody>
      </p:sp>
      <p:sp>
        <p:nvSpPr>
          <p:cNvPr id="11" name="TextBox 10"/>
          <p:cNvSpPr txBox="1"/>
          <p:nvPr/>
        </p:nvSpPr>
        <p:spPr>
          <a:xfrm>
            <a:off x="1188719" y="5431536"/>
            <a:ext cx="4754880" cy="365760"/>
          </a:xfrm>
          <a:prstGeom prst="rect">
            <a:avLst/>
          </a:prstGeom>
          <a:noFill/>
        </p:spPr>
        <p:txBody>
          <a:bodyPr wrap="square" lIns="0" rIns="0" tIns="0" bIns="0" anchor="t">
            <a:spAutoFit/>
          </a:bodyPr>
          <a:lstStyle/>
          <a:p>
            <a:pPr>
              <a:spcBef>
                <a:spcPts val="0"/>
              </a:spcBef>
              <a:spcAft>
                <a:spcPts val="0"/>
              </a:spcAft>
            </a:pPr>
            <a:r>
              <a:rPr sz="2400" b="1" i="0">
                <a:solidFill>
                  <a:srgbClr val="E7EDF4"/>
                </a:solidFill>
                <a:latin typeface="Segoe UI"/>
              </a:rPr>
              <a:t>×9.1 and ×26.5</a:t>
            </a:r>
          </a:p>
        </p:txBody>
      </p:sp>
      <p:sp>
        <p:nvSpPr>
          <p:cNvPr id="12" name="TextBox 11"/>
          <p:cNvSpPr txBox="1"/>
          <p:nvPr/>
        </p:nvSpPr>
        <p:spPr>
          <a:xfrm>
            <a:off x="1188719" y="5852160"/>
            <a:ext cx="4754880" cy="219456"/>
          </a:xfrm>
          <a:prstGeom prst="rect">
            <a:avLst/>
          </a:prstGeom>
          <a:noFill/>
        </p:spPr>
        <p:txBody>
          <a:bodyPr wrap="square" lIns="0" rIns="0" tIns="0" bIns="0" anchor="t">
            <a:spAutoFit/>
          </a:bodyPr>
          <a:lstStyle/>
          <a:p>
            <a:pPr>
              <a:spcBef>
                <a:spcPts val="0"/>
              </a:spcBef>
              <a:spcAft>
                <a:spcPts val="0"/>
              </a:spcAft>
            </a:pPr>
            <a:r>
              <a:rPr sz="950" b="0" i="0">
                <a:solidFill>
                  <a:srgbClr val="6B7A90"/>
                </a:solidFill>
                <a:latin typeface="Segoe UI"/>
              </a:rPr>
              <a:t>on the hardware floor at both cluster sizes, if the physics holds</a:t>
            </a:r>
          </a:p>
        </p:txBody>
      </p:sp>
      <p:sp>
        <p:nvSpPr>
          <p:cNvPr id="13" name="Rectangle 12"/>
          <p:cNvSpPr/>
          <p:nvPr/>
        </p:nvSpPr>
        <p:spPr>
          <a:xfrm>
            <a:off x="6537960" y="1783080"/>
            <a:ext cx="10972" cy="402336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12280" y="2423160"/>
            <a:ext cx="4572000" cy="237744"/>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COMING UP</a:t>
            </a:r>
          </a:p>
        </p:txBody>
      </p:sp>
      <p:sp>
        <p:nvSpPr>
          <p:cNvPr id="15" name="TextBox 14"/>
          <p:cNvSpPr txBox="1"/>
          <p:nvPr/>
        </p:nvSpPr>
        <p:spPr>
          <a:xfrm>
            <a:off x="6812280" y="2807208"/>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7EDF4"/>
                </a:solidFill>
                <a:latin typeface="Consolas"/>
              </a:rPr>
              <a:t>27–28</a:t>
            </a:r>
          </a:p>
        </p:txBody>
      </p:sp>
      <p:sp>
        <p:nvSpPr>
          <p:cNvPr id="16" name="TextBox 15"/>
          <p:cNvSpPr txBox="1"/>
          <p:nvPr/>
        </p:nvSpPr>
        <p:spPr>
          <a:xfrm>
            <a:off x="7452360" y="2807208"/>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The fair comparison</a:t>
            </a:r>
          </a:p>
        </p:txBody>
      </p:sp>
      <p:sp>
        <p:nvSpPr>
          <p:cNvPr id="17" name="TextBox 16"/>
          <p:cNvSpPr txBox="1"/>
          <p:nvPr/>
        </p:nvSpPr>
        <p:spPr>
          <a:xfrm>
            <a:off x="6812280" y="3300984"/>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7EDF4"/>
                </a:solidFill>
                <a:latin typeface="Consolas"/>
              </a:rPr>
              <a:t>29–30</a:t>
            </a:r>
          </a:p>
        </p:txBody>
      </p:sp>
      <p:sp>
        <p:nvSpPr>
          <p:cNvPr id="18" name="TextBox 17"/>
          <p:cNvSpPr txBox="1"/>
          <p:nvPr/>
        </p:nvSpPr>
        <p:spPr>
          <a:xfrm>
            <a:off x="7452360" y="3300984"/>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The residual, dissected</a:t>
            </a:r>
          </a:p>
        </p:txBody>
      </p:sp>
      <p:sp>
        <p:nvSpPr>
          <p:cNvPr id="19" name="TextBox 18"/>
          <p:cNvSpPr txBox="1"/>
          <p:nvPr/>
        </p:nvSpPr>
        <p:spPr>
          <a:xfrm>
            <a:off x="6812280" y="3794760"/>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7EDF4"/>
                </a:solidFill>
                <a:latin typeface="Consolas"/>
              </a:rPr>
              <a:t>31–32</a:t>
            </a:r>
          </a:p>
        </p:txBody>
      </p:sp>
      <p:sp>
        <p:nvSpPr>
          <p:cNvPr id="20" name="TextBox 19"/>
          <p:cNvSpPr txBox="1"/>
          <p:nvPr/>
        </p:nvSpPr>
        <p:spPr>
          <a:xfrm>
            <a:off x="7452360" y="3794760"/>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For users</a:t>
            </a:r>
          </a:p>
        </p:txBody>
      </p:sp>
      <p:sp>
        <p:nvSpPr>
          <p:cNvPr id="21" name="TextBox 20"/>
          <p:cNvSpPr txBox="1"/>
          <p:nvPr/>
        </p:nvSpPr>
        <p:spPr>
          <a:xfrm>
            <a:off x="6812280" y="4288536"/>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7EDF4"/>
                </a:solidFill>
                <a:latin typeface="Consolas"/>
              </a:rPr>
              <a:t>33</a:t>
            </a:r>
          </a:p>
        </p:txBody>
      </p:sp>
      <p:sp>
        <p:nvSpPr>
          <p:cNvPr id="22" name="TextBox 21"/>
          <p:cNvSpPr txBox="1"/>
          <p:nvPr/>
        </p:nvSpPr>
        <p:spPr>
          <a:xfrm>
            <a:off x="7452360" y="4288536"/>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What is next</a:t>
            </a:r>
          </a:p>
        </p:txBody>
      </p:sp>
      <p:sp>
        <p:nvSpPr>
          <p:cNvPr id="23" name="Rectangle 22"/>
          <p:cNvSpPr/>
          <p:nvPr/>
        </p:nvSpPr>
        <p:spPr>
          <a:xfrm>
            <a:off x="6400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44879"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2496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5544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8592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164079"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4688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7736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078479"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3832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880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992879"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2976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6024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9072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2120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168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8216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1264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4312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7360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0408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345680"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650479"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955279"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260079" y="6656832"/>
            <a:ext cx="274320"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564879" y="6656832"/>
            <a:ext cx="274320"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869680" y="6656832"/>
            <a:ext cx="274320"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9174479" y="6656832"/>
            <a:ext cx="274320"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9479279" y="6656832"/>
            <a:ext cx="274320"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9784080" y="6656832"/>
            <a:ext cx="274320"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10088879" y="6656832"/>
            <a:ext cx="274320"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0393679" y="6656832"/>
            <a:ext cx="274320"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VALIDATION · WHY A CPU TWIN WAS NEEDED</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CPU and CUDA update the pedestal at different moments</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27 / 33</a:t>
            </a:r>
          </a:p>
        </p:txBody>
      </p:sp>
      <p:pic>
        <p:nvPicPr>
          <p:cNvPr id="40" name="Picture 39" descr="fig_pedtiming.png"/>
          <p:cNvPicPr>
            <a:picLocks noChangeAspect="1"/>
          </p:cNvPicPr>
          <p:nvPr/>
        </p:nvPicPr>
        <p:blipFill>
          <a:blip r:embed="rId2"/>
          <a:stretch>
            <a:fillRect/>
          </a:stretch>
        </p:blipFill>
        <p:spPr>
          <a:xfrm>
            <a:off x="502919" y="1737360"/>
            <a:ext cx="11155680" cy="3574472"/>
          </a:xfrm>
          <a:prstGeom prst="rect">
            <a:avLst/>
          </a:prstGeom>
        </p:spPr>
      </p:pic>
      <p:sp>
        <p:nvSpPr>
          <p:cNvPr id="41" name="Rectangle 40"/>
          <p:cNvSpPr/>
          <p:nvPr/>
        </p:nvSpPr>
        <p:spPr>
          <a:xfrm>
            <a:off x="681228" y="4846320"/>
            <a:ext cx="5308092" cy="93268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40080" y="4846320"/>
            <a:ext cx="41148" cy="93268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96112" y="4937759"/>
            <a:ext cx="4892040" cy="749808"/>
          </a:xfrm>
          <a:prstGeom prst="rect">
            <a:avLst/>
          </a:prstGeom>
          <a:noFill/>
        </p:spPr>
        <p:txBody>
          <a:bodyPr wrap="square" lIns="0" rIns="0" tIns="0" bIns="0" anchor="ctr">
            <a:spAutoFit/>
          </a:bodyPr>
          <a:lstStyle/>
          <a:p>
            <a:pPr>
              <a:lnSpc>
                <a:spcPct val="120000"/>
              </a:lnSpc>
              <a:spcBef>
                <a:spcPts val="0"/>
              </a:spcBef>
              <a:spcAft>
                <a:spcPts val="0"/>
              </a:spcAft>
            </a:pPr>
            <a:r>
              <a:rPr sz="1050" b="0" i="0">
                <a:solidFill>
                  <a:srgbClr val="A5B2C4"/>
                </a:solidFill>
                <a:latin typeface="Segoe UI"/>
              </a:rPr>
              <a:t>The serial CPU finder updates the pedestal </a:t>
            </a:r>
            <a:r>
              <a:rPr sz="1050" b="1" i="0">
                <a:solidFill>
                  <a:srgbClr val="E7EDF4"/>
                </a:solidFill>
                <a:latin typeface="Segoe UI"/>
              </a:rPr>
              <a:t>as the raster scan reaches each pixel</a:t>
            </a:r>
            <a:r>
              <a:rPr sz="1050" b="0" i="0">
                <a:solidFill>
                  <a:srgbClr val="A5B2C4"/>
                </a:solidFill>
                <a:latin typeface="Segoe UI"/>
              </a:rPr>
              <a:t>. A CUDA thread cannot: 160 000 of them read the pedestal at once, so the update is </a:t>
            </a:r>
            <a:r>
              <a:rPr sz="1050" b="1" i="0">
                <a:solidFill>
                  <a:srgbClr val="E7EDF4"/>
                </a:solidFill>
                <a:latin typeface="Segoe UI"/>
              </a:rPr>
              <a:t>applied at the frame boundary</a:t>
            </a:r>
            <a:r>
              <a:rPr sz="1050" b="0" i="0">
                <a:solidFill>
                  <a:srgbClr val="A5B2C4"/>
                </a:solidFill>
                <a:latin typeface="Segoe UI"/>
              </a:rPr>
              <a:t>.</a:t>
            </a:r>
          </a:p>
        </p:txBody>
      </p:sp>
      <p:sp>
        <p:nvSpPr>
          <p:cNvPr id="44" name="Rectangle 43"/>
          <p:cNvSpPr/>
          <p:nvPr/>
        </p:nvSpPr>
        <p:spPr>
          <a:xfrm>
            <a:off x="6213348" y="4846320"/>
            <a:ext cx="5308092" cy="93268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172200" y="4846320"/>
            <a:ext cx="41148" cy="93268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28232" y="4937759"/>
            <a:ext cx="4892040" cy="749808"/>
          </a:xfrm>
          <a:prstGeom prst="rect">
            <a:avLst/>
          </a:prstGeom>
          <a:noFill/>
        </p:spPr>
        <p:txBody>
          <a:bodyPr wrap="square" lIns="0" rIns="0" tIns="0" bIns="0" anchor="ctr">
            <a:spAutoFit/>
          </a:bodyPr>
          <a:lstStyle/>
          <a:p>
            <a:pPr>
              <a:lnSpc>
                <a:spcPct val="120000"/>
              </a:lnSpc>
              <a:spcBef>
                <a:spcPts val="0"/>
              </a:spcBef>
              <a:spcAft>
                <a:spcPts val="0"/>
              </a:spcAft>
            </a:pPr>
            <a:r>
              <a:rPr sz="1050" b="0" i="0">
                <a:solidFill>
                  <a:srgbClr val="A5B2C4"/>
                </a:solidFill>
                <a:latin typeface="Segoe UI"/>
              </a:rPr>
              <a:t>So a straight CPU↔CUDA comparison moves </a:t>
            </a:r>
            <a:r>
              <a:rPr sz="1050" b="1" i="0">
                <a:solidFill>
                  <a:srgbClr val="E7EDF4"/>
                </a:solidFill>
                <a:latin typeface="Segoe UI"/>
              </a:rPr>
              <a:t>two</a:t>
            </a:r>
            <a:r>
              <a:rPr sz="1050" b="0" i="0">
                <a:solidFill>
                  <a:srgbClr val="A5B2C4"/>
                </a:solidFill>
                <a:latin typeface="Segoe UI"/>
              </a:rPr>
              <a:t> things at once. </a:t>
            </a:r>
            <a:r>
              <a:rPr sz="1050" b="1" i="0">
                <a:solidFill>
                  <a:srgbClr val="E7EDF4"/>
                </a:solidFill>
                <a:latin typeface="Segoe UI"/>
              </a:rPr>
              <a:t>ClusterFinderFrozen</a:t>
            </a:r>
            <a:r>
              <a:rPr sz="1050" b="0" i="0">
                <a:solidFill>
                  <a:srgbClr val="A5B2C4"/>
                </a:solidFill>
                <a:latin typeface="Segoe UI"/>
              </a:rPr>
              <a:t> is the serial finder with only the update moved to the frame end: same arithmetic, same gates, same scan.</a:t>
            </a:r>
          </a:p>
        </p:txBody>
      </p:sp>
      <p:sp>
        <p:nvSpPr>
          <p:cNvPr id="47" name="TextBox 46"/>
          <p:cNvSpPr txBox="1"/>
          <p:nvPr/>
        </p:nvSpPr>
        <p:spPr>
          <a:xfrm>
            <a:off x="640080" y="5961888"/>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Frozen is a diagnostic twin, not a product: it exists so the next two slides can attribute each disagreement to exactly one cause. cpu vs frozen = update timing; frozen vs cuda = the port. Every finder on these slides is trained on the same 1 000 pedestal frames and run over the same 10 000 data frames.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VALIDATION · ISOLATING ONE VARIABLE AT A TIME</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CUDA and its CPU twin agree exactly: 0 in 23 million</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28 / 33</a:t>
            </a:r>
          </a:p>
        </p:txBody>
      </p:sp>
      <p:sp>
        <p:nvSpPr>
          <p:cNvPr id="40" name="TextBox 39"/>
          <p:cNvSpPr txBox="1"/>
          <p:nvPr/>
        </p:nvSpPr>
        <p:spPr>
          <a:xfrm>
            <a:off x="640080" y="1700784"/>
            <a:ext cx="1097280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1" i="0">
                <a:solidFill>
                  <a:srgbClr val="E7EDF4"/>
                </a:solidFill>
                <a:latin typeface="Segoe UI"/>
              </a:rPr>
              <a:t>ClusterFinderFrozen</a:t>
            </a:r>
            <a:r>
              <a:rPr sz="1050" b="0" i="0">
                <a:solidFill>
                  <a:srgbClr val="A5B2C4"/>
                </a:solidFill>
                <a:latin typeface="Segoe UI"/>
              </a:rPr>
              <a:t> makes byte-for-byte the same decisions as ClusterFinder and differs in exactly one thing: </a:t>
            </a:r>
            <a:r>
              <a:rPr sz="1050" b="1" i="0">
                <a:solidFill>
                  <a:srgbClr val="E7EDF4"/>
                </a:solidFill>
                <a:latin typeface="Segoe UI"/>
              </a:rPr>
              <a:t>when</a:t>
            </a:r>
            <a:r>
              <a:rPr sz="1050" b="0" i="0">
                <a:solidFill>
                  <a:srgbClr val="A5B2C4"/>
                </a:solidFill>
                <a:latin typeface="Segoe UI"/>
              </a:rPr>
              <a:t> the pedestal is updated. Frozen per frame, pushed at frame end. That is the CUDA model, so comparing against it isolates everything else the port changes.</a:t>
            </a:r>
          </a:p>
        </p:txBody>
      </p:sp>
      <p:sp>
        <p:nvSpPr>
          <p:cNvPr id="41" name="Rectangle 40"/>
          <p:cNvSpPr/>
          <p:nvPr/>
        </p:nvSpPr>
        <p:spPr>
          <a:xfrm>
            <a:off x="640080" y="2304288"/>
            <a:ext cx="10972800" cy="31089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86384" y="2377440"/>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COMPARISON</a:t>
            </a:r>
          </a:p>
        </p:txBody>
      </p:sp>
      <p:sp>
        <p:nvSpPr>
          <p:cNvPr id="43" name="TextBox 42"/>
          <p:cNvSpPr txBox="1"/>
          <p:nvPr/>
        </p:nvSpPr>
        <p:spPr>
          <a:xfrm>
            <a:off x="3858768" y="2377440"/>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THE ONE THING THAT DIFFERS</a:t>
            </a:r>
          </a:p>
        </p:txBody>
      </p:sp>
      <p:sp>
        <p:nvSpPr>
          <p:cNvPr id="44" name="TextBox 43"/>
          <p:cNvSpPr txBox="1"/>
          <p:nvPr/>
        </p:nvSpPr>
        <p:spPr>
          <a:xfrm>
            <a:off x="8247888" y="2377440"/>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A-ONLY / B-ONLY</a:t>
            </a:r>
          </a:p>
        </p:txBody>
      </p:sp>
      <p:sp>
        <p:nvSpPr>
          <p:cNvPr id="45" name="TextBox 44"/>
          <p:cNvSpPr txBox="1"/>
          <p:nvPr/>
        </p:nvSpPr>
        <p:spPr>
          <a:xfrm>
            <a:off x="10113264" y="2377440"/>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 OF CLUSTERS</a:t>
            </a:r>
          </a:p>
        </p:txBody>
      </p:sp>
      <p:sp>
        <p:nvSpPr>
          <p:cNvPr id="46" name="Rectangle 45"/>
          <p:cNvSpPr/>
          <p:nvPr/>
        </p:nvSpPr>
        <p:spPr>
          <a:xfrm>
            <a:off x="640080" y="2651760"/>
            <a:ext cx="10972800" cy="54864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86384" y="2743200"/>
            <a:ext cx="2852928"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E7EDF4"/>
                </a:solidFill>
                <a:latin typeface="Segoe UI"/>
              </a:rPr>
              <a:t>serial CPU  vs  frozen CPU</a:t>
            </a:r>
          </a:p>
        </p:txBody>
      </p:sp>
      <p:sp>
        <p:nvSpPr>
          <p:cNvPr id="48" name="TextBox 47"/>
          <p:cNvSpPr txBox="1"/>
          <p:nvPr/>
        </p:nvSpPr>
        <p:spPr>
          <a:xfrm>
            <a:off x="3858768" y="2743200"/>
            <a:ext cx="4169664"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update timing alone: </a:t>
            </a:r>
            <a:r>
              <a:rPr sz="950" b="1" i="0">
                <a:solidFill>
                  <a:srgbClr val="E8B25C"/>
                </a:solidFill>
                <a:latin typeface="Segoe UI"/>
              </a:rPr>
              <a:t>a CPU-only effect</a:t>
            </a:r>
          </a:p>
        </p:txBody>
      </p:sp>
      <p:sp>
        <p:nvSpPr>
          <p:cNvPr id="49" name="TextBox 48"/>
          <p:cNvSpPr txBox="1"/>
          <p:nvPr/>
        </p:nvSpPr>
        <p:spPr>
          <a:xfrm>
            <a:off x="8247888" y="2743200"/>
            <a:ext cx="164592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8 / 11</a:t>
            </a:r>
          </a:p>
        </p:txBody>
      </p:sp>
      <p:sp>
        <p:nvSpPr>
          <p:cNvPr id="50" name="TextBox 49"/>
          <p:cNvSpPr txBox="1"/>
          <p:nvPr/>
        </p:nvSpPr>
        <p:spPr>
          <a:xfrm>
            <a:off x="10113264" y="2743200"/>
            <a:ext cx="1426463"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0.000082 %</a:t>
            </a:r>
          </a:p>
        </p:txBody>
      </p:sp>
      <p:sp>
        <p:nvSpPr>
          <p:cNvPr id="51" name="TextBox 50"/>
          <p:cNvSpPr txBox="1"/>
          <p:nvPr/>
        </p:nvSpPr>
        <p:spPr>
          <a:xfrm>
            <a:off x="786384" y="3328416"/>
            <a:ext cx="2852928"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E7EDF4"/>
                </a:solidFill>
                <a:latin typeface="Segoe UI"/>
              </a:rPr>
              <a:t>serial CPU  vs  CUDA  [f64 ped]</a:t>
            </a:r>
          </a:p>
        </p:txBody>
      </p:sp>
      <p:sp>
        <p:nvSpPr>
          <p:cNvPr id="52" name="TextBox 51"/>
          <p:cNvSpPr txBox="1"/>
          <p:nvPr/>
        </p:nvSpPr>
        <p:spPr>
          <a:xfrm>
            <a:off x="3858768" y="3328416"/>
            <a:ext cx="4169664"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the same thing, </a:t>
            </a:r>
            <a:r>
              <a:rPr sz="950" b="1" i="0">
                <a:solidFill>
                  <a:srgbClr val="E8B25C"/>
                </a:solidFill>
                <a:latin typeface="Segoe UI"/>
              </a:rPr>
              <a:t>and nothing else</a:t>
            </a:r>
          </a:p>
        </p:txBody>
      </p:sp>
      <p:sp>
        <p:nvSpPr>
          <p:cNvPr id="53" name="TextBox 52"/>
          <p:cNvSpPr txBox="1"/>
          <p:nvPr/>
        </p:nvSpPr>
        <p:spPr>
          <a:xfrm>
            <a:off x="8247888" y="3328416"/>
            <a:ext cx="164592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8 / 11</a:t>
            </a:r>
          </a:p>
        </p:txBody>
      </p:sp>
      <p:sp>
        <p:nvSpPr>
          <p:cNvPr id="54" name="TextBox 53"/>
          <p:cNvSpPr txBox="1"/>
          <p:nvPr/>
        </p:nvSpPr>
        <p:spPr>
          <a:xfrm>
            <a:off x="10113264" y="3328416"/>
            <a:ext cx="1426463"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0.000082 %</a:t>
            </a:r>
          </a:p>
        </p:txBody>
      </p:sp>
      <p:sp>
        <p:nvSpPr>
          <p:cNvPr id="55" name="Rectangle 54"/>
          <p:cNvSpPr/>
          <p:nvPr/>
        </p:nvSpPr>
        <p:spPr>
          <a:xfrm>
            <a:off x="640080" y="3822191"/>
            <a:ext cx="10972800" cy="54864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86384" y="3913631"/>
            <a:ext cx="2852928"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E7EDF4"/>
                </a:solidFill>
                <a:latin typeface="Segoe UI"/>
              </a:rPr>
              <a:t>frozen CPU  vs  CUDA  [f64 ped]</a:t>
            </a:r>
          </a:p>
        </p:txBody>
      </p:sp>
      <p:sp>
        <p:nvSpPr>
          <p:cNvPr id="57" name="TextBox 56"/>
          <p:cNvSpPr txBox="1"/>
          <p:nvPr/>
        </p:nvSpPr>
        <p:spPr>
          <a:xfrm>
            <a:off x="3858768" y="3913631"/>
            <a:ext cx="4169664" cy="548640"/>
          </a:xfrm>
          <a:prstGeom prst="rect">
            <a:avLst/>
          </a:prstGeom>
          <a:noFill/>
        </p:spPr>
        <p:txBody>
          <a:bodyPr wrap="square" lIns="0" rIns="0" tIns="0" bIns="0" anchor="t">
            <a:spAutoFit/>
          </a:bodyPr>
          <a:lstStyle/>
          <a:p>
            <a:pPr>
              <a:lnSpc>
                <a:spcPct val="120000"/>
              </a:lnSpc>
              <a:spcBef>
                <a:spcPts val="0"/>
              </a:spcBef>
              <a:spcAft>
                <a:spcPts val="0"/>
              </a:spcAft>
            </a:pPr>
            <a:r>
              <a:rPr sz="950" b="1" i="0">
                <a:solidFill>
                  <a:srgbClr val="E8B25C"/>
                </a:solidFill>
                <a:latin typeface="Segoe UI"/>
              </a:rPr>
              <a:t>nothing</a:t>
            </a:r>
          </a:p>
        </p:txBody>
      </p:sp>
      <p:sp>
        <p:nvSpPr>
          <p:cNvPr id="58" name="TextBox 57"/>
          <p:cNvSpPr txBox="1"/>
          <p:nvPr/>
        </p:nvSpPr>
        <p:spPr>
          <a:xfrm>
            <a:off x="8247888" y="3913631"/>
            <a:ext cx="1645920" cy="548640"/>
          </a:xfrm>
          <a:prstGeom prst="rect">
            <a:avLst/>
          </a:prstGeom>
          <a:noFill/>
        </p:spPr>
        <p:txBody>
          <a:bodyPr wrap="square" lIns="0" rIns="0" tIns="0" bIns="0" anchor="t">
            <a:spAutoFit/>
          </a:bodyPr>
          <a:lstStyle/>
          <a:p>
            <a:pPr>
              <a:lnSpc>
                <a:spcPct val="120000"/>
              </a:lnSpc>
              <a:spcBef>
                <a:spcPts val="0"/>
              </a:spcBef>
              <a:spcAft>
                <a:spcPts val="0"/>
              </a:spcAft>
            </a:pPr>
            <a:r>
              <a:rPr sz="950" b="1" i="0">
                <a:solidFill>
                  <a:srgbClr val="E8B25C"/>
                </a:solidFill>
                <a:latin typeface="Segoe UI"/>
              </a:rPr>
              <a:t>0 / 0</a:t>
            </a:r>
          </a:p>
        </p:txBody>
      </p:sp>
      <p:sp>
        <p:nvSpPr>
          <p:cNvPr id="59" name="TextBox 58"/>
          <p:cNvSpPr txBox="1"/>
          <p:nvPr/>
        </p:nvSpPr>
        <p:spPr>
          <a:xfrm>
            <a:off x="10113264" y="3913631"/>
            <a:ext cx="1426463" cy="548640"/>
          </a:xfrm>
          <a:prstGeom prst="rect">
            <a:avLst/>
          </a:prstGeom>
          <a:noFill/>
        </p:spPr>
        <p:txBody>
          <a:bodyPr wrap="square" lIns="0" rIns="0" tIns="0" bIns="0" anchor="t">
            <a:spAutoFit/>
          </a:bodyPr>
          <a:lstStyle/>
          <a:p>
            <a:pPr>
              <a:lnSpc>
                <a:spcPct val="120000"/>
              </a:lnSpc>
              <a:spcBef>
                <a:spcPts val="0"/>
              </a:spcBef>
              <a:spcAft>
                <a:spcPts val="0"/>
              </a:spcAft>
            </a:pPr>
            <a:r>
              <a:rPr sz="950" b="1" i="0">
                <a:solidFill>
                  <a:srgbClr val="E8B25C"/>
                </a:solidFill>
                <a:latin typeface="Segoe UI"/>
              </a:rPr>
              <a:t>0 %</a:t>
            </a:r>
          </a:p>
        </p:txBody>
      </p:sp>
      <p:sp>
        <p:nvSpPr>
          <p:cNvPr id="60" name="TextBox 59"/>
          <p:cNvSpPr txBox="1"/>
          <p:nvPr/>
        </p:nvSpPr>
        <p:spPr>
          <a:xfrm>
            <a:off x="786384" y="4498847"/>
            <a:ext cx="2852928"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E7EDF4"/>
                </a:solidFill>
                <a:latin typeface="Segoe UI"/>
              </a:rPr>
              <a:t>frozen CPU  vs  CUDA  [f32 ped]</a:t>
            </a:r>
          </a:p>
        </p:txBody>
      </p:sp>
      <p:sp>
        <p:nvSpPr>
          <p:cNvPr id="61" name="TextBox 60"/>
          <p:cNvSpPr txBox="1"/>
          <p:nvPr/>
        </p:nvSpPr>
        <p:spPr>
          <a:xfrm>
            <a:off x="3858768" y="4498847"/>
            <a:ext cx="4169664"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the float32 pedestal EMA drifting: see next slide</a:t>
            </a:r>
          </a:p>
        </p:txBody>
      </p:sp>
      <p:sp>
        <p:nvSpPr>
          <p:cNvPr id="62" name="TextBox 61"/>
          <p:cNvSpPr txBox="1"/>
          <p:nvPr/>
        </p:nvSpPr>
        <p:spPr>
          <a:xfrm>
            <a:off x="8247888" y="4498847"/>
            <a:ext cx="164592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0 / 6</a:t>
            </a:r>
          </a:p>
        </p:txBody>
      </p:sp>
      <p:sp>
        <p:nvSpPr>
          <p:cNvPr id="63" name="TextBox 62"/>
          <p:cNvSpPr txBox="1"/>
          <p:nvPr/>
        </p:nvSpPr>
        <p:spPr>
          <a:xfrm>
            <a:off x="10113264" y="4498847"/>
            <a:ext cx="1426463"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0.000026 %</a:t>
            </a:r>
          </a:p>
        </p:txBody>
      </p:sp>
      <p:sp>
        <p:nvSpPr>
          <p:cNvPr id="64" name="Rectangle 63"/>
          <p:cNvSpPr/>
          <p:nvPr/>
        </p:nvSpPr>
        <p:spPr>
          <a:xfrm>
            <a:off x="681228" y="5266944"/>
            <a:ext cx="5308092" cy="67665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640080" y="5266944"/>
            <a:ext cx="41148" cy="676656"/>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96112" y="5358383"/>
            <a:ext cx="4892040" cy="493776"/>
          </a:xfrm>
          <a:prstGeom prst="rect">
            <a:avLst/>
          </a:prstGeom>
          <a:noFill/>
        </p:spPr>
        <p:txBody>
          <a:bodyPr wrap="square" lIns="0" rIns="0" tIns="0" bIns="0" anchor="ctr">
            <a:spAutoFit/>
          </a:bodyPr>
          <a:lstStyle/>
          <a:p>
            <a:pPr>
              <a:lnSpc>
                <a:spcPct val="120000"/>
              </a:lnSpc>
              <a:spcBef>
                <a:spcPts val="0"/>
              </a:spcBef>
              <a:spcAft>
                <a:spcPts val="0"/>
              </a:spcAft>
            </a:pPr>
            <a:r>
              <a:rPr sz="950" b="1" i="0">
                <a:solidFill>
                  <a:srgbClr val="E7EDF4"/>
                </a:solidFill>
                <a:latin typeface="Segoe UI"/>
              </a:rPr>
              <a:t>Identical, frame by frame.</a:t>
            </a:r>
            <a:r>
              <a:rPr sz="950" b="0" i="0">
                <a:solidFill>
                  <a:srgbClr val="A5B2C4"/>
                </a:solidFill>
                <a:latin typeface="Segoe UI"/>
              </a:rPr>
              <a:t> 23 244 605 clusters, not one disagreement, and </a:t>
            </a:r>
            <a:r>
              <a:rPr sz="950" b="1" i="0">
                <a:solidFill>
                  <a:srgbClr val="E7EDF4"/>
                </a:solidFill>
                <a:latin typeface="Segoe UI"/>
              </a:rPr>
              <a:t>cpu vs cuda</a:t>
            </a:r>
            <a:r>
              <a:rPr sz="950" b="0" i="0">
                <a:solidFill>
                  <a:srgbClr val="A5B2C4"/>
                </a:solidFill>
                <a:latin typeface="Segoe UI"/>
              </a:rPr>
              <a:t> equals </a:t>
            </a:r>
            <a:r>
              <a:rPr sz="950" b="1" i="0">
                <a:solidFill>
                  <a:srgbClr val="E7EDF4"/>
                </a:solidFill>
                <a:latin typeface="Segoe UI"/>
              </a:rPr>
              <a:t>cpu vs frozen</a:t>
            </a:r>
            <a:r>
              <a:rPr sz="950" b="0" i="0">
                <a:solidFill>
                  <a:srgbClr val="A5B2C4"/>
                </a:solidFill>
                <a:latin typeface="Segoe UI"/>
              </a:rPr>
              <a:t> exactly, so the port adds nothing of its own. Payloads: </a:t>
            </a:r>
            <a:r>
              <a:rPr sz="950" b="1" i="0">
                <a:solidFill>
                  <a:srgbClr val="E7EDF4"/>
                </a:solidFill>
                <a:latin typeface="Segoe UI"/>
              </a:rPr>
              <a:t>99.9941 % bit-identical</a:t>
            </a:r>
            <a:r>
              <a:rPr sz="950" b="0" i="0">
                <a:solidFill>
                  <a:srgbClr val="A5B2C4"/>
                </a:solidFill>
                <a:latin typeface="Segoe UI"/>
              </a:rPr>
              <a:t>, worst case 1 ADU on one pixel.</a:t>
            </a:r>
          </a:p>
        </p:txBody>
      </p:sp>
      <p:sp>
        <p:nvSpPr>
          <p:cNvPr id="67" name="Rectangle 66"/>
          <p:cNvSpPr/>
          <p:nvPr/>
        </p:nvSpPr>
        <p:spPr>
          <a:xfrm>
            <a:off x="6213348" y="5266944"/>
            <a:ext cx="5308092" cy="67665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6172200" y="5266944"/>
            <a:ext cx="41148" cy="676656"/>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428232" y="5358383"/>
            <a:ext cx="4892040" cy="493776"/>
          </a:xfrm>
          <a:prstGeom prst="rect">
            <a:avLst/>
          </a:prstGeom>
          <a:noFill/>
        </p:spPr>
        <p:txBody>
          <a:bodyPr wrap="square" lIns="0" rIns="0" tIns="0" bIns="0" anchor="ctr">
            <a:spAutoFit/>
          </a:bodyPr>
          <a:lstStyle/>
          <a:p>
            <a:pPr>
              <a:lnSpc>
                <a:spcPct val="120000"/>
              </a:lnSpc>
              <a:spcBef>
                <a:spcPts val="0"/>
              </a:spcBef>
              <a:spcAft>
                <a:spcPts val="0"/>
              </a:spcAft>
            </a:pPr>
            <a:r>
              <a:rPr sz="950" b="1" i="0">
                <a:solidFill>
                  <a:srgbClr val="E7EDF4"/>
                </a:solidFill>
                <a:latin typeface="Segoe UI"/>
              </a:rPr>
              <a:t>The 0.004 % headline is the baseline disagreeing with itself.</a:t>
            </a:r>
            <a:r>
              <a:rPr sz="950" b="0" i="0">
                <a:solidFill>
                  <a:srgbClr val="A5B2C4"/>
                </a:solidFill>
                <a:latin typeface="Segoe UI"/>
              </a:rPr>
              <a:t> ClusterFinderMT builds </a:t>
            </a:r>
            <a:r>
              <a:rPr sz="950" b="1" i="0">
                <a:solidFill>
                  <a:srgbClr val="E7EDF4"/>
                </a:solidFill>
                <a:latin typeface="Segoe UI"/>
              </a:rPr>
              <a:t>48 ClusterFinders, each with its own Pedestal</a:t>
            </a:r>
            <a:r>
              <a:rPr sz="950" b="0" i="0">
                <a:solidFill>
                  <a:srgbClr val="A5B2C4"/>
                </a:solidFill>
                <a:latin typeface="Segoe UI"/>
              </a:rPr>
              <a:t>, after 100 k frames each has ~2 083 updates, not 100 000. It measures the baseline, not the port.</a:t>
            </a:r>
          </a:p>
        </p:txBody>
      </p:sp>
      <p:sp>
        <p:nvSpPr>
          <p:cNvPr id="70" name="TextBox 69"/>
          <p:cNvSpPr txBox="1"/>
          <p:nvPr/>
        </p:nvSpPr>
        <p:spPr>
          <a:xfrm>
            <a:off x="640080" y="6016752"/>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3×3 · 10 000 frames · 23.2 M clusters · same pedestal, same frames · exact centre-set difference at tol = 0 · python/tests/validation_tiers.py. [f64 ped] and [f32 ped] are the same source built with DEVICE_PED_TYPE double / float; COMPUTE_TYPE is float in both, so the stencil arithmetic is identical across the two rows. Either row is reproduced by rebuilding with that typedef and re-running python/tests/ClusterFinderFrozen_vs_CUDA.ipynb, which counts and localises every disagreement rather than only totalling them.</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VALIDATION · THE DISAGREEMENT, SEEN</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 whole disagreement is one duplicate centre</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29 / 33</a:t>
            </a:r>
          </a:p>
        </p:txBody>
      </p:sp>
      <p:pic>
        <p:nvPicPr>
          <p:cNvPr id="40" name="Picture 39" descr="fig_mismatch147.png"/>
          <p:cNvPicPr>
            <a:picLocks noChangeAspect="1"/>
          </p:cNvPicPr>
          <p:nvPr/>
        </p:nvPicPr>
        <p:blipFill>
          <a:blip r:embed="rId2"/>
          <a:stretch>
            <a:fillRect/>
          </a:stretch>
        </p:blipFill>
        <p:spPr>
          <a:xfrm>
            <a:off x="1252728" y="1572768"/>
            <a:ext cx="9692640" cy="4089721"/>
          </a:xfrm>
          <a:prstGeom prst="rect">
            <a:avLst/>
          </a:prstGeom>
        </p:spPr>
      </p:pic>
      <p:sp>
        <p:nvSpPr>
          <p:cNvPr id="41" name="Rectangle 40"/>
          <p:cNvSpPr/>
          <p:nvPr/>
        </p:nvSpPr>
        <p:spPr>
          <a:xfrm>
            <a:off x="681228" y="5760720"/>
            <a:ext cx="5308092" cy="71323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40080" y="5760720"/>
            <a:ext cx="41148" cy="713232"/>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96112" y="5852159"/>
            <a:ext cx="4892040" cy="530352"/>
          </a:xfrm>
          <a:prstGeom prst="rect">
            <a:avLst/>
          </a:prstGeom>
          <a:noFill/>
        </p:spPr>
        <p:txBody>
          <a:bodyPr wrap="square" lIns="0" rIns="0" tIns="0" bIns="0" anchor="ctr">
            <a:spAutoFit/>
          </a:bodyPr>
          <a:lstStyle/>
          <a:p>
            <a:pPr>
              <a:lnSpc>
                <a:spcPct val="120000"/>
              </a:lnSpc>
              <a:spcBef>
                <a:spcPts val="0"/>
              </a:spcBef>
              <a:spcAft>
                <a:spcPts val="0"/>
              </a:spcAft>
            </a:pPr>
            <a:r>
              <a:rPr sz="1050" b="0" i="0">
                <a:solidFill>
                  <a:srgbClr val="A5B2C4"/>
                </a:solidFill>
                <a:latin typeface="Segoe UI"/>
              </a:rPr>
              <a:t>Only the </a:t>
            </a:r>
            <a:r>
              <a:rPr sz="1050" b="1" i="0">
                <a:solidFill>
                  <a:srgbClr val="E7EDF4"/>
                </a:solidFill>
                <a:latin typeface="Segoe UI"/>
              </a:rPr>
              <a:t>3×3 footprints of each finder's own centres</a:t>
            </a:r>
            <a:r>
              <a:rPr sz="1050" b="0" i="0">
                <a:solidFill>
                  <a:srgbClr val="A5B2C4"/>
                </a:solidFill>
                <a:latin typeface="Segoe UI"/>
              </a:rPr>
              <a:t> are drawn, so the panels differ </a:t>
            </a:r>
            <a:r>
              <a:rPr sz="1050" b="1" i="0">
                <a:solidFill>
                  <a:srgbClr val="E7EDF4"/>
                </a:solidFill>
                <a:latin typeface="Segoe UI"/>
              </a:rPr>
              <a:t>exactly</a:t>
            </a:r>
            <a:r>
              <a:rPr sz="1050" b="0" i="0">
                <a:solidFill>
                  <a:srgbClr val="A5B2C4"/>
                </a:solidFill>
                <a:latin typeface="Segoe UI"/>
              </a:rPr>
              <a:t> where the finders do. Cell values are pedestal-subtracted ADU.</a:t>
            </a:r>
          </a:p>
        </p:txBody>
      </p:sp>
      <p:sp>
        <p:nvSpPr>
          <p:cNvPr id="44" name="Rectangle 43"/>
          <p:cNvSpPr/>
          <p:nvPr/>
        </p:nvSpPr>
        <p:spPr>
          <a:xfrm>
            <a:off x="6213348" y="5760720"/>
            <a:ext cx="5308092" cy="71323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172200" y="5760720"/>
            <a:ext cx="41148" cy="713232"/>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28232" y="5852159"/>
            <a:ext cx="4892040" cy="530352"/>
          </a:xfrm>
          <a:prstGeom prst="rect">
            <a:avLst/>
          </a:prstGeom>
          <a:noFill/>
        </p:spPr>
        <p:txBody>
          <a:bodyPr wrap="square" lIns="0" rIns="0" tIns="0" bIns="0" anchor="ctr">
            <a:spAutoFit/>
          </a:bodyPr>
          <a:lstStyle/>
          <a:p>
            <a:pPr>
              <a:lnSpc>
                <a:spcPct val="120000"/>
              </a:lnSpc>
              <a:spcBef>
                <a:spcPts val="0"/>
              </a:spcBef>
              <a:spcAft>
                <a:spcPts val="0"/>
              </a:spcAft>
            </a:pPr>
            <a:r>
              <a:rPr sz="1050" b="0" i="0">
                <a:solidFill>
                  <a:srgbClr val="A5B2C4"/>
                </a:solidFill>
                <a:latin typeface="Segoe UI"/>
              </a:rPr>
              <a:t>cuda's patch is </a:t>
            </a:r>
            <a:r>
              <a:rPr sz="1050" b="1" i="0">
                <a:solidFill>
                  <a:srgbClr val="E7EDF4"/>
                </a:solidFill>
                <a:latin typeface="Segoe UI"/>
              </a:rPr>
              <a:t>one row taller</a:t>
            </a:r>
            <a:r>
              <a:rPr sz="1050" b="0" i="0">
                <a:solidFill>
                  <a:srgbClr val="A5B2C4"/>
                </a:solidFill>
                <a:latin typeface="Segoe UI"/>
              </a:rPr>
              <a:t>: a second centre directly below the one both found. </a:t>
            </a:r>
            <a:r>
              <a:rPr sz="1050" b="1" i="0">
                <a:solidFill>
                  <a:srgbClr val="E7EDF4"/>
                </a:solidFill>
                <a:latin typeface="Segoe UI"/>
              </a:rPr>
              <a:t>The charge is already counted</a:t>
            </a:r>
            <a:r>
              <a:rPr sz="1050" b="0" i="0">
                <a:solidFill>
                  <a:srgbClr val="A5B2C4"/>
                </a:solidFill>
                <a:latin typeface="Segoe UI"/>
              </a:rPr>
              <a:t> — a duplicate, not a new photon.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VALIDATION · THE SIX RESIDUALS, DISSECTED</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float32 cannot tell these two pixels apart</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30 / 33</a:t>
            </a:r>
          </a:p>
        </p:txBody>
      </p:sp>
      <p:sp>
        <p:nvSpPr>
          <p:cNvPr id="40" name="Rounded Rectangle 39"/>
          <p:cNvSpPr/>
          <p:nvPr/>
        </p:nvSpPr>
        <p:spPr>
          <a:xfrm>
            <a:off x="640080" y="1719072"/>
            <a:ext cx="5806440" cy="2443642"/>
          </a:xfrm>
          <a:prstGeom prst="round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04671" y="1828800"/>
            <a:ext cx="5477255" cy="182880"/>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THE ONLY TEST THAT FLIPS, AND WHY</a:t>
            </a:r>
          </a:p>
        </p:txBody>
      </p:sp>
      <p:sp>
        <p:nvSpPr>
          <p:cNvPr id="42" name="TextBox 41"/>
          <p:cNvSpPr txBox="1"/>
          <p:nvPr/>
        </p:nvSpPr>
        <p:spPr>
          <a:xfrm>
            <a:off x="804671" y="2048256"/>
            <a:ext cx="5477255" cy="2224186"/>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A5B2C4"/>
                </a:solidFill>
                <a:latin typeface="Consolas"/>
              </a:rPr>
              <a:t>frame 147    centre (x=202, y=8)      3×3 window</a:t>
            </a:r>
          </a:p>
          <a:p>
            <a:pPr>
              <a:lnSpc>
                <a:spcPct val="112000"/>
              </a:lnSpc>
              <a:spcBef>
                <a:spcPts val="0"/>
              </a:spcBef>
              <a:spcAft>
                <a:spcPts val="0"/>
              </a:spcAft>
            </a:pPr>
            <a:r>
              <a:rPr sz="900" b="0" i="0">
                <a:solidFill>
                  <a:srgbClr val="A5B2C4"/>
                </a:solidFill>
                <a:latin typeface="Consolas"/>
              </a:rPr>
              <a:t>raw window (ADU)     pedestal-subtracted, 1 decimal</a:t>
            </a:r>
          </a:p>
          <a:p>
            <a:pPr>
              <a:lnSpc>
                <a:spcPct val="112000"/>
              </a:lnSpc>
              <a:spcBef>
                <a:spcPts val="0"/>
              </a:spcBef>
              <a:spcAft>
                <a:spcPts val="0"/>
              </a:spcAft>
            </a:pPr>
            <a:r>
              <a:rPr sz="900" b="0" i="0">
                <a:solidFill>
                  <a:srgbClr val="A5B2C4"/>
                </a:solidFill>
                <a:latin typeface="Consolas"/>
              </a:rPr>
              <a:t>[[4646 5282 4703]    [[ 45.3 </a:t>
            </a:r>
            <a:r>
              <a:rPr sz="900" b="1" i="0">
                <a:solidFill>
                  <a:srgbClr val="1E90C2"/>
                </a:solidFill>
                <a:latin typeface="Consolas"/>
              </a:rPr>
              <a:t>638.4</a:t>
            </a:r>
            <a:r>
              <a:rPr sz="900" b="0" i="0">
                <a:solidFill>
                  <a:srgbClr val="A5B2C4"/>
                </a:solidFill>
                <a:latin typeface="Consolas"/>
              </a:rPr>
              <a:t> -12.1]   frozen and cuda</a:t>
            </a:r>
          </a:p>
          <a:p>
            <a:pPr>
              <a:lnSpc>
                <a:spcPct val="112000"/>
              </a:lnSpc>
              <a:spcBef>
                <a:spcPts val="0"/>
              </a:spcBef>
              <a:spcAft>
                <a:spcPts val="0"/>
              </a:spcAft>
            </a:pPr>
            <a:r>
              <a:rPr sz="900" b="0" i="0">
                <a:solidFill>
                  <a:srgbClr val="A5B2C4"/>
                </a:solidFill>
                <a:latin typeface="Consolas"/>
              </a:rPr>
              <a:t> [4857 5318 4950]     [ 43.7 </a:t>
            </a:r>
            <a:r>
              <a:rPr sz="900" b="1" i="0">
                <a:solidFill>
                  <a:srgbClr val="1E90C2"/>
                </a:solidFill>
                <a:latin typeface="Consolas"/>
              </a:rPr>
              <a:t>638.4</a:t>
            </a:r>
            <a:r>
              <a:rPr sz="900" b="0" i="0">
                <a:solidFill>
                  <a:srgbClr val="A5B2C4"/>
                </a:solidFill>
                <a:latin typeface="Consolas"/>
              </a:rPr>
              <a:t>  -7.5]   print the SAME</a:t>
            </a:r>
          </a:p>
          <a:p>
            <a:pPr>
              <a:lnSpc>
                <a:spcPct val="112000"/>
              </a:lnSpc>
              <a:spcBef>
                <a:spcPts val="0"/>
              </a:spcBef>
              <a:spcAft>
                <a:spcPts val="0"/>
              </a:spcAft>
            </a:pPr>
            <a:r>
              <a:rPr sz="900" b="0" i="0">
                <a:solidFill>
                  <a:srgbClr val="A5B2C4"/>
                </a:solidFill>
                <a:latin typeface="Consolas"/>
              </a:rPr>
              <a:t> [4763 4640 4858]]    [  1.1  70.7  136.4]]   window</a:t>
            </a:r>
          </a:p>
          <a:p>
            <a:pPr>
              <a:lnSpc>
                <a:spcPct val="112000"/>
              </a:lnSpc>
              <a:spcBef>
                <a:spcPts val="0"/>
              </a:spcBef>
              <a:spcAft>
                <a:spcPts val="0"/>
              </a:spcAft>
            </a:pPr>
          </a:p>
          <a:p>
            <a:pPr>
              <a:lnSpc>
                <a:spcPct val="112000"/>
              </a:lnSpc>
              <a:spcBef>
                <a:spcPts val="0"/>
              </a:spcBef>
              <a:spcAft>
                <a:spcPts val="0"/>
              </a:spcAft>
            </a:pPr>
            <a:r>
              <a:rPr sz="900" b="0" i="0">
                <a:solidFill>
                  <a:srgbClr val="A5B2C4"/>
                </a:solidFill>
                <a:latin typeface="Consolas"/>
              </a:rPr>
              <a:t>the two contenders, at full precision:</a:t>
            </a:r>
          </a:p>
          <a:p>
            <a:pPr>
              <a:lnSpc>
                <a:spcPct val="112000"/>
              </a:lnSpc>
              <a:spcBef>
                <a:spcPts val="0"/>
              </a:spcBef>
              <a:spcAft>
                <a:spcPts val="0"/>
              </a:spcAft>
            </a:pPr>
            <a:r>
              <a:rPr sz="900" b="0" i="0">
                <a:solidFill>
                  <a:srgbClr val="A5B2C4"/>
                </a:solidFill>
                <a:latin typeface="Consolas"/>
              </a:rPr>
              <a:t>                          rival (dy=-1)        centre</a:t>
            </a:r>
          </a:p>
          <a:p>
            <a:pPr>
              <a:lnSpc>
                <a:spcPct val="112000"/>
              </a:lnSpc>
              <a:spcBef>
                <a:spcPts val="0"/>
              </a:spcBef>
              <a:spcAft>
                <a:spcPts val="0"/>
              </a:spcAft>
            </a:pPr>
            <a:r>
              <a:rPr sz="900" b="0" i="0">
                <a:solidFill>
                  <a:srgbClr val="A5B2C4"/>
                </a:solidFill>
                <a:latin typeface="Consolas"/>
              </a:rPr>
              <a:t>frozen  [f64 ped]      638.383019956   638.382773664</a:t>
            </a:r>
          </a:p>
          <a:p>
            <a:pPr>
              <a:lnSpc>
                <a:spcPct val="112000"/>
              </a:lnSpc>
              <a:spcBef>
                <a:spcPts val="0"/>
              </a:spcBef>
              <a:spcAft>
                <a:spcPts val="0"/>
              </a:spcAft>
            </a:pPr>
            <a:r>
              <a:rPr sz="900" b="0" i="0">
                <a:solidFill>
                  <a:srgbClr val="A5B2C4"/>
                </a:solidFill>
                <a:latin typeface="Consolas"/>
              </a:rPr>
              <a:t>cuda    [f32 ped]      638.382812500   </a:t>
            </a:r>
            <a:r>
              <a:rPr sz="900" b="1" i="0">
                <a:solidFill>
                  <a:srgbClr val="1E90C2"/>
                </a:solidFill>
                <a:latin typeface="Consolas"/>
              </a:rPr>
              <a:t>638.382812500</a:t>
            </a:r>
          </a:p>
          <a:p>
            <a:pPr>
              <a:lnSpc>
                <a:spcPct val="112000"/>
              </a:lnSpc>
              <a:spcBef>
                <a:spcPts val="0"/>
              </a:spcBef>
              <a:spcAft>
                <a:spcPts val="0"/>
              </a:spcAft>
            </a:pPr>
          </a:p>
          <a:p>
            <a:pPr>
              <a:lnSpc>
                <a:spcPct val="112000"/>
              </a:lnSpc>
              <a:spcBef>
                <a:spcPts val="0"/>
              </a:spcBef>
              <a:spcAft>
                <a:spcPts val="0"/>
              </a:spcAft>
            </a:pPr>
            <a:r>
              <a:rPr sz="900" b="0" i="0">
                <a:solidFill>
                  <a:srgbClr val="A5B2C4"/>
                </a:solidFill>
                <a:latin typeface="Consolas"/>
              </a:rPr>
              <a:t>gate:  accept if  centre &gt;= max(window)</a:t>
            </a:r>
          </a:p>
          <a:p>
            <a:pPr>
              <a:lnSpc>
                <a:spcPct val="112000"/>
              </a:lnSpc>
              <a:spcBef>
                <a:spcPts val="0"/>
              </a:spcBef>
              <a:spcAft>
                <a:spcPts val="0"/>
              </a:spcAft>
            </a:pPr>
            <a:r>
              <a:rPr sz="900" b="0" i="0">
                <a:solidFill>
                  <a:srgbClr val="A5B2C4"/>
                </a:solidFill>
                <a:latin typeface="Consolas"/>
              </a:rPr>
              <a:t>   frozen   638.382773664 &gt;= 638.383019956  -&gt;  reject</a:t>
            </a:r>
          </a:p>
          <a:p>
            <a:pPr>
              <a:lnSpc>
                <a:spcPct val="112000"/>
              </a:lnSpc>
              <a:spcBef>
                <a:spcPts val="0"/>
              </a:spcBef>
              <a:spcAft>
                <a:spcPts val="0"/>
              </a:spcAft>
            </a:pPr>
            <a:r>
              <a:rPr sz="900" b="0" i="0">
                <a:solidFill>
                  <a:srgbClr val="A5B2C4"/>
                </a:solidFill>
                <a:latin typeface="Consolas"/>
              </a:rPr>
              <a:t>   cuda     638.382812500 &gt;= 638.382812500  -&gt;  </a:t>
            </a:r>
            <a:r>
              <a:rPr sz="900" b="1" i="0">
                <a:solidFill>
                  <a:srgbClr val="1E90C2"/>
                </a:solidFill>
                <a:latin typeface="Consolas"/>
              </a:rPr>
              <a:t>ACCEPT</a:t>
            </a:r>
          </a:p>
        </p:txBody>
      </p:sp>
      <p:sp>
        <p:nvSpPr>
          <p:cNvPr id="43" name="Rectangle 42"/>
          <p:cNvSpPr/>
          <p:nvPr/>
        </p:nvSpPr>
        <p:spPr>
          <a:xfrm>
            <a:off x="681228" y="4315968"/>
            <a:ext cx="5765292" cy="9144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40080" y="4315968"/>
            <a:ext cx="41148" cy="91440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6112" y="4407407"/>
            <a:ext cx="5349240" cy="731520"/>
          </a:xfrm>
          <a:prstGeom prst="rect">
            <a:avLst/>
          </a:prstGeom>
          <a:noFill/>
        </p:spPr>
        <p:txBody>
          <a:bodyPr wrap="square" lIns="0" rIns="0" tIns="0" bIns="0" anchor="ctr">
            <a:spAutoFit/>
          </a:bodyPr>
          <a:lstStyle/>
          <a:p>
            <a:pPr>
              <a:lnSpc>
                <a:spcPct val="120000"/>
              </a:lnSpc>
              <a:spcBef>
                <a:spcPts val="0"/>
              </a:spcBef>
              <a:spcAft>
                <a:spcPts val="0"/>
              </a:spcAft>
            </a:pPr>
            <a:r>
              <a:rPr sz="1000" b="0" i="0">
                <a:solidFill>
                  <a:srgbClr val="A5B2C4"/>
                </a:solidFill>
                <a:latin typeface="Segoe UI"/>
              </a:rPr>
              <a:t>Separation under the f64 pedestal: </a:t>
            </a:r>
            <a:r>
              <a:rPr sz="1000" b="1" i="0">
                <a:solidFill>
                  <a:srgbClr val="E7EDF4"/>
                </a:solidFill>
                <a:latin typeface="Segoe UI"/>
              </a:rPr>
              <a:t>0.000246 ADU</a:t>
            </a:r>
            <a:r>
              <a:rPr sz="1000" b="0" i="0">
                <a:solidFill>
                  <a:srgbClr val="A5B2C4"/>
                </a:solidFill>
                <a:latin typeface="Segoe UI"/>
              </a:rPr>
              <a:t>. One float32 ULP at 4 679.6 ADU is </a:t>
            </a:r>
            <a:r>
              <a:rPr sz="1000" b="1" i="0">
                <a:solidFill>
                  <a:srgbClr val="E7EDF4"/>
                </a:solidFill>
                <a:latin typeface="Segoe UI"/>
              </a:rPr>
              <a:t>0.000488</a:t>
            </a:r>
            <a:r>
              <a:rPr sz="1000" b="0" i="0">
                <a:solidFill>
                  <a:srgbClr val="A5B2C4"/>
                </a:solidFill>
                <a:latin typeface="Segoe UI"/>
              </a:rPr>
              <a:t>. The two pixels are </a:t>
            </a:r>
            <a:r>
              <a:rPr sz="1000" b="1" i="0">
                <a:solidFill>
                  <a:srgbClr val="E7EDF4"/>
                </a:solidFill>
                <a:latin typeface="Segoe UI"/>
              </a:rPr>
              <a:t>half a ULP apart</a:t>
            </a:r>
            <a:r>
              <a:rPr sz="1000" b="0" i="0">
                <a:solidFill>
                  <a:srgbClr val="A5B2C4"/>
                </a:solidFill>
                <a:latin typeface="Segoe UI"/>
              </a:rPr>
              <a:t>; in float32 they are *the same number*, and the gate accepts on a tie.</a:t>
            </a:r>
          </a:p>
        </p:txBody>
      </p:sp>
      <p:pic>
        <p:nvPicPr>
          <p:cNvPr id="46" name="Picture 45" descr="fig_spectra_valid.png"/>
          <p:cNvPicPr>
            <a:picLocks noChangeAspect="1"/>
          </p:cNvPicPr>
          <p:nvPr/>
        </p:nvPicPr>
        <p:blipFill>
          <a:blip r:embed="rId2"/>
          <a:stretch>
            <a:fillRect/>
          </a:stretch>
        </p:blipFill>
        <p:spPr>
          <a:xfrm>
            <a:off x="6675120" y="1755648"/>
            <a:ext cx="4937760" cy="3418449"/>
          </a:xfrm>
          <a:prstGeom prst="rect">
            <a:avLst/>
          </a:prstGeom>
        </p:spPr>
      </p:pic>
      <p:sp>
        <p:nvSpPr>
          <p:cNvPr id="47" name="Rectangle 46"/>
          <p:cNvSpPr/>
          <p:nvPr/>
        </p:nvSpPr>
        <p:spPr>
          <a:xfrm>
            <a:off x="681228" y="5340096"/>
            <a:ext cx="10840212" cy="69494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40080" y="5340096"/>
            <a:ext cx="41148" cy="69494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96112" y="5431536"/>
            <a:ext cx="10424160" cy="512064"/>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With the f64 pedestal there are none at all.</a:t>
            </a:r>
            <a:r>
              <a:rPr sz="1050" b="0" i="0">
                <a:solidFill>
                  <a:srgbClr val="A5B2C4"/>
                </a:solidFill>
                <a:latin typeface="Segoe UI"/>
              </a:rPr>
              <a:t> In the shipping f32 build each of the six sits </a:t>
            </a:r>
            <a:r>
              <a:rPr sz="1050" b="1" i="0">
                <a:solidFill>
                  <a:srgbClr val="E7EDF4"/>
                </a:solidFill>
                <a:latin typeface="Segoe UI"/>
              </a:rPr>
              <a:t>one pixel from a cluster both finders found</a:t>
            </a:r>
            <a:r>
              <a:rPr sz="1050" b="0" i="0">
                <a:solidFill>
                  <a:srgbClr val="A5B2C4"/>
                </a:solidFill>
                <a:latin typeface="Segoe UI"/>
              </a:rPr>
              <a:t>, a duplicate neighbour, never a spurious photon and never a missed one.</a:t>
            </a:r>
          </a:p>
        </p:txBody>
      </p:sp>
      <p:sp>
        <p:nvSpPr>
          <p:cNvPr id="50" name="TextBox 49"/>
          <p:cNvSpPr txBox="1"/>
          <p:nvPr/>
        </p:nvSpPr>
        <p:spPr>
          <a:xfrm>
            <a:off x="640080" y="6126480"/>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The same frame 147 as the previous slide, recomputed under each finder's decision-time pedestal. Both finders run the same gate (CPU value == max, CUDA !(val &lt; max)), so the tie separates them, not the expression.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FOR USERS · PYTHON API</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 fast path in eight lines</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31 / 33</a:t>
            </a:r>
          </a:p>
        </p:txBody>
      </p:sp>
      <p:sp>
        <p:nvSpPr>
          <p:cNvPr id="40" name="Rounded Rectangle 39"/>
          <p:cNvSpPr/>
          <p:nvPr/>
        </p:nvSpPr>
        <p:spPr>
          <a:xfrm>
            <a:off x="640080" y="1783080"/>
            <a:ext cx="6949440" cy="2730032"/>
          </a:xfrm>
          <a:prstGeom prst="round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04671" y="1892807"/>
            <a:ext cx="6620255" cy="182880"/>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THE RECOMMENDED PATTERN</a:t>
            </a:r>
          </a:p>
        </p:txBody>
      </p:sp>
      <p:sp>
        <p:nvSpPr>
          <p:cNvPr id="42" name="TextBox 41"/>
          <p:cNvSpPr txBox="1"/>
          <p:nvPr/>
        </p:nvSpPr>
        <p:spPr>
          <a:xfrm>
            <a:off x="804671" y="2112263"/>
            <a:ext cx="6620255" cy="2510576"/>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A5B2C4"/>
                </a:solidFill>
                <a:latin typeface="Consolas"/>
              </a:rPr>
              <a:t>from aare import File, ClusterFinderCUDA</a:t>
            </a:r>
          </a:p>
          <a:p>
            <a:pPr>
              <a:lnSpc>
                <a:spcPct val="112000"/>
              </a:lnSpc>
              <a:spcBef>
                <a:spcPts val="0"/>
              </a:spcBef>
              <a:spcAft>
                <a:spcPts val="0"/>
              </a:spcAft>
            </a:pPr>
          </a:p>
          <a:p>
            <a:pPr>
              <a:lnSpc>
                <a:spcPct val="112000"/>
              </a:lnSpc>
              <a:spcBef>
                <a:spcPts val="0"/>
              </a:spcBef>
              <a:spcAft>
                <a:spcPts val="0"/>
              </a:spcAft>
            </a:pPr>
            <a:r>
              <a:rPr sz="900" b="0" i="0">
                <a:solidFill>
                  <a:srgbClr val="A5B2C4"/>
                </a:solidFill>
                <a:latin typeface="Consolas"/>
              </a:rPr>
              <a:t>cf = ClusterFinderCUDA(image_size=(400, 400), cluster_size=(3, 3),</a:t>
            </a:r>
          </a:p>
          <a:p>
            <a:pPr>
              <a:lnSpc>
                <a:spcPct val="112000"/>
              </a:lnSpc>
              <a:spcBef>
                <a:spcPts val="0"/>
              </a:spcBef>
              <a:spcAft>
                <a:spcPts val="0"/>
              </a:spcAft>
            </a:pPr>
            <a:r>
              <a:rPr sz="900" b="0" i="0">
                <a:solidFill>
                  <a:srgbClr val="A5B2C4"/>
                </a:solidFill>
                <a:latin typeface="Consolas"/>
              </a:rPr>
              <a:t>                       n_sigma=5, </a:t>
            </a:r>
            <a:r>
              <a:rPr sz="900" b="1" i="0">
                <a:solidFill>
                  <a:srgbClr val="1E90C2"/>
                </a:solidFill>
                <a:latin typeface="Consolas"/>
              </a:rPr>
              <a:t>n_streams</a:t>
            </a:r>
            <a:r>
              <a:rPr sz="900" b="0" i="0">
                <a:solidFill>
                  <a:srgbClr val="A5B2C4"/>
                </a:solidFill>
                <a:latin typeface="Consolas"/>
              </a:rPr>
              <a:t>=4,</a:t>
            </a:r>
          </a:p>
          <a:p>
            <a:pPr>
              <a:lnSpc>
                <a:spcPct val="112000"/>
              </a:lnSpc>
              <a:spcBef>
                <a:spcPts val="0"/>
              </a:spcBef>
              <a:spcAft>
                <a:spcPts val="0"/>
              </a:spcAft>
            </a:pPr>
            <a:r>
              <a:rPr sz="900" b="0" i="0">
                <a:solidFill>
                  <a:srgbClr val="A5B2C4"/>
                </a:solidFill>
                <a:latin typeface="Consolas"/>
              </a:rPr>
              <a:t>                       </a:t>
            </a:r>
            <a:r>
              <a:rPr sz="900" b="1" i="0">
                <a:solidFill>
                  <a:srgbClr val="1E90C2"/>
                </a:solidFill>
                <a:latin typeface="Consolas"/>
              </a:rPr>
              <a:t>max_clusters_per_frame</a:t>
            </a:r>
            <a:r>
              <a:rPr sz="900" b="0" i="0">
                <a:solidFill>
                  <a:srgbClr val="A5B2C4"/>
                </a:solidFill>
                <a:latin typeface="Consolas"/>
              </a:rPr>
              <a:t>=3000)</a:t>
            </a:r>
          </a:p>
          <a:p>
            <a:pPr>
              <a:lnSpc>
                <a:spcPct val="112000"/>
              </a:lnSpc>
              <a:spcBef>
                <a:spcPts val="0"/>
              </a:spcBef>
              <a:spcAft>
                <a:spcPts val="0"/>
              </a:spcAft>
            </a:pPr>
          </a:p>
          <a:p>
            <a:pPr>
              <a:lnSpc>
                <a:spcPct val="112000"/>
              </a:lnSpc>
              <a:spcBef>
                <a:spcPts val="0"/>
              </a:spcBef>
              <a:spcAft>
                <a:spcPts val="0"/>
              </a:spcAft>
            </a:pPr>
            <a:r>
              <a:rPr sz="900" b="0" i="0">
                <a:solidFill>
                  <a:srgbClr val="A5B2C4"/>
                </a:solidFill>
                <a:latin typeface="Consolas"/>
              </a:rPr>
              <a:t>for _ in range(1000):                    # 1. train the pedestal</a:t>
            </a:r>
          </a:p>
          <a:p>
            <a:pPr>
              <a:lnSpc>
                <a:spcPct val="112000"/>
              </a:lnSpc>
              <a:spcBef>
                <a:spcPts val="0"/>
              </a:spcBef>
              <a:spcAft>
                <a:spcPts val="0"/>
              </a:spcAft>
            </a:pPr>
            <a:r>
              <a:rPr sz="900" b="0" i="0">
                <a:solidFill>
                  <a:srgbClr val="A5B2C4"/>
                </a:solidFill>
                <a:latin typeface="Consolas"/>
              </a:rPr>
              <a:t>    cf.push_pedestal_frame(pd.read_frame())</a:t>
            </a:r>
          </a:p>
          <a:p>
            <a:pPr>
              <a:lnSpc>
                <a:spcPct val="112000"/>
              </a:lnSpc>
              <a:spcBef>
                <a:spcPts val="0"/>
              </a:spcBef>
              <a:spcAft>
                <a:spcPts val="0"/>
              </a:spcAft>
            </a:pPr>
          </a:p>
          <a:p>
            <a:pPr>
              <a:lnSpc>
                <a:spcPct val="112000"/>
              </a:lnSpc>
              <a:spcBef>
                <a:spcPts val="0"/>
              </a:spcBef>
              <a:spcAft>
                <a:spcPts val="0"/>
              </a:spcAft>
            </a:pPr>
            <a:r>
              <a:rPr sz="900" b="0" i="0">
                <a:solidFill>
                  <a:srgbClr val="A5B2C4"/>
                </a:solidFill>
                <a:latin typeface="Consolas"/>
              </a:rPr>
              <a:t>data = f.read_n(100_000)                 # 2. one contiguous array</a:t>
            </a:r>
          </a:p>
          <a:p>
            <a:pPr>
              <a:lnSpc>
                <a:spcPct val="112000"/>
              </a:lnSpc>
              <a:spcBef>
                <a:spcPts val="0"/>
              </a:spcBef>
              <a:spcAft>
                <a:spcPts val="0"/>
              </a:spcAft>
            </a:pPr>
            <a:r>
              <a:rPr sz="900" b="0" i="0">
                <a:solidFill>
                  <a:srgbClr val="A5B2C4"/>
                </a:solidFill>
                <a:latin typeface="Consolas"/>
              </a:rPr>
              <a:t>cf.</a:t>
            </a:r>
            <a:r>
              <a:rPr sz="900" b="1" i="0">
                <a:solidFill>
                  <a:srgbClr val="1E90C2"/>
                </a:solidFill>
                <a:latin typeface="Consolas"/>
              </a:rPr>
              <a:t>register_input_buffer</a:t>
            </a:r>
            <a:r>
              <a:rPr sz="900" b="0" i="0">
                <a:solidFill>
                  <a:srgbClr val="A5B2C4"/>
                </a:solidFill>
                <a:latin typeface="Consolas"/>
              </a:rPr>
              <a:t>(data)           # 3. pin it once</a:t>
            </a:r>
          </a:p>
          <a:p>
            <a:pPr>
              <a:lnSpc>
                <a:spcPct val="112000"/>
              </a:lnSpc>
              <a:spcBef>
                <a:spcPts val="0"/>
              </a:spcBef>
              <a:spcAft>
                <a:spcPts val="0"/>
              </a:spcAft>
            </a:pPr>
          </a:p>
          <a:p>
            <a:pPr>
              <a:lnSpc>
                <a:spcPct val="112000"/>
              </a:lnSpc>
              <a:spcBef>
                <a:spcPts val="0"/>
              </a:spcBef>
              <a:spcAft>
                <a:spcPts val="0"/>
              </a:spcAft>
            </a:pPr>
            <a:r>
              <a:rPr sz="900" b="0" i="0">
                <a:solidFill>
                  <a:srgbClr val="A5B2C4"/>
                </a:solidFill>
                <a:latin typeface="Consolas"/>
              </a:rPr>
              <a:t>for s in range(0, N, 2000):              # 4. batch through it</a:t>
            </a:r>
          </a:p>
          <a:p>
            <a:pPr>
              <a:lnSpc>
                <a:spcPct val="112000"/>
              </a:lnSpc>
              <a:spcBef>
                <a:spcPts val="0"/>
              </a:spcBef>
              <a:spcAft>
                <a:spcPts val="0"/>
              </a:spcAft>
            </a:pPr>
            <a:r>
              <a:rPr sz="900" b="0" i="0">
                <a:solidFill>
                  <a:srgbClr val="A5B2C4"/>
                </a:solidFill>
                <a:latin typeface="Consolas"/>
              </a:rPr>
              <a:t>    clusters = cf.</a:t>
            </a:r>
            <a:r>
              <a:rPr sz="900" b="1" i="0">
                <a:solidFill>
                  <a:srgbClr val="1E90C2"/>
                </a:solidFill>
                <a:latin typeface="Consolas"/>
              </a:rPr>
              <a:t>find_clusters_batched</a:t>
            </a:r>
            <a:r>
              <a:rPr sz="900" b="0" i="0">
                <a:solidFill>
                  <a:srgbClr val="A5B2C4"/>
                </a:solidFill>
                <a:latin typeface="Consolas"/>
              </a:rPr>
              <a:t>(data[s:s+2000], first_frame=s)</a:t>
            </a:r>
          </a:p>
          <a:p>
            <a:pPr>
              <a:lnSpc>
                <a:spcPct val="112000"/>
              </a:lnSpc>
              <a:spcBef>
                <a:spcPts val="0"/>
              </a:spcBef>
              <a:spcAft>
                <a:spcPts val="0"/>
              </a:spcAft>
            </a:pPr>
          </a:p>
          <a:p>
            <a:pPr>
              <a:lnSpc>
                <a:spcPct val="112000"/>
              </a:lnSpc>
              <a:spcBef>
                <a:spcPts val="0"/>
              </a:spcBef>
              <a:spcAft>
                <a:spcPts val="0"/>
              </a:spcAft>
            </a:pPr>
            <a:r>
              <a:rPr sz="900" b="0" i="0">
                <a:solidFill>
                  <a:srgbClr val="A5B2C4"/>
                </a:solidFill>
                <a:latin typeface="Consolas"/>
              </a:rPr>
              <a:t>cf.unregister_input_buffer()             # 5. release the pages</a:t>
            </a:r>
          </a:p>
        </p:txBody>
      </p:sp>
      <p:sp>
        <p:nvSpPr>
          <p:cNvPr id="43" name="TextBox 42"/>
          <p:cNvSpPr txBox="1"/>
          <p:nvPr/>
        </p:nvSpPr>
        <p:spPr>
          <a:xfrm>
            <a:off x="7863840" y="1828800"/>
            <a:ext cx="3749039" cy="274320"/>
          </a:xfrm>
          <a:prstGeom prst="rect">
            <a:avLst/>
          </a:prstGeom>
          <a:noFill/>
        </p:spPr>
        <p:txBody>
          <a:bodyPr wrap="square" lIns="0" rIns="0" tIns="0" bIns="0" anchor="t">
            <a:spAutoFit/>
          </a:bodyPr>
          <a:lstStyle/>
          <a:p>
            <a:pPr>
              <a:lnSpc>
                <a:spcPct val="125000"/>
              </a:lnSpc>
              <a:spcBef>
                <a:spcPts val="0"/>
              </a:spcBef>
              <a:spcAft>
                <a:spcPts val="700"/>
              </a:spcAft>
            </a:pPr>
            <a:r>
              <a:rPr sz="1000" b="0" i="0">
                <a:solidFill>
                  <a:srgbClr val="6B7A90"/>
                </a:solidFill>
                <a:latin typeface="Segoe UI"/>
              </a:rPr>
              <a:t>•  </a:t>
            </a:r>
            <a:r>
              <a:rPr sz="1000" b="0" i="0">
                <a:solidFill>
                  <a:srgbClr val="A5B2C4"/>
                </a:solidFill>
                <a:latin typeface="Segoe UI"/>
              </a:rPr>
              <a:t>find_clusters_batched returns </a:t>
            </a:r>
            <a:r>
              <a:rPr sz="1000" b="1" i="0">
                <a:solidFill>
                  <a:srgbClr val="E7EDF4"/>
                </a:solidFill>
                <a:latin typeface="Segoe UI"/>
              </a:rPr>
              <a:t>one ClusterVector per frame</a:t>
            </a:r>
            <a:r>
              <a:rPr sz="1000" b="0" i="0">
                <a:solidFill>
                  <a:srgbClr val="A5B2C4"/>
                </a:solidFill>
                <a:latin typeface="Segoe UI"/>
              </a:rPr>
              <a:t>, in order, and does opt5's chunked overlap internally, so you get it for free.</a:t>
            </a:r>
          </a:p>
          <a:p>
            <a:pPr>
              <a:lnSpc>
                <a:spcPct val="125000"/>
              </a:lnSpc>
              <a:spcBef>
                <a:spcPts val="0"/>
              </a:spcBef>
              <a:spcAft>
                <a:spcPts val="700"/>
              </a:spcAft>
            </a:pPr>
            <a:r>
              <a:rPr sz="1000" b="0" i="0">
                <a:solidFill>
                  <a:srgbClr val="6B7A90"/>
                </a:solidFill>
                <a:latin typeface="Segoe UI"/>
              </a:rPr>
              <a:t>•  </a:t>
            </a:r>
            <a:r>
              <a:rPr sz="1000" b="0" i="0">
                <a:solidFill>
                  <a:srgbClr val="A5B2C4"/>
                </a:solidFill>
                <a:latin typeface="Segoe UI"/>
              </a:rPr>
              <a:t>register_input_buffer is what turns opt3 into opt4: </a:t>
            </a:r>
            <a:r>
              <a:rPr sz="1000" b="1" i="0">
                <a:solidFill>
                  <a:srgbClr val="E7EDF4"/>
                </a:solidFill>
                <a:latin typeface="Segoe UI"/>
              </a:rPr>
              <a:t>one call</a:t>
            </a:r>
            <a:r>
              <a:rPr sz="1000" b="0" i="0">
                <a:solidFill>
                  <a:srgbClr val="A5B2C4"/>
                </a:solidFill>
                <a:latin typeface="Segoe UI"/>
              </a:rPr>
              <a:t>.</a:t>
            </a:r>
          </a:p>
        </p:txBody>
      </p:sp>
      <p:sp>
        <p:nvSpPr>
          <p:cNvPr id="44" name="Rounded Rectangle 43"/>
          <p:cNvSpPr/>
          <p:nvPr/>
        </p:nvSpPr>
        <p:spPr>
          <a:xfrm>
            <a:off x="7863840" y="3246120"/>
            <a:ext cx="3749039" cy="1154887"/>
          </a:xfrm>
          <a:prstGeom prst="round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028431" y="3355848"/>
            <a:ext cx="3419856" cy="182880"/>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IF YOU REDUCE AS YOU GO</a:t>
            </a:r>
          </a:p>
        </p:txBody>
      </p:sp>
      <p:sp>
        <p:nvSpPr>
          <p:cNvPr id="46" name="TextBox 45"/>
          <p:cNvSpPr txBox="1"/>
          <p:nvPr/>
        </p:nvSpPr>
        <p:spPr>
          <a:xfrm>
            <a:off x="8028431" y="3575304"/>
            <a:ext cx="3419856" cy="935431"/>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6B7A90"/>
                </a:solidFill>
                <a:latin typeface="Consolas"/>
              </a:rPr>
              <a:t># opt6: never copy</a:t>
            </a:r>
          </a:p>
          <a:p>
            <a:pPr>
              <a:lnSpc>
                <a:spcPct val="112000"/>
              </a:lnSpc>
              <a:spcBef>
                <a:spcPts val="0"/>
              </a:spcBef>
              <a:spcAft>
                <a:spcPts val="0"/>
              </a:spcAft>
            </a:pPr>
            <a:r>
              <a:rPr sz="900" b="0" i="0">
                <a:solidFill>
                  <a:srgbClr val="A5B2C4"/>
                </a:solidFill>
                <a:latin typeface="Consolas"/>
              </a:rPr>
              <a:t>for v in cf.</a:t>
            </a:r>
            <a:r>
              <a:rPr sz="900" b="1" i="0">
                <a:solidFill>
                  <a:srgbClr val="1E90C2"/>
                </a:solidFill>
                <a:latin typeface="Consolas"/>
              </a:rPr>
              <a:t>find_cluster_views_</a:t>
            </a:r>
          </a:p>
          <a:p>
            <a:pPr>
              <a:lnSpc>
                <a:spcPct val="112000"/>
              </a:lnSpc>
              <a:spcBef>
                <a:spcPts val="0"/>
              </a:spcBef>
              <a:spcAft>
                <a:spcPts val="0"/>
              </a:spcAft>
            </a:pPr>
            <a:r>
              <a:rPr sz="900" b="0" i="0">
                <a:solidFill>
                  <a:srgbClr val="A5B2C4"/>
                </a:solidFill>
                <a:latin typeface="Consolas"/>
              </a:rPr>
              <a:t>          batched_iter</a:t>
            </a:r>
            <a:r>
              <a:rPr sz="900" b="0" i="0">
                <a:solidFill>
                  <a:srgbClr val="A5B2C4"/>
                </a:solidFill>
                <a:latin typeface="Consolas"/>
              </a:rPr>
              <a:t>(data, 2000):</a:t>
            </a:r>
          </a:p>
          <a:p>
            <a:pPr>
              <a:lnSpc>
                <a:spcPct val="112000"/>
              </a:lnSpc>
              <a:spcBef>
                <a:spcPts val="0"/>
              </a:spcBef>
              <a:spcAft>
                <a:spcPts val="0"/>
              </a:spcAft>
            </a:pPr>
            <a:r>
              <a:rPr sz="900" b="0" i="0">
                <a:solidFill>
                  <a:srgbClr val="A5B2C4"/>
                </a:solidFill>
                <a:latin typeface="Consolas"/>
              </a:rPr>
              <a:t>    hist.fill(v.sums())</a:t>
            </a:r>
          </a:p>
          <a:p>
            <a:pPr>
              <a:lnSpc>
                <a:spcPct val="112000"/>
              </a:lnSpc>
              <a:spcBef>
                <a:spcPts val="0"/>
              </a:spcBef>
              <a:spcAft>
                <a:spcPts val="0"/>
              </a:spcAft>
            </a:pPr>
            <a:r>
              <a:rPr sz="900" b="0" i="0">
                <a:solidFill>
                  <a:srgbClr val="6B7A90"/>
                </a:solidFill>
                <a:latin typeface="Consolas"/>
              </a:rPr>
              <a:t>    # views die with the chunk</a:t>
            </a:r>
          </a:p>
        </p:txBody>
      </p:sp>
      <p:sp>
        <p:nvSpPr>
          <p:cNvPr id="47" name="Rectangle 46"/>
          <p:cNvSpPr/>
          <p:nvPr/>
        </p:nvSpPr>
        <p:spPr>
          <a:xfrm>
            <a:off x="7904988" y="4800600"/>
            <a:ext cx="3707891" cy="86868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863840" y="4800600"/>
            <a:ext cx="41148" cy="86868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119871" y="4892040"/>
            <a:ext cx="3291839" cy="685800"/>
          </a:xfrm>
          <a:prstGeom prst="rect">
            <a:avLst/>
          </a:prstGeom>
          <a:noFill/>
        </p:spPr>
        <p:txBody>
          <a:bodyPr wrap="square" lIns="0" rIns="0" tIns="0" bIns="0" anchor="ctr">
            <a:spAutoFit/>
          </a:bodyPr>
          <a:lstStyle/>
          <a:p>
            <a:pPr>
              <a:lnSpc>
                <a:spcPct val="120000"/>
              </a:lnSpc>
              <a:spcBef>
                <a:spcPts val="0"/>
              </a:spcBef>
              <a:spcAft>
                <a:spcPts val="0"/>
              </a:spcAft>
            </a:pPr>
            <a:r>
              <a:rPr sz="1000" b="1" i="0">
                <a:solidFill>
                  <a:srgbClr val="E7EDF4"/>
                </a:solidFill>
                <a:latin typeface="Segoe UI"/>
              </a:rPr>
              <a:t>×1.16 at 3×3, ×2.21 at 9×9.</a:t>
            </a:r>
            <a:r>
              <a:rPr sz="1000" b="0" i="0">
                <a:solidFill>
                  <a:srgbClr val="A5B2C4"/>
                </a:solidFill>
                <a:latin typeface="Segoe UI"/>
              </a:rPr>
              <a:t> The views expose every cluster; they only withhold ownership past the chunk.</a:t>
            </a:r>
          </a:p>
        </p:txBody>
      </p:sp>
      <p:sp>
        <p:nvSpPr>
          <p:cNvPr id="50" name="Rectangle 49"/>
          <p:cNvSpPr/>
          <p:nvPr/>
        </p:nvSpPr>
        <p:spPr>
          <a:xfrm>
            <a:off x="7904988" y="5806440"/>
            <a:ext cx="3707891" cy="65836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7863840" y="5806440"/>
            <a:ext cx="41148" cy="65836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119871" y="5897879"/>
            <a:ext cx="3291839" cy="475488"/>
          </a:xfrm>
          <a:prstGeom prst="rect">
            <a:avLst/>
          </a:prstGeom>
          <a:noFill/>
        </p:spPr>
        <p:txBody>
          <a:bodyPr wrap="square" lIns="0" rIns="0" tIns="0" bIns="0" anchor="ctr">
            <a:spAutoFit/>
          </a:bodyPr>
          <a:lstStyle/>
          <a:p>
            <a:pPr>
              <a:lnSpc>
                <a:spcPct val="120000"/>
              </a:lnSpc>
              <a:spcBef>
                <a:spcPts val="0"/>
              </a:spcBef>
              <a:spcAft>
                <a:spcPts val="0"/>
              </a:spcAft>
            </a:pPr>
            <a:r>
              <a:rPr sz="1000" b="0" i="0">
                <a:solidFill>
                  <a:srgbClr val="A5B2C4"/>
                </a:solidFill>
                <a:latin typeface="Segoe UI"/>
              </a:rPr>
              <a:t>Pin </a:t>
            </a:r>
            <a:r>
              <a:rPr sz="1000" b="1" i="0">
                <a:solidFill>
                  <a:srgbClr val="E7EDF4"/>
                </a:solidFill>
                <a:latin typeface="Segoe UI"/>
              </a:rPr>
              <a:t>once</a:t>
            </a:r>
            <a:r>
              <a:rPr sz="1000" b="0" i="0">
                <a:solidFill>
                  <a:srgbClr val="A5B2C4"/>
                </a:solidFill>
                <a:latin typeface="Segoe UI"/>
              </a:rPr>
              <a:t>, outside the loop. Slices of a registered array inherit the pinning.</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FOR USERS · CHOOSING THE KNOBS</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Five knobs, and the one that silently truncates</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32 / 33</a:t>
            </a:r>
          </a:p>
        </p:txBody>
      </p:sp>
      <p:sp>
        <p:nvSpPr>
          <p:cNvPr id="40" name="Rectangle 39"/>
          <p:cNvSpPr/>
          <p:nvPr/>
        </p:nvSpPr>
        <p:spPr>
          <a:xfrm>
            <a:off x="640080" y="1828800"/>
            <a:ext cx="10881360" cy="36576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96112" y="1911095"/>
            <a:ext cx="4572000" cy="274320"/>
          </a:xfrm>
          <a:prstGeom prst="rect">
            <a:avLst/>
          </a:prstGeom>
          <a:noFill/>
        </p:spPr>
        <p:txBody>
          <a:bodyPr wrap="square" lIns="0" rIns="0" tIns="0" bIns="0" anchor="t">
            <a:spAutoFit/>
          </a:bodyPr>
          <a:lstStyle/>
          <a:p>
            <a:pPr>
              <a:spcBef>
                <a:spcPts val="0"/>
              </a:spcBef>
              <a:spcAft>
                <a:spcPts val="0"/>
              </a:spcAft>
            </a:pPr>
            <a:r>
              <a:rPr sz="900" b="1" i="0" spc="130">
                <a:solidFill>
                  <a:srgbClr val="6B7A90"/>
                </a:solidFill>
                <a:latin typeface="Segoe UI"/>
              </a:rPr>
              <a:t>PARAMETER</a:t>
            </a:r>
          </a:p>
        </p:txBody>
      </p:sp>
      <p:sp>
        <p:nvSpPr>
          <p:cNvPr id="42" name="TextBox 41"/>
          <p:cNvSpPr txBox="1"/>
          <p:nvPr/>
        </p:nvSpPr>
        <p:spPr>
          <a:xfrm>
            <a:off x="3154679" y="1911095"/>
            <a:ext cx="4572000" cy="274320"/>
          </a:xfrm>
          <a:prstGeom prst="rect">
            <a:avLst/>
          </a:prstGeom>
          <a:noFill/>
        </p:spPr>
        <p:txBody>
          <a:bodyPr wrap="square" lIns="0" rIns="0" tIns="0" bIns="0" anchor="t">
            <a:spAutoFit/>
          </a:bodyPr>
          <a:lstStyle/>
          <a:p>
            <a:pPr>
              <a:spcBef>
                <a:spcPts val="0"/>
              </a:spcBef>
              <a:spcAft>
                <a:spcPts val="0"/>
              </a:spcAft>
            </a:pPr>
            <a:r>
              <a:rPr sz="900" b="1" i="0" spc="130">
                <a:solidFill>
                  <a:srgbClr val="6B7A90"/>
                </a:solidFill>
                <a:latin typeface="Segoe UI"/>
              </a:rPr>
              <a:t>WHAT IT DOES</a:t>
            </a:r>
          </a:p>
        </p:txBody>
      </p:sp>
      <p:sp>
        <p:nvSpPr>
          <p:cNvPr id="43" name="TextBox 42"/>
          <p:cNvSpPr txBox="1"/>
          <p:nvPr/>
        </p:nvSpPr>
        <p:spPr>
          <a:xfrm>
            <a:off x="4617720" y="1911095"/>
            <a:ext cx="4572000" cy="274320"/>
          </a:xfrm>
          <a:prstGeom prst="rect">
            <a:avLst/>
          </a:prstGeom>
          <a:noFill/>
        </p:spPr>
        <p:txBody>
          <a:bodyPr wrap="square" lIns="0" rIns="0" tIns="0" bIns="0" anchor="t">
            <a:spAutoFit/>
          </a:bodyPr>
          <a:lstStyle/>
          <a:p>
            <a:pPr>
              <a:spcBef>
                <a:spcPts val="0"/>
              </a:spcBef>
              <a:spcAft>
                <a:spcPts val="0"/>
              </a:spcAft>
            </a:pPr>
            <a:r>
              <a:rPr sz="900" b="1" i="0" spc="130">
                <a:solidFill>
                  <a:srgbClr val="6B7A90"/>
                </a:solidFill>
                <a:latin typeface="Segoe UI"/>
              </a:rPr>
              <a:t>GUIDANCE</a:t>
            </a:r>
          </a:p>
        </p:txBody>
      </p:sp>
      <p:sp>
        <p:nvSpPr>
          <p:cNvPr id="44" name="Rectangle 43"/>
          <p:cNvSpPr/>
          <p:nvPr/>
        </p:nvSpPr>
        <p:spPr>
          <a:xfrm>
            <a:off x="640080" y="2231136"/>
            <a:ext cx="10881360" cy="74980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6112" y="2359152"/>
            <a:ext cx="2377440" cy="457200"/>
          </a:xfrm>
          <a:prstGeom prst="rect">
            <a:avLst/>
          </a:prstGeom>
          <a:noFill/>
        </p:spPr>
        <p:txBody>
          <a:bodyPr wrap="square" lIns="0" rIns="0" tIns="0" bIns="0" anchor="t">
            <a:spAutoFit/>
          </a:bodyPr>
          <a:lstStyle/>
          <a:p>
            <a:pPr>
              <a:lnSpc>
                <a:spcPct val="110000"/>
              </a:lnSpc>
              <a:spcBef>
                <a:spcPts val="0"/>
              </a:spcBef>
              <a:spcAft>
                <a:spcPts val="0"/>
              </a:spcAft>
            </a:pPr>
            <a:r>
              <a:rPr sz="950" b="1" i="0">
                <a:solidFill>
                  <a:srgbClr val="1E90C2"/>
                </a:solidFill>
                <a:latin typeface="Consolas"/>
              </a:rPr>
              <a:t>n_streams</a:t>
            </a:r>
          </a:p>
        </p:txBody>
      </p:sp>
      <p:sp>
        <p:nvSpPr>
          <p:cNvPr id="46" name="TextBox 45"/>
          <p:cNvSpPr txBox="1"/>
          <p:nvPr/>
        </p:nvSpPr>
        <p:spPr>
          <a:xfrm>
            <a:off x="3383280" y="2359152"/>
            <a:ext cx="265176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E7EDF4"/>
                </a:solidFill>
                <a:latin typeface="Segoe UI"/>
              </a:rPr>
              <a:t>How many frames may be in flight at once: an upper bound, not a count: the copy engines cap the real number below it.</a:t>
            </a:r>
          </a:p>
        </p:txBody>
      </p:sp>
      <p:sp>
        <p:nvSpPr>
          <p:cNvPr id="47" name="TextBox 46"/>
          <p:cNvSpPr txBox="1"/>
          <p:nvPr/>
        </p:nvSpPr>
        <p:spPr>
          <a:xfrm>
            <a:off x="6263640" y="2359152"/>
            <a:ext cx="493776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4 at both sizes. 8 buys no kernel concurrency at 9×9 (+1% instance time) and inflates the CUDA-event timer 3.5×.</a:t>
            </a:r>
          </a:p>
        </p:txBody>
      </p:sp>
      <p:sp>
        <p:nvSpPr>
          <p:cNvPr id="48" name="TextBox 47"/>
          <p:cNvSpPr txBox="1"/>
          <p:nvPr/>
        </p:nvSpPr>
        <p:spPr>
          <a:xfrm>
            <a:off x="896112" y="3090672"/>
            <a:ext cx="2377440" cy="457200"/>
          </a:xfrm>
          <a:prstGeom prst="rect">
            <a:avLst/>
          </a:prstGeom>
          <a:noFill/>
        </p:spPr>
        <p:txBody>
          <a:bodyPr wrap="square" lIns="0" rIns="0" tIns="0" bIns="0" anchor="t">
            <a:spAutoFit/>
          </a:bodyPr>
          <a:lstStyle/>
          <a:p>
            <a:pPr>
              <a:lnSpc>
                <a:spcPct val="110000"/>
              </a:lnSpc>
              <a:spcBef>
                <a:spcPts val="0"/>
              </a:spcBef>
              <a:spcAft>
                <a:spcPts val="0"/>
              </a:spcAft>
            </a:pPr>
            <a:r>
              <a:rPr sz="950" b="1" i="0">
                <a:solidFill>
                  <a:srgbClr val="1E90C2"/>
                </a:solidFill>
                <a:latin typeface="Consolas"/>
              </a:rPr>
              <a:t>max_clusters_per_frame</a:t>
            </a:r>
          </a:p>
        </p:txBody>
      </p:sp>
      <p:sp>
        <p:nvSpPr>
          <p:cNvPr id="49" name="TextBox 48"/>
          <p:cNvSpPr txBox="1"/>
          <p:nvPr/>
        </p:nvSpPr>
        <p:spPr>
          <a:xfrm>
            <a:off x="3383280" y="3090672"/>
            <a:ext cx="265176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E7EDF4"/>
                </a:solidFill>
                <a:latin typeface="Segoe UI"/>
              </a:rPr>
              <a:t>Fixed size of the per-frame D2H transfer.</a:t>
            </a:r>
          </a:p>
        </p:txBody>
      </p:sp>
      <p:sp>
        <p:nvSpPr>
          <p:cNvPr id="50" name="TextBox 49"/>
          <p:cNvSpPr txBox="1"/>
          <p:nvPr/>
        </p:nvSpPr>
        <p:spPr>
          <a:xfrm>
            <a:off x="6263640" y="3090672"/>
            <a:ext cx="493776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Must exceed the real maximum or clusters are silently dropped, and it sets the D2H bar directly. Measured at 9×9: the maximum is 1 633, and the lossless cap of 1 700 already makes D2H the bottleneck on the f32 build.</a:t>
            </a:r>
          </a:p>
        </p:txBody>
      </p:sp>
      <p:sp>
        <p:nvSpPr>
          <p:cNvPr id="51" name="Rectangle 50"/>
          <p:cNvSpPr/>
          <p:nvPr/>
        </p:nvSpPr>
        <p:spPr>
          <a:xfrm>
            <a:off x="640080" y="3694176"/>
            <a:ext cx="10881360" cy="74980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96112" y="3822191"/>
            <a:ext cx="2377440" cy="457200"/>
          </a:xfrm>
          <a:prstGeom prst="rect">
            <a:avLst/>
          </a:prstGeom>
          <a:noFill/>
        </p:spPr>
        <p:txBody>
          <a:bodyPr wrap="square" lIns="0" rIns="0" tIns="0" bIns="0" anchor="t">
            <a:spAutoFit/>
          </a:bodyPr>
          <a:lstStyle/>
          <a:p>
            <a:pPr>
              <a:lnSpc>
                <a:spcPct val="110000"/>
              </a:lnSpc>
              <a:spcBef>
                <a:spcPts val="0"/>
              </a:spcBef>
              <a:spcAft>
                <a:spcPts val="0"/>
              </a:spcAft>
            </a:pPr>
            <a:r>
              <a:rPr sz="950" b="1" i="0">
                <a:solidFill>
                  <a:srgbClr val="1E90C2"/>
                </a:solidFill>
                <a:latin typeface="Consolas"/>
              </a:rPr>
              <a:t>batch size</a:t>
            </a:r>
          </a:p>
        </p:txBody>
      </p:sp>
      <p:sp>
        <p:nvSpPr>
          <p:cNvPr id="53" name="TextBox 52"/>
          <p:cNvSpPr txBox="1"/>
          <p:nvPr/>
        </p:nvSpPr>
        <p:spPr>
          <a:xfrm>
            <a:off x="3383280" y="3822191"/>
            <a:ext cx="265176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E7EDF4"/>
                </a:solidFill>
                <a:latin typeface="Segoe UI"/>
              </a:rPr>
              <a:t>Frames per find_clusters_batched call.</a:t>
            </a:r>
          </a:p>
        </p:txBody>
      </p:sp>
      <p:sp>
        <p:nvSpPr>
          <p:cNvPr id="54" name="TextBox 53"/>
          <p:cNvSpPr txBox="1"/>
          <p:nvPr/>
        </p:nvSpPr>
        <p:spPr>
          <a:xfrm>
            <a:off x="6263640" y="3822191"/>
            <a:ext cx="493776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2 000 amortises launch overhead without a large pinned footprint.</a:t>
            </a:r>
          </a:p>
        </p:txBody>
      </p:sp>
      <p:sp>
        <p:nvSpPr>
          <p:cNvPr id="55" name="TextBox 54"/>
          <p:cNvSpPr txBox="1"/>
          <p:nvPr/>
        </p:nvSpPr>
        <p:spPr>
          <a:xfrm>
            <a:off x="896112" y="4553712"/>
            <a:ext cx="2377440" cy="457200"/>
          </a:xfrm>
          <a:prstGeom prst="rect">
            <a:avLst/>
          </a:prstGeom>
          <a:noFill/>
        </p:spPr>
        <p:txBody>
          <a:bodyPr wrap="square" lIns="0" rIns="0" tIns="0" bIns="0" anchor="t">
            <a:spAutoFit/>
          </a:bodyPr>
          <a:lstStyle/>
          <a:p>
            <a:pPr>
              <a:lnSpc>
                <a:spcPct val="110000"/>
              </a:lnSpc>
              <a:spcBef>
                <a:spcPts val="0"/>
              </a:spcBef>
              <a:spcAft>
                <a:spcPts val="0"/>
              </a:spcAft>
            </a:pPr>
            <a:r>
              <a:rPr sz="950" b="1" i="0">
                <a:solidFill>
                  <a:srgbClr val="1E90C2"/>
                </a:solidFill>
                <a:latin typeface="Consolas"/>
              </a:rPr>
              <a:t>cluster_size</a:t>
            </a:r>
          </a:p>
        </p:txBody>
      </p:sp>
      <p:sp>
        <p:nvSpPr>
          <p:cNvPr id="56" name="TextBox 55"/>
          <p:cNvSpPr txBox="1"/>
          <p:nvPr/>
        </p:nvSpPr>
        <p:spPr>
          <a:xfrm>
            <a:off x="3383280" y="4553712"/>
            <a:ext cx="265176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E7EDF4"/>
                </a:solidFill>
                <a:latin typeface="Segoe UI"/>
              </a:rPr>
              <a:t>Compile-time stencil geometry.</a:t>
            </a:r>
          </a:p>
        </p:txBody>
      </p:sp>
      <p:sp>
        <p:nvSpPr>
          <p:cNvPr id="57" name="TextBox 56"/>
          <p:cNvSpPr txBox="1"/>
          <p:nvPr/>
        </p:nvSpPr>
        <p:spPr>
          <a:xfrm>
            <a:off x="6263640" y="4553712"/>
            <a:ext cx="493776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3×3 and 9×9 are registered; 9×9 moves the bottleneck off H2D and onto the kernel on f64, and onto D2H once opt7 shortens it.</a:t>
            </a:r>
          </a:p>
        </p:txBody>
      </p:sp>
      <p:sp>
        <p:nvSpPr>
          <p:cNvPr id="58" name="Rectangle 57"/>
          <p:cNvSpPr/>
          <p:nvPr/>
        </p:nvSpPr>
        <p:spPr>
          <a:xfrm>
            <a:off x="640080" y="5157216"/>
            <a:ext cx="10881360" cy="74980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96112" y="5285231"/>
            <a:ext cx="2377440" cy="457200"/>
          </a:xfrm>
          <a:prstGeom prst="rect">
            <a:avLst/>
          </a:prstGeom>
          <a:noFill/>
        </p:spPr>
        <p:txBody>
          <a:bodyPr wrap="square" lIns="0" rIns="0" tIns="0" bIns="0" anchor="t">
            <a:spAutoFit/>
          </a:bodyPr>
          <a:lstStyle/>
          <a:p>
            <a:pPr>
              <a:lnSpc>
                <a:spcPct val="110000"/>
              </a:lnSpc>
              <a:spcBef>
                <a:spcPts val="0"/>
              </a:spcBef>
              <a:spcAft>
                <a:spcPts val="0"/>
              </a:spcAft>
            </a:pPr>
            <a:r>
              <a:rPr sz="950" b="1" i="0">
                <a:solidFill>
                  <a:srgbClr val="1E90C2"/>
                </a:solidFill>
                <a:latin typeface="Consolas"/>
              </a:rPr>
              <a:t>register_input_buffer</a:t>
            </a:r>
          </a:p>
        </p:txBody>
      </p:sp>
      <p:sp>
        <p:nvSpPr>
          <p:cNvPr id="60" name="TextBox 59"/>
          <p:cNvSpPr txBox="1"/>
          <p:nvPr/>
        </p:nvSpPr>
        <p:spPr>
          <a:xfrm>
            <a:off x="3383280" y="5285231"/>
            <a:ext cx="265176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E7EDF4"/>
                </a:solidFill>
                <a:latin typeface="Segoe UI"/>
              </a:rPr>
              <a:t>Page-locks the host array for DMA.</a:t>
            </a:r>
          </a:p>
        </p:txBody>
      </p:sp>
      <p:sp>
        <p:nvSpPr>
          <p:cNvPr id="61" name="TextBox 60"/>
          <p:cNvSpPr txBox="1"/>
          <p:nvPr/>
        </p:nvSpPr>
        <p:spPr>
          <a:xfrm>
            <a:off x="6263640" y="5285231"/>
            <a:ext cx="493776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Always, if the data is already in RAM. Check the pinning budget first.</a:t>
            </a:r>
          </a:p>
        </p:txBody>
      </p:sp>
      <p:sp>
        <p:nvSpPr>
          <p:cNvPr id="62" name="Rounded Rectangle 61"/>
          <p:cNvSpPr/>
          <p:nvPr/>
        </p:nvSpPr>
        <p:spPr>
          <a:xfrm>
            <a:off x="603503" y="2916936"/>
            <a:ext cx="10954512" cy="841248"/>
          </a:xfrm>
          <a:prstGeom prst="roundRect">
            <a:avLst>
              <a:gd name="adj" fmla="val 6000"/>
            </a:avLst>
          </a:prstGeom>
          <a:noFill/>
          <a:ln w="22225">
            <a:solidFill>
              <a:srgbClr val="E254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81228" y="5989320"/>
            <a:ext cx="10200132" cy="60350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640080" y="5989320"/>
            <a:ext cx="41148" cy="603504"/>
          </a:xfrm>
          <a:prstGeom prst="rect">
            <a:avLst/>
          </a:prstGeom>
          <a:solidFill>
            <a:srgbClr val="E254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896112" y="6080759"/>
            <a:ext cx="9784080" cy="420624"/>
          </a:xfrm>
          <a:prstGeom prst="rect">
            <a:avLst/>
          </a:prstGeom>
          <a:noFill/>
        </p:spPr>
        <p:txBody>
          <a:bodyPr wrap="square" lIns="0" rIns="0" tIns="0" bIns="0" anchor="ctr">
            <a:spAutoFit/>
          </a:bodyPr>
          <a:lstStyle/>
          <a:p>
            <a:pPr>
              <a:lnSpc>
                <a:spcPct val="120000"/>
              </a:lnSpc>
              <a:spcBef>
                <a:spcPts val="0"/>
              </a:spcBef>
              <a:spcAft>
                <a:spcPts val="0"/>
              </a:spcAft>
            </a:pPr>
            <a:r>
              <a:rPr sz="1000" b="0" i="0">
                <a:solidFill>
                  <a:srgbClr val="A5B2C4"/>
                </a:solidFill>
                <a:latin typeface="Segoe UI"/>
              </a:rPr>
              <a:t>The single most common mistake: leaving </a:t>
            </a:r>
            <a:r>
              <a:rPr sz="1000" b="1" i="0">
                <a:solidFill>
                  <a:srgbClr val="E7EDF4"/>
                </a:solidFill>
                <a:latin typeface="Segoe UI"/>
              </a:rPr>
              <a:t>max_clusters_per_frame</a:t>
            </a:r>
            <a:r>
              <a:rPr sz="1000" b="0" i="0">
                <a:solidFill>
                  <a:srgbClr val="A5B2C4"/>
                </a:solidFill>
                <a:latin typeface="Segoe UI"/>
              </a:rPr>
              <a:t> too low. It does not error; it truncates, and every frame quietly returns the same count.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WHERE THIS LEAVES US</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 bottleneck has walked from the host, to the GPU, to the wire</a:t>
            </a:r>
          </a:p>
        </p:txBody>
      </p:sp>
      <p:sp>
        <p:nvSpPr>
          <p:cNvPr id="6" name="Rectangle 5"/>
          <p:cNvSpPr/>
          <p:nvPr/>
        </p:nvSpPr>
        <p:spPr>
          <a:xfrm>
            <a:off x="640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4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4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54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59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164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78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88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992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97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602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7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212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16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21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264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312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736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0408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45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50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600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64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8696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744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4792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84080"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0888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93679" y="6656832"/>
            <a:ext cx="274320"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33 / 33</a:t>
            </a:r>
          </a:p>
        </p:txBody>
      </p:sp>
      <p:sp>
        <p:nvSpPr>
          <p:cNvPr id="40" name="Rectangle 39"/>
          <p:cNvSpPr/>
          <p:nvPr/>
        </p:nvSpPr>
        <p:spPr>
          <a:xfrm>
            <a:off x="640080" y="1874519"/>
            <a:ext cx="5349240" cy="1874519"/>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40080" y="1874519"/>
            <a:ext cx="53492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14400" y="2112263"/>
            <a:ext cx="1280160" cy="237744"/>
          </a:xfrm>
          <a:prstGeom prst="rect">
            <a:avLst/>
          </a:prstGeom>
          <a:noFill/>
        </p:spPr>
        <p:txBody>
          <a:bodyPr wrap="square" lIns="0" rIns="0" tIns="0" bIns="0" anchor="t">
            <a:spAutoFit/>
          </a:bodyPr>
          <a:lstStyle/>
          <a:p>
            <a:pPr>
              <a:spcBef>
                <a:spcPts val="0"/>
              </a:spcBef>
              <a:spcAft>
                <a:spcPts val="0"/>
              </a:spcAft>
            </a:pPr>
            <a:r>
              <a:rPr sz="900" b="1" i="0" spc="150">
                <a:solidFill>
                  <a:srgbClr val="1E90C2"/>
                </a:solidFill>
                <a:latin typeface="Segoe UI"/>
              </a:rPr>
              <a:t>DONE</a:t>
            </a:r>
          </a:p>
        </p:txBody>
      </p:sp>
      <p:sp>
        <p:nvSpPr>
          <p:cNvPr id="43" name="TextBox 42"/>
          <p:cNvSpPr txBox="1"/>
          <p:nvPr/>
        </p:nvSpPr>
        <p:spPr>
          <a:xfrm>
            <a:off x="914400" y="2423160"/>
            <a:ext cx="4754880" cy="365760"/>
          </a:xfrm>
          <a:prstGeom prst="rect">
            <a:avLst/>
          </a:prstGeom>
          <a:noFill/>
        </p:spPr>
        <p:txBody>
          <a:bodyPr wrap="square" lIns="0" rIns="0" tIns="0" bIns="0" anchor="t">
            <a:spAutoFit/>
          </a:bodyPr>
          <a:lstStyle/>
          <a:p>
            <a:pPr>
              <a:lnSpc>
                <a:spcPct val="110000"/>
              </a:lnSpc>
              <a:spcBef>
                <a:spcPts val="0"/>
              </a:spcBef>
              <a:spcAft>
                <a:spcPts val="0"/>
              </a:spcAft>
            </a:pPr>
            <a:r>
              <a:rPr sz="1400" b="1" i="0">
                <a:solidFill>
                  <a:srgbClr val="E7EDF4"/>
                </a:solidFill>
                <a:latin typeface="Segoe UI"/>
              </a:rPr>
              <a:t>×9.1 at 3×3, ×26.5 at 9×9</a:t>
            </a:r>
          </a:p>
        </p:txBody>
      </p:sp>
      <p:sp>
        <p:nvSpPr>
          <p:cNvPr id="44" name="TextBox 43"/>
          <p:cNvSpPr txBox="1"/>
          <p:nvPr/>
        </p:nvSpPr>
        <p:spPr>
          <a:xfrm>
            <a:off x="914400" y="2898648"/>
            <a:ext cx="4754880" cy="777240"/>
          </a:xfrm>
          <a:prstGeom prst="rect">
            <a:avLst/>
          </a:prstGeom>
          <a:noFill/>
        </p:spPr>
        <p:txBody>
          <a:bodyPr wrap="square" lIns="0" rIns="0" tIns="0" bIns="0" anchor="t">
            <a:spAutoFit/>
          </a:bodyPr>
          <a:lstStyle/>
          <a:p>
            <a:pPr>
              <a:lnSpc>
                <a:spcPct val="130000"/>
              </a:lnSpc>
              <a:spcBef>
                <a:spcPts val="0"/>
              </a:spcBef>
              <a:spcAft>
                <a:spcPts val="0"/>
              </a:spcAft>
            </a:pPr>
            <a:r>
              <a:rPr sz="1000" b="0" i="0">
                <a:solidFill>
                  <a:srgbClr val="A5B2C4"/>
                </a:solidFill>
                <a:latin typeface="Segoe UI"/>
              </a:rPr>
              <a:t>16.3 and 25.1 µs/frame end to end, both sitting on their hardware floor. At 3×3 that is 58 495 FPS against MÖNCH03's 1.3 kHz standard frame rate: 45× the detector, and ~10× its optimised 3–6 kHz ceiling.</a:t>
            </a:r>
          </a:p>
        </p:txBody>
      </p:sp>
      <p:sp>
        <p:nvSpPr>
          <p:cNvPr id="45" name="Rectangle 44"/>
          <p:cNvSpPr/>
          <p:nvPr/>
        </p:nvSpPr>
        <p:spPr>
          <a:xfrm>
            <a:off x="6172200" y="1874519"/>
            <a:ext cx="5349240" cy="1874519"/>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172200" y="1874519"/>
            <a:ext cx="53492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46520" y="2112263"/>
            <a:ext cx="1280160" cy="237744"/>
          </a:xfrm>
          <a:prstGeom prst="rect">
            <a:avLst/>
          </a:prstGeom>
          <a:noFill/>
        </p:spPr>
        <p:txBody>
          <a:bodyPr wrap="square" lIns="0" rIns="0" tIns="0" bIns="0" anchor="t">
            <a:spAutoFit/>
          </a:bodyPr>
          <a:lstStyle/>
          <a:p>
            <a:pPr>
              <a:spcBef>
                <a:spcPts val="0"/>
              </a:spcBef>
              <a:spcAft>
                <a:spcPts val="0"/>
              </a:spcAft>
            </a:pPr>
            <a:r>
              <a:rPr sz="900" b="1" i="0" spc="150">
                <a:solidFill>
                  <a:srgbClr val="1E90C2"/>
                </a:solidFill>
                <a:latin typeface="Segoe UI"/>
              </a:rPr>
              <a:t>DONE</a:t>
            </a:r>
          </a:p>
        </p:txBody>
      </p:sp>
      <p:sp>
        <p:nvSpPr>
          <p:cNvPr id="48" name="TextBox 47"/>
          <p:cNvSpPr txBox="1"/>
          <p:nvPr/>
        </p:nvSpPr>
        <p:spPr>
          <a:xfrm>
            <a:off x="6446520" y="2423160"/>
            <a:ext cx="4754880" cy="365760"/>
          </a:xfrm>
          <a:prstGeom prst="rect">
            <a:avLst/>
          </a:prstGeom>
          <a:noFill/>
        </p:spPr>
        <p:txBody>
          <a:bodyPr wrap="square" lIns="0" rIns="0" tIns="0" bIns="0" anchor="t">
            <a:spAutoFit/>
          </a:bodyPr>
          <a:lstStyle/>
          <a:p>
            <a:pPr>
              <a:lnSpc>
                <a:spcPct val="110000"/>
              </a:lnSpc>
              <a:spcBef>
                <a:spcPts val="0"/>
              </a:spcBef>
              <a:spcAft>
                <a:spcPts val="0"/>
              </a:spcAft>
            </a:pPr>
            <a:r>
              <a:rPr sz="1400" b="1" i="0">
                <a:solidFill>
                  <a:srgbClr val="E7EDF4"/>
                </a:solidFill>
                <a:latin typeface="Segoe UI"/>
              </a:rPr>
              <a:t>FP32 pedestal, safely</a:t>
            </a:r>
          </a:p>
        </p:txBody>
      </p:sp>
      <p:sp>
        <p:nvSpPr>
          <p:cNvPr id="49" name="TextBox 48"/>
          <p:cNvSpPr txBox="1"/>
          <p:nvPr/>
        </p:nvSpPr>
        <p:spPr>
          <a:xfrm>
            <a:off x="6446520" y="2898648"/>
            <a:ext cx="4754880" cy="777240"/>
          </a:xfrm>
          <a:prstGeom prst="rect">
            <a:avLst/>
          </a:prstGeom>
          <a:noFill/>
        </p:spPr>
        <p:txBody>
          <a:bodyPr wrap="square" lIns="0" rIns="0" tIns="0" bIns="0" anchor="t">
            <a:spAutoFit/>
          </a:bodyPr>
          <a:lstStyle/>
          <a:p>
            <a:pPr>
              <a:lnSpc>
                <a:spcPct val="130000"/>
              </a:lnSpc>
              <a:spcBef>
                <a:spcPts val="0"/>
              </a:spcBef>
              <a:spcAft>
                <a:spcPts val="0"/>
              </a:spcAft>
            </a:pPr>
            <a:r>
              <a:rPr sz="1000" b="0" i="0">
                <a:solidFill>
                  <a:srgbClr val="A5B2C4"/>
                </a:solidFill>
                <a:latin typeface="Segoe UI"/>
              </a:rPr>
              <a:t>−40.5 % kernel, and correct, because the variance is accumulated on a frozen per-pixel offset instead of a raw second moment. Against the CPU twin that isolates the port the decisions are identical; the shipped f32 pedestal adds 6 duplicates in 23 million.</a:t>
            </a:r>
          </a:p>
        </p:txBody>
      </p:sp>
      <p:sp>
        <p:nvSpPr>
          <p:cNvPr id="50" name="Rectangle 49"/>
          <p:cNvSpPr/>
          <p:nvPr/>
        </p:nvSpPr>
        <p:spPr>
          <a:xfrm>
            <a:off x="640080" y="4023360"/>
            <a:ext cx="5349240" cy="1874519"/>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40080" y="4023360"/>
            <a:ext cx="5349240" cy="3200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14400" y="4261104"/>
            <a:ext cx="1280160" cy="237744"/>
          </a:xfrm>
          <a:prstGeom prst="rect">
            <a:avLst/>
          </a:prstGeom>
          <a:noFill/>
        </p:spPr>
        <p:txBody>
          <a:bodyPr wrap="square" lIns="0" rIns="0" tIns="0" bIns="0" anchor="t">
            <a:spAutoFit/>
          </a:bodyPr>
          <a:lstStyle/>
          <a:p>
            <a:pPr>
              <a:spcBef>
                <a:spcPts val="0"/>
              </a:spcBef>
              <a:spcAft>
                <a:spcPts val="0"/>
              </a:spcAft>
            </a:pPr>
            <a:r>
              <a:rPr sz="900" b="1" i="0" spc="150">
                <a:solidFill>
                  <a:srgbClr val="E8B25C"/>
                </a:solidFill>
                <a:latin typeface="Segoe UI"/>
              </a:rPr>
              <a:t>NEXT</a:t>
            </a:r>
          </a:p>
        </p:txBody>
      </p:sp>
      <p:sp>
        <p:nvSpPr>
          <p:cNvPr id="53" name="TextBox 52"/>
          <p:cNvSpPr txBox="1"/>
          <p:nvPr/>
        </p:nvSpPr>
        <p:spPr>
          <a:xfrm>
            <a:off x="914400" y="4572000"/>
            <a:ext cx="4754880" cy="365760"/>
          </a:xfrm>
          <a:prstGeom prst="rect">
            <a:avLst/>
          </a:prstGeom>
          <a:noFill/>
        </p:spPr>
        <p:txBody>
          <a:bodyPr wrap="square" lIns="0" rIns="0" tIns="0" bIns="0" anchor="t">
            <a:spAutoFit/>
          </a:bodyPr>
          <a:lstStyle/>
          <a:p>
            <a:pPr>
              <a:lnSpc>
                <a:spcPct val="110000"/>
              </a:lnSpc>
              <a:spcBef>
                <a:spcPts val="0"/>
              </a:spcBef>
              <a:spcAft>
                <a:spcPts val="0"/>
              </a:spcAft>
            </a:pPr>
            <a:r>
              <a:rPr sz="1400" b="1" i="0">
                <a:solidFill>
                  <a:srgbClr val="E7EDF4"/>
                </a:solidFill>
                <a:latin typeface="Segoe UI"/>
              </a:rPr>
              <a:t>3×3: transfer granularity</a:t>
            </a:r>
          </a:p>
        </p:txBody>
      </p:sp>
      <p:sp>
        <p:nvSpPr>
          <p:cNvPr id="54" name="TextBox 53"/>
          <p:cNvSpPr txBox="1"/>
          <p:nvPr/>
        </p:nvSpPr>
        <p:spPr>
          <a:xfrm>
            <a:off x="914400" y="5047488"/>
            <a:ext cx="4754880" cy="777240"/>
          </a:xfrm>
          <a:prstGeom prst="rect">
            <a:avLst/>
          </a:prstGeom>
          <a:noFill/>
        </p:spPr>
        <p:txBody>
          <a:bodyPr wrap="square" lIns="0" rIns="0" tIns="0" bIns="0" anchor="t">
            <a:spAutoFit/>
          </a:bodyPr>
          <a:lstStyle/>
          <a:p>
            <a:pPr>
              <a:lnSpc>
                <a:spcPct val="130000"/>
              </a:lnSpc>
              <a:spcBef>
                <a:spcPts val="0"/>
              </a:spcBef>
              <a:spcAft>
                <a:spcPts val="0"/>
              </a:spcAft>
            </a:pPr>
            <a:r>
              <a:rPr sz="1000" b="0" i="0">
                <a:solidFill>
                  <a:srgbClr val="A5B2C4"/>
                </a:solidFill>
                <a:latin typeface="Segoe UI"/>
              </a:rPr>
              <a:t>The 16.31 µs sustained sits 3.16 µs above the uncontended 13.15 µs H2D rate [f32: s4 vs s1]: 2 000 separate 320 kB descriptors, plus 26% of H2D↔D2H contention.</a:t>
            </a:r>
          </a:p>
        </p:txBody>
      </p:sp>
      <p:sp>
        <p:nvSpPr>
          <p:cNvPr id="55" name="Rectangle 54"/>
          <p:cNvSpPr/>
          <p:nvPr/>
        </p:nvSpPr>
        <p:spPr>
          <a:xfrm>
            <a:off x="6172200" y="4023360"/>
            <a:ext cx="5349240" cy="1874519"/>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6172200" y="4023360"/>
            <a:ext cx="5349240" cy="3200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446520" y="4261104"/>
            <a:ext cx="1280160" cy="237744"/>
          </a:xfrm>
          <a:prstGeom prst="rect">
            <a:avLst/>
          </a:prstGeom>
          <a:noFill/>
        </p:spPr>
        <p:txBody>
          <a:bodyPr wrap="square" lIns="0" rIns="0" tIns="0" bIns="0" anchor="t">
            <a:spAutoFit/>
          </a:bodyPr>
          <a:lstStyle/>
          <a:p>
            <a:pPr>
              <a:spcBef>
                <a:spcPts val="0"/>
              </a:spcBef>
              <a:spcAft>
                <a:spcPts val="0"/>
              </a:spcAft>
            </a:pPr>
            <a:r>
              <a:rPr sz="900" b="1" i="0" spc="150">
                <a:solidFill>
                  <a:srgbClr val="E8B25C"/>
                </a:solidFill>
                <a:latin typeface="Segoe UI"/>
              </a:rPr>
              <a:t>NEXT</a:t>
            </a:r>
          </a:p>
        </p:txBody>
      </p:sp>
      <p:sp>
        <p:nvSpPr>
          <p:cNvPr id="58" name="TextBox 57"/>
          <p:cNvSpPr txBox="1"/>
          <p:nvPr/>
        </p:nvSpPr>
        <p:spPr>
          <a:xfrm>
            <a:off x="6446520" y="4572000"/>
            <a:ext cx="4754880" cy="365760"/>
          </a:xfrm>
          <a:prstGeom prst="rect">
            <a:avLst/>
          </a:prstGeom>
          <a:noFill/>
        </p:spPr>
        <p:txBody>
          <a:bodyPr wrap="square" lIns="0" rIns="0" tIns="0" bIns="0" anchor="t">
            <a:spAutoFit/>
          </a:bodyPr>
          <a:lstStyle/>
          <a:p>
            <a:pPr>
              <a:lnSpc>
                <a:spcPct val="110000"/>
              </a:lnSpc>
              <a:spcBef>
                <a:spcPts val="0"/>
              </a:spcBef>
              <a:spcAft>
                <a:spcPts val="0"/>
              </a:spcAft>
            </a:pPr>
            <a:r>
              <a:rPr sz="1400" b="1" i="0">
                <a:solidFill>
                  <a:srgbClr val="E7EDF4"/>
                </a:solidFill>
                <a:latin typeface="Segoe UI"/>
              </a:rPr>
              <a:t>9×9: the result path, not the kernel</a:t>
            </a:r>
          </a:p>
        </p:txBody>
      </p:sp>
      <p:sp>
        <p:nvSpPr>
          <p:cNvPr id="59" name="TextBox 58"/>
          <p:cNvSpPr txBox="1"/>
          <p:nvPr/>
        </p:nvSpPr>
        <p:spPr>
          <a:xfrm>
            <a:off x="6446520" y="5047488"/>
            <a:ext cx="4754880" cy="777240"/>
          </a:xfrm>
          <a:prstGeom prst="rect">
            <a:avLst/>
          </a:prstGeom>
          <a:noFill/>
        </p:spPr>
        <p:txBody>
          <a:bodyPr wrap="square" lIns="0" rIns="0" tIns="0" bIns="0" anchor="t">
            <a:spAutoFit/>
          </a:bodyPr>
          <a:lstStyle/>
          <a:p>
            <a:pPr>
              <a:lnSpc>
                <a:spcPct val="130000"/>
              </a:lnSpc>
              <a:spcBef>
                <a:spcPts val="0"/>
              </a:spcBef>
              <a:spcAft>
                <a:spcPts val="0"/>
              </a:spcAft>
            </a:pPr>
            <a:r>
              <a:rPr sz="1000" b="0" i="0">
                <a:solidFill>
                  <a:srgbClr val="A5B2C4"/>
                </a:solidFill>
                <a:latin typeface="Segoe UI"/>
              </a:rPr>
              <a:t>At a lossless cap D2H already binds [f32 · s4]: 25.24 µs against a 23.94 µs kernel. More kernel work buys nothing until the D2H slot stops being cap-sized.</a:t>
            </a:r>
          </a:p>
        </p:txBody>
      </p:sp>
      <p:sp>
        <p:nvSpPr>
          <p:cNvPr id="60" name="Rectangle 59"/>
          <p:cNvSpPr/>
          <p:nvPr/>
        </p:nvSpPr>
        <p:spPr>
          <a:xfrm>
            <a:off x="681228" y="6016752"/>
            <a:ext cx="10200132" cy="54864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640080" y="6016752"/>
            <a:ext cx="41148" cy="54864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96112" y="6108192"/>
            <a:ext cx="9784080" cy="365759"/>
          </a:xfrm>
          <a:prstGeom prst="rect">
            <a:avLst/>
          </a:prstGeom>
          <a:noFill/>
        </p:spPr>
        <p:txBody>
          <a:bodyPr wrap="square" lIns="0" rIns="0" tIns="0" bIns="0" anchor="ctr">
            <a:spAutoFit/>
          </a:bodyPr>
          <a:lstStyle/>
          <a:p>
            <a:pPr>
              <a:lnSpc>
                <a:spcPct val="120000"/>
              </a:lnSpc>
              <a:spcBef>
                <a:spcPts val="0"/>
              </a:spcBef>
              <a:spcAft>
                <a:spcPts val="0"/>
              </a:spcAft>
            </a:pPr>
            <a:r>
              <a:rPr sz="1000" b="0" i="0">
                <a:solidFill>
                  <a:srgbClr val="A5B2C4"/>
                </a:solidFill>
                <a:latin typeface="Segoe UI"/>
              </a:rPr>
              <a:t>Full numbers, methodology and reproduction steps: </a:t>
            </a:r>
            <a:r>
              <a:rPr sz="1000" b="1" i="0">
                <a:solidFill>
                  <a:srgbClr val="E7EDF4"/>
                </a:solidFill>
                <a:latin typeface="Segoe UI"/>
              </a:rPr>
              <a:t>docs/ClusterFinderCUDA_benchmark_results.md</a:t>
            </a:r>
            <a:r>
              <a:rPr sz="1000" b="0" i="0">
                <a:solidFill>
                  <a:srgbClr val="A5B2C4"/>
                </a:solidFill>
                <a:latin typeface="Segoe UI"/>
              </a:rPr>
              <a:t> · notebook </a:t>
            </a:r>
            <a:r>
              <a:rPr sz="1000" b="1" i="0">
                <a:solidFill>
                  <a:srgbClr val="E7EDF4"/>
                </a:solidFill>
                <a:latin typeface="Segoe UI"/>
              </a:rPr>
              <a:t>python/tests/ClusterFinderCUDA_perf.ipynb</a:t>
            </a:r>
            <a:r>
              <a:rPr sz="1000" b="0" i="0">
                <a:solidFill>
                  <a:srgbClr val="A5B2C4"/>
                </a:solidFill>
                <a:latin typeface="Segoe UI"/>
              </a:rPr>
              <a:t> · measurement campaign </a:t>
            </a:r>
            <a:r>
              <a:rPr sz="1000" b="1" i="0">
                <a:solidFill>
                  <a:srgbClr val="E7EDF4"/>
                </a:solidFill>
                <a:latin typeface="Segoe UI"/>
              </a:rPr>
              <a:t>python/tests/perf/</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389888"/>
            <a:ext cx="5303520" cy="274320"/>
          </a:xfrm>
          <a:prstGeom prst="rect">
            <a:avLst/>
          </a:prstGeom>
          <a:noFill/>
        </p:spPr>
        <p:txBody>
          <a:bodyPr wrap="square" lIns="0" rIns="0" tIns="0" bIns="0" anchor="t">
            <a:spAutoFit/>
          </a:bodyPr>
          <a:lstStyle/>
          <a:p>
            <a:pPr>
              <a:spcBef>
                <a:spcPts val="0"/>
              </a:spcBef>
              <a:spcAft>
                <a:spcPts val="0"/>
              </a:spcAft>
            </a:pPr>
            <a:r>
              <a:rPr sz="950" b="1" i="0" spc="180">
                <a:solidFill>
                  <a:srgbClr val="6B7A90"/>
                </a:solidFill>
                <a:latin typeface="Segoe UI"/>
              </a:rPr>
              <a:t/>
            </a:r>
          </a:p>
        </p:txBody>
      </p:sp>
      <p:sp>
        <p:nvSpPr>
          <p:cNvPr id="5" name="TextBox 4"/>
          <p:cNvSpPr txBox="1"/>
          <p:nvPr/>
        </p:nvSpPr>
        <p:spPr>
          <a:xfrm>
            <a:off x="914400" y="1737360"/>
            <a:ext cx="5486400" cy="1234440"/>
          </a:xfrm>
          <a:prstGeom prst="rect">
            <a:avLst/>
          </a:prstGeom>
          <a:noFill/>
        </p:spPr>
        <p:txBody>
          <a:bodyPr wrap="square" lIns="0" rIns="0" tIns="0" bIns="0" anchor="t">
            <a:spAutoFit/>
          </a:bodyPr>
          <a:lstStyle/>
          <a:p>
            <a:pPr>
              <a:lnSpc>
                <a:spcPct val="103000"/>
              </a:lnSpc>
              <a:spcBef>
                <a:spcPts val="0"/>
              </a:spcBef>
              <a:spcAft>
                <a:spcPts val="0"/>
              </a:spcAft>
            </a:pPr>
            <a:r>
              <a:rPr sz="3600" b="1" i="0">
                <a:solidFill>
                  <a:srgbClr val="E7EDF4"/>
                </a:solidFill>
                <a:latin typeface="Segoe UI"/>
              </a:rPr>
              <a:t>Annexes</a:t>
            </a:r>
          </a:p>
        </p:txBody>
      </p:sp>
      <p:sp>
        <p:nvSpPr>
          <p:cNvPr id="6" name="Rectangle 5"/>
          <p:cNvSpPr/>
          <p:nvPr/>
        </p:nvSpPr>
        <p:spPr>
          <a:xfrm>
            <a:off x="914400" y="3127248"/>
            <a:ext cx="1371600" cy="27432"/>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383280"/>
            <a:ext cx="5212080" cy="1463040"/>
          </a:xfrm>
          <a:prstGeom prst="rect">
            <a:avLst/>
          </a:prstGeom>
          <a:noFill/>
        </p:spPr>
        <p:txBody>
          <a:bodyPr wrap="square" lIns="0" rIns="0" tIns="0" bIns="0" anchor="t">
            <a:spAutoFit/>
          </a:bodyPr>
          <a:lstStyle/>
          <a:p>
            <a:pPr>
              <a:lnSpc>
                <a:spcPct val="140000"/>
              </a:lnSpc>
              <a:spcBef>
                <a:spcPts val="0"/>
              </a:spcBef>
              <a:spcAft>
                <a:spcPts val="0"/>
              </a:spcAft>
            </a:pPr>
            <a:r>
              <a:rPr sz="1350" b="0" i="0">
                <a:solidFill>
                  <a:srgbClr val="A5B2C4"/>
                </a:solidFill>
                <a:latin typeface="Segoe UI"/>
              </a:rPr>
              <a:t/>
            </a:r>
          </a:p>
        </p:txBody>
      </p:sp>
      <p:sp>
        <p:nvSpPr>
          <p:cNvPr id="8" name="Rectangle 7"/>
          <p:cNvSpPr/>
          <p:nvPr/>
        </p:nvSpPr>
        <p:spPr>
          <a:xfrm>
            <a:off x="914400" y="5074920"/>
            <a:ext cx="5212080" cy="10241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14400" y="5074920"/>
            <a:ext cx="32004" cy="102412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19" y="5230368"/>
            <a:ext cx="4754880" cy="219456"/>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EVERYTHING SO FAR</a:t>
            </a:r>
          </a:p>
        </p:txBody>
      </p:sp>
      <p:sp>
        <p:nvSpPr>
          <p:cNvPr id="11" name="TextBox 10"/>
          <p:cNvSpPr txBox="1"/>
          <p:nvPr/>
        </p:nvSpPr>
        <p:spPr>
          <a:xfrm>
            <a:off x="1188719" y="5431536"/>
            <a:ext cx="4754880" cy="365760"/>
          </a:xfrm>
          <a:prstGeom prst="rect">
            <a:avLst/>
          </a:prstGeom>
          <a:noFill/>
        </p:spPr>
        <p:txBody>
          <a:bodyPr wrap="square" lIns="0" rIns="0" tIns="0" bIns="0" anchor="t">
            <a:spAutoFit/>
          </a:bodyPr>
          <a:lstStyle/>
          <a:p>
            <a:pPr>
              <a:spcBef>
                <a:spcPts val="0"/>
              </a:spcBef>
              <a:spcAft>
                <a:spcPts val="0"/>
              </a:spcAft>
            </a:pPr>
            <a:r>
              <a:rPr sz="2400" b="1" i="0">
                <a:solidFill>
                  <a:srgbClr val="E8B25C"/>
                </a:solidFill>
                <a:latin typeface="Segoe UI"/>
              </a:rPr>
              <a:t>33 slides</a:t>
            </a:r>
          </a:p>
        </p:txBody>
      </p:sp>
      <p:sp>
        <p:nvSpPr>
          <p:cNvPr id="12" name="TextBox 11"/>
          <p:cNvSpPr txBox="1"/>
          <p:nvPr/>
        </p:nvSpPr>
        <p:spPr>
          <a:xfrm>
            <a:off x="1188719" y="5852160"/>
            <a:ext cx="4754880" cy="219456"/>
          </a:xfrm>
          <a:prstGeom prst="rect">
            <a:avLst/>
          </a:prstGeom>
          <a:noFill/>
        </p:spPr>
        <p:txBody>
          <a:bodyPr wrap="square" lIns="0" rIns="0" tIns="0" bIns="0" anchor="t">
            <a:spAutoFit/>
          </a:bodyPr>
          <a:lstStyle/>
          <a:p>
            <a:pPr>
              <a:spcBef>
                <a:spcPts val="0"/>
              </a:spcBef>
              <a:spcAft>
                <a:spcPts val="0"/>
              </a:spcAft>
            </a:pPr>
            <a:r>
              <a:rPr sz="950" b="0" i="0">
                <a:solidFill>
                  <a:srgbClr val="6B7A90"/>
                </a:solidFill>
                <a:latin typeface="Segoe UI"/>
              </a:rPr>
              <a:t>the arc is finished; what follows answers questions</a:t>
            </a:r>
          </a:p>
        </p:txBody>
      </p:sp>
      <p:sp>
        <p:nvSpPr>
          <p:cNvPr id="13" name="Rectangle 12"/>
          <p:cNvSpPr/>
          <p:nvPr/>
        </p:nvSpPr>
        <p:spPr>
          <a:xfrm>
            <a:off x="6537960" y="1783080"/>
            <a:ext cx="10972" cy="402336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12280" y="2148840"/>
            <a:ext cx="4572000" cy="237744"/>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COMING UP</a:t>
            </a:r>
          </a:p>
        </p:txBody>
      </p:sp>
      <p:sp>
        <p:nvSpPr>
          <p:cNvPr id="15" name="TextBox 14"/>
          <p:cNvSpPr txBox="1"/>
          <p:nvPr/>
        </p:nvSpPr>
        <p:spPr>
          <a:xfrm>
            <a:off x="6812280" y="2532888"/>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8B25C"/>
                </a:solidFill>
                <a:latin typeface="Consolas"/>
              </a:rPr>
              <a:t>A1</a:t>
            </a:r>
          </a:p>
        </p:txBody>
      </p:sp>
      <p:sp>
        <p:nvSpPr>
          <p:cNvPr id="16" name="TextBox 15"/>
          <p:cNvSpPr txBox="1"/>
          <p:nvPr/>
        </p:nvSpPr>
        <p:spPr>
          <a:xfrm>
            <a:off x="7452360" y="2532888"/>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Every engine number, reconciled</a:t>
            </a:r>
          </a:p>
        </p:txBody>
      </p:sp>
      <p:sp>
        <p:nvSpPr>
          <p:cNvPr id="17" name="TextBox 16"/>
          <p:cNvSpPr txBox="1"/>
          <p:nvPr/>
        </p:nvSpPr>
        <p:spPr>
          <a:xfrm>
            <a:off x="6812280" y="2953512"/>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8B25C"/>
                </a:solidFill>
                <a:latin typeface="Consolas"/>
              </a:rPr>
              <a:t>A2</a:t>
            </a:r>
          </a:p>
        </p:txBody>
      </p:sp>
      <p:sp>
        <p:nvSpPr>
          <p:cNvPr id="18" name="TextBox 17"/>
          <p:cNvSpPr txBox="1"/>
          <p:nvPr/>
        </p:nvSpPr>
        <p:spPr>
          <a:xfrm>
            <a:off x="7452360" y="2953512"/>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The three rejected routes</a:t>
            </a:r>
          </a:p>
        </p:txBody>
      </p:sp>
      <p:sp>
        <p:nvSpPr>
          <p:cNvPr id="19" name="TextBox 18"/>
          <p:cNvSpPr txBox="1"/>
          <p:nvPr/>
        </p:nvSpPr>
        <p:spPr>
          <a:xfrm>
            <a:off x="6812280" y="3374136"/>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8B25C"/>
                </a:solidFill>
                <a:latin typeface="Consolas"/>
              </a:rPr>
              <a:t>A3</a:t>
            </a:r>
          </a:p>
        </p:txBody>
      </p:sp>
      <p:sp>
        <p:nvSpPr>
          <p:cNvPr id="20" name="TextBox 19"/>
          <p:cNvSpPr txBox="1"/>
          <p:nvPr/>
        </p:nvSpPr>
        <p:spPr>
          <a:xfrm>
            <a:off x="7452360" y="3374136"/>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opt5 · the overlap code</a:t>
            </a:r>
          </a:p>
        </p:txBody>
      </p:sp>
      <p:sp>
        <p:nvSpPr>
          <p:cNvPr id="21" name="TextBox 20"/>
          <p:cNvSpPr txBox="1"/>
          <p:nvPr/>
        </p:nvSpPr>
        <p:spPr>
          <a:xfrm>
            <a:off x="6812280" y="3794760"/>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8B25C"/>
                </a:solidFill>
                <a:latin typeface="Consolas"/>
              </a:rPr>
              <a:t>A4</a:t>
            </a:r>
          </a:p>
        </p:txBody>
      </p:sp>
      <p:sp>
        <p:nvSpPr>
          <p:cNvPr id="22" name="TextBox 21"/>
          <p:cNvSpPr txBox="1"/>
          <p:nvPr/>
        </p:nvSpPr>
        <p:spPr>
          <a:xfrm>
            <a:off x="7452360" y="3794760"/>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The fault model, tested</a:t>
            </a:r>
          </a:p>
        </p:txBody>
      </p:sp>
      <p:sp>
        <p:nvSpPr>
          <p:cNvPr id="23" name="TextBox 22"/>
          <p:cNvSpPr txBox="1"/>
          <p:nvPr/>
        </p:nvSpPr>
        <p:spPr>
          <a:xfrm>
            <a:off x="6812280" y="4215384"/>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8B25C"/>
                </a:solidFill>
                <a:latin typeface="Consolas"/>
              </a:rPr>
              <a:t>A5</a:t>
            </a:r>
          </a:p>
        </p:txBody>
      </p:sp>
      <p:sp>
        <p:nvSpPr>
          <p:cNvPr id="24" name="TextBox 23"/>
          <p:cNvSpPr txBox="1"/>
          <p:nvPr/>
        </p:nvSpPr>
        <p:spPr>
          <a:xfrm>
            <a:off x="7452360" y="4215384"/>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The variance rewrite in full</a:t>
            </a:r>
          </a:p>
        </p:txBody>
      </p:sp>
      <p:sp>
        <p:nvSpPr>
          <p:cNvPr id="25" name="TextBox 24"/>
          <p:cNvSpPr txBox="1"/>
          <p:nvPr/>
        </p:nvSpPr>
        <p:spPr>
          <a:xfrm>
            <a:off x="6812280" y="4636008"/>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8B25C"/>
                </a:solidFill>
                <a:latin typeface="Consolas"/>
              </a:rPr>
              <a:t>A6</a:t>
            </a:r>
          </a:p>
        </p:txBody>
      </p:sp>
      <p:sp>
        <p:nvSpPr>
          <p:cNvPr id="26" name="TextBox 25"/>
          <p:cNvSpPr txBox="1"/>
          <p:nvPr/>
        </p:nvSpPr>
        <p:spPr>
          <a:xfrm>
            <a:off x="7452360" y="4636008"/>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The three benchmark artefacts</a:t>
            </a:r>
          </a:p>
        </p:txBody>
      </p:sp>
      <p:sp>
        <p:nvSpPr>
          <p:cNvPr id="27" name="Rectangle 26"/>
          <p:cNvSpPr/>
          <p:nvPr/>
        </p:nvSpPr>
        <p:spPr>
          <a:xfrm>
            <a:off x="6400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3164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992879"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6692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3456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022079"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A1</a:t>
            </a:r>
          </a:p>
        </p:txBody>
      </p:sp>
      <p:sp>
        <p:nvSpPr>
          <p:cNvPr id="4" name="TextBox 3"/>
          <p:cNvSpPr txBox="1"/>
          <p:nvPr/>
        </p:nvSpPr>
        <p:spPr>
          <a:xfrm>
            <a:off x="1298448" y="457200"/>
            <a:ext cx="923544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MEASUREMENT CONVENTION · EXPANDS SLIDE 18</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Uncontended, or as the pipeline runs it</a:t>
            </a:r>
          </a:p>
        </p:txBody>
      </p:sp>
      <p:sp>
        <p:nvSpPr>
          <p:cNvPr id="6" name="Rectangle 5"/>
          <p:cNvSpPr/>
          <p:nvPr/>
        </p:nvSpPr>
        <p:spPr>
          <a:xfrm>
            <a:off x="6400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316480"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992879"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0"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45680"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022079"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98480"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A1</a:t>
            </a:r>
          </a:p>
        </p:txBody>
      </p:sp>
      <p:sp>
        <p:nvSpPr>
          <p:cNvPr id="13" name="TextBox 12"/>
          <p:cNvSpPr txBox="1"/>
          <p:nvPr/>
        </p:nvSpPr>
        <p:spPr>
          <a:xfrm>
            <a:off x="640080" y="1737360"/>
            <a:ext cx="1097280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Every engine time in this deck is tagged </a:t>
            </a:r>
            <a:r>
              <a:rPr sz="1050" b="1" i="0">
                <a:solidFill>
                  <a:srgbClr val="E7EDF4"/>
                </a:solidFill>
                <a:latin typeface="Segoe UI"/>
              </a:rPr>
              <a:t>[build · s1|s4]</a:t>
            </a:r>
            <a:r>
              <a:rPr sz="1050" b="0" i="0">
                <a:solidFill>
                  <a:srgbClr val="A5B2C4"/>
                </a:solidFill>
                <a:latin typeface="Segoe UI"/>
              </a:rPr>
              <a:t>. </a:t>
            </a:r>
            <a:r>
              <a:rPr sz="1050" b="1" i="0">
                <a:solidFill>
                  <a:srgbClr val="E7EDF4"/>
                </a:solidFill>
                <a:latin typeface="Segoe UI"/>
              </a:rPr>
              <a:t>s1</a:t>
            </a:r>
            <a:r>
              <a:rPr sz="1050" b="0" i="0">
                <a:solidFill>
                  <a:srgbClr val="A5B2C4"/>
                </a:solidFill>
                <a:latin typeface="Segoe UI"/>
              </a:rPr>
              <a:t> is one stream with nothing else running: what an engine does </a:t>
            </a:r>
            <a:r>
              <a:rPr sz="1050" b="1" i="0">
                <a:solidFill>
                  <a:srgbClr val="E7EDF4"/>
                </a:solidFill>
                <a:latin typeface="Segoe UI"/>
              </a:rPr>
              <a:t>on its own</a:t>
            </a:r>
            <a:r>
              <a:rPr sz="1050" b="0" i="0">
                <a:solidFill>
                  <a:srgbClr val="A5B2C4"/>
                </a:solidFill>
                <a:latin typeface="Segoe UI"/>
              </a:rPr>
              <a:t>, which is the right number for a capability claim and for the headroom that remains. </a:t>
            </a:r>
            <a:r>
              <a:rPr sz="1050" b="1" i="0">
                <a:solidFill>
                  <a:srgbClr val="E7EDF4"/>
                </a:solidFill>
                <a:latin typeface="Segoe UI"/>
              </a:rPr>
              <a:t>s4</a:t>
            </a:r>
            <a:r>
              <a:rPr sz="1050" b="0" i="0">
                <a:solidFill>
                  <a:srgbClr val="A5B2C4"/>
                </a:solidFill>
                <a:latin typeface="Segoe UI"/>
              </a:rPr>
              <a:t> is the shipped four-stream pipeline: each engine's </a:t>
            </a:r>
            <a:r>
              <a:rPr sz="1050" b="1" i="0">
                <a:solidFill>
                  <a:srgbClr val="E7EDF4"/>
                </a:solidFill>
                <a:latin typeface="Segoe UI"/>
              </a:rPr>
              <a:t>busy time per frame</a:t>
            </a:r>
            <a:r>
              <a:rPr sz="1050" b="0" i="0">
                <a:solidFill>
                  <a:srgbClr val="A5B2C4"/>
                </a:solidFill>
                <a:latin typeface="Segoe UI"/>
              </a:rPr>
              <a:t>, the union of its intervals, the only number that can set a floor.</a:t>
            </a:r>
          </a:p>
        </p:txBody>
      </p:sp>
      <p:sp>
        <p:nvSpPr>
          <p:cNvPr id="14" name="Rectangle 13"/>
          <p:cNvSpPr/>
          <p:nvPr/>
        </p:nvSpPr>
        <p:spPr>
          <a:xfrm>
            <a:off x="640080" y="2542032"/>
            <a:ext cx="5303520" cy="31089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6384" y="2615184"/>
            <a:ext cx="530352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3×3 · µS/FRAME</a:t>
            </a:r>
          </a:p>
        </p:txBody>
      </p:sp>
      <p:sp>
        <p:nvSpPr>
          <p:cNvPr id="16" name="TextBox 15"/>
          <p:cNvSpPr txBox="1"/>
          <p:nvPr/>
        </p:nvSpPr>
        <p:spPr>
          <a:xfrm>
            <a:off x="2271369" y="2615184"/>
            <a:ext cx="530352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S1 F64</a:t>
            </a:r>
          </a:p>
        </p:txBody>
      </p:sp>
      <p:sp>
        <p:nvSpPr>
          <p:cNvPr id="17" name="TextBox 16"/>
          <p:cNvSpPr txBox="1"/>
          <p:nvPr/>
        </p:nvSpPr>
        <p:spPr>
          <a:xfrm>
            <a:off x="3226003" y="2615184"/>
            <a:ext cx="530352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S1 F32</a:t>
            </a:r>
          </a:p>
        </p:txBody>
      </p:sp>
      <p:sp>
        <p:nvSpPr>
          <p:cNvPr id="18" name="TextBox 17"/>
          <p:cNvSpPr txBox="1"/>
          <p:nvPr/>
        </p:nvSpPr>
        <p:spPr>
          <a:xfrm>
            <a:off x="4180636" y="2615184"/>
            <a:ext cx="530352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S4 F64</a:t>
            </a:r>
          </a:p>
        </p:txBody>
      </p:sp>
      <p:sp>
        <p:nvSpPr>
          <p:cNvPr id="19" name="TextBox 18"/>
          <p:cNvSpPr txBox="1"/>
          <p:nvPr/>
        </p:nvSpPr>
        <p:spPr>
          <a:xfrm>
            <a:off x="5135270" y="2615184"/>
            <a:ext cx="530352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S4 F32</a:t>
            </a:r>
          </a:p>
        </p:txBody>
      </p:sp>
      <p:sp>
        <p:nvSpPr>
          <p:cNvPr id="20" name="Rectangle 19"/>
          <p:cNvSpPr/>
          <p:nvPr/>
        </p:nvSpPr>
        <p:spPr>
          <a:xfrm>
            <a:off x="640080" y="2889503"/>
            <a:ext cx="5303520" cy="40233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6384" y="2980944"/>
            <a:ext cx="1265529"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H2D</a:t>
            </a:r>
          </a:p>
        </p:txBody>
      </p:sp>
      <p:sp>
        <p:nvSpPr>
          <p:cNvPr id="22" name="TextBox 21"/>
          <p:cNvSpPr txBox="1"/>
          <p:nvPr/>
        </p:nvSpPr>
        <p:spPr>
          <a:xfrm>
            <a:off x="2271369" y="2980944"/>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13.14</a:t>
            </a:r>
          </a:p>
        </p:txBody>
      </p:sp>
      <p:sp>
        <p:nvSpPr>
          <p:cNvPr id="23" name="TextBox 22"/>
          <p:cNvSpPr txBox="1"/>
          <p:nvPr/>
        </p:nvSpPr>
        <p:spPr>
          <a:xfrm>
            <a:off x="3226003" y="2980944"/>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13.15</a:t>
            </a:r>
          </a:p>
        </p:txBody>
      </p:sp>
      <p:sp>
        <p:nvSpPr>
          <p:cNvPr id="24" name="TextBox 23"/>
          <p:cNvSpPr txBox="1"/>
          <p:nvPr/>
        </p:nvSpPr>
        <p:spPr>
          <a:xfrm>
            <a:off x="4180636" y="2980944"/>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16.17</a:t>
            </a:r>
          </a:p>
        </p:txBody>
      </p:sp>
      <p:sp>
        <p:nvSpPr>
          <p:cNvPr id="25" name="TextBox 24"/>
          <p:cNvSpPr txBox="1"/>
          <p:nvPr/>
        </p:nvSpPr>
        <p:spPr>
          <a:xfrm>
            <a:off x="5135270" y="2980944"/>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16.63</a:t>
            </a:r>
          </a:p>
        </p:txBody>
      </p:sp>
      <p:sp>
        <p:nvSpPr>
          <p:cNvPr id="26" name="TextBox 25"/>
          <p:cNvSpPr txBox="1"/>
          <p:nvPr/>
        </p:nvSpPr>
        <p:spPr>
          <a:xfrm>
            <a:off x="786384" y="3419856"/>
            <a:ext cx="1265529"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kernel</a:t>
            </a:r>
          </a:p>
        </p:txBody>
      </p:sp>
      <p:sp>
        <p:nvSpPr>
          <p:cNvPr id="27" name="TextBox 26"/>
          <p:cNvSpPr txBox="1"/>
          <p:nvPr/>
        </p:nvSpPr>
        <p:spPr>
          <a:xfrm>
            <a:off x="2271369" y="3419856"/>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14.72</a:t>
            </a:r>
          </a:p>
        </p:txBody>
      </p:sp>
      <p:sp>
        <p:nvSpPr>
          <p:cNvPr id="28" name="TextBox 27"/>
          <p:cNvSpPr txBox="1"/>
          <p:nvPr/>
        </p:nvSpPr>
        <p:spPr>
          <a:xfrm>
            <a:off x="3226003" y="3419856"/>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4.32</a:t>
            </a:r>
          </a:p>
        </p:txBody>
      </p:sp>
      <p:sp>
        <p:nvSpPr>
          <p:cNvPr id="29" name="TextBox 28"/>
          <p:cNvSpPr txBox="1"/>
          <p:nvPr/>
        </p:nvSpPr>
        <p:spPr>
          <a:xfrm>
            <a:off x="4180636" y="3419856"/>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15.17</a:t>
            </a:r>
          </a:p>
        </p:txBody>
      </p:sp>
      <p:sp>
        <p:nvSpPr>
          <p:cNvPr id="30" name="TextBox 29"/>
          <p:cNvSpPr txBox="1"/>
          <p:nvPr/>
        </p:nvSpPr>
        <p:spPr>
          <a:xfrm>
            <a:off x="5135270" y="3419856"/>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5.53</a:t>
            </a:r>
          </a:p>
        </p:txBody>
      </p:sp>
      <p:sp>
        <p:nvSpPr>
          <p:cNvPr id="31" name="Rectangle 30"/>
          <p:cNvSpPr/>
          <p:nvPr/>
        </p:nvSpPr>
        <p:spPr>
          <a:xfrm>
            <a:off x="640080" y="3767327"/>
            <a:ext cx="5303520" cy="40233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86384" y="3858767"/>
            <a:ext cx="1265529"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D2H</a:t>
            </a:r>
          </a:p>
        </p:txBody>
      </p:sp>
      <p:sp>
        <p:nvSpPr>
          <p:cNvPr id="33" name="TextBox 32"/>
          <p:cNvSpPr txBox="1"/>
          <p:nvPr/>
        </p:nvSpPr>
        <p:spPr>
          <a:xfrm>
            <a:off x="2271369" y="3858767"/>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5.31</a:t>
            </a:r>
          </a:p>
        </p:txBody>
      </p:sp>
      <p:sp>
        <p:nvSpPr>
          <p:cNvPr id="34" name="TextBox 33"/>
          <p:cNvSpPr txBox="1"/>
          <p:nvPr/>
        </p:nvSpPr>
        <p:spPr>
          <a:xfrm>
            <a:off x="3226003" y="3858767"/>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5.27</a:t>
            </a:r>
          </a:p>
        </p:txBody>
      </p:sp>
      <p:sp>
        <p:nvSpPr>
          <p:cNvPr id="35" name="TextBox 34"/>
          <p:cNvSpPr txBox="1"/>
          <p:nvPr/>
        </p:nvSpPr>
        <p:spPr>
          <a:xfrm>
            <a:off x="4180636" y="3858767"/>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7.69</a:t>
            </a:r>
          </a:p>
        </p:txBody>
      </p:sp>
      <p:sp>
        <p:nvSpPr>
          <p:cNvPr id="36" name="TextBox 35"/>
          <p:cNvSpPr txBox="1"/>
          <p:nvPr/>
        </p:nvSpPr>
        <p:spPr>
          <a:xfrm>
            <a:off x="5135270" y="3858767"/>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7.57</a:t>
            </a:r>
          </a:p>
        </p:txBody>
      </p:sp>
      <p:sp>
        <p:nvSpPr>
          <p:cNvPr id="37" name="TextBox 36"/>
          <p:cNvSpPr txBox="1"/>
          <p:nvPr/>
        </p:nvSpPr>
        <p:spPr>
          <a:xfrm>
            <a:off x="786384" y="4297679"/>
            <a:ext cx="1265529"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engine max [s4]</a:t>
            </a:r>
          </a:p>
        </p:txBody>
      </p:sp>
      <p:sp>
        <p:nvSpPr>
          <p:cNvPr id="38" name="TextBox 37"/>
          <p:cNvSpPr txBox="1"/>
          <p:nvPr/>
        </p:nvSpPr>
        <p:spPr>
          <a:xfrm>
            <a:off x="2271369" y="4297679"/>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a:t>
            </a:r>
          </a:p>
        </p:txBody>
      </p:sp>
      <p:sp>
        <p:nvSpPr>
          <p:cNvPr id="39" name="TextBox 38"/>
          <p:cNvSpPr txBox="1"/>
          <p:nvPr/>
        </p:nvSpPr>
        <p:spPr>
          <a:xfrm>
            <a:off x="3226003" y="4297679"/>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a:t>
            </a:r>
          </a:p>
        </p:txBody>
      </p:sp>
      <p:sp>
        <p:nvSpPr>
          <p:cNvPr id="40" name="TextBox 39"/>
          <p:cNvSpPr txBox="1"/>
          <p:nvPr/>
        </p:nvSpPr>
        <p:spPr>
          <a:xfrm>
            <a:off x="4180636" y="4297679"/>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16.17</a:t>
            </a:r>
          </a:p>
        </p:txBody>
      </p:sp>
      <p:sp>
        <p:nvSpPr>
          <p:cNvPr id="41" name="TextBox 40"/>
          <p:cNvSpPr txBox="1"/>
          <p:nvPr/>
        </p:nvSpPr>
        <p:spPr>
          <a:xfrm>
            <a:off x="5135270" y="4297679"/>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16.63</a:t>
            </a:r>
          </a:p>
        </p:txBody>
      </p:sp>
      <p:sp>
        <p:nvSpPr>
          <p:cNvPr id="42" name="Rectangle 41"/>
          <p:cNvSpPr/>
          <p:nvPr/>
        </p:nvSpPr>
        <p:spPr>
          <a:xfrm>
            <a:off x="640080" y="4645152"/>
            <a:ext cx="5303520" cy="40233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86384" y="4736592"/>
            <a:ext cx="1265529"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FLOOR = lower of max, sustained</a:t>
            </a:r>
          </a:p>
        </p:txBody>
      </p:sp>
      <p:sp>
        <p:nvSpPr>
          <p:cNvPr id="44" name="TextBox 43"/>
          <p:cNvSpPr txBox="1"/>
          <p:nvPr/>
        </p:nvSpPr>
        <p:spPr>
          <a:xfrm>
            <a:off x="2271369" y="4736592"/>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a:t>
            </a:r>
          </a:p>
        </p:txBody>
      </p:sp>
      <p:sp>
        <p:nvSpPr>
          <p:cNvPr id="45" name="TextBox 44"/>
          <p:cNvSpPr txBox="1"/>
          <p:nvPr/>
        </p:nvSpPr>
        <p:spPr>
          <a:xfrm>
            <a:off x="3226003" y="4736592"/>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a:t>
            </a:r>
          </a:p>
        </p:txBody>
      </p:sp>
      <p:sp>
        <p:nvSpPr>
          <p:cNvPr id="46" name="TextBox 45"/>
          <p:cNvSpPr txBox="1"/>
          <p:nvPr/>
        </p:nvSpPr>
        <p:spPr>
          <a:xfrm>
            <a:off x="4180636" y="4736592"/>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16.17</a:t>
            </a:r>
          </a:p>
        </p:txBody>
      </p:sp>
      <p:sp>
        <p:nvSpPr>
          <p:cNvPr id="47" name="TextBox 46"/>
          <p:cNvSpPr txBox="1"/>
          <p:nvPr/>
        </p:nvSpPr>
        <p:spPr>
          <a:xfrm>
            <a:off x="5135270" y="4736592"/>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16.31</a:t>
            </a:r>
          </a:p>
        </p:txBody>
      </p:sp>
      <p:sp>
        <p:nvSpPr>
          <p:cNvPr id="48" name="Rectangle 47"/>
          <p:cNvSpPr/>
          <p:nvPr/>
        </p:nvSpPr>
        <p:spPr>
          <a:xfrm>
            <a:off x="6400800" y="2542032"/>
            <a:ext cx="5303520" cy="31089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547104" y="2615184"/>
            <a:ext cx="530352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9×9 · CAP 1700</a:t>
            </a:r>
          </a:p>
        </p:txBody>
      </p:sp>
      <p:sp>
        <p:nvSpPr>
          <p:cNvPr id="50" name="TextBox 49"/>
          <p:cNvSpPr txBox="1"/>
          <p:nvPr/>
        </p:nvSpPr>
        <p:spPr>
          <a:xfrm>
            <a:off x="8032089" y="2615184"/>
            <a:ext cx="530352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S1 F64</a:t>
            </a:r>
          </a:p>
        </p:txBody>
      </p:sp>
      <p:sp>
        <p:nvSpPr>
          <p:cNvPr id="51" name="TextBox 50"/>
          <p:cNvSpPr txBox="1"/>
          <p:nvPr/>
        </p:nvSpPr>
        <p:spPr>
          <a:xfrm>
            <a:off x="8986723" y="2615184"/>
            <a:ext cx="530352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S1 F32</a:t>
            </a:r>
          </a:p>
        </p:txBody>
      </p:sp>
      <p:sp>
        <p:nvSpPr>
          <p:cNvPr id="52" name="TextBox 51"/>
          <p:cNvSpPr txBox="1"/>
          <p:nvPr/>
        </p:nvSpPr>
        <p:spPr>
          <a:xfrm>
            <a:off x="9941356" y="2615184"/>
            <a:ext cx="530352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S4 F64</a:t>
            </a:r>
          </a:p>
        </p:txBody>
      </p:sp>
      <p:sp>
        <p:nvSpPr>
          <p:cNvPr id="53" name="TextBox 52"/>
          <p:cNvSpPr txBox="1"/>
          <p:nvPr/>
        </p:nvSpPr>
        <p:spPr>
          <a:xfrm>
            <a:off x="10895990" y="2615184"/>
            <a:ext cx="530352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S4 F32</a:t>
            </a:r>
          </a:p>
        </p:txBody>
      </p:sp>
      <p:sp>
        <p:nvSpPr>
          <p:cNvPr id="54" name="Rectangle 53"/>
          <p:cNvSpPr/>
          <p:nvPr/>
        </p:nvSpPr>
        <p:spPr>
          <a:xfrm>
            <a:off x="6400800" y="2889503"/>
            <a:ext cx="5303520" cy="40233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47104" y="2980944"/>
            <a:ext cx="1265529"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H2D</a:t>
            </a:r>
          </a:p>
        </p:txBody>
      </p:sp>
      <p:sp>
        <p:nvSpPr>
          <p:cNvPr id="56" name="TextBox 55"/>
          <p:cNvSpPr txBox="1"/>
          <p:nvPr/>
        </p:nvSpPr>
        <p:spPr>
          <a:xfrm>
            <a:off x="8032089" y="2980944"/>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13.20</a:t>
            </a:r>
          </a:p>
        </p:txBody>
      </p:sp>
      <p:sp>
        <p:nvSpPr>
          <p:cNvPr id="57" name="TextBox 56"/>
          <p:cNvSpPr txBox="1"/>
          <p:nvPr/>
        </p:nvSpPr>
        <p:spPr>
          <a:xfrm>
            <a:off x="8986723" y="2980944"/>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13.22</a:t>
            </a:r>
          </a:p>
        </p:txBody>
      </p:sp>
      <p:sp>
        <p:nvSpPr>
          <p:cNvPr id="58" name="TextBox 57"/>
          <p:cNvSpPr txBox="1"/>
          <p:nvPr/>
        </p:nvSpPr>
        <p:spPr>
          <a:xfrm>
            <a:off x="9941356" y="2980944"/>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20.77</a:t>
            </a:r>
          </a:p>
        </p:txBody>
      </p:sp>
      <p:sp>
        <p:nvSpPr>
          <p:cNvPr id="59" name="TextBox 58"/>
          <p:cNvSpPr txBox="1"/>
          <p:nvPr/>
        </p:nvSpPr>
        <p:spPr>
          <a:xfrm>
            <a:off x="10895990" y="2980944"/>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20.54</a:t>
            </a:r>
          </a:p>
        </p:txBody>
      </p:sp>
      <p:sp>
        <p:nvSpPr>
          <p:cNvPr id="60" name="TextBox 59"/>
          <p:cNvSpPr txBox="1"/>
          <p:nvPr/>
        </p:nvSpPr>
        <p:spPr>
          <a:xfrm>
            <a:off x="6547104" y="3419856"/>
            <a:ext cx="1265529"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kernel</a:t>
            </a:r>
          </a:p>
        </p:txBody>
      </p:sp>
      <p:sp>
        <p:nvSpPr>
          <p:cNvPr id="61" name="TextBox 60"/>
          <p:cNvSpPr txBox="1"/>
          <p:nvPr/>
        </p:nvSpPr>
        <p:spPr>
          <a:xfrm>
            <a:off x="8032089" y="3419856"/>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39.86</a:t>
            </a:r>
          </a:p>
        </p:txBody>
      </p:sp>
      <p:sp>
        <p:nvSpPr>
          <p:cNvPr id="62" name="TextBox 61"/>
          <p:cNvSpPr txBox="1"/>
          <p:nvPr/>
        </p:nvSpPr>
        <p:spPr>
          <a:xfrm>
            <a:off x="8986723" y="3419856"/>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23.70</a:t>
            </a:r>
          </a:p>
        </p:txBody>
      </p:sp>
      <p:sp>
        <p:nvSpPr>
          <p:cNvPr id="63" name="TextBox 62"/>
          <p:cNvSpPr txBox="1"/>
          <p:nvPr/>
        </p:nvSpPr>
        <p:spPr>
          <a:xfrm>
            <a:off x="9941356" y="3419856"/>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32.66</a:t>
            </a:r>
          </a:p>
        </p:txBody>
      </p:sp>
      <p:sp>
        <p:nvSpPr>
          <p:cNvPr id="64" name="TextBox 63"/>
          <p:cNvSpPr txBox="1"/>
          <p:nvPr/>
        </p:nvSpPr>
        <p:spPr>
          <a:xfrm>
            <a:off x="10895990" y="3419856"/>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23.94</a:t>
            </a:r>
          </a:p>
        </p:txBody>
      </p:sp>
      <p:sp>
        <p:nvSpPr>
          <p:cNvPr id="65" name="Rectangle 64"/>
          <p:cNvSpPr/>
          <p:nvPr/>
        </p:nvSpPr>
        <p:spPr>
          <a:xfrm>
            <a:off x="6400800" y="3767327"/>
            <a:ext cx="5303520" cy="40233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547104" y="3858767"/>
            <a:ext cx="1265529"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D2H</a:t>
            </a:r>
          </a:p>
        </p:txBody>
      </p:sp>
      <p:sp>
        <p:nvSpPr>
          <p:cNvPr id="67" name="TextBox 66"/>
          <p:cNvSpPr txBox="1"/>
          <p:nvPr/>
        </p:nvSpPr>
        <p:spPr>
          <a:xfrm>
            <a:off x="8032089" y="3858767"/>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21.97</a:t>
            </a:r>
          </a:p>
        </p:txBody>
      </p:sp>
      <p:sp>
        <p:nvSpPr>
          <p:cNvPr id="68" name="TextBox 67"/>
          <p:cNvSpPr txBox="1"/>
          <p:nvPr/>
        </p:nvSpPr>
        <p:spPr>
          <a:xfrm>
            <a:off x="8986723" y="3858767"/>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21.95</a:t>
            </a:r>
          </a:p>
        </p:txBody>
      </p:sp>
      <p:sp>
        <p:nvSpPr>
          <p:cNvPr id="69" name="TextBox 68"/>
          <p:cNvSpPr txBox="1"/>
          <p:nvPr/>
        </p:nvSpPr>
        <p:spPr>
          <a:xfrm>
            <a:off x="9941356" y="3858767"/>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25.25</a:t>
            </a:r>
          </a:p>
        </p:txBody>
      </p:sp>
      <p:sp>
        <p:nvSpPr>
          <p:cNvPr id="70" name="TextBox 69"/>
          <p:cNvSpPr txBox="1"/>
          <p:nvPr/>
        </p:nvSpPr>
        <p:spPr>
          <a:xfrm>
            <a:off x="10895990" y="3858767"/>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25.24</a:t>
            </a:r>
          </a:p>
        </p:txBody>
      </p:sp>
      <p:sp>
        <p:nvSpPr>
          <p:cNvPr id="71" name="TextBox 70"/>
          <p:cNvSpPr txBox="1"/>
          <p:nvPr/>
        </p:nvSpPr>
        <p:spPr>
          <a:xfrm>
            <a:off x="6547104" y="4297679"/>
            <a:ext cx="1265529"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engine max [s4]</a:t>
            </a:r>
          </a:p>
        </p:txBody>
      </p:sp>
      <p:sp>
        <p:nvSpPr>
          <p:cNvPr id="72" name="TextBox 71"/>
          <p:cNvSpPr txBox="1"/>
          <p:nvPr/>
        </p:nvSpPr>
        <p:spPr>
          <a:xfrm>
            <a:off x="8032089" y="4297679"/>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a:t>
            </a:r>
          </a:p>
        </p:txBody>
      </p:sp>
      <p:sp>
        <p:nvSpPr>
          <p:cNvPr id="73" name="TextBox 72"/>
          <p:cNvSpPr txBox="1"/>
          <p:nvPr/>
        </p:nvSpPr>
        <p:spPr>
          <a:xfrm>
            <a:off x="8986723" y="4297679"/>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a:t>
            </a:r>
          </a:p>
        </p:txBody>
      </p:sp>
      <p:sp>
        <p:nvSpPr>
          <p:cNvPr id="74" name="TextBox 73"/>
          <p:cNvSpPr txBox="1"/>
          <p:nvPr/>
        </p:nvSpPr>
        <p:spPr>
          <a:xfrm>
            <a:off x="9941356" y="4297679"/>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32.66</a:t>
            </a:r>
          </a:p>
        </p:txBody>
      </p:sp>
      <p:sp>
        <p:nvSpPr>
          <p:cNvPr id="75" name="TextBox 74"/>
          <p:cNvSpPr txBox="1"/>
          <p:nvPr/>
        </p:nvSpPr>
        <p:spPr>
          <a:xfrm>
            <a:off x="10895990" y="4297679"/>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25.24</a:t>
            </a:r>
          </a:p>
        </p:txBody>
      </p:sp>
      <p:sp>
        <p:nvSpPr>
          <p:cNvPr id="76" name="Rectangle 75"/>
          <p:cNvSpPr/>
          <p:nvPr/>
        </p:nvSpPr>
        <p:spPr>
          <a:xfrm>
            <a:off x="6400800" y="4645152"/>
            <a:ext cx="5303520" cy="40233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6547104" y="4736592"/>
            <a:ext cx="1265529"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FLOOR = lower of max, sustained</a:t>
            </a:r>
          </a:p>
        </p:txBody>
      </p:sp>
      <p:sp>
        <p:nvSpPr>
          <p:cNvPr id="78" name="TextBox 77"/>
          <p:cNvSpPr txBox="1"/>
          <p:nvPr/>
        </p:nvSpPr>
        <p:spPr>
          <a:xfrm>
            <a:off x="8032089" y="4736592"/>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a:t>
            </a:r>
          </a:p>
        </p:txBody>
      </p:sp>
      <p:sp>
        <p:nvSpPr>
          <p:cNvPr id="79" name="TextBox 78"/>
          <p:cNvSpPr txBox="1"/>
          <p:nvPr/>
        </p:nvSpPr>
        <p:spPr>
          <a:xfrm>
            <a:off x="8986723" y="4736592"/>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a:t>
            </a:r>
          </a:p>
        </p:txBody>
      </p:sp>
      <p:sp>
        <p:nvSpPr>
          <p:cNvPr id="80" name="TextBox 79"/>
          <p:cNvSpPr txBox="1"/>
          <p:nvPr/>
        </p:nvSpPr>
        <p:spPr>
          <a:xfrm>
            <a:off x="9941356" y="4736592"/>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30.01</a:t>
            </a:r>
          </a:p>
        </p:txBody>
      </p:sp>
      <p:sp>
        <p:nvSpPr>
          <p:cNvPr id="81" name="TextBox 80"/>
          <p:cNvSpPr txBox="1"/>
          <p:nvPr/>
        </p:nvSpPr>
        <p:spPr>
          <a:xfrm>
            <a:off x="10895990" y="4736592"/>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25.14</a:t>
            </a:r>
          </a:p>
        </p:txBody>
      </p:sp>
      <p:sp>
        <p:nvSpPr>
          <p:cNvPr id="82" name="Rectangle 81"/>
          <p:cNvSpPr/>
          <p:nvPr/>
        </p:nvSpPr>
        <p:spPr>
          <a:xfrm>
            <a:off x="681228" y="5175504"/>
            <a:ext cx="10931652" cy="84124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640080" y="5175504"/>
            <a:ext cx="41148" cy="8412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896112" y="5266944"/>
            <a:ext cx="10515600" cy="658368"/>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Two traps this table closes.</a:t>
            </a:r>
            <a:r>
              <a:rPr sz="1050" b="0" i="0">
                <a:solidFill>
                  <a:srgbClr val="A5B2C4"/>
                </a:solidFill>
                <a:latin typeface="Segoe UI"/>
              </a:rPr>
              <a:t> (1) s4 is engine *occupancy*, not duration: the 9×9 kernel row </a:t>
            </a:r>
            <a:r>
              <a:rPr sz="1050" b="1" i="0">
                <a:solidFill>
                  <a:srgbClr val="E7EDF4"/>
                </a:solidFill>
                <a:latin typeface="Segoe UI"/>
              </a:rPr>
              <a:t>falls</a:t>
            </a:r>
            <a:r>
              <a:rPr sz="1050" b="0" i="0">
                <a:solidFill>
                  <a:srgbClr val="A5B2C4"/>
                </a:solidFill>
                <a:latin typeface="Segoe UI"/>
              </a:rPr>
              <a:t> 39.86 → 32.66 while every transfer rises, and nothing that measures a duration falls under load. (2) </a:t>
            </a:r>
            <a:r>
              <a:rPr sz="1050" b="1" i="0">
                <a:solidFill>
                  <a:srgbClr val="E7EDF4"/>
                </a:solidFill>
                <a:latin typeface="Segoe UI"/>
              </a:rPr>
              <a:t>the FLOOR is not the engine max</a:t>
            </a:r>
            <a:r>
              <a:rPr sz="1050" b="0" i="0">
                <a:solidFill>
                  <a:srgbClr val="A5B2C4"/>
                </a:solidFill>
                <a:latin typeface="Segoe UI"/>
              </a:rPr>
              <a:t>: the max is profiled and runs 2–8 % high, so the floor is whichever is lower, it or the best unprofiled sustained rate, which is why opt6 reports </a:t>
            </a:r>
            <a:r>
              <a:rPr sz="1050" b="1" i="0">
                <a:solidFill>
                  <a:srgbClr val="E7EDF4"/>
                </a:solidFill>
                <a:latin typeface="Segoe UI"/>
              </a:rPr>
              <a:t>30.01 µs against a 32.66 max</a:t>
            </a:r>
            <a:r>
              <a:rPr sz="1050" b="0" i="0">
                <a:solidFill>
                  <a:srgbClr val="A5B2C4"/>
                </a:solidFill>
                <a:latin typeface="Segoe UI"/>
              </a:rPr>
              <a:t>.</a:t>
            </a:r>
          </a:p>
        </p:txBody>
      </p:sp>
      <p:sp>
        <p:nvSpPr>
          <p:cNvPr id="85" name="TextBox 84"/>
          <p:cNvSpPr txBox="1"/>
          <p:nvPr/>
        </p:nvSpPr>
        <p:spPr>
          <a:xfrm>
            <a:off x="640080" y="6053328"/>
            <a:ext cx="1097280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THE D2H SHIFT IS AN s4 PHENOMENON: at s1 the kernel binds in both arms (39.86 and 23.70 against a 21.97 / 21.95 D2H); only under four-stream contention does D2H climb to 25.24 and overtake the 23.94 f32 kernel, so any claim about which engine binds must be read from the s4 columns. Source: probes.csv in perf/results/2026-08-18_{f64,f32}/ (3×3) and 2026-08-20_{f64,f32}_capAB/ (9×9). Bandwidth arithmetic in the notes.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A2</a:t>
            </a:r>
          </a:p>
        </p:txBody>
      </p:sp>
      <p:sp>
        <p:nvSpPr>
          <p:cNvPr id="4" name="TextBox 3"/>
          <p:cNvSpPr txBox="1"/>
          <p:nvPr/>
        </p:nvSpPr>
        <p:spPr>
          <a:xfrm>
            <a:off x="1298448" y="457200"/>
            <a:ext cx="923544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REJECTED ROUTE · CUDA GRAPHS · EXPANDS SLIDE 11 · 1 OF 3</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CUDA Graphs, a sound idea that the next act overtook</a:t>
            </a:r>
          </a:p>
        </p:txBody>
      </p:sp>
      <p:sp>
        <p:nvSpPr>
          <p:cNvPr id="6" name="Rectangle 5"/>
          <p:cNvSpPr/>
          <p:nvPr/>
        </p:nvSpPr>
        <p:spPr>
          <a:xfrm>
            <a:off x="6400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3164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992879"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0"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45680"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022079"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98480"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A2 · 1/3</a:t>
            </a:r>
          </a:p>
        </p:txBody>
      </p:sp>
      <p:sp>
        <p:nvSpPr>
          <p:cNvPr id="13" name="TextBox 12"/>
          <p:cNvSpPr txBox="1"/>
          <p:nvPr/>
        </p:nvSpPr>
        <p:spPr>
          <a:xfrm>
            <a:off x="640080" y="1783080"/>
            <a:ext cx="1097280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Every cudaMemcpyAsync / kernel launch costs the </a:t>
            </a:r>
            <a:r>
              <a:rPr sz="1050" b="1" i="0">
                <a:solidFill>
                  <a:srgbClr val="E7EDF4"/>
                </a:solidFill>
                <a:latin typeface="Segoe UI"/>
              </a:rPr>
              <a:t>CPU</a:t>
            </a:r>
            <a:r>
              <a:rPr sz="1050" b="0" i="0">
                <a:solidFill>
                  <a:srgbClr val="A5B2C4"/>
                </a:solidFill>
                <a:latin typeface="Segoe UI"/>
              </a:rPr>
              <a:t> a few microseconds of driver work, per frame and per operation. After opt4 that looked like the budget.</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A </a:t>
            </a:r>
            <a:r>
              <a:rPr sz="1050" b="1" i="0">
                <a:solidFill>
                  <a:srgbClr val="E7EDF4"/>
                </a:solidFill>
                <a:latin typeface="Segoe UI"/>
              </a:rPr>
              <a:t>CUDA Graph</a:t>
            </a:r>
            <a:r>
              <a:rPr sz="1050" b="0" i="0">
                <a:solidFill>
                  <a:srgbClr val="A5B2C4"/>
                </a:solidFill>
                <a:latin typeface="Segoe UI"/>
              </a:rPr>
              <a:t> captures the whole dependency DAG once. Replaying it is a </a:t>
            </a:r>
            <a:r>
              <a:rPr sz="1050" b="1" i="0">
                <a:solidFill>
                  <a:srgbClr val="E7EDF4"/>
                </a:solidFill>
                <a:latin typeface="Segoe UI"/>
              </a:rPr>
              <a:t>single</a:t>
            </a:r>
            <a:r>
              <a:rPr sz="1050" b="0" i="0">
                <a:solidFill>
                  <a:srgbClr val="A5B2C4"/>
                </a:solidFill>
                <a:latin typeface="Segoe UI"/>
              </a:rPr>
              <a:t> cudaGraphLaunch: the driver already knows every node and edge.</a:t>
            </a:r>
          </a:p>
        </p:txBody>
      </p:sp>
      <p:pic>
        <p:nvPicPr>
          <p:cNvPr id="14" name="Picture 13" descr="fig_graphs.png"/>
          <p:cNvPicPr>
            <a:picLocks noChangeAspect="1"/>
          </p:cNvPicPr>
          <p:nvPr/>
        </p:nvPicPr>
        <p:blipFill>
          <a:blip r:embed="rId2"/>
          <a:stretch>
            <a:fillRect/>
          </a:stretch>
        </p:blipFill>
        <p:spPr>
          <a:xfrm>
            <a:off x="640080" y="2880360"/>
            <a:ext cx="6949440" cy="2206545"/>
          </a:xfrm>
          <a:prstGeom prst="rect">
            <a:avLst/>
          </a:prstGeom>
        </p:spPr>
      </p:pic>
      <p:sp>
        <p:nvSpPr>
          <p:cNvPr id="15" name="Rounded Rectangle 14"/>
          <p:cNvSpPr/>
          <p:nvPr/>
        </p:nvSpPr>
        <p:spPr>
          <a:xfrm>
            <a:off x="7772400" y="2880360"/>
            <a:ext cx="3749039" cy="1584472"/>
          </a:xfrm>
          <a:prstGeom prst="round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36992" y="2990088"/>
            <a:ext cx="3419856" cy="182880"/>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ClusterFinderCUDA_graph.hpp</a:t>
            </a:r>
          </a:p>
        </p:txBody>
      </p:sp>
      <p:sp>
        <p:nvSpPr>
          <p:cNvPr id="17" name="TextBox 16"/>
          <p:cNvSpPr txBox="1"/>
          <p:nvPr/>
        </p:nvSpPr>
        <p:spPr>
          <a:xfrm>
            <a:off x="7936992" y="3209544"/>
            <a:ext cx="3419856" cy="1365016"/>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6B7A90"/>
                </a:solidFill>
                <a:latin typeface="Consolas"/>
              </a:rPr>
              <a:t>// record once, at setup</a:t>
            </a:r>
          </a:p>
          <a:p>
            <a:pPr>
              <a:lnSpc>
                <a:spcPct val="112000"/>
              </a:lnSpc>
              <a:spcBef>
                <a:spcPts val="0"/>
              </a:spcBef>
              <a:spcAft>
                <a:spcPts val="0"/>
              </a:spcAft>
            </a:pPr>
            <a:r>
              <a:rPr sz="900" b="0" i="0">
                <a:solidFill>
                  <a:srgbClr val="A5B2C4"/>
                </a:solidFill>
                <a:latin typeface="Consolas"/>
              </a:rPr>
              <a:t>cudaStreamBeginCapture(sc.stream, ...);</a:t>
            </a:r>
          </a:p>
          <a:p>
            <a:pPr>
              <a:lnSpc>
                <a:spcPct val="112000"/>
              </a:lnSpc>
              <a:spcBef>
                <a:spcPts val="0"/>
              </a:spcBef>
              <a:spcAft>
                <a:spcPts val="0"/>
              </a:spcAft>
            </a:pPr>
            <a:r>
              <a:rPr sz="900" b="0" i="0">
                <a:solidFill>
                  <a:srgbClr val="A5B2C4"/>
                </a:solidFill>
                <a:latin typeface="Consolas"/>
              </a:rPr>
              <a:t>   submit_h2d_kernel_d2h(sc);</a:t>
            </a:r>
          </a:p>
          <a:p>
            <a:pPr>
              <a:lnSpc>
                <a:spcPct val="112000"/>
              </a:lnSpc>
              <a:spcBef>
                <a:spcPts val="0"/>
              </a:spcBef>
              <a:spcAft>
                <a:spcPts val="0"/>
              </a:spcAft>
            </a:pPr>
            <a:r>
              <a:rPr sz="900" b="0" i="0">
                <a:solidFill>
                  <a:srgbClr val="A5B2C4"/>
                </a:solidFill>
                <a:latin typeface="Consolas"/>
              </a:rPr>
              <a:t>cudaStreamEndCapture(sc.stream, &amp;sc.graph);</a:t>
            </a:r>
          </a:p>
          <a:p>
            <a:pPr>
              <a:lnSpc>
                <a:spcPct val="112000"/>
              </a:lnSpc>
              <a:spcBef>
                <a:spcPts val="0"/>
              </a:spcBef>
              <a:spcAft>
                <a:spcPts val="0"/>
              </a:spcAft>
            </a:pPr>
            <a:r>
              <a:rPr sz="900" b="1" i="0">
                <a:solidFill>
                  <a:srgbClr val="1E90C2"/>
                </a:solidFill>
                <a:latin typeface="Consolas"/>
              </a:rPr>
              <a:t>cudaGraphInstantiate</a:t>
            </a:r>
            <a:r>
              <a:rPr sz="900" b="0" i="0">
                <a:solidFill>
                  <a:srgbClr val="A5B2C4"/>
                </a:solidFill>
                <a:latin typeface="Consolas"/>
              </a:rPr>
              <a:t>(&amp;sc.graphExec, ...);</a:t>
            </a:r>
          </a:p>
          <a:p>
            <a:pPr>
              <a:lnSpc>
                <a:spcPct val="112000"/>
              </a:lnSpc>
              <a:spcBef>
                <a:spcPts val="0"/>
              </a:spcBef>
              <a:spcAft>
                <a:spcPts val="0"/>
              </a:spcAft>
            </a:pPr>
          </a:p>
          <a:p>
            <a:pPr>
              <a:lnSpc>
                <a:spcPct val="112000"/>
              </a:lnSpc>
              <a:spcBef>
                <a:spcPts val="0"/>
              </a:spcBef>
              <a:spcAft>
                <a:spcPts val="0"/>
              </a:spcAft>
            </a:pPr>
            <a:r>
              <a:rPr sz="900" b="0" i="0">
                <a:solidFill>
                  <a:srgbClr val="6B7A90"/>
                </a:solidFill>
                <a:latin typeface="Consolas"/>
              </a:rPr>
              <a:t>// per batch: one call</a:t>
            </a:r>
          </a:p>
          <a:p>
            <a:pPr>
              <a:lnSpc>
                <a:spcPct val="112000"/>
              </a:lnSpc>
              <a:spcBef>
                <a:spcPts val="0"/>
              </a:spcBef>
              <a:spcAft>
                <a:spcPts val="0"/>
              </a:spcAft>
            </a:pPr>
            <a:r>
              <a:rPr sz="900" b="1" i="0">
                <a:solidFill>
                  <a:srgbClr val="1E90C2"/>
                </a:solidFill>
                <a:latin typeface="Consolas"/>
              </a:rPr>
              <a:t>cudaGraphLaunch</a:t>
            </a:r>
            <a:r>
              <a:rPr sz="900" b="0" i="0">
                <a:solidFill>
                  <a:srgbClr val="A5B2C4"/>
                </a:solidFill>
                <a:latin typeface="Consolas"/>
              </a:rPr>
              <a:t>(sc.graphExec, sc.stream);</a:t>
            </a:r>
          </a:p>
        </p:txBody>
      </p:sp>
      <p:sp>
        <p:nvSpPr>
          <p:cNvPr id="18" name="Rectangle 17"/>
          <p:cNvSpPr/>
          <p:nvPr/>
        </p:nvSpPr>
        <p:spPr>
          <a:xfrm>
            <a:off x="7813548" y="4626864"/>
            <a:ext cx="3707891" cy="100584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0" y="4626864"/>
            <a:ext cx="41148" cy="1005840"/>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28431" y="4718303"/>
            <a:ext cx="3291839" cy="822960"/>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REJECTED</a:t>
            </a:r>
            <a:r>
              <a:rPr sz="1050" b="0" i="0">
                <a:solidFill>
                  <a:srgbClr val="A5B2C4"/>
                </a:solidFill>
                <a:latin typeface="Segoe UI"/>
              </a:rPr>
              <a:t>
3×3: 39 752 FPS, inside noise of opt4.
9×9: </a:t>
            </a:r>
            <a:r>
              <a:rPr sz="1050" b="1" i="0">
                <a:solidFill>
                  <a:srgbClr val="E7EDF4"/>
                </a:solidFill>
                <a:latin typeface="Segoe UI"/>
              </a:rPr>
              <a:t>11 072 FPS, 12 % slower</a:t>
            </a:r>
            <a:r>
              <a:rPr sz="1050" b="0" i="0">
                <a:solidFill>
                  <a:srgbClr val="A5B2C4"/>
                </a:solidFill>
                <a:latin typeface="Segoe UI"/>
              </a:rPr>
              <a:t>.</a:t>
            </a:r>
          </a:p>
        </p:txBody>
      </p:sp>
      <p:sp>
        <p:nvSpPr>
          <p:cNvPr id="21" name="TextBox 20"/>
          <p:cNvSpPr txBox="1"/>
          <p:nvPr/>
        </p:nvSpPr>
        <p:spPr>
          <a:xfrm>
            <a:off x="640080" y="6053328"/>
            <a:ext cx="1097280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Its 3×3 edge was never established: the graph finder recorded no CUDA events while the stream finder did, and that instrumentation tax (2.8 µs) is larger than the gap (0.8 µs). More decisively, it never received the chunked pipeline of opt5, so it is competing on ~2 µs of launch cost against a 24 µs floor. Launch overhead stops binding one step later; the technique aimed at it can no longer pay.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A2</a:t>
            </a:r>
          </a:p>
        </p:txBody>
      </p:sp>
      <p:sp>
        <p:nvSpPr>
          <p:cNvPr id="4" name="TextBox 3"/>
          <p:cNvSpPr txBox="1"/>
          <p:nvPr/>
        </p:nvSpPr>
        <p:spPr>
          <a:xfrm>
            <a:off x="1298448" y="457200"/>
            <a:ext cx="923544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REJECTED ROUTE · CUDA GRAPHS · 2 OF 3</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What a CUDA Graph actually saves, in microseconds</a:t>
            </a:r>
          </a:p>
        </p:txBody>
      </p:sp>
      <p:sp>
        <p:nvSpPr>
          <p:cNvPr id="6" name="Rectangle 5"/>
          <p:cNvSpPr/>
          <p:nvPr/>
        </p:nvSpPr>
        <p:spPr>
          <a:xfrm>
            <a:off x="6400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3164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992879"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0"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45680"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022079"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98480"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A2 · 2/3</a:t>
            </a:r>
          </a:p>
        </p:txBody>
      </p:sp>
      <p:sp>
        <p:nvSpPr>
          <p:cNvPr id="13" name="TextBox 12"/>
          <p:cNvSpPr txBox="1"/>
          <p:nvPr/>
        </p:nvSpPr>
        <p:spPr>
          <a:xfrm>
            <a:off x="640080" y="1737360"/>
            <a:ext cx="722376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The stream path issues </a:t>
            </a:r>
            <a:r>
              <a:rPr sz="1050" b="1" i="0">
                <a:solidFill>
                  <a:srgbClr val="E7EDF4"/>
                </a:solidFill>
                <a:latin typeface="Segoe UI"/>
              </a:rPr>
              <a:t>four runtime calls per frame</a:t>
            </a:r>
            <a:r>
              <a:rPr sz="1050" b="0" i="0">
                <a:solidFill>
                  <a:srgbClr val="A5B2C4"/>
                </a:solidFill>
                <a:latin typeface="Segoe UI"/>
              </a:rPr>
              <a:t>, a memset to clear the cluster counter, H2D, the launch, D2H. A graph replaces all four with </a:t>
            </a:r>
            <a:r>
              <a:rPr sz="1050" b="1" i="0">
                <a:solidFill>
                  <a:srgbClr val="E7EDF4"/>
                </a:solidFill>
                <a:latin typeface="Segoe UI"/>
              </a:rPr>
              <a:t>one</a:t>
            </a:r>
            <a:r>
              <a:rPr sz="1050" b="0" i="0">
                <a:solidFill>
                  <a:srgbClr val="A5B2C4"/>
                </a:solidFill>
                <a:latin typeface="Segoe UI"/>
              </a:rPr>
              <a:t> cudaGraphLaunch, so the ceiling on what it can save is </a:t>
            </a:r>
            <a:r>
              <a:rPr sz="1050" b="1" i="0">
                <a:solidFill>
                  <a:srgbClr val="E7EDF4"/>
                </a:solidFill>
                <a:latin typeface="Segoe UI"/>
              </a:rPr>
              <a:t>¾ of the submission cost</a:t>
            </a:r>
            <a:r>
              <a:rPr sz="1050" b="0" i="0">
                <a:solidFill>
                  <a:srgbClr val="A5B2C4"/>
                </a:solidFill>
                <a:latin typeface="Segoe UI"/>
              </a:rPr>
              <a:t>.</a:t>
            </a:r>
          </a:p>
        </p:txBody>
      </p:sp>
      <p:sp>
        <p:nvSpPr>
          <p:cNvPr id="14" name="Rectangle 13"/>
          <p:cNvSpPr/>
          <p:nvPr/>
        </p:nvSpPr>
        <p:spPr>
          <a:xfrm>
            <a:off x="640080" y="2487168"/>
            <a:ext cx="7223760" cy="31089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6384" y="2560320"/>
            <a:ext cx="722376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CALL</a:t>
            </a:r>
          </a:p>
        </p:txBody>
      </p:sp>
      <p:sp>
        <p:nvSpPr>
          <p:cNvPr id="16" name="TextBox 15"/>
          <p:cNvSpPr txBox="1"/>
          <p:nvPr/>
        </p:nvSpPr>
        <p:spPr>
          <a:xfrm>
            <a:off x="3675888" y="2560320"/>
            <a:ext cx="722376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PER FRAME</a:t>
            </a:r>
          </a:p>
        </p:txBody>
      </p:sp>
      <p:sp>
        <p:nvSpPr>
          <p:cNvPr id="17" name="TextBox 16"/>
          <p:cNvSpPr txBox="1"/>
          <p:nvPr/>
        </p:nvSpPr>
        <p:spPr>
          <a:xfrm>
            <a:off x="4976164" y="2560320"/>
            <a:ext cx="722376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HOST COST</a:t>
            </a:r>
          </a:p>
        </p:txBody>
      </p:sp>
      <p:sp>
        <p:nvSpPr>
          <p:cNvPr id="18" name="TextBox 17"/>
          <p:cNvSpPr txBox="1"/>
          <p:nvPr/>
        </p:nvSpPr>
        <p:spPr>
          <a:xfrm>
            <a:off x="6565392" y="2560320"/>
            <a:ext cx="722376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µS/FRAME</a:t>
            </a:r>
          </a:p>
        </p:txBody>
      </p:sp>
      <p:sp>
        <p:nvSpPr>
          <p:cNvPr id="19" name="Rectangle 18"/>
          <p:cNvSpPr/>
          <p:nvPr/>
        </p:nvSpPr>
        <p:spPr>
          <a:xfrm>
            <a:off x="640080" y="2834640"/>
            <a:ext cx="7223760" cy="40233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86384" y="2926080"/>
            <a:ext cx="2670048"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cudaMemcpyAsync</a:t>
            </a:r>
          </a:p>
        </p:txBody>
      </p:sp>
      <p:sp>
        <p:nvSpPr>
          <p:cNvPr id="21" name="TextBox 20"/>
          <p:cNvSpPr txBox="1"/>
          <p:nvPr/>
        </p:nvSpPr>
        <p:spPr>
          <a:xfrm>
            <a:off x="3675888" y="2926080"/>
            <a:ext cx="1080820"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a:t>
            </a:r>
          </a:p>
        </p:txBody>
      </p:sp>
      <p:sp>
        <p:nvSpPr>
          <p:cNvPr id="22" name="TextBox 21"/>
          <p:cNvSpPr txBox="1"/>
          <p:nvPr/>
        </p:nvSpPr>
        <p:spPr>
          <a:xfrm>
            <a:off x="4976164" y="2926080"/>
            <a:ext cx="1369771"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1.98 µs</a:t>
            </a:r>
          </a:p>
        </p:txBody>
      </p:sp>
      <p:sp>
        <p:nvSpPr>
          <p:cNvPr id="23" name="TextBox 22"/>
          <p:cNvSpPr txBox="1"/>
          <p:nvPr/>
        </p:nvSpPr>
        <p:spPr>
          <a:xfrm>
            <a:off x="6565392" y="2926080"/>
            <a:ext cx="1225296"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3.97</a:t>
            </a:r>
          </a:p>
        </p:txBody>
      </p:sp>
      <p:sp>
        <p:nvSpPr>
          <p:cNvPr id="24" name="TextBox 23"/>
          <p:cNvSpPr txBox="1"/>
          <p:nvPr/>
        </p:nvSpPr>
        <p:spPr>
          <a:xfrm>
            <a:off x="786384" y="3364992"/>
            <a:ext cx="2670048"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cudaLaunchKernel</a:t>
            </a:r>
          </a:p>
        </p:txBody>
      </p:sp>
      <p:sp>
        <p:nvSpPr>
          <p:cNvPr id="25" name="TextBox 24"/>
          <p:cNvSpPr txBox="1"/>
          <p:nvPr/>
        </p:nvSpPr>
        <p:spPr>
          <a:xfrm>
            <a:off x="3675888" y="3364992"/>
            <a:ext cx="1080820"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a:t>
            </a:r>
          </a:p>
        </p:txBody>
      </p:sp>
      <p:sp>
        <p:nvSpPr>
          <p:cNvPr id="26" name="TextBox 25"/>
          <p:cNvSpPr txBox="1"/>
          <p:nvPr/>
        </p:nvSpPr>
        <p:spPr>
          <a:xfrm>
            <a:off x="4976164" y="3364992"/>
            <a:ext cx="1369771"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2.13 µs</a:t>
            </a:r>
          </a:p>
        </p:txBody>
      </p:sp>
      <p:sp>
        <p:nvSpPr>
          <p:cNvPr id="27" name="TextBox 26"/>
          <p:cNvSpPr txBox="1"/>
          <p:nvPr/>
        </p:nvSpPr>
        <p:spPr>
          <a:xfrm>
            <a:off x="6565392" y="3364992"/>
            <a:ext cx="1225296"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2.13</a:t>
            </a:r>
          </a:p>
        </p:txBody>
      </p:sp>
      <p:sp>
        <p:nvSpPr>
          <p:cNvPr id="28" name="Rectangle 27"/>
          <p:cNvSpPr/>
          <p:nvPr/>
        </p:nvSpPr>
        <p:spPr>
          <a:xfrm>
            <a:off x="640080" y="3712464"/>
            <a:ext cx="7223760" cy="40233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86384" y="3803904"/>
            <a:ext cx="2670048"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cudaMemsetAsync</a:t>
            </a:r>
          </a:p>
        </p:txBody>
      </p:sp>
      <p:sp>
        <p:nvSpPr>
          <p:cNvPr id="30" name="TextBox 29"/>
          <p:cNvSpPr txBox="1"/>
          <p:nvPr/>
        </p:nvSpPr>
        <p:spPr>
          <a:xfrm>
            <a:off x="3675888" y="3803904"/>
            <a:ext cx="1080820"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a:t>
            </a:r>
          </a:p>
        </p:txBody>
      </p:sp>
      <p:sp>
        <p:nvSpPr>
          <p:cNvPr id="31" name="TextBox 30"/>
          <p:cNvSpPr txBox="1"/>
          <p:nvPr/>
        </p:nvSpPr>
        <p:spPr>
          <a:xfrm>
            <a:off x="4976164" y="3803904"/>
            <a:ext cx="1369771"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1.57 µs</a:t>
            </a:r>
          </a:p>
        </p:txBody>
      </p:sp>
      <p:sp>
        <p:nvSpPr>
          <p:cNvPr id="32" name="TextBox 31"/>
          <p:cNvSpPr txBox="1"/>
          <p:nvPr/>
        </p:nvSpPr>
        <p:spPr>
          <a:xfrm>
            <a:off x="6565392" y="3803904"/>
            <a:ext cx="1225296"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1.57</a:t>
            </a:r>
          </a:p>
        </p:txBody>
      </p:sp>
      <p:sp>
        <p:nvSpPr>
          <p:cNvPr id="33" name="TextBox 32"/>
          <p:cNvSpPr txBox="1"/>
          <p:nvPr/>
        </p:nvSpPr>
        <p:spPr>
          <a:xfrm>
            <a:off x="786384" y="4242816"/>
            <a:ext cx="2670048" cy="402336"/>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submission total</a:t>
            </a:r>
          </a:p>
        </p:txBody>
      </p:sp>
      <p:sp>
        <p:nvSpPr>
          <p:cNvPr id="34" name="TextBox 33"/>
          <p:cNvSpPr txBox="1"/>
          <p:nvPr/>
        </p:nvSpPr>
        <p:spPr>
          <a:xfrm>
            <a:off x="3675888" y="4242816"/>
            <a:ext cx="1080820" cy="402336"/>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4</a:t>
            </a:r>
          </a:p>
        </p:txBody>
      </p:sp>
      <p:sp>
        <p:nvSpPr>
          <p:cNvPr id="35" name="TextBox 34"/>
          <p:cNvSpPr txBox="1"/>
          <p:nvPr/>
        </p:nvSpPr>
        <p:spPr>
          <a:xfrm>
            <a:off x="4976164" y="4242816"/>
            <a:ext cx="1369771" cy="402336"/>
          </a:xfrm>
          <a:prstGeom prst="rect">
            <a:avLst/>
          </a:prstGeom>
          <a:noFill/>
        </p:spPr>
        <p:txBody>
          <a:bodyPr wrap="square" lIns="0" rIns="0" tIns="0" bIns="0" anchor="t">
            <a:spAutoFit/>
          </a:bodyPr>
          <a:lstStyle/>
          <a:p>
            <a:pPr>
              <a:lnSpc>
                <a:spcPct val="120000"/>
              </a:lnSpc>
              <a:spcBef>
                <a:spcPts val="0"/>
              </a:spcBef>
              <a:spcAft>
                <a:spcPts val="0"/>
              </a:spcAft>
            </a:pPr>
          </a:p>
        </p:txBody>
      </p:sp>
      <p:sp>
        <p:nvSpPr>
          <p:cNvPr id="36" name="TextBox 35"/>
          <p:cNvSpPr txBox="1"/>
          <p:nvPr/>
        </p:nvSpPr>
        <p:spPr>
          <a:xfrm>
            <a:off x="6565392" y="4242816"/>
            <a:ext cx="1225296" cy="402336"/>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7.67</a:t>
            </a:r>
          </a:p>
        </p:txBody>
      </p:sp>
      <p:sp>
        <p:nvSpPr>
          <p:cNvPr id="37" name="Rounded Rectangle 36"/>
          <p:cNvSpPr/>
          <p:nvPr/>
        </p:nvSpPr>
        <p:spPr>
          <a:xfrm>
            <a:off x="640080" y="4956048"/>
            <a:ext cx="7223760" cy="725302"/>
          </a:xfrm>
          <a:prstGeom prst="round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4671" y="5065776"/>
            <a:ext cx="6894576" cy="182880"/>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THE ARITHMETIC</a:t>
            </a:r>
          </a:p>
        </p:txBody>
      </p:sp>
      <p:sp>
        <p:nvSpPr>
          <p:cNvPr id="39" name="TextBox 38"/>
          <p:cNvSpPr txBox="1"/>
          <p:nvPr/>
        </p:nvSpPr>
        <p:spPr>
          <a:xfrm>
            <a:off x="804671" y="5285232"/>
            <a:ext cx="6894576" cy="505846"/>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A5B2C4"/>
                </a:solidFill>
                <a:latin typeface="Consolas"/>
              </a:rPr>
              <a:t>7.67 us/frame x 3/4  = 5.75 us/frame   eliminated, AS MEASURED (under nsys)</a:t>
            </a:r>
          </a:p>
          <a:p>
            <a:pPr>
              <a:lnSpc>
                <a:spcPct val="112000"/>
              </a:lnSpc>
              <a:spcBef>
                <a:spcPts val="0"/>
              </a:spcBef>
              <a:spcAft>
                <a:spcPts val="0"/>
              </a:spcAft>
            </a:pPr>
            <a:r>
              <a:rPr sz="900" b="0" i="0">
                <a:solidFill>
                  <a:srgbClr val="A5B2C4"/>
                </a:solidFill>
                <a:latin typeface="Consolas"/>
              </a:rPr>
              <a:t>5.75 / 4 (see A5)    ~ 1.4 us/frame    eliminated, unprofiled estimate</a:t>
            </a:r>
          </a:p>
        </p:txBody>
      </p:sp>
      <p:sp>
        <p:nvSpPr>
          <p:cNvPr id="40" name="Rectangle 39"/>
          <p:cNvSpPr/>
          <p:nvPr/>
        </p:nvSpPr>
        <p:spPr>
          <a:xfrm>
            <a:off x="681228" y="5833872"/>
            <a:ext cx="7182612" cy="73152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40080" y="5833872"/>
            <a:ext cx="41148" cy="731520"/>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5925312"/>
            <a:ext cx="6766560" cy="548640"/>
          </a:xfrm>
          <a:prstGeom prst="rect">
            <a:avLst/>
          </a:prstGeom>
          <a:noFill/>
        </p:spPr>
        <p:txBody>
          <a:bodyPr wrap="square" lIns="0" rIns="0" tIns="0" bIns="0" anchor="ctr">
            <a:spAutoFit/>
          </a:bodyPr>
          <a:lstStyle/>
          <a:p>
            <a:pPr>
              <a:lnSpc>
                <a:spcPct val="120000"/>
              </a:lnSpc>
              <a:spcBef>
                <a:spcPts val="0"/>
              </a:spcBef>
              <a:spcAft>
                <a:spcPts val="0"/>
              </a:spcAft>
            </a:pPr>
            <a:r>
              <a:rPr sz="1000" b="1" i="0">
                <a:solidFill>
                  <a:srgbClr val="E7EDF4"/>
                </a:solidFill>
                <a:latin typeface="Segoe UI"/>
              </a:rPr>
              <a:t>~1.4 µs against a 16.17 µs floor = 8.7 %</a:t>
            </a:r>
            <a:r>
              <a:rPr sz="1000" b="0" i="0">
                <a:solidFill>
                  <a:srgbClr val="A5B2C4"/>
                </a:solidFill>
                <a:latin typeface="Segoe UI"/>
              </a:rPr>
              <a:t>, real while the host is the critical path, and </a:t>
            </a:r>
            <a:r>
              <a:rPr sz="1000" b="1" i="0">
                <a:solidFill>
                  <a:srgbClr val="E7EDF4"/>
                </a:solidFill>
                <a:latin typeface="Segoe UI"/>
              </a:rPr>
              <a:t>worth nothing after opt5</a:t>
            </a:r>
            <a:r>
              <a:rPr sz="1000" b="0" i="0">
                <a:solidFill>
                  <a:srgbClr val="A5B2C4"/>
                </a:solidFill>
                <a:latin typeface="Segoe UI"/>
              </a:rPr>
              <a:t>, which hides host work under the GPU entirely.</a:t>
            </a:r>
          </a:p>
        </p:txBody>
      </p:sp>
      <p:sp>
        <p:nvSpPr>
          <p:cNvPr id="43" name="Rectangle 42"/>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ROUTE A · MEASURED VERDICT</a:t>
            </a:r>
          </a:p>
        </p:txBody>
      </p:sp>
      <p:sp>
        <p:nvSpPr>
          <p:cNvPr id="45" name="TextBox 44"/>
          <p:cNvSpPr txBox="1"/>
          <p:nvPr/>
        </p:nvSpPr>
        <p:spPr>
          <a:xfrm>
            <a:off x="8412480" y="217627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3×3 VS OPT4</a:t>
            </a:r>
          </a:p>
        </p:txBody>
      </p:sp>
      <p:sp>
        <p:nvSpPr>
          <p:cNvPr id="46" name="TextBox 45"/>
          <p:cNvSpPr txBox="1"/>
          <p:nvPr/>
        </p:nvSpPr>
        <p:spPr>
          <a:xfrm>
            <a:off x="8412480" y="2395728"/>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A5B2C4"/>
                </a:solidFill>
                <a:latin typeface="Segoe UI"/>
              </a:rPr>
              <a:t>×1.03</a:t>
            </a:r>
          </a:p>
        </p:txBody>
      </p:sp>
      <p:sp>
        <p:nvSpPr>
          <p:cNvPr id="47" name="TextBox 46"/>
          <p:cNvSpPr txBox="1"/>
          <p:nvPr/>
        </p:nvSpPr>
        <p:spPr>
          <a:xfrm>
            <a:off x="8412480" y="307238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9×9 VS OPT4</a:t>
            </a:r>
          </a:p>
        </p:txBody>
      </p:sp>
      <p:sp>
        <p:nvSpPr>
          <p:cNvPr id="48" name="TextBox 47"/>
          <p:cNvSpPr txBox="1"/>
          <p:nvPr/>
        </p:nvSpPr>
        <p:spPr>
          <a:xfrm>
            <a:off x="8412480" y="3291840"/>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8B25C"/>
                </a:solidFill>
                <a:latin typeface="Segoe UI"/>
              </a:rPr>
              <a:t>×0.88</a:t>
            </a:r>
          </a:p>
        </p:txBody>
      </p:sp>
      <p:sp>
        <p:nvSpPr>
          <p:cNvPr id="49" name="TextBox 48"/>
          <p:cNvSpPr txBox="1"/>
          <p:nvPr/>
        </p:nvSpPr>
        <p:spPr>
          <a:xfrm>
            <a:off x="8412480" y="4014215"/>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VS OPT5 AT 9×9</a:t>
            </a:r>
          </a:p>
        </p:txBody>
      </p:sp>
      <p:sp>
        <p:nvSpPr>
          <p:cNvPr id="50" name="TextBox 49"/>
          <p:cNvSpPr txBox="1"/>
          <p:nvPr/>
        </p:nvSpPr>
        <p:spPr>
          <a:xfrm>
            <a:off x="8412480" y="4215383"/>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E8B25C"/>
                </a:solidFill>
                <a:latin typeface="Segoe UI"/>
              </a:rPr>
              <a:t>36 % behind</a:t>
            </a:r>
          </a:p>
        </p:txBody>
      </p:sp>
      <p:sp>
        <p:nvSpPr>
          <p:cNvPr id="51" name="TextBox 50"/>
          <p:cNvSpPr txBox="1"/>
          <p:nvPr/>
        </p:nvSpPr>
        <p:spPr>
          <a:xfrm>
            <a:off x="8412480" y="4800600"/>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Read from CUPTI_..._RUNTIME, the host table, so this is the one order-of-magnitude number in the deck, ±50 %. It is enough to show graphs cannot pay against a 16 µs floor, and not enough to quote to two figures.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A2</a:t>
            </a:r>
          </a:p>
        </p:txBody>
      </p:sp>
      <p:sp>
        <p:nvSpPr>
          <p:cNvPr id="4" name="TextBox 3"/>
          <p:cNvSpPr txBox="1"/>
          <p:nvPr/>
        </p:nvSpPr>
        <p:spPr>
          <a:xfrm>
            <a:off x="1298448" y="457200"/>
            <a:ext cx="923544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REJECTED ROUTES · THE RESULT COPY · EXPANDS SLIDE 18 · 3 OF 3</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 copy is allocation-bound, not bandwidth-bound</a:t>
            </a:r>
          </a:p>
        </p:txBody>
      </p:sp>
      <p:sp>
        <p:nvSpPr>
          <p:cNvPr id="6" name="Rectangle 5"/>
          <p:cNvSpPr/>
          <p:nvPr/>
        </p:nvSpPr>
        <p:spPr>
          <a:xfrm>
            <a:off x="6400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3164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992879"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0"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45680"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022079"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98480"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A2 · 3/3</a:t>
            </a:r>
          </a:p>
        </p:txBody>
      </p:sp>
      <p:sp>
        <p:nvSpPr>
          <p:cNvPr id="13" name="Rectangle 12"/>
          <p:cNvSpPr/>
          <p:nvPr/>
        </p:nvSpPr>
        <p:spPr>
          <a:xfrm>
            <a:off x="640080" y="1828800"/>
            <a:ext cx="10881360" cy="1874519"/>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1828800"/>
            <a:ext cx="32004" cy="1874519"/>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2029968"/>
            <a:ext cx="914400" cy="365760"/>
          </a:xfrm>
          <a:prstGeom prst="rect">
            <a:avLst/>
          </a:prstGeom>
          <a:noFill/>
        </p:spPr>
        <p:txBody>
          <a:bodyPr wrap="square" lIns="0" rIns="0" tIns="0" bIns="0" anchor="t">
            <a:spAutoFit/>
          </a:bodyPr>
          <a:lstStyle/>
          <a:p>
            <a:pPr>
              <a:spcBef>
                <a:spcPts val="0"/>
              </a:spcBef>
              <a:spcAft>
                <a:spcPts val="0"/>
              </a:spcAft>
            </a:pPr>
            <a:r>
              <a:rPr sz="2000" b="1" i="0">
                <a:solidFill>
                  <a:srgbClr val="E8B25C"/>
                </a:solidFill>
                <a:latin typeface="Consolas"/>
              </a:rPr>
              <a:t>B′</a:t>
            </a:r>
          </a:p>
        </p:txBody>
      </p:sp>
      <p:sp>
        <p:nvSpPr>
          <p:cNvPr id="16" name="TextBox 15"/>
          <p:cNvSpPr txBox="1"/>
          <p:nvPr/>
        </p:nvSpPr>
        <p:spPr>
          <a:xfrm>
            <a:off x="1828800" y="2011680"/>
            <a:ext cx="5486400" cy="274320"/>
          </a:xfrm>
          <a:prstGeom prst="rect">
            <a:avLst/>
          </a:prstGeom>
          <a:noFill/>
        </p:spPr>
        <p:txBody>
          <a:bodyPr wrap="square" lIns="0" rIns="0" tIns="0" bIns="0" anchor="t">
            <a:spAutoFit/>
          </a:bodyPr>
          <a:lstStyle/>
          <a:p>
            <a:pPr>
              <a:spcBef>
                <a:spcPts val="0"/>
              </a:spcBef>
              <a:spcAft>
                <a:spcPts val="0"/>
              </a:spcAft>
            </a:pPr>
            <a:r>
              <a:rPr sz="1400" b="1" i="0">
                <a:solidFill>
                  <a:srgbClr val="E7EDF4"/>
                </a:solidFill>
                <a:latin typeface="Segoe UI"/>
              </a:rPr>
              <a:t>One allocation per chunk</a:t>
            </a:r>
          </a:p>
        </p:txBody>
      </p:sp>
      <p:sp>
        <p:nvSpPr>
          <p:cNvPr id="17" name="TextBox 16"/>
          <p:cNvSpPr txBox="1"/>
          <p:nvPr/>
        </p:nvSpPr>
        <p:spPr>
          <a:xfrm>
            <a:off x="1828800" y="2304288"/>
            <a:ext cx="5486400" cy="274320"/>
          </a:xfrm>
          <a:prstGeom prst="rect">
            <a:avLst/>
          </a:prstGeom>
          <a:noFill/>
        </p:spPr>
        <p:txBody>
          <a:bodyPr wrap="square" lIns="0" rIns="0" tIns="0" bIns="0" anchor="t">
            <a:spAutoFit/>
          </a:bodyPr>
          <a:lstStyle/>
          <a:p>
            <a:pPr>
              <a:spcBef>
                <a:spcPts val="0"/>
              </a:spcBef>
              <a:spcAft>
                <a:spcPts val="0"/>
              </a:spcAft>
            </a:pPr>
            <a:r>
              <a:rPr sz="1000" b="0" i="0">
                <a:solidFill>
                  <a:srgbClr val="6B7A90"/>
                </a:solidFill>
                <a:latin typeface="Consolas"/>
              </a:rPr>
              <a:t>collect_packed()</a:t>
            </a:r>
          </a:p>
        </p:txBody>
      </p:sp>
      <p:sp>
        <p:nvSpPr>
          <p:cNvPr id="18" name="TextBox 17"/>
          <p:cNvSpPr txBox="1"/>
          <p:nvPr/>
        </p:nvSpPr>
        <p:spPr>
          <a:xfrm>
            <a:off x="1828800" y="2651760"/>
            <a:ext cx="9326880" cy="914400"/>
          </a:xfrm>
          <a:prstGeom prst="rect">
            <a:avLst/>
          </a:prstGeom>
          <a:noFill/>
        </p:spPr>
        <p:txBody>
          <a:bodyPr wrap="square" lIns="0" rIns="0" tIns="0" bIns="0" anchor="t">
            <a:spAutoFit/>
          </a:bodyPr>
          <a:lstStyle/>
          <a:p>
            <a:pPr>
              <a:lnSpc>
                <a:spcPct val="130000"/>
              </a:lnSpc>
              <a:spcBef>
                <a:spcPts val="0"/>
              </a:spcBef>
              <a:spcAft>
                <a:spcPts val="0"/>
              </a:spcAft>
            </a:pPr>
            <a:r>
              <a:rPr sz="1000" b="0" i="0">
                <a:solidFill>
                  <a:srgbClr val="A5B2C4"/>
                </a:solidFill>
                <a:latin typeface="Segoe UI"/>
              </a:rPr>
              <a:t>Removes the per-frame malloc but keeps the copy, and the copy is ~80% of the cost. Worse, the replacement allocation is 1.17 GB, far above glibc's mmap threshold, so it is mmap'd and munmap'd every chunk: 606 566 faults, ~21 µs/frame.</a:t>
            </a:r>
          </a:p>
        </p:txBody>
      </p:sp>
      <p:sp>
        <p:nvSpPr>
          <p:cNvPr id="19" name="TextBox 18"/>
          <p:cNvSpPr txBox="1"/>
          <p:nvPr/>
        </p:nvSpPr>
        <p:spPr>
          <a:xfrm>
            <a:off x="1828800" y="3364991"/>
            <a:ext cx="9326880" cy="274320"/>
          </a:xfrm>
          <a:prstGeom prst="rect">
            <a:avLst/>
          </a:prstGeom>
          <a:noFill/>
        </p:spPr>
        <p:txBody>
          <a:bodyPr wrap="square" lIns="0" rIns="0" tIns="0" bIns="0" anchor="t">
            <a:spAutoFit/>
          </a:bodyPr>
          <a:lstStyle/>
          <a:p>
            <a:pPr>
              <a:spcBef>
                <a:spcPts val="0"/>
              </a:spcBef>
              <a:spcAft>
                <a:spcPts val="0"/>
              </a:spcAft>
            </a:pPr>
            <a:r>
              <a:rPr sz="1050" b="1" i="0">
                <a:solidFill>
                  <a:srgbClr val="E8B25C"/>
                </a:solidFill>
                <a:latin typeface="Segoe UI"/>
              </a:rPr>
              <a:t>69.3 µs  ·  deleted from the API</a:t>
            </a:r>
          </a:p>
        </p:txBody>
      </p:sp>
      <p:sp>
        <p:nvSpPr>
          <p:cNvPr id="20" name="Rectangle 19"/>
          <p:cNvSpPr/>
          <p:nvPr/>
        </p:nvSpPr>
        <p:spPr>
          <a:xfrm>
            <a:off x="640080" y="3886200"/>
            <a:ext cx="10881360" cy="1874519"/>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40080" y="3886200"/>
            <a:ext cx="32004" cy="1874519"/>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4087368"/>
            <a:ext cx="914400" cy="365760"/>
          </a:xfrm>
          <a:prstGeom prst="rect">
            <a:avLst/>
          </a:prstGeom>
          <a:noFill/>
        </p:spPr>
        <p:txBody>
          <a:bodyPr wrap="square" lIns="0" rIns="0" tIns="0" bIns="0" anchor="t">
            <a:spAutoFit/>
          </a:bodyPr>
          <a:lstStyle/>
          <a:p>
            <a:pPr>
              <a:spcBef>
                <a:spcPts val="0"/>
              </a:spcBef>
              <a:spcAft>
                <a:spcPts val="0"/>
              </a:spcAft>
            </a:pPr>
            <a:r>
              <a:rPr sz="2000" b="1" i="0">
                <a:solidFill>
                  <a:srgbClr val="E8B25C"/>
                </a:solidFill>
                <a:latin typeface="Consolas"/>
              </a:rPr>
              <a:t>B″</a:t>
            </a:r>
          </a:p>
        </p:txBody>
      </p:sp>
      <p:sp>
        <p:nvSpPr>
          <p:cNvPr id="23" name="TextBox 22"/>
          <p:cNvSpPr txBox="1"/>
          <p:nvPr/>
        </p:nvSpPr>
        <p:spPr>
          <a:xfrm>
            <a:off x="1828800" y="4069080"/>
            <a:ext cx="5486400" cy="274320"/>
          </a:xfrm>
          <a:prstGeom prst="rect">
            <a:avLst/>
          </a:prstGeom>
          <a:noFill/>
        </p:spPr>
        <p:txBody>
          <a:bodyPr wrap="square" lIns="0" rIns="0" tIns="0" bIns="0" anchor="t">
            <a:spAutoFit/>
          </a:bodyPr>
          <a:lstStyle/>
          <a:p>
            <a:pPr>
              <a:spcBef>
                <a:spcPts val="0"/>
              </a:spcBef>
              <a:spcAft>
                <a:spcPts val="0"/>
              </a:spcAft>
            </a:pPr>
            <a:r>
              <a:rPr sz="1400" b="1" i="0">
                <a:solidFill>
                  <a:srgbClr val="E7EDF4"/>
                </a:solidFill>
                <a:latin typeface="Segoe UI"/>
              </a:rPr>
              <a:t>Parallel materialisation</a:t>
            </a:r>
          </a:p>
        </p:txBody>
      </p:sp>
      <p:sp>
        <p:nvSpPr>
          <p:cNvPr id="24" name="TextBox 23"/>
          <p:cNvSpPr txBox="1"/>
          <p:nvPr/>
        </p:nvSpPr>
        <p:spPr>
          <a:xfrm>
            <a:off x="1828800" y="4361688"/>
            <a:ext cx="5486400" cy="274320"/>
          </a:xfrm>
          <a:prstGeom prst="rect">
            <a:avLst/>
          </a:prstGeom>
          <a:noFill/>
        </p:spPr>
        <p:txBody>
          <a:bodyPr wrap="square" lIns="0" rIns="0" tIns="0" bIns="0" anchor="t">
            <a:spAutoFit/>
          </a:bodyPr>
          <a:lstStyle/>
          <a:p>
            <a:pPr>
              <a:spcBef>
                <a:spcPts val="0"/>
              </a:spcBef>
              <a:spcAft>
                <a:spcPts val="0"/>
              </a:spcAft>
            </a:pPr>
            <a:r>
              <a:rPr sz="1000" b="0" i="0">
                <a:solidFill>
                  <a:srgbClr val="6B7A90"/>
                </a:solidFill>
                <a:latin typeface="Consolas"/>
              </a:rPr>
              <a:t>8-thread copy pool</a:t>
            </a:r>
          </a:p>
        </p:txBody>
      </p:sp>
      <p:sp>
        <p:nvSpPr>
          <p:cNvPr id="25" name="TextBox 24"/>
          <p:cNvSpPr txBox="1"/>
          <p:nvPr/>
        </p:nvSpPr>
        <p:spPr>
          <a:xfrm>
            <a:off x="1828800" y="4709160"/>
            <a:ext cx="9326880" cy="914400"/>
          </a:xfrm>
          <a:prstGeom prst="rect">
            <a:avLst/>
          </a:prstGeom>
          <a:noFill/>
        </p:spPr>
        <p:txBody>
          <a:bodyPr wrap="square" lIns="0" rIns="0" tIns="0" bIns="0" anchor="t">
            <a:spAutoFit/>
          </a:bodyPr>
          <a:lstStyle/>
          <a:p>
            <a:pPr>
              <a:lnSpc>
                <a:spcPct val="130000"/>
              </a:lnSpc>
              <a:spcBef>
                <a:spcPts val="0"/>
              </a:spcBef>
              <a:spcAft>
                <a:spcPts val="0"/>
              </a:spcAft>
            </a:pPr>
            <a:r>
              <a:rPr sz="1000" b="0" i="0">
                <a:solidFill>
                  <a:srgbClr val="A5B2C4"/>
                </a:solidFill>
                <a:latin typeface="Segoe UI"/>
              </a:rPr>
              <a:t>Each worker gets its own glibc arena, which destroys the cross-run heap reuse that makes the single-threaded path cheap. Faults went 9 700 → 2 270 000; MALLOC_ARENA_MAX=1 collapsed them back to 138 k, which is the proof.</a:t>
            </a:r>
          </a:p>
        </p:txBody>
      </p:sp>
      <p:sp>
        <p:nvSpPr>
          <p:cNvPr id="26" name="TextBox 25"/>
          <p:cNvSpPr txBox="1"/>
          <p:nvPr/>
        </p:nvSpPr>
        <p:spPr>
          <a:xfrm>
            <a:off x="1828800" y="5422392"/>
            <a:ext cx="9326880" cy="274320"/>
          </a:xfrm>
          <a:prstGeom prst="rect">
            <a:avLst/>
          </a:prstGeom>
          <a:noFill/>
        </p:spPr>
        <p:txBody>
          <a:bodyPr wrap="square" lIns="0" rIns="0" tIns="0" bIns="0" anchor="t">
            <a:spAutoFit/>
          </a:bodyPr>
          <a:lstStyle/>
          <a:p>
            <a:pPr>
              <a:spcBef>
                <a:spcPts val="0"/>
              </a:spcBef>
              <a:spcAft>
                <a:spcPts val="0"/>
              </a:spcAft>
            </a:pPr>
            <a:r>
              <a:rPr sz="1050" b="1" i="0">
                <a:solidFill>
                  <a:srgbClr val="E8B25C"/>
                </a:solidFill>
                <a:latin typeface="Segoe UI"/>
              </a:rPr>
              <a:t>+6% at best, −33% when results are freed promptly</a:t>
            </a:r>
          </a:p>
        </p:txBody>
      </p:sp>
      <p:sp>
        <p:nvSpPr>
          <p:cNvPr id="27" name="Rectangle 26"/>
          <p:cNvSpPr/>
          <p:nvPr/>
        </p:nvSpPr>
        <p:spPr>
          <a:xfrm>
            <a:off x="681228" y="5833872"/>
            <a:ext cx="10840212" cy="73152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40080" y="5833872"/>
            <a:ext cx="41148" cy="73152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96112" y="5925312"/>
            <a:ext cx="10424160" cy="548640"/>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Copying faster does not help when the cost is the OS populating pages.</a:t>
            </a:r>
            <a:r>
              <a:rPr sz="1050" b="0" i="0">
                <a:solidFill>
                  <a:srgbClr val="A5B2C4"/>
                </a:solidFill>
                <a:latin typeface="Segoe UI"/>
              </a:rPr>
              <a:t> The only winning move is not to allocate — which is exactly what opt6 does. materialize_slot() is deliberately single-threaded and carries a comment saying so, to stop the experiment being repeated.</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A3</a:t>
            </a:r>
          </a:p>
        </p:txBody>
      </p:sp>
      <p:sp>
        <p:nvSpPr>
          <p:cNvPr id="4" name="TextBox 3"/>
          <p:cNvSpPr txBox="1"/>
          <p:nvPr/>
        </p:nvSpPr>
        <p:spPr>
          <a:xfrm>
            <a:off x="1298448" y="457200"/>
            <a:ext cx="923544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OPT5 · THE OVERLAP CODE · EXPANDS SLIDE 17</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 overlap, in six lines, and why you never write them</a:t>
            </a:r>
          </a:p>
        </p:txBody>
      </p:sp>
      <p:sp>
        <p:nvSpPr>
          <p:cNvPr id="6" name="Rectangle 5"/>
          <p:cNvSpPr/>
          <p:nvPr/>
        </p:nvSpPr>
        <p:spPr>
          <a:xfrm>
            <a:off x="6400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3164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992879"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0"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45680"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022079"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98480"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A3</a:t>
            </a:r>
          </a:p>
        </p:txBody>
      </p:sp>
      <p:sp>
        <p:nvSpPr>
          <p:cNvPr id="13" name="Rounded Rectangle 12"/>
          <p:cNvSpPr/>
          <p:nvPr/>
        </p:nvSpPr>
        <p:spPr>
          <a:xfrm>
            <a:off x="640080" y="1700784"/>
            <a:ext cx="6537960" cy="1298082"/>
          </a:xfrm>
          <a:prstGeom prst="round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1" y="1810512"/>
            <a:ext cx="6208776" cy="182880"/>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THE WHOLE OF OPT5</a:t>
            </a:r>
          </a:p>
        </p:txBody>
      </p:sp>
      <p:sp>
        <p:nvSpPr>
          <p:cNvPr id="15" name="TextBox 14"/>
          <p:cNvSpPr txBox="1"/>
          <p:nvPr/>
        </p:nvSpPr>
        <p:spPr>
          <a:xfrm>
            <a:off x="804671" y="2029967"/>
            <a:ext cx="6208776" cy="1078626"/>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A5B2C4"/>
                </a:solidFill>
                <a:latin typeface="Consolas"/>
              </a:rPr>
              <a:t>tok = cf.</a:t>
            </a:r>
            <a:r>
              <a:rPr sz="900" b="1" i="0">
                <a:solidFill>
                  <a:srgbClr val="1E90C2"/>
                </a:solidFill>
                <a:latin typeface="Consolas"/>
              </a:rPr>
              <a:t>submit_batch</a:t>
            </a:r>
            <a:r>
              <a:rPr sz="900" b="0" i="0">
                <a:solidFill>
                  <a:srgbClr val="A5B2C4"/>
                </a:solidFill>
                <a:latin typeface="Consolas"/>
              </a:rPr>
              <a:t>(data[a0:b0], first_frame=a0)</a:t>
            </a:r>
          </a:p>
          <a:p>
            <a:pPr>
              <a:lnSpc>
                <a:spcPct val="112000"/>
              </a:lnSpc>
              <a:spcBef>
                <a:spcPts val="0"/>
              </a:spcBef>
              <a:spcAft>
                <a:spcPts val="0"/>
              </a:spcAft>
            </a:pPr>
            <a:r>
              <a:rPr sz="900" b="0" i="0">
                <a:solidFill>
                  <a:srgbClr val="A5B2C4"/>
                </a:solidFill>
                <a:latin typeface="Consolas"/>
              </a:rPr>
              <a:t>for a, b in bounds[1:]:</a:t>
            </a:r>
          </a:p>
          <a:p>
            <a:pPr>
              <a:lnSpc>
                <a:spcPct val="112000"/>
              </a:lnSpc>
              <a:spcBef>
                <a:spcPts val="0"/>
              </a:spcBef>
              <a:spcAft>
                <a:spcPts val="0"/>
              </a:spcAft>
            </a:pPr>
            <a:r>
              <a:rPr sz="900" b="0" i="0">
                <a:solidFill>
                  <a:srgbClr val="A5B2C4"/>
                </a:solidFill>
                <a:latin typeface="Consolas"/>
              </a:rPr>
              <a:t>    nxt = cf.</a:t>
            </a:r>
            <a:r>
              <a:rPr sz="900" b="1" i="0">
                <a:solidFill>
                  <a:srgbClr val="1E90C2"/>
                </a:solidFill>
                <a:latin typeface="Consolas"/>
              </a:rPr>
              <a:t>submit_batch</a:t>
            </a:r>
            <a:r>
              <a:rPr sz="900" b="0" i="0">
                <a:solidFill>
                  <a:srgbClr val="A5B2C4"/>
                </a:solidFill>
                <a:latin typeface="Consolas"/>
              </a:rPr>
              <a:t>(data[a:b], first_frame=a)   # GPU starts N+1 …</a:t>
            </a:r>
          </a:p>
          <a:p>
            <a:pPr>
              <a:lnSpc>
                <a:spcPct val="112000"/>
              </a:lnSpc>
              <a:spcBef>
                <a:spcPts val="0"/>
              </a:spcBef>
              <a:spcAft>
                <a:spcPts val="0"/>
              </a:spcAft>
            </a:pPr>
            <a:r>
              <a:rPr sz="900" b="0" i="0">
                <a:solidFill>
                  <a:srgbClr val="A5B2C4"/>
                </a:solidFill>
                <a:latin typeface="Consolas"/>
              </a:rPr>
              <a:t>    results.extend(cf.</a:t>
            </a:r>
            <a:r>
              <a:rPr sz="900" b="1" i="0">
                <a:solidFill>
                  <a:srgbClr val="1E90C2"/>
                </a:solidFill>
                <a:latin typeface="Consolas"/>
              </a:rPr>
              <a:t>collect</a:t>
            </a:r>
            <a:r>
              <a:rPr sz="900" b="0" i="0">
                <a:solidFill>
                  <a:srgbClr val="A5B2C4"/>
                </a:solidFill>
                <a:latin typeface="Consolas"/>
              </a:rPr>
              <a:t>(tok))                   # … host unpacks N</a:t>
            </a:r>
          </a:p>
          <a:p>
            <a:pPr>
              <a:lnSpc>
                <a:spcPct val="112000"/>
              </a:lnSpc>
              <a:spcBef>
                <a:spcPts val="0"/>
              </a:spcBef>
              <a:spcAft>
                <a:spcPts val="0"/>
              </a:spcAft>
            </a:pPr>
            <a:r>
              <a:rPr sz="900" b="0" i="0">
                <a:solidFill>
                  <a:srgbClr val="A5B2C4"/>
                </a:solidFill>
                <a:latin typeface="Consolas"/>
              </a:rPr>
              <a:t>    tok = nxt</a:t>
            </a:r>
          </a:p>
          <a:p>
            <a:pPr>
              <a:lnSpc>
                <a:spcPct val="112000"/>
              </a:lnSpc>
              <a:spcBef>
                <a:spcPts val="0"/>
              </a:spcBef>
              <a:spcAft>
                <a:spcPts val="0"/>
              </a:spcAft>
            </a:pPr>
            <a:r>
              <a:rPr sz="900" b="0" i="0">
                <a:solidFill>
                  <a:srgbClr val="A5B2C4"/>
                </a:solidFill>
                <a:latin typeface="Consolas"/>
              </a:rPr>
              <a:t>results.extend(cf.</a:t>
            </a:r>
            <a:r>
              <a:rPr sz="900" b="1" i="0">
                <a:solidFill>
                  <a:srgbClr val="1E90C2"/>
                </a:solidFill>
                <a:latin typeface="Consolas"/>
              </a:rPr>
              <a:t>collect</a:t>
            </a:r>
            <a:r>
              <a:rPr sz="900" b="0" i="0">
                <a:solidFill>
                  <a:srgbClr val="A5B2C4"/>
                </a:solidFill>
                <a:latin typeface="Consolas"/>
              </a:rPr>
              <a:t>(tok))                       # drain the last one</a:t>
            </a:r>
          </a:p>
        </p:txBody>
      </p:sp>
      <p:sp>
        <p:nvSpPr>
          <p:cNvPr id="16" name="TextBox 15"/>
          <p:cNvSpPr txBox="1"/>
          <p:nvPr/>
        </p:nvSpPr>
        <p:spPr>
          <a:xfrm>
            <a:off x="640080" y="3346704"/>
            <a:ext cx="6537960" cy="274320"/>
          </a:xfrm>
          <a:prstGeom prst="rect">
            <a:avLst/>
          </a:prstGeom>
          <a:noFill/>
        </p:spPr>
        <p:txBody>
          <a:bodyPr wrap="square" lIns="0" rIns="0" tIns="0" bIns="0" anchor="t">
            <a:spAutoFit/>
          </a:bodyPr>
          <a:lstStyle/>
          <a:p>
            <a:pPr>
              <a:lnSpc>
                <a:spcPct val="125000"/>
              </a:lnSpc>
              <a:spcBef>
                <a:spcPts val="0"/>
              </a:spcBef>
              <a:spcAft>
                <a:spcPts val="700"/>
              </a:spcAft>
            </a:pPr>
            <a:r>
              <a:rPr sz="1000" b="0" i="0">
                <a:solidFill>
                  <a:srgbClr val="6B7A90"/>
                </a:solidFill>
                <a:latin typeface="Segoe UI"/>
              </a:rPr>
              <a:t>•  </a:t>
            </a:r>
            <a:r>
              <a:rPr sz="1000" b="1" i="0">
                <a:solidFill>
                  <a:srgbClr val="E7EDF4"/>
                </a:solidFill>
                <a:latin typeface="Segoe UI"/>
              </a:rPr>
              <a:t>You do not write this.</a:t>
            </a:r>
            <a:r>
              <a:rPr sz="1000" b="0" i="0">
                <a:solidFill>
                  <a:srgbClr val="A5B2C4"/>
                </a:solidFill>
                <a:latin typeface="Segoe UI"/>
              </a:rPr>
              <a:t> It is inside find_clusters_batched(), which chunks the batch and runs the loop for you, opt5 arrived as a </a:t>
            </a:r>
            <a:r>
              <a:rPr sz="1000" b="1" i="0">
                <a:solidFill>
                  <a:srgbClr val="E7EDF4"/>
                </a:solidFill>
                <a:latin typeface="Segoe UI"/>
              </a:rPr>
              <a:t>speedup, not an API change</a:t>
            </a:r>
            <a:r>
              <a:rPr sz="1000" b="0" i="0">
                <a:solidFill>
                  <a:srgbClr val="A5B2C4"/>
                </a:solidFill>
                <a:latin typeface="Segoe UI"/>
              </a:rPr>
              <a:t>, and every existing caller got it without editing a line.</a:t>
            </a:r>
          </a:p>
          <a:p>
            <a:pPr>
              <a:lnSpc>
                <a:spcPct val="125000"/>
              </a:lnSpc>
              <a:spcBef>
                <a:spcPts val="0"/>
              </a:spcBef>
              <a:spcAft>
                <a:spcPts val="700"/>
              </a:spcAft>
            </a:pPr>
            <a:r>
              <a:rPr sz="1000" b="0" i="0">
                <a:solidFill>
                  <a:srgbClr val="6B7A90"/>
                </a:solidFill>
                <a:latin typeface="Segoe UI"/>
              </a:rPr>
              <a:t>•  </a:t>
            </a:r>
            <a:r>
              <a:rPr sz="1000" b="0" i="0">
                <a:solidFill>
                  <a:srgbClr val="A5B2C4"/>
                </a:solidFill>
                <a:latin typeface="Segoe UI"/>
              </a:rPr>
              <a:t>submit_batch() and collect() stay public for anyone who wants the token by hand, streaming from a detector, interleaving other work between chunks.</a:t>
            </a:r>
          </a:p>
        </p:txBody>
      </p:sp>
      <p:sp>
        <p:nvSpPr>
          <p:cNvPr id="17" name="Rectangle 16"/>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CHUNK SIZING · THE TWO CONSTRAINTS</a:t>
            </a:r>
          </a:p>
        </p:txBody>
      </p:sp>
      <p:sp>
        <p:nvSpPr>
          <p:cNvPr id="19" name="TextBox 18"/>
          <p:cNvSpPr txBox="1"/>
          <p:nvPr/>
        </p:nvSpPr>
        <p:spPr>
          <a:xfrm>
            <a:off x="8412480" y="219456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MULTIPLE OF</a:t>
            </a:r>
          </a:p>
        </p:txBody>
      </p:sp>
      <p:sp>
        <p:nvSpPr>
          <p:cNvPr id="20" name="TextBox 19"/>
          <p:cNvSpPr txBox="1"/>
          <p:nvPr/>
        </p:nvSpPr>
        <p:spPr>
          <a:xfrm>
            <a:off x="8412480" y="2395728"/>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n_streams</a:t>
            </a:r>
          </a:p>
        </p:txBody>
      </p:sp>
      <p:sp>
        <p:nvSpPr>
          <p:cNvPr id="21" name="TextBox 20"/>
          <p:cNvSpPr txBox="1"/>
          <p:nvPr/>
        </p:nvSpPr>
        <p:spPr>
          <a:xfrm>
            <a:off x="8412480" y="279806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CAPPED AT</a:t>
            </a:r>
          </a:p>
        </p:txBody>
      </p:sp>
      <p:sp>
        <p:nvSpPr>
          <p:cNvPr id="22" name="TextBox 21"/>
          <p:cNvSpPr txBox="1"/>
          <p:nvPr/>
        </p:nvSpPr>
        <p:spPr>
          <a:xfrm>
            <a:off x="8412480" y="2999232"/>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MAX_SLOT_BYTES</a:t>
            </a:r>
          </a:p>
        </p:txBody>
      </p:sp>
      <p:sp>
        <p:nvSpPr>
          <p:cNvPr id="23" name="TextBox 22"/>
          <p:cNvSpPr txBox="1"/>
          <p:nvPr/>
        </p:nvSpPr>
        <p:spPr>
          <a:xfrm>
            <a:off x="8412480" y="3547872"/>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The chunk MUST be a multiple of n_streams. The device pedestal is per-stream and advances once per frame the stream sees, so an uneven chunk leaves the four pedestals at different ages, the finder would stop being reproducible, and two runs of the same data would not agree.</a:t>
            </a:r>
          </a:p>
        </p:txBody>
      </p:sp>
      <p:sp>
        <p:nvSpPr>
          <p:cNvPr id="24" name="TextBox 23"/>
          <p:cNvSpPr txBox="1"/>
          <p:nvPr/>
        </p:nvSpPr>
        <p:spPr>
          <a:xfrm>
            <a:off x="8412480" y="5038344"/>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It is also capped so the two pinned output slots stay bounded: the slot is chunk × (4 + cap × sizeof(Cluster)), which at 9×9 and cap 1 700 is 544.5 kB per frame. chunk_size_for(n) applies both rules; pass the result to reserve_output_slots() to pre-pay the page-locking outside any timed region.</a:t>
            </a:r>
          </a:p>
        </p:txBody>
      </p:sp>
      <p:sp>
        <p:nvSpPr>
          <p:cNvPr id="25" name="Rectangle 24"/>
          <p:cNvSpPr/>
          <p:nvPr/>
        </p:nvSpPr>
        <p:spPr>
          <a:xfrm>
            <a:off x="681228" y="5413248"/>
            <a:ext cx="6496812" cy="65836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40080" y="5413248"/>
            <a:ext cx="41148" cy="65836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5504688"/>
            <a:ext cx="6080760" cy="475488"/>
          </a:xfrm>
          <a:prstGeom prst="rect">
            <a:avLst/>
          </a:prstGeom>
          <a:noFill/>
        </p:spPr>
        <p:txBody>
          <a:bodyPr wrap="square" lIns="0" rIns="0" tIns="0" bIns="0" anchor="ctr">
            <a:spAutoFit/>
          </a:bodyPr>
          <a:lstStyle/>
          <a:p>
            <a:pPr>
              <a:lnSpc>
                <a:spcPct val="120000"/>
              </a:lnSpc>
              <a:spcBef>
                <a:spcPts val="0"/>
              </a:spcBef>
              <a:spcAft>
                <a:spcPts val="0"/>
              </a:spcAft>
            </a:pPr>
            <a:r>
              <a:rPr sz="1000" b="0" i="0">
                <a:solidFill>
                  <a:srgbClr val="A5B2C4"/>
                </a:solidFill>
                <a:latin typeface="Segoe UI"/>
              </a:rPr>
              <a:t>Two chunks in flight is enough. A third adds pinned memory and no overlap: the host is already busy for the whole time the GPU is.</a:t>
            </a:r>
          </a:p>
        </p:txBody>
      </p:sp>
      <p:sp>
        <p:nvSpPr>
          <p:cNvPr id="28" name="TextBox 27"/>
          <p:cNvSpPr txBox="1"/>
          <p:nvPr/>
        </p:nvSpPr>
        <p:spPr>
          <a:xfrm>
            <a:off x="640080" y="6217920"/>
            <a:ext cx="1097280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The saving is min(GPU, host) per chunk, so opt5 pays most when the two terms are comparable, ×1.31 at 3×3, and least when one dominates, ×1.20 at 9×9, where the host term is roughly twice the GPU term. That gap is the diagnosis that motivates opt6 (report §8.2).</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A4</a:t>
            </a:r>
          </a:p>
        </p:txBody>
      </p:sp>
      <p:sp>
        <p:nvSpPr>
          <p:cNvPr id="4" name="TextBox 3"/>
          <p:cNvSpPr txBox="1"/>
          <p:nvPr/>
        </p:nvSpPr>
        <p:spPr>
          <a:xfrm>
            <a:off x="1298448" y="457200"/>
            <a:ext cx="923544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THE FAULT MODEL · EXPANDS SLIDE 21</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 fault model, tested against every step</a:t>
            </a:r>
          </a:p>
        </p:txBody>
      </p:sp>
      <p:sp>
        <p:nvSpPr>
          <p:cNvPr id="6" name="Rectangle 5"/>
          <p:cNvSpPr/>
          <p:nvPr/>
        </p:nvSpPr>
        <p:spPr>
          <a:xfrm>
            <a:off x="6400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3164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992879"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45680"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022079"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98480"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A4</a:t>
            </a:r>
          </a:p>
        </p:txBody>
      </p:sp>
      <p:sp>
        <p:nvSpPr>
          <p:cNvPr id="13" name="TextBox 12"/>
          <p:cNvSpPr txBox="1"/>
          <p:nvPr/>
        </p:nvSpPr>
        <p:spPr>
          <a:xfrm>
            <a:off x="640080" y="1737360"/>
            <a:ext cx="1097280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Slide 26 fits </a:t>
            </a:r>
            <a:r>
              <a:rPr sz="1050" b="1" i="0">
                <a:solidFill>
                  <a:srgbClr val="E7EDF4"/>
                </a:solidFill>
                <a:latin typeface="Segoe UI"/>
              </a:rPr>
              <a:t>0.68 µs per first-touch fault</a:t>
            </a:r>
            <a:r>
              <a:rPr sz="1050" b="0" i="0">
                <a:solidFill>
                  <a:srgbClr val="A5B2C4"/>
                </a:solidFill>
                <a:latin typeface="Segoe UI"/>
              </a:rPr>
              <a:t> on the </a:t>
            </a:r>
            <a:r>
              <a:rPr sz="1050" b="1" i="0">
                <a:solidFill>
                  <a:srgbClr val="E7EDF4"/>
                </a:solidFill>
                <a:latin typeface="Segoe UI"/>
              </a:rPr>
              <a:t>3×3 f32</a:t>
            </a:r>
            <a:r>
              <a:rPr sz="1050" b="0" i="0">
                <a:solidFill>
                  <a:srgbClr val="A5B2C4"/>
                </a:solidFill>
                <a:latin typeface="Segoe UI"/>
              </a:rPr>
              <a:t> ladder, where wall = steady-state + faults × 0.68 µs reproduced a 6.110 s run to </a:t>
            </a:r>
            <a:r>
              <a:rPr sz="1050" b="1" i="0">
                <a:solidFill>
                  <a:srgbClr val="E7EDF4"/>
                </a:solidFill>
                <a:latin typeface="Segoe UI"/>
              </a:rPr>
              <a:t>1 ms</a:t>
            </a:r>
            <a:r>
              <a:rPr sz="1050" b="0" i="0">
                <a:solidFill>
                  <a:srgbClr val="A5B2C4"/>
                </a:solidFill>
                <a:latin typeface="Segoe UI"/>
              </a:rPr>
              <a:t>. Every row below is </a:t>
            </a:r>
            <a:r>
              <a:rPr sz="1050" b="1" i="0">
                <a:solidFill>
                  <a:srgbClr val="E7EDF4"/>
                </a:solidFill>
                <a:latin typeface="Segoe UI"/>
              </a:rPr>
              <a:t>9×9, and an f64-vs-f32 gap</a:t>
            </a:r>
            <a:r>
              <a:rPr sz="1050" b="0" i="0">
                <a:solidFill>
                  <a:srgbClr val="A5B2C4"/>
                </a:solidFill>
                <a:latin typeface="Segoe UI"/>
              </a:rPr>
              <a:t>: a different cluster size and a different comparison, so the rate is applied </a:t>
            </a:r>
            <a:r>
              <a:rPr sz="1050" b="1" i="0">
                <a:solidFill>
                  <a:srgbClr val="E7EDF4"/>
                </a:solidFill>
                <a:latin typeface="Segoe UI"/>
              </a:rPr>
              <a:t>out of sample</a:t>
            </a:r>
            <a:r>
              <a:rPr sz="1050" b="0" i="0">
                <a:solidFill>
                  <a:srgbClr val="A5B2C4"/>
                </a:solidFill>
                <a:latin typeface="Segoe UI"/>
              </a:rPr>
              <a:t>, never refitted.</a:t>
            </a:r>
          </a:p>
        </p:txBody>
      </p:sp>
      <p:sp>
        <p:nvSpPr>
          <p:cNvPr id="14" name="Rectangle 13"/>
          <p:cNvSpPr/>
          <p:nvPr/>
        </p:nvSpPr>
        <p:spPr>
          <a:xfrm>
            <a:off x="640080" y="2542032"/>
            <a:ext cx="10972800" cy="31089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6384" y="2615184"/>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STEP</a:t>
            </a:r>
          </a:p>
        </p:txBody>
      </p:sp>
      <p:sp>
        <p:nvSpPr>
          <p:cNvPr id="16" name="TextBox 15"/>
          <p:cNvSpPr txBox="1"/>
          <p:nvPr/>
        </p:nvSpPr>
        <p:spPr>
          <a:xfrm>
            <a:off x="1664207" y="2615184"/>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F64 WARM (FAULTS)</a:t>
            </a:r>
          </a:p>
        </p:txBody>
      </p:sp>
      <p:sp>
        <p:nvSpPr>
          <p:cNvPr id="17" name="TextBox 16"/>
          <p:cNvSpPr txBox="1"/>
          <p:nvPr/>
        </p:nvSpPr>
        <p:spPr>
          <a:xfrm>
            <a:off x="3639312" y="2615184"/>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F32 WARM (FAULTS)</a:t>
            </a:r>
          </a:p>
        </p:txBody>
      </p:sp>
      <p:sp>
        <p:nvSpPr>
          <p:cNvPr id="18" name="TextBox 17"/>
          <p:cNvSpPr txBox="1"/>
          <p:nvPr/>
        </p:nvSpPr>
        <p:spPr>
          <a:xfrm>
            <a:off x="5614416" y="2615184"/>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Δ WALL</a:t>
            </a:r>
          </a:p>
        </p:txBody>
      </p:sp>
      <p:sp>
        <p:nvSpPr>
          <p:cNvPr id="19" name="TextBox 18"/>
          <p:cNvSpPr txBox="1"/>
          <p:nvPr/>
        </p:nvSpPr>
        <p:spPr>
          <a:xfrm>
            <a:off x="6711696" y="2615184"/>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Δ FAULTS</a:t>
            </a:r>
          </a:p>
        </p:txBody>
      </p:sp>
      <p:sp>
        <p:nvSpPr>
          <p:cNvPr id="20" name="TextBox 19"/>
          <p:cNvSpPr txBox="1"/>
          <p:nvPr/>
        </p:nvSpPr>
        <p:spPr>
          <a:xfrm>
            <a:off x="7808975" y="2615184"/>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PREDICTED</a:t>
            </a:r>
          </a:p>
        </p:txBody>
      </p:sp>
      <p:sp>
        <p:nvSpPr>
          <p:cNvPr id="21" name="TextBox 20"/>
          <p:cNvSpPr txBox="1"/>
          <p:nvPr/>
        </p:nvSpPr>
        <p:spPr>
          <a:xfrm>
            <a:off x="9235440" y="2615184"/>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VERDICT</a:t>
            </a:r>
          </a:p>
        </p:txBody>
      </p:sp>
      <p:sp>
        <p:nvSpPr>
          <p:cNvPr id="22" name="Rectangle 21"/>
          <p:cNvSpPr/>
          <p:nvPr/>
        </p:nvSpPr>
        <p:spPr>
          <a:xfrm>
            <a:off x="640080" y="2889503"/>
            <a:ext cx="10972800" cy="4572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6384" y="2980944"/>
            <a:ext cx="65836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opt3</a:t>
            </a:r>
          </a:p>
        </p:txBody>
      </p:sp>
      <p:sp>
        <p:nvSpPr>
          <p:cNvPr id="24" name="TextBox 23"/>
          <p:cNvSpPr txBox="1"/>
          <p:nvPr/>
        </p:nvSpPr>
        <p:spPr>
          <a:xfrm>
            <a:off x="1664207" y="2980944"/>
            <a:ext cx="175564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82.44 µs  (128 k)</a:t>
            </a:r>
          </a:p>
        </p:txBody>
      </p:sp>
      <p:sp>
        <p:nvSpPr>
          <p:cNvPr id="25" name="TextBox 24"/>
          <p:cNvSpPr txBox="1"/>
          <p:nvPr/>
        </p:nvSpPr>
        <p:spPr>
          <a:xfrm>
            <a:off x="3639312" y="2980944"/>
            <a:ext cx="175564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95.66 µs  (521 k)</a:t>
            </a:r>
          </a:p>
        </p:txBody>
      </p:sp>
      <p:sp>
        <p:nvSpPr>
          <p:cNvPr id="26" name="TextBox 25"/>
          <p:cNvSpPr txBox="1"/>
          <p:nvPr/>
        </p:nvSpPr>
        <p:spPr>
          <a:xfrm>
            <a:off x="5614416" y="2980944"/>
            <a:ext cx="877824" cy="457200"/>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+13.22</a:t>
            </a:r>
          </a:p>
        </p:txBody>
      </p:sp>
      <p:sp>
        <p:nvSpPr>
          <p:cNvPr id="27" name="TextBox 26"/>
          <p:cNvSpPr txBox="1"/>
          <p:nvPr/>
        </p:nvSpPr>
        <p:spPr>
          <a:xfrm>
            <a:off x="6711696" y="2980944"/>
            <a:ext cx="877824"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+393 k</a:t>
            </a:r>
          </a:p>
        </p:txBody>
      </p:sp>
      <p:sp>
        <p:nvSpPr>
          <p:cNvPr id="28" name="TextBox 27"/>
          <p:cNvSpPr txBox="1"/>
          <p:nvPr/>
        </p:nvSpPr>
        <p:spPr>
          <a:xfrm>
            <a:off x="7808975" y="2980944"/>
            <a:ext cx="1207008" cy="457200"/>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+13.37</a:t>
            </a:r>
          </a:p>
        </p:txBody>
      </p:sp>
      <p:sp>
        <p:nvSpPr>
          <p:cNvPr id="29" name="TextBox 28"/>
          <p:cNvSpPr txBox="1"/>
          <p:nvPr/>
        </p:nvSpPr>
        <p:spPr>
          <a:xfrm>
            <a:off x="9235440" y="2980944"/>
            <a:ext cx="2304288" cy="457200"/>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the allocator</a:t>
            </a:r>
          </a:p>
        </p:txBody>
      </p:sp>
      <p:sp>
        <p:nvSpPr>
          <p:cNvPr id="30" name="TextBox 29"/>
          <p:cNvSpPr txBox="1"/>
          <p:nvPr/>
        </p:nvSpPr>
        <p:spPr>
          <a:xfrm>
            <a:off x="786384" y="3474720"/>
            <a:ext cx="65836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opt4</a:t>
            </a:r>
          </a:p>
        </p:txBody>
      </p:sp>
      <p:sp>
        <p:nvSpPr>
          <p:cNvPr id="31" name="TextBox 30"/>
          <p:cNvSpPr txBox="1"/>
          <p:nvPr/>
        </p:nvSpPr>
        <p:spPr>
          <a:xfrm>
            <a:off x="1664207" y="3474720"/>
            <a:ext cx="175564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79.83 µs  (128 k)</a:t>
            </a:r>
          </a:p>
        </p:txBody>
      </p:sp>
      <p:sp>
        <p:nvSpPr>
          <p:cNvPr id="32" name="TextBox 31"/>
          <p:cNvSpPr txBox="1"/>
          <p:nvPr/>
        </p:nvSpPr>
        <p:spPr>
          <a:xfrm>
            <a:off x="3639312" y="3474720"/>
            <a:ext cx="175564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75.20 µs  (127 k)</a:t>
            </a:r>
          </a:p>
        </p:txBody>
      </p:sp>
      <p:sp>
        <p:nvSpPr>
          <p:cNvPr id="33" name="TextBox 32"/>
          <p:cNvSpPr txBox="1"/>
          <p:nvPr/>
        </p:nvSpPr>
        <p:spPr>
          <a:xfrm>
            <a:off x="5614416" y="3474720"/>
            <a:ext cx="877824"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−4.63</a:t>
            </a:r>
          </a:p>
        </p:txBody>
      </p:sp>
      <p:sp>
        <p:nvSpPr>
          <p:cNvPr id="34" name="TextBox 33"/>
          <p:cNvSpPr txBox="1"/>
          <p:nvPr/>
        </p:nvSpPr>
        <p:spPr>
          <a:xfrm>
            <a:off x="6711696" y="3474720"/>
            <a:ext cx="877824"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−0.5 k</a:t>
            </a:r>
          </a:p>
        </p:txBody>
      </p:sp>
      <p:sp>
        <p:nvSpPr>
          <p:cNvPr id="35" name="TextBox 34"/>
          <p:cNvSpPr txBox="1"/>
          <p:nvPr/>
        </p:nvSpPr>
        <p:spPr>
          <a:xfrm>
            <a:off x="7808975" y="3474720"/>
            <a:ext cx="120700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−0.02</a:t>
            </a:r>
          </a:p>
        </p:txBody>
      </p:sp>
      <p:sp>
        <p:nvSpPr>
          <p:cNvPr id="36" name="TextBox 35"/>
          <p:cNvSpPr txBox="1"/>
          <p:nvPr/>
        </p:nvSpPr>
        <p:spPr>
          <a:xfrm>
            <a:off x="9235440" y="3474720"/>
            <a:ext cx="230428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clean</a:t>
            </a:r>
          </a:p>
        </p:txBody>
      </p:sp>
      <p:sp>
        <p:nvSpPr>
          <p:cNvPr id="37" name="Rectangle 36"/>
          <p:cNvSpPr/>
          <p:nvPr/>
        </p:nvSpPr>
        <p:spPr>
          <a:xfrm>
            <a:off x="640080" y="3877056"/>
            <a:ext cx="10972800" cy="4572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86384" y="3968496"/>
            <a:ext cx="65836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opt5</a:t>
            </a:r>
          </a:p>
        </p:txBody>
      </p:sp>
      <p:sp>
        <p:nvSpPr>
          <p:cNvPr id="39" name="TextBox 38"/>
          <p:cNvSpPr txBox="1"/>
          <p:nvPr/>
        </p:nvSpPr>
        <p:spPr>
          <a:xfrm>
            <a:off x="1664207" y="3968496"/>
            <a:ext cx="175564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66.39 µs  (152 k)</a:t>
            </a:r>
          </a:p>
        </p:txBody>
      </p:sp>
      <p:sp>
        <p:nvSpPr>
          <p:cNvPr id="40" name="TextBox 39"/>
          <p:cNvSpPr txBox="1"/>
          <p:nvPr/>
        </p:nvSpPr>
        <p:spPr>
          <a:xfrm>
            <a:off x="3639312" y="3968496"/>
            <a:ext cx="175564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61.85 µs  (10 k)</a:t>
            </a:r>
          </a:p>
        </p:txBody>
      </p:sp>
      <p:sp>
        <p:nvSpPr>
          <p:cNvPr id="41" name="TextBox 40"/>
          <p:cNvSpPr txBox="1"/>
          <p:nvPr/>
        </p:nvSpPr>
        <p:spPr>
          <a:xfrm>
            <a:off x="5614416" y="3968496"/>
            <a:ext cx="877824"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−4.54</a:t>
            </a:r>
          </a:p>
        </p:txBody>
      </p:sp>
      <p:sp>
        <p:nvSpPr>
          <p:cNvPr id="42" name="TextBox 41"/>
          <p:cNvSpPr txBox="1"/>
          <p:nvPr/>
        </p:nvSpPr>
        <p:spPr>
          <a:xfrm>
            <a:off x="6711696" y="3968496"/>
            <a:ext cx="877824"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−141 k</a:t>
            </a:r>
          </a:p>
        </p:txBody>
      </p:sp>
      <p:sp>
        <p:nvSpPr>
          <p:cNvPr id="43" name="TextBox 42"/>
          <p:cNvSpPr txBox="1"/>
          <p:nvPr/>
        </p:nvSpPr>
        <p:spPr>
          <a:xfrm>
            <a:off x="7808975" y="3968496"/>
            <a:ext cx="1207008" cy="457200"/>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−4.81</a:t>
            </a:r>
          </a:p>
        </p:txBody>
      </p:sp>
      <p:sp>
        <p:nvSpPr>
          <p:cNvPr id="44" name="TextBox 43"/>
          <p:cNvSpPr txBox="1"/>
          <p:nvPr/>
        </p:nvSpPr>
        <p:spPr>
          <a:xfrm>
            <a:off x="9235440" y="3968496"/>
            <a:ext cx="2304288" cy="457200"/>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not separable</a:t>
            </a:r>
          </a:p>
        </p:txBody>
      </p:sp>
      <p:sp>
        <p:nvSpPr>
          <p:cNvPr id="45" name="TextBox 44"/>
          <p:cNvSpPr txBox="1"/>
          <p:nvPr/>
        </p:nvSpPr>
        <p:spPr>
          <a:xfrm>
            <a:off x="786384" y="4462272"/>
            <a:ext cx="65836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opt6</a:t>
            </a:r>
          </a:p>
        </p:txBody>
      </p:sp>
      <p:sp>
        <p:nvSpPr>
          <p:cNvPr id="46" name="TextBox 45"/>
          <p:cNvSpPr txBox="1"/>
          <p:nvPr/>
        </p:nvSpPr>
        <p:spPr>
          <a:xfrm>
            <a:off x="1664207" y="4462272"/>
            <a:ext cx="175564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30.01 µs  (0)</a:t>
            </a:r>
          </a:p>
        </p:txBody>
      </p:sp>
      <p:sp>
        <p:nvSpPr>
          <p:cNvPr id="47" name="TextBox 46"/>
          <p:cNvSpPr txBox="1"/>
          <p:nvPr/>
        </p:nvSpPr>
        <p:spPr>
          <a:xfrm>
            <a:off x="3639312" y="4462272"/>
            <a:ext cx="175564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25.14 µs  (0)</a:t>
            </a:r>
          </a:p>
        </p:txBody>
      </p:sp>
      <p:sp>
        <p:nvSpPr>
          <p:cNvPr id="48" name="TextBox 47"/>
          <p:cNvSpPr txBox="1"/>
          <p:nvPr/>
        </p:nvSpPr>
        <p:spPr>
          <a:xfrm>
            <a:off x="5614416" y="4462272"/>
            <a:ext cx="877824"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−4.87</a:t>
            </a:r>
          </a:p>
        </p:txBody>
      </p:sp>
      <p:sp>
        <p:nvSpPr>
          <p:cNvPr id="49" name="TextBox 48"/>
          <p:cNvSpPr txBox="1"/>
          <p:nvPr/>
        </p:nvSpPr>
        <p:spPr>
          <a:xfrm>
            <a:off x="6711696" y="4462272"/>
            <a:ext cx="877824"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0</a:t>
            </a:r>
          </a:p>
        </p:txBody>
      </p:sp>
      <p:sp>
        <p:nvSpPr>
          <p:cNvPr id="50" name="TextBox 49"/>
          <p:cNvSpPr txBox="1"/>
          <p:nvPr/>
        </p:nvSpPr>
        <p:spPr>
          <a:xfrm>
            <a:off x="7808975" y="4462272"/>
            <a:ext cx="120700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0.00</a:t>
            </a:r>
          </a:p>
        </p:txBody>
      </p:sp>
      <p:sp>
        <p:nvSpPr>
          <p:cNvPr id="51" name="TextBox 50"/>
          <p:cNvSpPr txBox="1"/>
          <p:nvPr/>
        </p:nvSpPr>
        <p:spPr>
          <a:xfrm>
            <a:off x="9235440" y="4462272"/>
            <a:ext cx="230428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clean</a:t>
            </a:r>
          </a:p>
        </p:txBody>
      </p:sp>
      <p:sp>
        <p:nvSpPr>
          <p:cNvPr id="52" name="Rectangle 51"/>
          <p:cNvSpPr/>
          <p:nvPr/>
        </p:nvSpPr>
        <p:spPr>
          <a:xfrm>
            <a:off x="681228" y="4956048"/>
            <a:ext cx="10931652" cy="82296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40080" y="4956048"/>
            <a:ext cx="41148" cy="82296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96112" y="5047488"/>
            <a:ext cx="10515600" cy="640080"/>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opt3 is the whole argument in one row.</a:t>
            </a:r>
            <a:r>
              <a:rPr sz="1050" b="0" i="0">
                <a:solidFill>
                  <a:srgbClr val="A5B2C4"/>
                </a:solidFill>
                <a:latin typeface="Segoe UI"/>
              </a:rPr>
              <a:t> A 393 k fault gap predicts +13.37 µs; +13.22 was observed, agreement to </a:t>
            </a:r>
            <a:r>
              <a:rPr sz="1050" b="1" i="0">
                <a:solidFill>
                  <a:srgbClr val="E7EDF4"/>
                </a:solidFill>
                <a:latin typeface="Segoe UI"/>
              </a:rPr>
              <a:t>1 %</a:t>
            </a:r>
            <a:r>
              <a:rPr sz="1050" b="0" i="0">
                <a:solidFill>
                  <a:srgbClr val="A5B2C4"/>
                </a:solidFill>
                <a:latin typeface="Segoe UI"/>
              </a:rPr>
              <a:t>. The −40 % kernel is in there somewhere, invisible under 13 µs of the OS zeroing pages. Only opt4 and opt6, where the fault term is ~0, report the typedef at all.</a:t>
            </a:r>
          </a:p>
        </p:txBody>
      </p:sp>
      <p:sp>
        <p:nvSpPr>
          <p:cNvPr id="55" name="TextBox 54"/>
          <p:cNvSpPr txBox="1"/>
          <p:nvPr/>
        </p:nvSpPr>
        <p:spPr>
          <a:xfrm>
            <a:off x="640080" y="5961888"/>
            <a:ext cx="1097280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ladder_9x9.csv in results/2026-08-20_{f64,f32}_cap1700/, warm = best of reps 1–4, faults are that rep's own getrusage minor-fault count. Predicted = Δfaults × 0.68 µs ÷ 20 000 frames, with 0.68 carried in unchanged from the 3×3 fit (slide 25): nothing on this slide is tuned to make the columns agree. Observed vs predicted: +13.22 / +13.37, −4.63 / −0.02, −4.54 / −4.81, −4.87 / 0.00. This table replaces an earlier figure that quoted opt3's +16 % as a measurement of the result path; it is a measurement of two allocator states.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A5</a:t>
            </a:r>
          </a:p>
        </p:txBody>
      </p:sp>
      <p:sp>
        <p:nvSpPr>
          <p:cNvPr id="4" name="TextBox 3"/>
          <p:cNvSpPr txBox="1"/>
          <p:nvPr/>
        </p:nvSpPr>
        <p:spPr>
          <a:xfrm>
            <a:off x="1298448" y="457200"/>
            <a:ext cx="923544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THE VARIANCE REWRITE · EXPANDS SLIDE 20</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 rewrite in full, and which pixels the error reached</a:t>
            </a:r>
          </a:p>
        </p:txBody>
      </p:sp>
      <p:sp>
        <p:nvSpPr>
          <p:cNvPr id="6" name="Rectangle 5"/>
          <p:cNvSpPr/>
          <p:nvPr/>
        </p:nvSpPr>
        <p:spPr>
          <a:xfrm>
            <a:off x="6400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3164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992879"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456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022079" y="6656832"/>
            <a:ext cx="1508760"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98480"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A5</a:t>
            </a:r>
          </a:p>
        </p:txBody>
      </p:sp>
      <p:sp>
        <p:nvSpPr>
          <p:cNvPr id="13" name="TextBox 12"/>
          <p:cNvSpPr txBox="1"/>
          <p:nvPr/>
        </p:nvSpPr>
        <p:spPr>
          <a:xfrm>
            <a:off x="640080" y="1737360"/>
            <a:ext cx="676656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Freeze a per-pixel baseline </a:t>
            </a:r>
            <a:r>
              <a:rPr sz="1050" b="1" i="0">
                <a:solidFill>
                  <a:srgbClr val="E7EDF4"/>
                </a:solidFill>
                <a:latin typeface="Segoe UI"/>
              </a:rPr>
              <a:t>X₀ = round(mean)</a:t>
            </a:r>
            <a:r>
              <a:rPr sz="1050" b="0" i="0">
                <a:solidFill>
                  <a:srgbClr val="A5B2C4"/>
                </a:solidFill>
                <a:latin typeface="Segoe UI"/>
              </a:rPr>
              <a:t> once, at the end of pedestal training, and never move it again.</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Accumulate the </a:t>
            </a:r>
            <a:r>
              <a:rPr sz="1050" b="1" i="0">
                <a:solidFill>
                  <a:srgbClr val="E7EDF4"/>
                </a:solidFill>
                <a:latin typeface="Segoe UI"/>
              </a:rPr>
              <a:t>centred</a:t>
            </a:r>
            <a:r>
              <a:rPr sz="1050" b="0" i="0">
                <a:solidFill>
                  <a:srgbClr val="A5B2C4"/>
                </a:solidFill>
                <a:latin typeface="Segoe UI"/>
              </a:rPr>
              <a:t> value Y = X − X₀ instead of X, and report the mean as </a:t>
            </a:r>
            <a:r>
              <a:rPr sz="1050" b="1" i="0">
                <a:solidFill>
                  <a:srgbClr val="E7EDF4"/>
                </a:solidFill>
                <a:latin typeface="Segoe UI"/>
              </a:rPr>
              <a:t>X₀ + sum/n</a:t>
            </a:r>
            <a:r>
              <a:rPr sz="1050" b="0" i="0">
                <a:solidFill>
                  <a:srgbClr val="A5B2C4"/>
                </a:solidFill>
                <a:latin typeface="Segoe UI"/>
              </a:rPr>
              <a:t>, so nothing downstream changes.</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Both operands of the subtraction are now </a:t>
            </a:r>
            <a:r>
              <a:rPr sz="1050" b="1" i="0">
                <a:solidFill>
                  <a:srgbClr val="E7EDF4"/>
                </a:solidFill>
                <a:latin typeface="Segoe UI"/>
              </a:rPr>
              <a:t>O(rms)-sized</a:t>
            </a:r>
            <a:r>
              <a:rPr sz="1050" b="0" i="0">
                <a:solidFill>
                  <a:srgbClr val="A5B2C4"/>
                </a:solidFill>
                <a:latin typeface="Segoe UI"/>
              </a:rPr>
              <a:t>: the huge common term is gone before the subtraction rather than after it.</a:t>
            </a:r>
          </a:p>
        </p:txBody>
      </p:sp>
      <p:sp>
        <p:nvSpPr>
          <p:cNvPr id="14" name="Rounded Rectangle 13"/>
          <p:cNvSpPr/>
          <p:nvPr/>
        </p:nvSpPr>
        <p:spPr>
          <a:xfrm>
            <a:off x="640080" y="3310128"/>
            <a:ext cx="6766560" cy="1298082"/>
          </a:xfrm>
          <a:prstGeom prst="round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1" y="3419856"/>
            <a:ext cx="6437376" cy="182880"/>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clusterfinder_kernel.cuh</a:t>
            </a:r>
          </a:p>
        </p:txBody>
      </p:sp>
      <p:sp>
        <p:nvSpPr>
          <p:cNvPr id="16" name="TextBox 15"/>
          <p:cNvSpPr txBox="1"/>
          <p:nvPr/>
        </p:nvSpPr>
        <p:spPr>
          <a:xfrm>
            <a:off x="804671" y="3639312"/>
            <a:ext cx="6437376" cy="1078626"/>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6B7A90"/>
                </a:solidFill>
                <a:latin typeface="Consolas"/>
              </a:rPr>
              <a:t>// before: both terms ~2.17e7, answer ~2000</a:t>
            </a:r>
          </a:p>
          <a:p>
            <a:pPr>
              <a:lnSpc>
                <a:spcPct val="112000"/>
              </a:lnSpc>
              <a:spcBef>
                <a:spcPts val="0"/>
              </a:spcBef>
              <a:spcAft>
                <a:spcPts val="0"/>
              </a:spcAft>
            </a:pPr>
            <a:r>
              <a:rPr sz="900" b="0" i="0">
                <a:solidFill>
                  <a:srgbClr val="A5B2C4"/>
                </a:solidFill>
                <a:latin typeface="Consolas"/>
              </a:rPr>
              <a:t>var = sum2/n - mean*mean;</a:t>
            </a:r>
          </a:p>
          <a:p>
            <a:pPr>
              <a:lnSpc>
                <a:spcPct val="112000"/>
              </a:lnSpc>
              <a:spcBef>
                <a:spcPts val="0"/>
              </a:spcBef>
              <a:spcAft>
                <a:spcPts val="0"/>
              </a:spcAft>
            </a:pPr>
          </a:p>
          <a:p>
            <a:pPr>
              <a:lnSpc>
                <a:spcPct val="112000"/>
              </a:lnSpc>
              <a:spcBef>
                <a:spcPts val="0"/>
              </a:spcBef>
              <a:spcAft>
                <a:spcPts val="0"/>
              </a:spcAft>
            </a:pPr>
            <a:r>
              <a:rPr sz="900" b="0" i="0">
                <a:solidFill>
                  <a:srgbClr val="6B7A90"/>
                </a:solidFill>
                <a:latin typeface="Consolas"/>
              </a:rPr>
              <a:t>// after: centred on a frozen per-pixel offset X0</a:t>
            </a:r>
          </a:p>
          <a:p>
            <a:pPr>
              <a:lnSpc>
                <a:spcPct val="112000"/>
              </a:lnSpc>
              <a:spcBef>
                <a:spcPts val="0"/>
              </a:spcBef>
              <a:spcAft>
                <a:spcPts val="0"/>
              </a:spcAft>
            </a:pPr>
            <a:r>
              <a:rPr sz="900" b="0" i="0">
                <a:solidFill>
                  <a:srgbClr val="A5B2C4"/>
                </a:solidFill>
                <a:latin typeface="Consolas"/>
              </a:rPr>
              <a:t>DEVICE_PED_TYPE resid  = mean - </a:t>
            </a:r>
            <a:r>
              <a:rPr sz="900" b="1" i="0">
                <a:solidFill>
                  <a:srgbClr val="1E90C2"/>
                </a:solidFill>
                <a:latin typeface="Consolas"/>
              </a:rPr>
              <a:t>d_pd_off</a:t>
            </a:r>
            <a:r>
              <a:rPr sz="900" b="0" i="0">
                <a:solidFill>
                  <a:srgbClr val="A5B2C4"/>
                </a:solidFill>
                <a:latin typeface="Consolas"/>
              </a:rPr>
              <a:t>[i];      // ~O(1)</a:t>
            </a:r>
          </a:p>
          <a:p>
            <a:pPr>
              <a:lnSpc>
                <a:spcPct val="112000"/>
              </a:lnSpc>
              <a:spcBef>
                <a:spcPts val="0"/>
              </a:spcBef>
              <a:spcAft>
                <a:spcPts val="0"/>
              </a:spcAft>
            </a:pPr>
            <a:r>
              <a:rPr sz="900" b="0" i="0">
                <a:solidFill>
                  <a:srgbClr val="A5B2C4"/>
                </a:solidFill>
                <a:latin typeface="Consolas"/>
              </a:rPr>
              <a:t>DEVICE_PED_TYPE var_px = sum2[i]/n - resid*resid;  // no cancellation</a:t>
            </a:r>
          </a:p>
        </p:txBody>
      </p:sp>
      <p:sp>
        <p:nvSpPr>
          <p:cNvPr id="17" name="Rectangle 16"/>
          <p:cNvSpPr/>
          <p:nvPr/>
        </p:nvSpPr>
        <p:spPr>
          <a:xfrm>
            <a:off x="681228" y="4956048"/>
            <a:ext cx="6725412" cy="65836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 y="4956048"/>
            <a:ext cx="41148" cy="65836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6112" y="5047488"/>
            <a:ext cx="6309360" cy="475488"/>
          </a:xfrm>
          <a:prstGeom prst="rect">
            <a:avLst/>
          </a:prstGeom>
          <a:noFill/>
        </p:spPr>
        <p:txBody>
          <a:bodyPr wrap="square" lIns="0" rIns="0" tIns="0" bIns="0" anchor="ctr">
            <a:spAutoFit/>
          </a:bodyPr>
          <a:lstStyle/>
          <a:p>
            <a:pPr>
              <a:lnSpc>
                <a:spcPct val="120000"/>
              </a:lnSpc>
              <a:spcBef>
                <a:spcPts val="0"/>
              </a:spcBef>
              <a:spcAft>
                <a:spcPts val="0"/>
              </a:spcAft>
            </a:pPr>
            <a:r>
              <a:rPr sz="1050" b="0" i="0">
                <a:solidFill>
                  <a:srgbClr val="A5B2C4"/>
                </a:solidFill>
                <a:latin typeface="Segoe UI"/>
              </a:rPr>
              <a:t>Result: the 100 % FP32 build matches the FP64 build to </a:t>
            </a:r>
            <a:r>
              <a:rPr sz="1050" b="1" i="0">
                <a:solidFill>
                  <a:srgbClr val="E7EDF4"/>
                </a:solidFill>
                <a:latin typeface="Segoe UI"/>
              </a:rPr>
              <a:t>3 × 10⁻⁷</a:t>
            </a:r>
            <a:r>
              <a:rPr sz="1050" b="0" i="0">
                <a:solidFill>
                  <a:srgbClr val="A5B2C4"/>
                </a:solidFill>
                <a:latin typeface="Segoe UI"/>
              </a:rPr>
              <a:t>, 70 clusters out of 233 million.</a:t>
            </a:r>
          </a:p>
        </p:txBody>
      </p:sp>
      <p:sp>
        <p:nvSpPr>
          <p:cNvPr id="20" name="Rectangle 19"/>
          <p:cNvSpPr/>
          <p:nvPr/>
        </p:nvSpPr>
        <p:spPr>
          <a:xfrm>
            <a:off x="681228" y="5760720"/>
            <a:ext cx="6725412" cy="78638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40080" y="5760720"/>
            <a:ext cx="41148" cy="78638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6112" y="5852159"/>
            <a:ext cx="6309360" cy="603503"/>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X₀ must never be updated.</a:t>
            </a:r>
            <a:r>
              <a:rPr sz="1050" b="0" i="0">
                <a:solidFill>
                  <a:srgbClr val="A5B2C4"/>
                </a:solidFill>
                <a:latin typeface="Segoe UI"/>
              </a:rPr>
              <a:t> The accumulators are defined relative to it, so moving it invalidates every sum already collected. Welford's online variance is the other correct answer; this one was chosen because it is two lines and does not change the update's arithmetic cost.</a:t>
            </a:r>
          </a:p>
        </p:txBody>
      </p:sp>
      <p:pic>
        <p:nvPicPr>
          <p:cNvPr id="23" name="Picture 22" descr="fig_varfloor.png"/>
          <p:cNvPicPr>
            <a:picLocks noChangeAspect="1"/>
          </p:cNvPicPr>
          <p:nvPr/>
        </p:nvPicPr>
        <p:blipFill>
          <a:blip r:embed="rId2"/>
          <a:stretch>
            <a:fillRect/>
          </a:stretch>
        </p:blipFill>
        <p:spPr>
          <a:xfrm>
            <a:off x="7589520" y="1828800"/>
            <a:ext cx="3950208" cy="2834563"/>
          </a:xfrm>
          <a:prstGeom prst="rect">
            <a:avLst/>
          </a:prstGeom>
        </p:spPr>
      </p:pic>
      <p:sp>
        <p:nvSpPr>
          <p:cNvPr id="24" name="TextBox 23"/>
          <p:cNvSpPr txBox="1"/>
          <p:nvPr/>
        </p:nvSpPr>
        <p:spPr>
          <a:xfrm>
            <a:off x="7589520" y="4827955"/>
            <a:ext cx="3950208"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Which pixels the ±3 ADU² floor actually reaches. Below rms ≈ 2 the variance is lost outright; from 2 to 5 the threshold is corrupted but not clamped. Source: §5–§6 of docs/pedestal_precision_f32_cancellation.md. The naive f32 build's +28.06 % excess is this shaded band, integrated over the sensor.</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A6</a:t>
            </a:r>
          </a:p>
        </p:txBody>
      </p:sp>
      <p:sp>
        <p:nvSpPr>
          <p:cNvPr id="4" name="TextBox 3"/>
          <p:cNvSpPr txBox="1"/>
          <p:nvPr/>
        </p:nvSpPr>
        <p:spPr>
          <a:xfrm>
            <a:off x="1298448" y="457200"/>
            <a:ext cx="923544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BENCHMARK ARTEFACTS · EXPANDS SLIDE 25 · 1 OF 4</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Three ways a GPU benchmark lies</a:t>
            </a:r>
          </a:p>
        </p:txBody>
      </p:sp>
      <p:sp>
        <p:nvSpPr>
          <p:cNvPr id="6" name="Rectangle 5"/>
          <p:cNvSpPr/>
          <p:nvPr/>
        </p:nvSpPr>
        <p:spPr>
          <a:xfrm>
            <a:off x="6400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3164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992879"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456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022079"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98480"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A6 · 1/4</a:t>
            </a:r>
          </a:p>
        </p:txBody>
      </p:sp>
      <p:sp>
        <p:nvSpPr>
          <p:cNvPr id="13" name="Rectangle 12"/>
          <p:cNvSpPr/>
          <p:nvPr/>
        </p:nvSpPr>
        <p:spPr>
          <a:xfrm>
            <a:off x="640080" y="1828800"/>
            <a:ext cx="3502152" cy="288036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1828800"/>
            <a:ext cx="3502152" cy="3200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7824" y="2084831"/>
            <a:ext cx="3017520" cy="548640"/>
          </a:xfrm>
          <a:prstGeom prst="rect">
            <a:avLst/>
          </a:prstGeom>
          <a:noFill/>
        </p:spPr>
        <p:txBody>
          <a:bodyPr wrap="square" lIns="0" rIns="0" tIns="0" bIns="0" anchor="t">
            <a:spAutoFit/>
          </a:bodyPr>
          <a:lstStyle/>
          <a:p>
            <a:pPr>
              <a:lnSpc>
                <a:spcPct val="115000"/>
              </a:lnSpc>
              <a:spcBef>
                <a:spcPts val="0"/>
              </a:spcBef>
              <a:spcAft>
                <a:spcPts val="0"/>
              </a:spcAft>
            </a:pPr>
            <a:r>
              <a:rPr sz="1300" b="1" i="0">
                <a:solidFill>
                  <a:srgbClr val="E7EDF4"/>
                </a:solidFill>
                <a:latin typeface="Segoe UI"/>
              </a:rPr>
              <a:t>First-touch page faults</a:t>
            </a:r>
          </a:p>
        </p:txBody>
      </p:sp>
      <p:sp>
        <p:nvSpPr>
          <p:cNvPr id="16" name="TextBox 15"/>
          <p:cNvSpPr txBox="1"/>
          <p:nvPr/>
        </p:nvSpPr>
        <p:spPr>
          <a:xfrm>
            <a:off x="877824" y="2761488"/>
            <a:ext cx="3017520" cy="1371600"/>
          </a:xfrm>
          <a:prstGeom prst="rect">
            <a:avLst/>
          </a:prstGeom>
          <a:noFill/>
        </p:spPr>
        <p:txBody>
          <a:bodyPr wrap="square" lIns="0" rIns="0" tIns="0" bIns="0" anchor="t">
            <a:spAutoFit/>
          </a:bodyPr>
          <a:lstStyle/>
          <a:p>
            <a:pPr>
              <a:lnSpc>
                <a:spcPct val="130000"/>
              </a:lnSpc>
              <a:spcBef>
                <a:spcPts val="0"/>
              </a:spcBef>
              <a:spcAft>
                <a:spcPts val="0"/>
              </a:spcAft>
            </a:pPr>
            <a:r>
              <a:rPr sz="1000" b="0" i="0">
                <a:solidFill>
                  <a:srgbClr val="A5B2C4"/>
                </a:solidFill>
                <a:latin typeface="Segoe UI"/>
              </a:rPr>
              <a:t>Each run materialises ~10 GB of clusters. The first pass faults in ~2.6 M pages at 0.7 µs each, up to 4 s of pure OS work inside the timer.</a:t>
            </a:r>
          </a:p>
        </p:txBody>
      </p:sp>
      <p:sp>
        <p:nvSpPr>
          <p:cNvPr id="17" name="TextBox 16"/>
          <p:cNvSpPr txBox="1"/>
          <p:nvPr/>
        </p:nvSpPr>
        <p:spPr>
          <a:xfrm>
            <a:off x="877824" y="4041648"/>
            <a:ext cx="3017520" cy="594360"/>
          </a:xfrm>
          <a:prstGeom prst="rect">
            <a:avLst/>
          </a:prstGeom>
          <a:noFill/>
        </p:spPr>
        <p:txBody>
          <a:bodyPr wrap="square" lIns="0" rIns="0" tIns="0" bIns="0" anchor="t">
            <a:spAutoFit/>
          </a:bodyPr>
          <a:lstStyle/>
          <a:p>
            <a:pPr>
              <a:lnSpc>
                <a:spcPct val="125000"/>
              </a:lnSpc>
              <a:spcBef>
                <a:spcPts val="0"/>
              </a:spcBef>
              <a:spcAft>
                <a:spcPts val="0"/>
              </a:spcAft>
            </a:pPr>
            <a:r>
              <a:rPr sz="1000" b="0" i="0">
                <a:solidFill>
                  <a:srgbClr val="1E90C2"/>
                </a:solidFill>
                <a:latin typeface="Segoe UI"/>
              </a:rPr>
              <a:t>Fix: re-run until getrusage() minor faults plateau (&lt; 200 k).</a:t>
            </a:r>
          </a:p>
        </p:txBody>
      </p:sp>
      <p:sp>
        <p:nvSpPr>
          <p:cNvPr id="18" name="Rectangle 17"/>
          <p:cNvSpPr/>
          <p:nvPr/>
        </p:nvSpPr>
        <p:spPr>
          <a:xfrm>
            <a:off x="4325112" y="1828800"/>
            <a:ext cx="3502152" cy="288036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25112" y="1828800"/>
            <a:ext cx="3502152" cy="3200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62856" y="2084831"/>
            <a:ext cx="3017520" cy="548640"/>
          </a:xfrm>
          <a:prstGeom prst="rect">
            <a:avLst/>
          </a:prstGeom>
          <a:noFill/>
        </p:spPr>
        <p:txBody>
          <a:bodyPr wrap="square" lIns="0" rIns="0" tIns="0" bIns="0" anchor="t">
            <a:spAutoFit/>
          </a:bodyPr>
          <a:lstStyle/>
          <a:p>
            <a:pPr>
              <a:lnSpc>
                <a:spcPct val="115000"/>
              </a:lnSpc>
              <a:spcBef>
                <a:spcPts val="0"/>
              </a:spcBef>
              <a:spcAft>
                <a:spcPts val="0"/>
              </a:spcAft>
            </a:pPr>
            <a:r>
              <a:rPr sz="1300" b="1" i="0">
                <a:solidFill>
                  <a:srgbClr val="E7EDF4"/>
                </a:solidFill>
                <a:latin typeface="Segoe UI"/>
              </a:rPr>
              <a:t>CUDA-event kernel timing</a:t>
            </a:r>
          </a:p>
        </p:txBody>
      </p:sp>
      <p:sp>
        <p:nvSpPr>
          <p:cNvPr id="21" name="TextBox 20"/>
          <p:cNvSpPr txBox="1"/>
          <p:nvPr/>
        </p:nvSpPr>
        <p:spPr>
          <a:xfrm>
            <a:off x="4562856" y="2761488"/>
            <a:ext cx="3017520" cy="1371600"/>
          </a:xfrm>
          <a:prstGeom prst="rect">
            <a:avLst/>
          </a:prstGeom>
          <a:noFill/>
        </p:spPr>
        <p:txBody>
          <a:bodyPr wrap="square" lIns="0" rIns="0" tIns="0" bIns="0" anchor="t">
            <a:spAutoFit/>
          </a:bodyPr>
          <a:lstStyle/>
          <a:p>
            <a:pPr>
              <a:lnSpc>
                <a:spcPct val="130000"/>
              </a:lnSpc>
              <a:spcBef>
                <a:spcPts val="0"/>
              </a:spcBef>
              <a:spcAft>
                <a:spcPts val="0"/>
              </a:spcAft>
            </a:pPr>
            <a:r>
              <a:rPr sz="1000" b="0" i="0">
                <a:solidFill>
                  <a:srgbClr val="A5B2C4"/>
                </a:solidFill>
                <a:latin typeface="Segoe UI"/>
              </a:rPr>
              <a:t>avg_kernel_time_ms() measures elapsed time on a stream, including waiting for other streams. Under 8-stream load it over-reads by up to 3.5×.</a:t>
            </a:r>
          </a:p>
        </p:txBody>
      </p:sp>
      <p:sp>
        <p:nvSpPr>
          <p:cNvPr id="22" name="TextBox 21"/>
          <p:cNvSpPr txBox="1"/>
          <p:nvPr/>
        </p:nvSpPr>
        <p:spPr>
          <a:xfrm>
            <a:off x="4562856" y="4041648"/>
            <a:ext cx="3017520" cy="594360"/>
          </a:xfrm>
          <a:prstGeom prst="rect">
            <a:avLst/>
          </a:prstGeom>
          <a:noFill/>
        </p:spPr>
        <p:txBody>
          <a:bodyPr wrap="square" lIns="0" rIns="0" tIns="0" bIns="0" anchor="t">
            <a:spAutoFit/>
          </a:bodyPr>
          <a:lstStyle/>
          <a:p>
            <a:pPr>
              <a:lnSpc>
                <a:spcPct val="125000"/>
              </a:lnSpc>
              <a:spcBef>
                <a:spcPts val="0"/>
              </a:spcBef>
              <a:spcAft>
                <a:spcPts val="0"/>
              </a:spcAft>
            </a:pPr>
            <a:r>
              <a:rPr sz="1000" b="0" i="0">
                <a:solidFill>
                  <a:srgbClr val="1E90C2"/>
                </a:solidFill>
                <a:latin typeface="Segoe UI"/>
              </a:rPr>
              <a:t>Fix: Nsight Systems per-instance times; 1 stream for exclusive numbers.</a:t>
            </a:r>
          </a:p>
        </p:txBody>
      </p:sp>
      <p:sp>
        <p:nvSpPr>
          <p:cNvPr id="23" name="Rectangle 22"/>
          <p:cNvSpPr/>
          <p:nvPr/>
        </p:nvSpPr>
        <p:spPr>
          <a:xfrm>
            <a:off x="8010144" y="1828800"/>
            <a:ext cx="3502152" cy="288036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010144" y="1828800"/>
            <a:ext cx="3502152" cy="3200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47888" y="2084831"/>
            <a:ext cx="3017520" cy="548640"/>
          </a:xfrm>
          <a:prstGeom prst="rect">
            <a:avLst/>
          </a:prstGeom>
          <a:noFill/>
        </p:spPr>
        <p:txBody>
          <a:bodyPr wrap="square" lIns="0" rIns="0" tIns="0" bIns="0" anchor="t">
            <a:spAutoFit/>
          </a:bodyPr>
          <a:lstStyle/>
          <a:p>
            <a:pPr>
              <a:lnSpc>
                <a:spcPct val="115000"/>
              </a:lnSpc>
              <a:spcBef>
                <a:spcPts val="0"/>
              </a:spcBef>
              <a:spcAft>
                <a:spcPts val="0"/>
              </a:spcAft>
            </a:pPr>
            <a:r>
              <a:rPr sz="1300" b="1" i="0">
                <a:solidFill>
                  <a:srgbClr val="E7EDF4"/>
                </a:solidFill>
                <a:latin typeface="Segoe UI"/>
              </a:rPr>
              <a:t>The profiler itself</a:t>
            </a:r>
          </a:p>
        </p:txBody>
      </p:sp>
      <p:sp>
        <p:nvSpPr>
          <p:cNvPr id="26" name="TextBox 25"/>
          <p:cNvSpPr txBox="1"/>
          <p:nvPr/>
        </p:nvSpPr>
        <p:spPr>
          <a:xfrm>
            <a:off x="8247888" y="2761488"/>
            <a:ext cx="3017520" cy="1371600"/>
          </a:xfrm>
          <a:prstGeom prst="rect">
            <a:avLst/>
          </a:prstGeom>
          <a:noFill/>
        </p:spPr>
        <p:txBody>
          <a:bodyPr wrap="square" lIns="0" rIns="0" tIns="0" bIns="0" anchor="t">
            <a:spAutoFit/>
          </a:bodyPr>
          <a:lstStyle/>
          <a:p>
            <a:pPr>
              <a:lnSpc>
                <a:spcPct val="130000"/>
              </a:lnSpc>
              <a:spcBef>
                <a:spcPts val="0"/>
              </a:spcBef>
              <a:spcAft>
                <a:spcPts val="0"/>
              </a:spcAft>
            </a:pPr>
            <a:r>
              <a:rPr sz="1000" b="0" i="0">
                <a:solidFill>
                  <a:srgbClr val="A5B2C4"/>
                </a:solidFill>
                <a:latin typeface="Segoe UI"/>
              </a:rPr>
              <a:t>Under nsys, wall time per frame inflates ~4× from API tracing.</a:t>
            </a:r>
          </a:p>
        </p:txBody>
      </p:sp>
      <p:sp>
        <p:nvSpPr>
          <p:cNvPr id="27" name="TextBox 26"/>
          <p:cNvSpPr txBox="1"/>
          <p:nvPr/>
        </p:nvSpPr>
        <p:spPr>
          <a:xfrm>
            <a:off x="8247888" y="4041648"/>
            <a:ext cx="3017520" cy="594360"/>
          </a:xfrm>
          <a:prstGeom prst="rect">
            <a:avLst/>
          </a:prstGeom>
          <a:noFill/>
        </p:spPr>
        <p:txBody>
          <a:bodyPr wrap="square" lIns="0" rIns="0" tIns="0" bIns="0" anchor="t">
            <a:spAutoFit/>
          </a:bodyPr>
          <a:lstStyle/>
          <a:p>
            <a:pPr>
              <a:lnSpc>
                <a:spcPct val="125000"/>
              </a:lnSpc>
              <a:spcBef>
                <a:spcPts val="0"/>
              </a:spcBef>
              <a:spcAft>
                <a:spcPts val="0"/>
              </a:spcAft>
            </a:pPr>
            <a:r>
              <a:rPr sz="1000" b="0" i="0">
                <a:solidFill>
                  <a:srgbClr val="1E90C2"/>
                </a:solidFill>
                <a:latin typeface="Segoe UI"/>
              </a:rPr>
              <a:t>Fix: GPU op times from nsys, wall times from unprofiled runs.</a:t>
            </a:r>
          </a:p>
        </p:txBody>
      </p:sp>
      <p:sp>
        <p:nvSpPr>
          <p:cNvPr id="28" name="Rounded Rectangle 27"/>
          <p:cNvSpPr/>
          <p:nvPr/>
        </p:nvSpPr>
        <p:spPr>
          <a:xfrm>
            <a:off x="640080" y="4937760"/>
            <a:ext cx="10881360" cy="1011692"/>
          </a:xfrm>
          <a:prstGeom prst="round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4671" y="5047488"/>
            <a:ext cx="10552176" cy="182880"/>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THE FAULT PROTOCOL · python/tests/ClusterFinderCUDA_perf.ipynb</a:t>
            </a:r>
          </a:p>
        </p:txBody>
      </p:sp>
      <p:sp>
        <p:nvSpPr>
          <p:cNvPr id="30" name="TextBox 29"/>
          <p:cNvSpPr txBox="1"/>
          <p:nvPr/>
        </p:nvSpPr>
        <p:spPr>
          <a:xfrm>
            <a:off x="804671" y="5266944"/>
            <a:ext cx="10552176" cy="792236"/>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6B7A90"/>
                </a:solidFill>
                <a:latin typeface="Consolas"/>
              </a:rPr>
              <a:t># every timed cell in the benchmark notebook is bracketed with:</a:t>
            </a:r>
          </a:p>
          <a:p>
            <a:pPr>
              <a:lnSpc>
                <a:spcPct val="112000"/>
              </a:lnSpc>
              <a:spcBef>
                <a:spcPts val="0"/>
              </a:spcBef>
              <a:spcAft>
                <a:spcPts val="0"/>
              </a:spcAft>
            </a:pPr>
            <a:r>
              <a:rPr sz="900" b="0" i="0">
                <a:solidFill>
                  <a:srgbClr val="A5B2C4"/>
                </a:solidFill>
                <a:latin typeface="Consolas"/>
              </a:rPr>
              <a:t>mf0 = resource.getrusage(resource.RUSAGE_SELF).ru_minflt</a:t>
            </a:r>
          </a:p>
          <a:p>
            <a:pPr>
              <a:lnSpc>
                <a:spcPct val="112000"/>
              </a:lnSpc>
              <a:spcBef>
                <a:spcPts val="0"/>
              </a:spcBef>
              <a:spcAft>
                <a:spcPts val="0"/>
              </a:spcAft>
            </a:pPr>
            <a:r>
              <a:rPr sz="900" b="0" i="0">
                <a:solidFill>
                  <a:srgbClr val="A5B2C4"/>
                </a:solidFill>
                <a:latin typeface="Consolas"/>
              </a:rPr>
              <a:t>...   t = time.perf_counter() - t0   ...</a:t>
            </a:r>
          </a:p>
          <a:p>
            <a:pPr>
              <a:lnSpc>
                <a:spcPct val="112000"/>
              </a:lnSpc>
              <a:spcBef>
                <a:spcPts val="0"/>
              </a:spcBef>
              <a:spcAft>
                <a:spcPts val="0"/>
              </a:spcAft>
            </a:pPr>
            <a:r>
              <a:rPr sz="900" b="0" i="0">
                <a:solidFill>
                  <a:srgbClr val="A5B2C4"/>
                </a:solidFill>
                <a:latin typeface="Consolas"/>
              </a:rPr>
              <a:t>print(f'minor faults: {mf1-mf0:,}')   # quote the run where this plateaus</a:t>
            </a:r>
          </a:p>
        </p:txBody>
      </p:sp>
      <p:sp>
        <p:nvSpPr>
          <p:cNvPr id="31" name="Rectangle 30"/>
          <p:cNvSpPr/>
          <p:nvPr/>
        </p:nvSpPr>
        <p:spPr>
          <a:xfrm>
            <a:off x="681228" y="6108192"/>
            <a:ext cx="10840212"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0080" y="6108192"/>
            <a:ext cx="41148"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96112" y="6199631"/>
            <a:ext cx="10424160" cy="384048"/>
          </a:xfrm>
          <a:prstGeom prst="rect">
            <a:avLst/>
          </a:prstGeom>
          <a:noFill/>
        </p:spPr>
        <p:txBody>
          <a:bodyPr wrap="square" lIns="0" rIns="0" tIns="0" bIns="0" anchor="ctr">
            <a:spAutoFit/>
          </a:bodyPr>
          <a:lstStyle/>
          <a:p>
            <a:pPr>
              <a:lnSpc>
                <a:spcPct val="120000"/>
              </a:lnSpc>
              <a:spcBef>
                <a:spcPts val="0"/>
              </a:spcBef>
              <a:spcAft>
                <a:spcPts val="0"/>
              </a:spcAft>
            </a:pPr>
            <a:r>
              <a:rPr sz="1000" b="0" i="0">
                <a:solidFill>
                  <a:srgbClr val="A5B2C4"/>
                </a:solidFill>
                <a:latin typeface="Segoe UI"/>
              </a:rPr>
              <a:t>Validated: </a:t>
            </a:r>
            <a:r>
              <a:rPr sz="1000" b="1" i="0">
                <a:solidFill>
                  <a:srgbClr val="E7EDF4"/>
                </a:solidFill>
                <a:latin typeface="Segoe UI"/>
              </a:rPr>
              <a:t>wall = steady-state + faults × 0.68 µs</a:t>
            </a:r>
            <a:r>
              <a:rPr sz="1000" b="0" i="0">
                <a:solidFill>
                  <a:srgbClr val="A5B2C4"/>
                </a:solidFill>
                <a:latin typeface="Segoe UI"/>
              </a:rPr>
              <a:t> reproduced a 6.110 s run to within </a:t>
            </a:r>
            <a:r>
              <a:rPr sz="1000" b="1" i="0">
                <a:solidFill>
                  <a:srgbClr val="E7EDF4"/>
                </a:solidFill>
                <a:latin typeface="Segoe UI"/>
              </a:rPr>
              <a:t>1 ms</a:t>
            </a:r>
            <a:r>
              <a:rPr sz="1000" b="0" i="0">
                <a:solidFill>
                  <a:srgbClr val="A5B2C4"/>
                </a:solidFill>
                <a:latin typeface="Segoe UI"/>
              </a:rPr>
              <a:t>. Kernel time stayed constant throughout; the GPU was never the variable.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A6</a:t>
            </a:r>
          </a:p>
        </p:txBody>
      </p:sp>
      <p:sp>
        <p:nvSpPr>
          <p:cNvPr id="4" name="TextBox 3"/>
          <p:cNvSpPr txBox="1"/>
          <p:nvPr/>
        </p:nvSpPr>
        <p:spPr>
          <a:xfrm>
            <a:off x="1298448" y="457200"/>
            <a:ext cx="923544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BENCHMARK ARTEFACTS · EXPANDS SLIDE 25 · 2 OF 4</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First-touch page faults: two sources, one counter</a:t>
            </a:r>
          </a:p>
        </p:txBody>
      </p:sp>
      <p:sp>
        <p:nvSpPr>
          <p:cNvPr id="6" name="Rectangle 5"/>
          <p:cNvSpPr/>
          <p:nvPr/>
        </p:nvSpPr>
        <p:spPr>
          <a:xfrm>
            <a:off x="6400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3164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992879"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456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022079"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98480"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A6 · 2/4</a:t>
            </a:r>
          </a:p>
        </p:txBody>
      </p:sp>
      <p:sp>
        <p:nvSpPr>
          <p:cNvPr id="13" name="TextBox 12"/>
          <p:cNvSpPr txBox="1"/>
          <p:nvPr/>
        </p:nvSpPr>
        <p:spPr>
          <a:xfrm>
            <a:off x="640080" y="1737360"/>
            <a:ext cx="1097280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A page exists in the process's address space but has no physical frame yet. On first touch the kernel finds one, </a:t>
            </a:r>
            <a:r>
              <a:rPr sz="1050" b="1" i="0">
                <a:solidFill>
                  <a:srgbClr val="E7EDF4"/>
                </a:solidFill>
                <a:latin typeface="Segoe UI"/>
              </a:rPr>
              <a:t>zeroes it</a:t>
            </a:r>
            <a:r>
              <a:rPr sz="1050" b="0" i="0">
                <a:solidFill>
                  <a:srgbClr val="A5B2C4"/>
                </a:solidFill>
                <a:latin typeface="Segoe UI"/>
              </a:rPr>
              <a:t> (mandatory), and maps it. No disk I/O: ru_majflt stays 0 all campaign. At 4 kB/page, </a:t>
            </a:r>
            <a:r>
              <a:rPr sz="1050" b="1" i="0">
                <a:solidFill>
                  <a:srgbClr val="E7EDF4"/>
                </a:solidFill>
                <a:latin typeface="Segoe UI"/>
              </a:rPr>
              <a:t>1 GB = 262 144 faults</a:t>
            </a:r>
            <a:r>
              <a:rPr sz="1050" b="0" i="0">
                <a:solidFill>
                  <a:srgbClr val="A5B2C4"/>
                </a:solidFill>
                <a:latin typeface="Segoe UI"/>
              </a:rPr>
              <a:t>.</a:t>
            </a:r>
          </a:p>
        </p:txBody>
      </p:sp>
      <p:sp>
        <p:nvSpPr>
          <p:cNvPr id="14" name="Rectangle 13"/>
          <p:cNvSpPr/>
          <p:nvPr/>
        </p:nvSpPr>
        <p:spPr>
          <a:xfrm>
            <a:off x="640080" y="2395728"/>
            <a:ext cx="10972800" cy="31089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6384" y="2468880"/>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
            </a:r>
          </a:p>
        </p:txBody>
      </p:sp>
      <p:sp>
        <p:nvSpPr>
          <p:cNvPr id="16" name="TextBox 15"/>
          <p:cNvSpPr txBox="1"/>
          <p:nvPr/>
        </p:nvSpPr>
        <p:spPr>
          <a:xfrm>
            <a:off x="2322576" y="2468880"/>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(A) RESULT HEAP</a:t>
            </a:r>
          </a:p>
        </p:txBody>
      </p:sp>
      <p:sp>
        <p:nvSpPr>
          <p:cNvPr id="17" name="TextBox 16"/>
          <p:cNvSpPr txBox="1"/>
          <p:nvPr/>
        </p:nvSpPr>
        <p:spPr>
          <a:xfrm>
            <a:off x="7040880" y="2468880"/>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(B) PINNED D2H SLOTS</a:t>
            </a:r>
          </a:p>
        </p:txBody>
      </p:sp>
      <p:sp>
        <p:nvSpPr>
          <p:cNvPr id="18" name="Rectangle 17"/>
          <p:cNvSpPr/>
          <p:nvPr/>
        </p:nvSpPr>
        <p:spPr>
          <a:xfrm>
            <a:off x="640080" y="2743200"/>
            <a:ext cx="10972800"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86384" y="2834640"/>
            <a:ext cx="1316736" cy="56692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allocator</a:t>
            </a:r>
          </a:p>
        </p:txBody>
      </p:sp>
      <p:sp>
        <p:nvSpPr>
          <p:cNvPr id="20" name="TextBox 19"/>
          <p:cNvSpPr txBox="1"/>
          <p:nvPr/>
        </p:nvSpPr>
        <p:spPr>
          <a:xfrm>
            <a:off x="2322576" y="2834640"/>
            <a:ext cx="4498848" cy="56692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malloc → mmap, one ClusterVector per frame</a:t>
            </a:r>
          </a:p>
        </p:txBody>
      </p:sp>
      <p:sp>
        <p:nvSpPr>
          <p:cNvPr id="21" name="TextBox 20"/>
          <p:cNvSpPr txBox="1"/>
          <p:nvPr/>
        </p:nvSpPr>
        <p:spPr>
          <a:xfrm>
            <a:off x="7040880" y="2834640"/>
            <a:ext cx="4498848" cy="56692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cudaMallocHost, in submit_batch</a:t>
            </a:r>
          </a:p>
        </p:txBody>
      </p:sp>
      <p:sp>
        <p:nvSpPr>
          <p:cNvPr id="22" name="TextBox 21"/>
          <p:cNvSpPr txBox="1"/>
          <p:nvPr/>
        </p:nvSpPr>
        <p:spPr>
          <a:xfrm>
            <a:off x="786384" y="3438144"/>
            <a:ext cx="1316736" cy="56692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cost / page</a:t>
            </a:r>
          </a:p>
        </p:txBody>
      </p:sp>
      <p:sp>
        <p:nvSpPr>
          <p:cNvPr id="23" name="TextBox 22"/>
          <p:cNvSpPr txBox="1"/>
          <p:nvPr/>
        </p:nvSpPr>
        <p:spPr>
          <a:xfrm>
            <a:off x="2322576" y="3438144"/>
            <a:ext cx="4498848" cy="566928"/>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0.7 µs</a:t>
            </a:r>
          </a:p>
        </p:txBody>
      </p:sp>
      <p:sp>
        <p:nvSpPr>
          <p:cNvPr id="24" name="TextBox 23"/>
          <p:cNvSpPr txBox="1"/>
          <p:nvPr/>
        </p:nvSpPr>
        <p:spPr>
          <a:xfrm>
            <a:off x="7040880" y="3438144"/>
            <a:ext cx="4498848" cy="566928"/>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1.0 µs</a:t>
            </a:r>
            <a:r>
              <a:rPr sz="900" b="0" i="0">
                <a:solidFill>
                  <a:srgbClr val="A5B2C4"/>
                </a:solidFill>
                <a:latin typeface="Segoe UI"/>
              </a:rPr>
              <a:t>: same fault + pin + DMA map</a:t>
            </a:r>
          </a:p>
        </p:txBody>
      </p:sp>
      <p:sp>
        <p:nvSpPr>
          <p:cNvPr id="25" name="Rectangle 24"/>
          <p:cNvSpPr/>
          <p:nvPr/>
        </p:nvSpPr>
        <p:spPr>
          <a:xfrm>
            <a:off x="640080" y="3950208"/>
            <a:ext cx="10972800"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86384" y="4041648"/>
            <a:ext cx="1316736" cy="56692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recurs?</a:t>
            </a:r>
          </a:p>
        </p:txBody>
      </p:sp>
      <p:sp>
        <p:nvSpPr>
          <p:cNvPr id="27" name="TextBox 26"/>
          <p:cNvSpPr txBox="1"/>
          <p:nvPr/>
        </p:nvSpPr>
        <p:spPr>
          <a:xfrm>
            <a:off x="2322576" y="4041648"/>
            <a:ext cx="4498848" cy="566928"/>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yes</a:t>
            </a:r>
            <a:r>
              <a:rPr sz="900" b="0" i="0">
                <a:solidFill>
                  <a:srgbClr val="A5B2C4"/>
                </a:solidFill>
                <a:latin typeface="Segoe UI"/>
              </a:rPr>
              <a:t>, every alloc/free cycle above the mmap threshold</a:t>
            </a:r>
          </a:p>
        </p:txBody>
      </p:sp>
      <p:sp>
        <p:nvSpPr>
          <p:cNvPr id="28" name="TextBox 27"/>
          <p:cNvSpPr txBox="1"/>
          <p:nvPr/>
        </p:nvSpPr>
        <p:spPr>
          <a:xfrm>
            <a:off x="7040880" y="4041648"/>
            <a:ext cx="4498848" cy="566928"/>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no</a:t>
            </a:r>
            <a:r>
              <a:rPr sz="900" b="0" i="0">
                <a:solidFill>
                  <a:srgbClr val="A5B2C4"/>
                </a:solidFill>
                <a:latin typeface="Segoe UI"/>
              </a:rPr>
              <a:t>: once per buffer, for its lifetime</a:t>
            </a:r>
          </a:p>
        </p:txBody>
      </p:sp>
      <p:sp>
        <p:nvSpPr>
          <p:cNvPr id="29" name="TextBox 28"/>
          <p:cNvSpPr txBox="1"/>
          <p:nvPr/>
        </p:nvSpPr>
        <p:spPr>
          <a:xfrm>
            <a:off x="786384" y="4645152"/>
            <a:ext cx="1316736" cy="56692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removed by</a:t>
            </a:r>
          </a:p>
        </p:txBody>
      </p:sp>
      <p:sp>
        <p:nvSpPr>
          <p:cNvPr id="30" name="TextBox 29"/>
          <p:cNvSpPr txBox="1"/>
          <p:nvPr/>
        </p:nvSpPr>
        <p:spPr>
          <a:xfrm>
            <a:off x="2322576" y="4645152"/>
            <a:ext cx="4498848" cy="566928"/>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collect_view()</a:t>
            </a:r>
            <a:r>
              <a:rPr sz="900" b="0" i="0">
                <a:solidFill>
                  <a:srgbClr val="A5B2C4"/>
                </a:solidFill>
                <a:latin typeface="Segoe UI"/>
              </a:rPr>
              <a:t>: it allocates nothing</a:t>
            </a:r>
          </a:p>
        </p:txBody>
      </p:sp>
      <p:sp>
        <p:nvSpPr>
          <p:cNvPr id="31" name="TextBox 30"/>
          <p:cNvSpPr txBox="1"/>
          <p:nvPr/>
        </p:nvSpPr>
        <p:spPr>
          <a:xfrm>
            <a:off x="7040880" y="4645152"/>
            <a:ext cx="4498848" cy="56692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nothing; reserve_output_slots() only moves it out of the timer</a:t>
            </a:r>
          </a:p>
        </p:txBody>
      </p:sp>
      <p:sp>
        <p:nvSpPr>
          <p:cNvPr id="32" name="Rectangle 31"/>
          <p:cNvSpPr/>
          <p:nvPr/>
        </p:nvSpPr>
        <p:spPr>
          <a:xfrm>
            <a:off x="681228" y="5138928"/>
            <a:ext cx="5308092" cy="65836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40080" y="5138928"/>
            <a:ext cx="41148" cy="65836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6112" y="5230368"/>
            <a:ext cx="4892040" cy="475488"/>
          </a:xfrm>
          <a:prstGeom prst="rect">
            <a:avLst/>
          </a:prstGeom>
          <a:noFill/>
        </p:spPr>
        <p:txBody>
          <a:bodyPr wrap="square" lIns="0" rIns="0" tIns="0" bIns="0" anchor="ctr">
            <a:spAutoFit/>
          </a:bodyPr>
          <a:lstStyle/>
          <a:p>
            <a:pPr>
              <a:lnSpc>
                <a:spcPct val="120000"/>
              </a:lnSpc>
              <a:spcBef>
                <a:spcPts val="0"/>
              </a:spcBef>
              <a:spcAft>
                <a:spcPts val="0"/>
              </a:spcAft>
            </a:pPr>
            <a:r>
              <a:rPr sz="1000" b="1" i="0">
                <a:solidFill>
                  <a:srgbClr val="E7EDF4"/>
                </a:solidFill>
                <a:latin typeface="Segoe UI"/>
              </a:rPr>
              <a:t>The two are exactly additive.</a:t>
            </a:r>
            <a:r>
              <a:rPr sz="1000" b="0" i="0">
                <a:solidFill>
                  <a:srgbClr val="A5B2C4"/>
                </a:solidFill>
                <a:latin typeface="Segoe UI"/>
              </a:rPr>
              <a:t> Reserving subtracts precisely the pre-pin count from run 0 and changes nothing else.</a:t>
            </a:r>
          </a:p>
        </p:txBody>
      </p:sp>
      <p:sp>
        <p:nvSpPr>
          <p:cNvPr id="35" name="Rounded Rectangle 34"/>
          <p:cNvSpPr/>
          <p:nvPr/>
        </p:nvSpPr>
        <p:spPr>
          <a:xfrm>
            <a:off x="6172200" y="4956048"/>
            <a:ext cx="5349240" cy="868497"/>
          </a:xfrm>
          <a:prstGeom prst="round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36792" y="5065776"/>
            <a:ext cx="5020055" cy="182880"/>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NOT A CORRELATION, AN IDENTITY</a:t>
            </a:r>
          </a:p>
        </p:txBody>
      </p:sp>
      <p:sp>
        <p:nvSpPr>
          <p:cNvPr id="37" name="TextBox 36"/>
          <p:cNvSpPr txBox="1"/>
          <p:nvPr/>
        </p:nvSpPr>
        <p:spPr>
          <a:xfrm>
            <a:off x="6336792" y="5285232"/>
            <a:ext cx="5020055" cy="649041"/>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A5B2C4"/>
                </a:solidFill>
                <a:latin typeface="Consolas"/>
              </a:rPr>
              <a:t>3x3:   572 292 - 455 129 = 117 163   vs 117 192 pre-pin</a:t>
            </a:r>
          </a:p>
          <a:p>
            <a:pPr>
              <a:lnSpc>
                <a:spcPct val="112000"/>
              </a:lnSpc>
              <a:spcBef>
                <a:spcPts val="0"/>
              </a:spcBef>
              <a:spcAft>
                <a:spcPts val="0"/>
              </a:spcAft>
            </a:pPr>
            <a:r>
              <a:rPr sz="900" b="0" i="0">
                <a:solidFill>
                  <a:srgbClr val="A5B2C4"/>
                </a:solidFill>
                <a:latin typeface="Consolas"/>
              </a:rPr>
              <a:t>9x9: 2 759 037 - 2 278 567 = 480 470   vs 480 474</a:t>
            </a:r>
          </a:p>
          <a:p>
            <a:pPr>
              <a:lnSpc>
                <a:spcPct val="112000"/>
              </a:lnSpc>
              <a:spcBef>
                <a:spcPts val="0"/>
              </a:spcBef>
              <a:spcAft>
                <a:spcPts val="0"/>
              </a:spcAft>
            </a:pPr>
            <a:r>
              <a:rPr sz="900" b="0" i="0">
                <a:solidFill>
                  <a:srgbClr val="A5B2C4"/>
                </a:solidFill>
                <a:latin typeface="Consolas"/>
              </a:rPr>
              <a:t>closed form: 2 slots x 2000 x 120 004 B / 4 kB = 117 191</a:t>
            </a:r>
          </a:p>
        </p:txBody>
      </p:sp>
      <p:sp>
        <p:nvSpPr>
          <p:cNvPr id="38" name="Rectangle 37"/>
          <p:cNvSpPr/>
          <p:nvPr/>
        </p:nvSpPr>
        <p:spPr>
          <a:xfrm>
            <a:off x="681228" y="5943600"/>
            <a:ext cx="10840212" cy="65836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40080" y="5943600"/>
            <a:ext cx="41148" cy="65836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96112" y="6035040"/>
            <a:ext cx="10424160" cy="475488"/>
          </a:xfrm>
          <a:prstGeom prst="rect">
            <a:avLst/>
          </a:prstGeom>
          <a:noFill/>
        </p:spPr>
        <p:txBody>
          <a:bodyPr wrap="square" lIns="0" rIns="0" tIns="0" bIns="0" anchor="ctr">
            <a:spAutoFit/>
          </a:bodyPr>
          <a:lstStyle/>
          <a:p>
            <a:pPr>
              <a:lnSpc>
                <a:spcPct val="120000"/>
              </a:lnSpc>
              <a:spcBef>
                <a:spcPts val="0"/>
              </a:spcBef>
              <a:spcAft>
                <a:spcPts val="0"/>
              </a:spcAft>
            </a:pPr>
            <a:r>
              <a:rPr sz="1000" b="1" i="0">
                <a:solidFill>
                  <a:srgbClr val="E7EDF4"/>
                </a:solidFill>
                <a:latin typeface="Segoe UI"/>
              </a:rPr>
              <a:t>At 9×9 the heap never plateaus.</a:t>
            </a:r>
            <a:r>
              <a:rPr sz="1000" b="0" i="0">
                <a:solidFill>
                  <a:srgbClr val="A5B2C4"/>
                </a:solidFill>
                <a:latin typeface="Segoe UI"/>
              </a:rPr>
              <a:t> ~9.3 GB per pass is above glibc's mmap threshold, so it is munmap'd and re-faulted every pass: ~292 k faults ≈ </a:t>
            </a:r>
            <a:r>
              <a:rPr sz="1000" b="1" i="0">
                <a:solidFill>
                  <a:srgbClr val="E7EDF4"/>
                </a:solidFill>
                <a:latin typeface="Segoe UI"/>
              </a:rPr>
              <a:t>10 µs/frame, permanently</a:t>
            </a:r>
            <a:r>
              <a:rPr sz="1000" b="0" i="0">
                <a:solidFill>
                  <a:srgbClr val="A5B2C4"/>
                </a:solidFill>
                <a:latin typeface="Segoe UI"/>
              </a:rPr>
              <a:t>. No number of re-runs removes it, which is an independent argument for opt6.</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A6</a:t>
            </a:r>
          </a:p>
        </p:txBody>
      </p:sp>
      <p:sp>
        <p:nvSpPr>
          <p:cNvPr id="4" name="TextBox 3"/>
          <p:cNvSpPr txBox="1"/>
          <p:nvPr/>
        </p:nvSpPr>
        <p:spPr>
          <a:xfrm>
            <a:off x="1298448" y="457200"/>
            <a:ext cx="923544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BENCHMARK ARTEFACTS · 3 OF 4</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CUDA events measure the stream, not the kernel</a:t>
            </a:r>
          </a:p>
        </p:txBody>
      </p:sp>
      <p:sp>
        <p:nvSpPr>
          <p:cNvPr id="6" name="Rectangle 5"/>
          <p:cNvSpPr/>
          <p:nvPr/>
        </p:nvSpPr>
        <p:spPr>
          <a:xfrm>
            <a:off x="6400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3164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992879"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456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022079"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98480"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A6 · 3/4</a:t>
            </a:r>
          </a:p>
        </p:txBody>
      </p:sp>
      <p:sp>
        <p:nvSpPr>
          <p:cNvPr id="13" name="TextBox 12"/>
          <p:cNvSpPr txBox="1"/>
          <p:nvPr/>
        </p:nvSpPr>
        <p:spPr>
          <a:xfrm>
            <a:off x="640080" y="1737360"/>
            <a:ext cx="722376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avg_kernel_time_ms() brackets the launch with </a:t>
            </a:r>
            <a:r>
              <a:rPr sz="1050" b="1" i="0">
                <a:solidFill>
                  <a:srgbClr val="E7EDF4"/>
                </a:solidFill>
                <a:latin typeface="Segoe UI"/>
              </a:rPr>
              <a:t>cudaEventRecord on the kernel's own stream</a:t>
            </a:r>
            <a:r>
              <a:rPr sz="1050" b="0" i="0">
                <a:solidFill>
                  <a:srgbClr val="A5B2C4"/>
                </a:solidFill>
                <a:latin typeface="Segoe UI"/>
              </a:rPr>
              <a:t>. What it returns is elapsed time on </a:t>
            </a:r>
            <a:r>
              <a:rPr sz="1050" b="1" i="0">
                <a:solidFill>
                  <a:srgbClr val="E7EDF4"/>
                </a:solidFill>
                <a:latin typeface="Segoe UI"/>
              </a:rPr>
              <a:t>that stream's timeline</a:t>
            </a:r>
            <a:r>
              <a:rPr sz="1050" b="0" i="0">
                <a:solidFill>
                  <a:srgbClr val="A5B2C4"/>
                </a:solidFill>
                <a:latin typeface="Segoe UI"/>
              </a:rPr>
              <a:t>, which includes time spent </a:t>
            </a:r>
            <a:r>
              <a:rPr sz="1050" b="1" i="0">
                <a:solidFill>
                  <a:srgbClr val="E7EDF4"/>
                </a:solidFill>
                <a:latin typeface="Segoe UI"/>
              </a:rPr>
              <a:t>queued behind other streams</a:t>
            </a:r>
            <a:r>
              <a:rPr sz="1050" b="0" i="0">
                <a:solidFill>
                  <a:srgbClr val="A5B2C4"/>
                </a:solidFill>
                <a:latin typeface="Segoe UI"/>
              </a:rPr>
              <a:t>.</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So it is honest at 1 stream and inflates under saturation: up to </a:t>
            </a:r>
            <a:r>
              <a:rPr sz="1050" b="1" i="0">
                <a:solidFill>
                  <a:srgbClr val="E7EDF4"/>
                </a:solidFill>
                <a:latin typeface="Segoe UI"/>
              </a:rPr>
              <a:t>3.5×</a:t>
            </a:r>
            <a:r>
              <a:rPr sz="1050" b="0" i="0">
                <a:solidFill>
                  <a:srgbClr val="A5B2C4"/>
                </a:solidFill>
                <a:latin typeface="Segoe UI"/>
              </a:rPr>
              <a:t> at 8 streams. The tell is that the derived *PCIe + overhead* = wall/N − kernel_ms </a:t>
            </a:r>
            <a:r>
              <a:rPr sz="1050" b="1" i="0">
                <a:solidFill>
                  <a:srgbClr val="E7EDF4"/>
                </a:solidFill>
                <a:latin typeface="Segoe UI"/>
              </a:rPr>
              <a:t>goes negative</a:t>
            </a:r>
            <a:r>
              <a:rPr sz="1050" b="0" i="0">
                <a:solidFill>
                  <a:srgbClr val="A5B2C4"/>
                </a:solidFill>
                <a:latin typeface="Segoe UI"/>
              </a:rPr>
              <a:t>: kernels overlap, so wall/frame &lt; kernel/frame.</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It is also not free: </a:t>
            </a:r>
            <a:r>
              <a:rPr sz="1050" b="1" i="0">
                <a:solidFill>
                  <a:srgbClr val="E7EDF4"/>
                </a:solidFill>
                <a:latin typeface="Segoe UI"/>
              </a:rPr>
              <a:t>~3.6 µs/frame</a:t>
            </a:r>
            <a:r>
              <a:rPr sz="1050" b="0" i="0">
                <a:solidFill>
                  <a:srgbClr val="A5B2C4"/>
                </a:solidFill>
                <a:latin typeface="Segoe UI"/>
              </a:rPr>
              <a:t>, i.e. 10–15 % of end-to-end throughput at 3×3, to produce a number that is unusable exactly when it matters.</a:t>
            </a:r>
          </a:p>
        </p:txBody>
      </p:sp>
      <p:sp>
        <p:nvSpPr>
          <p:cNvPr id="14" name="Rounded Rectangle 13"/>
          <p:cNvSpPr/>
          <p:nvPr/>
        </p:nvSpPr>
        <p:spPr>
          <a:xfrm>
            <a:off x="640080" y="4343400"/>
            <a:ext cx="7223760" cy="1154887"/>
          </a:xfrm>
          <a:prstGeom prst="round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1" y="4453128"/>
            <a:ext cx="6894576" cy="182880"/>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ClusterFinderCUDA.hpp</a:t>
            </a:r>
          </a:p>
        </p:txBody>
      </p:sp>
      <p:sp>
        <p:nvSpPr>
          <p:cNvPr id="16" name="TextBox 15"/>
          <p:cNvSpPr txBox="1"/>
          <p:nvPr/>
        </p:nvSpPr>
        <p:spPr>
          <a:xfrm>
            <a:off x="804671" y="4672584"/>
            <a:ext cx="6894576" cy="935431"/>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A5B2C4"/>
                </a:solidFill>
                <a:latin typeface="Consolas"/>
              </a:rPr>
              <a:t>if (m_time_kernels)                       // OFF by default, all 3 finders</a:t>
            </a:r>
          </a:p>
          <a:p>
            <a:pPr>
              <a:lnSpc>
                <a:spcPct val="112000"/>
              </a:lnSpc>
              <a:spcBef>
                <a:spcPts val="0"/>
              </a:spcBef>
              <a:spcAft>
                <a:spcPts val="0"/>
              </a:spcAft>
            </a:pPr>
            <a:r>
              <a:rPr sz="900" b="0" i="0">
                <a:solidFill>
                  <a:srgbClr val="A5B2C4"/>
                </a:solidFill>
                <a:latin typeface="Consolas"/>
              </a:rPr>
              <a:t>    cudaEventRecord(start[slot][i], sc.stream);</a:t>
            </a:r>
          </a:p>
          <a:p>
            <a:pPr>
              <a:lnSpc>
                <a:spcPct val="112000"/>
              </a:lnSpc>
              <a:spcBef>
                <a:spcPts val="0"/>
              </a:spcBef>
              <a:spcAft>
                <a:spcPts val="0"/>
              </a:spcAft>
            </a:pPr>
            <a:r>
              <a:rPr sz="900" b="0" i="0">
                <a:solidFill>
                  <a:srgbClr val="A5B2C4"/>
                </a:solidFill>
                <a:latin typeface="Consolas"/>
              </a:rPr>
              <a:t>find_clusters_in_single_frame&lt;&lt;&lt;grid, block, shmem, </a:t>
            </a:r>
            <a:r>
              <a:rPr sz="900" b="1" i="0">
                <a:solidFill>
                  <a:srgbClr val="1E90C2"/>
                </a:solidFill>
                <a:latin typeface="Consolas"/>
              </a:rPr>
              <a:t>sc.stream</a:t>
            </a:r>
            <a:r>
              <a:rPr sz="900" b="0" i="0">
                <a:solidFill>
                  <a:srgbClr val="A5B2C4"/>
                </a:solidFill>
                <a:latin typeface="Consolas"/>
              </a:rPr>
              <a:t>&gt;&gt;&gt;(...);</a:t>
            </a:r>
          </a:p>
          <a:p>
            <a:pPr>
              <a:lnSpc>
                <a:spcPct val="112000"/>
              </a:lnSpc>
              <a:spcBef>
                <a:spcPts val="0"/>
              </a:spcBef>
              <a:spcAft>
                <a:spcPts val="0"/>
              </a:spcAft>
            </a:pPr>
            <a:r>
              <a:rPr sz="900" b="0" i="0">
                <a:solidFill>
                  <a:srgbClr val="A5B2C4"/>
                </a:solidFill>
                <a:latin typeface="Consolas"/>
              </a:rPr>
              <a:t>if (m_time_kernels)</a:t>
            </a:r>
          </a:p>
          <a:p>
            <a:pPr>
              <a:lnSpc>
                <a:spcPct val="112000"/>
              </a:lnSpc>
              <a:spcBef>
                <a:spcPts val="0"/>
              </a:spcBef>
              <a:spcAft>
                <a:spcPts val="0"/>
              </a:spcAft>
            </a:pPr>
            <a:r>
              <a:rPr sz="900" b="0" i="0">
                <a:solidFill>
                  <a:srgbClr val="A5B2C4"/>
                </a:solidFill>
                <a:latin typeface="Consolas"/>
              </a:rPr>
              <a:t>    cudaEventRecord(stop[slot][i], sc.stream);   // &lt;- queue-wait lands here</a:t>
            </a:r>
          </a:p>
        </p:txBody>
      </p:sp>
      <p:sp>
        <p:nvSpPr>
          <p:cNvPr id="17" name="Rectangle 16"/>
          <p:cNvSpPr/>
          <p:nvPr/>
        </p:nvSpPr>
        <p:spPr>
          <a:xfrm>
            <a:off x="681228" y="5650992"/>
            <a:ext cx="7182612" cy="65836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 y="5650992"/>
            <a:ext cx="41148" cy="65836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6112" y="5742431"/>
            <a:ext cx="6766560" cy="475488"/>
          </a:xfrm>
          <a:prstGeom prst="rect">
            <a:avLst/>
          </a:prstGeom>
          <a:noFill/>
        </p:spPr>
        <p:txBody>
          <a:bodyPr wrap="square" lIns="0" rIns="0" tIns="0" bIns="0" anchor="ctr">
            <a:spAutoFit/>
          </a:bodyPr>
          <a:lstStyle/>
          <a:p>
            <a:pPr>
              <a:lnSpc>
                <a:spcPct val="120000"/>
              </a:lnSpc>
              <a:spcBef>
                <a:spcPts val="0"/>
              </a:spcBef>
              <a:spcAft>
                <a:spcPts val="0"/>
              </a:spcAft>
            </a:pPr>
            <a:r>
              <a:rPr sz="1000" b="0" i="0">
                <a:solidFill>
                  <a:srgbClr val="A5B2C4"/>
                </a:solidFill>
                <a:latin typeface="Segoe UI"/>
              </a:rPr>
              <a:t>The flag exists for </a:t>
            </a:r>
            <a:r>
              <a:rPr sz="1000" b="1" i="0">
                <a:solidFill>
                  <a:srgbClr val="E7EDF4"/>
                </a:solidFill>
                <a:latin typeface="Segoe UI"/>
              </a:rPr>
              <a:t>comparability</a:t>
            </a:r>
            <a:r>
              <a:rPr sz="1000" b="0" i="0">
                <a:solidFill>
                  <a:srgbClr val="A5B2C4"/>
                </a:solidFill>
                <a:latin typeface="Segoe UI"/>
              </a:rPr>
              <a:t>, not preference: with events on for one finder and off for another, the step between them absorbs the tax.</a:t>
            </a:r>
          </a:p>
        </p:txBody>
      </p:sp>
      <p:sp>
        <p:nvSpPr>
          <p:cNvPr id="20" name="Rectangle 19"/>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9×9 KERNEL · F64 · NSYS</a:t>
            </a:r>
          </a:p>
        </p:txBody>
      </p:sp>
      <p:sp>
        <p:nvSpPr>
          <p:cNvPr id="22" name="TextBox 21"/>
          <p:cNvSpPr txBox="1"/>
          <p:nvPr/>
        </p:nvSpPr>
        <p:spPr>
          <a:xfrm>
            <a:off x="8412480" y="217627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S1 · DURATION</a:t>
            </a:r>
          </a:p>
        </p:txBody>
      </p:sp>
      <p:sp>
        <p:nvSpPr>
          <p:cNvPr id="23" name="TextBox 22"/>
          <p:cNvSpPr txBox="1"/>
          <p:nvPr/>
        </p:nvSpPr>
        <p:spPr>
          <a:xfrm>
            <a:off x="8412480" y="2395728"/>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1E90C2"/>
                </a:solidFill>
                <a:latin typeface="Segoe UI"/>
              </a:rPr>
              <a:t>39.86 µs</a:t>
            </a:r>
          </a:p>
        </p:txBody>
      </p:sp>
      <p:sp>
        <p:nvSpPr>
          <p:cNvPr id="24" name="TextBox 23"/>
          <p:cNvSpPr txBox="1"/>
          <p:nvPr/>
        </p:nvSpPr>
        <p:spPr>
          <a:xfrm>
            <a:off x="8412480" y="307238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S4 · OCCUPANCY</a:t>
            </a:r>
          </a:p>
        </p:txBody>
      </p:sp>
      <p:sp>
        <p:nvSpPr>
          <p:cNvPr id="25" name="TextBox 24"/>
          <p:cNvSpPr txBox="1"/>
          <p:nvPr/>
        </p:nvSpPr>
        <p:spPr>
          <a:xfrm>
            <a:off x="8412480" y="3291840"/>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8B25C"/>
                </a:solidFill>
                <a:latin typeface="Segoe UI"/>
              </a:rPr>
              <a:t>32.66 µs</a:t>
            </a:r>
          </a:p>
        </p:txBody>
      </p:sp>
      <p:sp>
        <p:nvSpPr>
          <p:cNvPr id="26" name="TextBox 25"/>
          <p:cNvSpPr txBox="1"/>
          <p:nvPr/>
        </p:nvSpPr>
        <p:spPr>
          <a:xfrm>
            <a:off x="8412480" y="4014215"/>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OVERLAP FACTOR</a:t>
            </a:r>
          </a:p>
        </p:txBody>
      </p:sp>
      <p:sp>
        <p:nvSpPr>
          <p:cNvPr id="27" name="TextBox 26"/>
          <p:cNvSpPr txBox="1"/>
          <p:nvPr/>
        </p:nvSpPr>
        <p:spPr>
          <a:xfrm>
            <a:off x="8412480" y="4215383"/>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A5B2C4"/>
                </a:solidFill>
                <a:latin typeface="Segoe UI"/>
              </a:rPr>
              <a:t>1.32×</a:t>
            </a:r>
          </a:p>
        </p:txBody>
      </p:sp>
      <p:sp>
        <p:nvSpPr>
          <p:cNvPr id="28" name="TextBox 27"/>
          <p:cNvSpPr txBox="1"/>
          <p:nvPr/>
        </p:nvSpPr>
        <p:spPr>
          <a:xfrm>
            <a:off x="8412480" y="4800600"/>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Same kernel. The s4 column is the union of kernel intervals per frame, not how long one kernel takes. Quote s1 for duration; s4 feeds the floor, subject to the sustained-rate rule on slide 18. Full grid: A1.</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A6</a:t>
            </a:r>
          </a:p>
        </p:txBody>
      </p:sp>
      <p:sp>
        <p:nvSpPr>
          <p:cNvPr id="4" name="TextBox 3"/>
          <p:cNvSpPr txBox="1"/>
          <p:nvPr/>
        </p:nvSpPr>
        <p:spPr>
          <a:xfrm>
            <a:off x="1298448" y="457200"/>
            <a:ext cx="923544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BENCHMARK ARTEFACTS · 4 OF 4</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Where nsys is sound, and where it is not</a:t>
            </a:r>
          </a:p>
        </p:txBody>
      </p:sp>
      <p:sp>
        <p:nvSpPr>
          <p:cNvPr id="6" name="Rectangle 5"/>
          <p:cNvSpPr/>
          <p:nvPr/>
        </p:nvSpPr>
        <p:spPr>
          <a:xfrm>
            <a:off x="6400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3164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992879"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45680"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022079" y="6656832"/>
            <a:ext cx="1508760"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98480"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A6 · 4/4</a:t>
            </a:r>
          </a:p>
        </p:txBody>
      </p:sp>
      <p:sp>
        <p:nvSpPr>
          <p:cNvPr id="13" name="TextBox 12"/>
          <p:cNvSpPr txBox="1"/>
          <p:nvPr/>
        </p:nvSpPr>
        <p:spPr>
          <a:xfrm>
            <a:off x="640080" y="1737360"/>
            <a:ext cx="1097280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Tracing a </a:t>
            </a:r>
            <a:r>
              <a:rPr sz="1050" b="1" i="0">
                <a:solidFill>
                  <a:srgbClr val="E7EDF4"/>
                </a:solidFill>
                <a:latin typeface="Segoe UI"/>
              </a:rPr>
              <a:t>host</a:t>
            </a:r>
            <a:r>
              <a:rPr sz="1050" b="0" i="0">
                <a:solidFill>
                  <a:srgbClr val="A5B2C4"/>
                </a:solidFill>
                <a:latin typeface="Segoe UI"/>
              </a:rPr>
              <a:t> call means running a callback on entry and on exit, </a:t>
            </a:r>
            <a:r>
              <a:rPr sz="1050" b="1" i="0">
                <a:solidFill>
                  <a:srgbClr val="E7EDF4"/>
                </a:solidFill>
                <a:latin typeface="Segoe UI"/>
              </a:rPr>
              <a:t>inside the interval being measured</a:t>
            </a:r>
            <a:r>
              <a:rPr sz="1050" b="0" i="0">
                <a:solidFill>
                  <a:srgbClr val="A5B2C4"/>
                </a:solidFill>
                <a:latin typeface="Segoe UI"/>
              </a:rPr>
              <a:t>. GPU work is different: the hardware stamps its own start/end and the host reads those records </a:t>
            </a:r>
            <a:r>
              <a:rPr sz="1050" b="1" i="0">
                <a:solidFill>
                  <a:srgbClr val="E7EDF4"/>
                </a:solidFill>
                <a:latin typeface="Segoe UI"/>
              </a:rPr>
              <a:t>afterwards</a:t>
            </a:r>
            <a:r>
              <a:rPr sz="1050" b="0" i="0">
                <a:solidFill>
                  <a:srgbClr val="A5B2C4"/>
                </a:solidFill>
                <a:latin typeface="Segoe UI"/>
              </a:rPr>
              <a:t>, so nothing is injected into the execution path.</a:t>
            </a:r>
          </a:p>
        </p:txBody>
      </p:sp>
      <p:sp>
        <p:nvSpPr>
          <p:cNvPr id="14" name="Rectangle 13"/>
          <p:cNvSpPr/>
          <p:nvPr/>
        </p:nvSpPr>
        <p:spPr>
          <a:xfrm>
            <a:off x="640080" y="2377440"/>
            <a:ext cx="10972800" cy="31089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6384" y="2450592"/>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MEASUREMENT</a:t>
            </a:r>
          </a:p>
        </p:txBody>
      </p:sp>
      <p:sp>
        <p:nvSpPr>
          <p:cNvPr id="16" name="TextBox 15"/>
          <p:cNvSpPr txBox="1"/>
          <p:nvPr/>
        </p:nvSpPr>
        <p:spPr>
          <a:xfrm>
            <a:off x="4736592" y="2450592"/>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SQLITE TABLE</a:t>
            </a:r>
          </a:p>
        </p:txBody>
      </p:sp>
      <p:sp>
        <p:nvSpPr>
          <p:cNvPr id="17" name="TextBox 16"/>
          <p:cNvSpPr txBox="1"/>
          <p:nvPr/>
        </p:nvSpPr>
        <p:spPr>
          <a:xfrm>
            <a:off x="7370063" y="2450592"/>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9×9 [F64 · S1 · CAP 1500]</a:t>
            </a:r>
          </a:p>
        </p:txBody>
      </p:sp>
      <p:sp>
        <p:nvSpPr>
          <p:cNvPr id="18" name="TextBox 17"/>
          <p:cNvSpPr txBox="1"/>
          <p:nvPr/>
        </p:nvSpPr>
        <p:spPr>
          <a:xfrm>
            <a:off x="9784080" y="2450592"/>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VERDICT</a:t>
            </a:r>
          </a:p>
        </p:txBody>
      </p:sp>
      <p:sp>
        <p:nvSpPr>
          <p:cNvPr id="19" name="Rectangle 18"/>
          <p:cNvSpPr/>
          <p:nvPr/>
        </p:nvSpPr>
        <p:spPr>
          <a:xfrm>
            <a:off x="640080" y="2724912"/>
            <a:ext cx="10972800" cy="47548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86384" y="2816352"/>
            <a:ext cx="3730752"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cudaLaunchKernel: the host call</a:t>
            </a:r>
          </a:p>
        </p:txBody>
      </p:sp>
      <p:sp>
        <p:nvSpPr>
          <p:cNvPr id="21" name="TextBox 20"/>
          <p:cNvSpPr txBox="1"/>
          <p:nvPr/>
        </p:nvSpPr>
        <p:spPr>
          <a:xfrm>
            <a:off x="4736592" y="2816352"/>
            <a:ext cx="2414015"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CUPTI_..._RUNTIME</a:t>
            </a:r>
          </a:p>
        </p:txBody>
      </p:sp>
      <p:sp>
        <p:nvSpPr>
          <p:cNvPr id="22" name="TextBox 21"/>
          <p:cNvSpPr txBox="1"/>
          <p:nvPr/>
        </p:nvSpPr>
        <p:spPr>
          <a:xfrm>
            <a:off x="7370063" y="2816352"/>
            <a:ext cx="2194560"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1.85 µs</a:t>
            </a:r>
          </a:p>
        </p:txBody>
      </p:sp>
      <p:sp>
        <p:nvSpPr>
          <p:cNvPr id="23" name="TextBox 22"/>
          <p:cNvSpPr txBox="1"/>
          <p:nvPr/>
        </p:nvSpPr>
        <p:spPr>
          <a:xfrm>
            <a:off x="9784080" y="2816352"/>
            <a:ext cx="1755648" cy="475488"/>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inflated ~4×</a:t>
            </a:r>
          </a:p>
        </p:txBody>
      </p:sp>
      <p:sp>
        <p:nvSpPr>
          <p:cNvPr id="24" name="TextBox 23"/>
          <p:cNvSpPr txBox="1"/>
          <p:nvPr/>
        </p:nvSpPr>
        <p:spPr>
          <a:xfrm>
            <a:off x="786384" y="3328416"/>
            <a:ext cx="3730752"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the kernel executing</a:t>
            </a:r>
          </a:p>
        </p:txBody>
      </p:sp>
      <p:sp>
        <p:nvSpPr>
          <p:cNvPr id="25" name="TextBox 24"/>
          <p:cNvSpPr txBox="1"/>
          <p:nvPr/>
        </p:nvSpPr>
        <p:spPr>
          <a:xfrm>
            <a:off x="4736592" y="3328416"/>
            <a:ext cx="2414015"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CUPTI_..._KERNEL</a:t>
            </a:r>
          </a:p>
        </p:txBody>
      </p:sp>
      <p:sp>
        <p:nvSpPr>
          <p:cNvPr id="26" name="TextBox 25"/>
          <p:cNvSpPr txBox="1"/>
          <p:nvPr/>
        </p:nvSpPr>
        <p:spPr>
          <a:xfrm>
            <a:off x="7370063" y="3328416"/>
            <a:ext cx="2194560"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39.93 µs</a:t>
            </a:r>
          </a:p>
        </p:txBody>
      </p:sp>
      <p:sp>
        <p:nvSpPr>
          <p:cNvPr id="27" name="TextBox 26"/>
          <p:cNvSpPr txBox="1"/>
          <p:nvPr/>
        </p:nvSpPr>
        <p:spPr>
          <a:xfrm>
            <a:off x="9784080" y="3328416"/>
            <a:ext cx="1755648"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sound to ~2 %</a:t>
            </a:r>
          </a:p>
        </p:txBody>
      </p:sp>
      <p:sp>
        <p:nvSpPr>
          <p:cNvPr id="28" name="Rectangle 27"/>
          <p:cNvSpPr/>
          <p:nvPr/>
        </p:nvSpPr>
        <p:spPr>
          <a:xfrm>
            <a:off x="640080" y="3749039"/>
            <a:ext cx="10972800" cy="47548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86384" y="3840479"/>
            <a:ext cx="3730752"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cudaMemcpyAsync: the host call</a:t>
            </a:r>
          </a:p>
        </p:txBody>
      </p:sp>
      <p:sp>
        <p:nvSpPr>
          <p:cNvPr id="30" name="TextBox 29"/>
          <p:cNvSpPr txBox="1"/>
          <p:nvPr/>
        </p:nvSpPr>
        <p:spPr>
          <a:xfrm>
            <a:off x="4736592" y="3840479"/>
            <a:ext cx="2414015"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CUPTI_..._RUNTIME</a:t>
            </a:r>
          </a:p>
        </p:txBody>
      </p:sp>
      <p:sp>
        <p:nvSpPr>
          <p:cNvPr id="31" name="TextBox 30"/>
          <p:cNvSpPr txBox="1"/>
          <p:nvPr/>
        </p:nvSpPr>
        <p:spPr>
          <a:xfrm>
            <a:off x="7370063" y="3840479"/>
            <a:ext cx="2194560"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1.65 µs</a:t>
            </a:r>
          </a:p>
        </p:txBody>
      </p:sp>
      <p:sp>
        <p:nvSpPr>
          <p:cNvPr id="32" name="TextBox 31"/>
          <p:cNvSpPr txBox="1"/>
          <p:nvPr/>
        </p:nvSpPr>
        <p:spPr>
          <a:xfrm>
            <a:off x="9784080" y="3840479"/>
            <a:ext cx="1755648" cy="475488"/>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inflated ~4×</a:t>
            </a:r>
          </a:p>
        </p:txBody>
      </p:sp>
      <p:sp>
        <p:nvSpPr>
          <p:cNvPr id="33" name="TextBox 32"/>
          <p:cNvSpPr txBox="1"/>
          <p:nvPr/>
        </p:nvSpPr>
        <p:spPr>
          <a:xfrm>
            <a:off x="786384" y="4352544"/>
            <a:ext cx="3730752"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the H2D / D2H transfer</a:t>
            </a:r>
          </a:p>
        </p:txBody>
      </p:sp>
      <p:sp>
        <p:nvSpPr>
          <p:cNvPr id="34" name="TextBox 33"/>
          <p:cNvSpPr txBox="1"/>
          <p:nvPr/>
        </p:nvSpPr>
        <p:spPr>
          <a:xfrm>
            <a:off x="4736592" y="4352544"/>
            <a:ext cx="2414015"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CUPTI_..._MEMCPY</a:t>
            </a:r>
          </a:p>
        </p:txBody>
      </p:sp>
      <p:sp>
        <p:nvSpPr>
          <p:cNvPr id="35" name="TextBox 34"/>
          <p:cNvSpPr txBox="1"/>
          <p:nvPr/>
        </p:nvSpPr>
        <p:spPr>
          <a:xfrm>
            <a:off x="7370063" y="4352544"/>
            <a:ext cx="2194560"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13.25 / 19.44 µs</a:t>
            </a:r>
          </a:p>
        </p:txBody>
      </p:sp>
      <p:sp>
        <p:nvSpPr>
          <p:cNvPr id="36" name="TextBox 35"/>
          <p:cNvSpPr txBox="1"/>
          <p:nvPr/>
        </p:nvSpPr>
        <p:spPr>
          <a:xfrm>
            <a:off x="9784080" y="4352544"/>
            <a:ext cx="1755648"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sound to ~2 %</a:t>
            </a:r>
          </a:p>
        </p:txBody>
      </p:sp>
      <p:sp>
        <p:nvSpPr>
          <p:cNvPr id="37" name="Rectangle 36"/>
          <p:cNvSpPr/>
          <p:nvPr/>
        </p:nvSpPr>
        <p:spPr>
          <a:xfrm>
            <a:off x="681228" y="4846320"/>
            <a:ext cx="10840212" cy="78638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40080" y="4846320"/>
            <a:ext cx="41148" cy="78638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96112" y="4937759"/>
            <a:ext cx="10424160" cy="603503"/>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Same cudaMemcpyAsync, two numbers: 1.65 µs to ask for the copy, 13.25 µs for the copy to happen.</a:t>
            </a:r>
            <a:r>
              <a:rPr sz="1050" b="0" i="0">
                <a:solidFill>
                  <a:srgbClr val="A5B2C4"/>
                </a:solidFill>
                <a:latin typeface="Segoe UI"/>
              </a:rPr>
              <a:t> If the profiler must be present at the moment to measure it, it distorts it; if the hardware records it anyway and the profiler reads it later, it does not.</a:t>
            </a:r>
          </a:p>
        </p:txBody>
      </p:sp>
      <p:sp>
        <p:nvSpPr>
          <p:cNvPr id="40" name="TextBox 39"/>
          <p:cNvSpPr txBox="1"/>
          <p:nvPr/>
        </p:nvSpPr>
        <p:spPr>
          <a:xfrm>
            <a:off x="640080" y="5852160"/>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Every headline number in this deck (kernel times, transfer times, duty cycles, overlap and every engine floor) comes from the _KERNEL and _MEMCPY tables (see gpu_span.py). Proof that side is sound: opt7 sustains 25.14 µs unprofiled against a 25.24 µs estimate measured under the profiler, 0.4 % apart, which a 4× distortion could not survive. ⚠ Cap 1500: the only such numbers left in the deck. Why, and what the shipped bar is, in the notes.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7416</TotalTime>
  <Application>LibreOffice/6.4.7.2$Linux_X86_64 LibreOffice_project/40$Build-2</Application>
  <Words>2114</Words>
  <Paragraphs>269</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2024-09-04T15:23:23Z</dcterms:created>
  <dc:creator/>
  <dc:description>erstellt durch Vorlagenbauer.ch</dc:description>
  <dc:language>fr-FR</dc:language>
  <cp:lastModifiedBy/>
  <dcterms:modified xsi:type="dcterms:W3CDTF">2026-08-11T16:08:57Z</dcterms:modified>
  <cp:revision>651</cp:revision>
  <dc:subject/>
  <dc:title>Checkliste PPT-Vorlagen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16.0000</vt:lpwstr>
  </property>
  <property fmtid="{D5CDD505-2E9C-101B-9397-08002B2CF9AE}" pid="3" name="ContentTypeId">
    <vt:lpwstr>0x0101000E594130A2AF244FBF3F304D904ED593</vt:lpwstr>
  </property>
  <property fmtid="{D5CDD505-2E9C-101B-9397-08002B2CF9AE}" pid="4" name="HiddenSlides">
    <vt:i4>0</vt:i4>
  </property>
  <property fmtid="{D5CDD505-2E9C-101B-9397-08002B2CF9AE}" pid="5" name="HyperlinksChanged">
    <vt:bool>0</vt:bool>
  </property>
  <property fmtid="{D5CDD505-2E9C-101B-9397-08002B2CF9AE}" pid="6" name="LinksUpToDate">
    <vt:bool>0</vt:bool>
  </property>
  <property fmtid="{D5CDD505-2E9C-101B-9397-08002B2CF9AE}" pid="7" name="MMClips">
    <vt:i4>0</vt:i4>
  </property>
  <property fmtid="{D5CDD505-2E9C-101B-9397-08002B2CF9AE}" pid="8" name="MediaServiceImageTags">
    <vt:lpwstr/>
  </property>
  <property fmtid="{D5CDD505-2E9C-101B-9397-08002B2CF9AE}" pid="9" name="Notes">
    <vt:i4>9</vt:i4>
  </property>
  <property fmtid="{D5CDD505-2E9C-101B-9397-08002B2CF9AE}" pid="10" name="PresentationFormat">
    <vt:lpwstr>Grand écran</vt:lpwstr>
  </property>
  <property fmtid="{D5CDD505-2E9C-101B-9397-08002B2CF9AE}" pid="11" name="ScaleCrop">
    <vt:bool>0</vt:bool>
  </property>
  <property fmtid="{D5CDD505-2E9C-101B-9397-08002B2CF9AE}" pid="12" name="ShareDoc">
    <vt:bool>0</vt:bool>
  </property>
  <property fmtid="{D5CDD505-2E9C-101B-9397-08002B2CF9AE}" pid="13" name="Slides">
    <vt:i4>11</vt:i4>
  </property>
</Properties>
</file>