
<file path=[Content_Types].xml><?xml version="1.0" encoding="utf-8"?>
<Types xmlns="http://schemas.openxmlformats.org/package/2006/content-types">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Lst>
  <p:sldSz cx="12191695"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type="sldImg"/>
          </p:nvPr>
        </p:nvSpPr>
        <p:spPr>
          <a:xfrm>
            <a:off x="216000" y="812520"/>
            <a:ext cx="7127280" cy="4008960"/>
          </a:xfrm>
          <a:prstGeom prst="rect">
            <a:avLst/>
          </a:prstGeom>
        </p:spPr>
        <p:txBody>
          <a:bodyPr lIns="0" rIns="0" tIns="0" bIns="0" anchor="ctr">
            <a:noAutofit/>
          </a:bodyPr>
          <a:p>
            <a:r>
              <a:rPr b="0" lang="fr-FR" sz="1800" spc="-1" strike="noStrike">
                <a:solidFill>
                  <a:srgbClr val="000000"/>
                </a:solidFill>
                <a:latin typeface="Arial"/>
              </a:rPr>
              <a:t>Click to move the slide</a:t>
            </a:r>
            <a:endParaRPr b="0" lang="fr-FR" sz="1800" spc="-1" strike="noStrike">
              <a:solidFill>
                <a:srgbClr val="000000"/>
              </a:solidFill>
              <a:latin typeface="Arial"/>
            </a:endParaRPr>
          </a:p>
        </p:txBody>
      </p:sp>
      <p:sp>
        <p:nvSpPr>
          <p:cNvPr id="84"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Click to edit the notes format</a:t>
            </a:r>
            <a:endParaRPr b="0" lang="en-US" sz="2000" spc="-1" strike="noStrike">
              <a:latin typeface="Arial"/>
            </a:endParaRPr>
          </a:p>
        </p:txBody>
      </p:sp>
      <p:sp>
        <p:nvSpPr>
          <p:cNvPr id="85" name="PlaceHolder 3"/>
          <p:cNvSpPr>
            <a:spLocks noGrp="1"/>
          </p:cNvSpPr>
          <p:nvPr>
            <p:ph type="hdr"/>
          </p:nvPr>
        </p:nvSpPr>
        <p:spPr>
          <a:xfrm>
            <a:off x="0" y="0"/>
            <a:ext cx="3280680" cy="534240"/>
          </a:xfrm>
          <a:prstGeom prst="rect">
            <a:avLst/>
          </a:prstGeom>
        </p:spPr>
        <p:txBody>
          <a:bodyPr lIns="0" rIns="0" tIns="0" bIns="0">
            <a:noAutofit/>
          </a:bodyPr>
          <a:p>
            <a:r>
              <a:rPr b="0" lang="en-US" sz="1400" spc="-1" strike="noStrike">
                <a:latin typeface="Times New Roman"/>
              </a:rPr>
              <a:t>&lt;header&gt;</a:t>
            </a:r>
            <a:endParaRPr b="0" lang="en-US" sz="1400" spc="-1" strike="noStrike">
              <a:latin typeface="Times New Roman"/>
            </a:endParaRPr>
          </a:p>
        </p:txBody>
      </p:sp>
      <p:sp>
        <p:nvSpPr>
          <p:cNvPr id="86" name="PlaceHolder 4"/>
          <p:cNvSpPr>
            <a:spLocks noGrp="1"/>
          </p:cNvSpPr>
          <p:nvPr>
            <p:ph type="dt"/>
          </p:nvPr>
        </p:nvSpPr>
        <p:spPr>
          <a:xfrm>
            <a:off x="4278960" y="0"/>
            <a:ext cx="3280680" cy="534240"/>
          </a:xfrm>
          <a:prstGeom prst="rect">
            <a:avLst/>
          </a:prstGeom>
        </p:spPr>
        <p:txBody>
          <a:bodyPr lIns="0" rIns="0" tIns="0" bIns="0">
            <a:noAutofit/>
          </a:bodyPr>
          <a:p>
            <a:pPr algn="r"/>
            <a:r>
              <a:rPr b="0" lang="en-US" sz="1400" spc="-1" strike="noStrike">
                <a:latin typeface="Times New Roman"/>
              </a:rPr>
              <a:t>&lt;date/time&gt;</a:t>
            </a:r>
            <a:endParaRPr b="0" lang="en-US" sz="1400" spc="-1" strike="noStrike">
              <a:latin typeface="Times New Roman"/>
            </a:endParaRPr>
          </a:p>
        </p:txBody>
      </p:sp>
      <p:sp>
        <p:nvSpPr>
          <p:cNvPr id="87" name="PlaceHolder 5"/>
          <p:cNvSpPr>
            <a:spLocks noGrp="1"/>
          </p:cNvSpPr>
          <p:nvPr>
            <p:ph type="ftr"/>
          </p:nvPr>
        </p:nvSpPr>
        <p:spPr>
          <a:xfrm>
            <a:off x="0" y="10157400"/>
            <a:ext cx="3280680" cy="534240"/>
          </a:xfrm>
          <a:prstGeom prst="rect">
            <a:avLst/>
          </a:prstGeom>
        </p:spPr>
        <p:txBody>
          <a:bodyPr lIns="0" rIns="0" tIns="0" bIns="0" anchor="b">
            <a:noAutofit/>
          </a:bodyPr>
          <a:p>
            <a:r>
              <a:rPr b="0" lang="en-US" sz="1400" spc="-1" strike="noStrike">
                <a:latin typeface="Times New Roman"/>
              </a:rPr>
              <a:t>&lt;footer&gt;</a:t>
            </a:r>
            <a:endParaRPr b="0" lang="en-US" sz="1400" spc="-1" strike="noStrike">
              <a:latin typeface="Times New Roman"/>
            </a:endParaRPr>
          </a:p>
        </p:txBody>
      </p:sp>
      <p:sp>
        <p:nvSpPr>
          <p:cNvPr id="88"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E0663A34-A066-44A6-AE62-DBA7095D00F0}"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detector, and why its frame rate is the yardstick.</a:t>
            </a:r>
          </a:p>
          <a:p/>
          <a:p>
            <a:r>
              <a:t>MOENCH03 is a hybrid silicon pixel detector: charge integration with analog</a:t>
            </a:r>
          </a:p>
          <a:p>
            <a:r>
              <a:t>readout, 25 x 25 um^2 pitch, 400 x 400 pixels over a 10 x 10 mm^2 active area.</a:t>
            </a:r>
          </a:p>
          <a:p>
            <a:r>
              <a:t>Its standard frame rate is 1.3 kHz; with optimised readout boards the design</a:t>
            </a:r>
          </a:p>
          <a:p>
            <a:r>
              <a:t>reaches 3-6 kHz depending on configuration.</a:t>
            </a:r>
          </a:p>
          <a:p/>
          <a:p>
            <a:r>
              <a:t>That is the number to hold on to. 400 x 400 = 160 000 pixels is 312.5 kB per</a:t>
            </a:r>
          </a:p>
          <a:p>
            <a:r>
              <a:t>frame at 16 bit, so 1.3 kHz is ~0.4 GB/s off the detector and 6 kHz is ~1.9</a:t>
            </a:r>
          </a:p>
          <a:p>
            <a:r>
              <a:t>GB/s. The 24-thread CPU finder does 6 762 FPS at 3x3, so it already keeps up</a:t>
            </a:r>
          </a:p>
          <a:p>
            <a:r>
              <a:t>with the standard mode and roughly matches the optimised ceiling -- with nothing</a:t>
            </a:r>
          </a:p>
          <a:p>
            <a:r>
              <a:t>left over for anything else on the machine, and nothing left at 9x9, where it</a:t>
            </a:r>
          </a:p>
          <a:p>
            <a:r>
              <a:t>manages 1 503 FPS. Slide 33 closes this loop.</a:t>
            </a:r>
          </a:p>
          <a:p/>
          <a:p>
            <a:r>
              <a:t>Pixels above 5 sigma are ~5 700, about 3.6 % of the frame and 2.4 per photon;</a:t>
            </a:r>
          </a:p>
          <a:p>
            <a:r>
              <a:t>that is the number that sets how much of the frame the 3x3 windows cover.</a:t>
            </a:r>
          </a:p>
        </p:txBody>
      </p:sp>
      <p:sp>
        <p:nvSpPr>
          <p:cNvPr id="4" name="Slide Number Placeholder 3"/>
          <p:cNvSpPr>
            <a:spLocks noGrp="1"/>
          </p:cNvSpPr>
          <p:nvPr>
            <p:ph type="sldNum"/>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order does not matter, and the one place it does.</a:t>
            </a:r>
          </a:p>
          <a:p/>
          <a:p>
            <a:r>
              <a:t>A pixel reads what its neighbours MEASURED, never what they decided. With the</a:t>
            </a:r>
          </a:p>
          <a:p>
            <a:r>
              <a:t>pedestal held at its frame-start value, order cannot matter, and that is what</a:t>
            </a:r>
          </a:p>
          <a:p>
            <a:r>
              <a:t>licenses one thread per pixel.</a:t>
            </a:r>
          </a:p>
          <a:p/>
          <a:p>
            <a:r>
              <a:t>The serial CPU finder updates the pedestal mid-scan and so gives that property</a:t>
            </a:r>
          </a:p>
          <a:p>
            <a:r>
              <a:t>up: a pixel scanned late sees a pedestal that earlier pixels have already moved.</a:t>
            </a:r>
          </a:p>
          <a:p>
            <a:r>
              <a:t>Annex A7 measures what that costs -- it is the channel behind 11 of the 19</a:t>
            </a:r>
          </a:p>
          <a:p>
            <a:r>
              <a:t>cluster differences between the serial CPU and the frozen-pedestal reference.</a:t>
            </a:r>
          </a:p>
        </p:txBody>
      </p:sp>
      <p:sp>
        <p:nvSpPr>
          <p:cNvPr id="4" name="Slide Number Placeholder 3"/>
          <p:cNvSpPr>
            <a:spLocks noGrp="1"/>
          </p:cNvSpPr>
          <p:nvPr>
            <p:ph type="sldNum"/>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CPU slide. The point is not that CPUs are bad -- it is what the</a:t>
            </a:r>
          </a:p>
          <a:p>
            <a:r>
              <a:t>silicon is SPENT on.</a:t>
            </a:r>
          </a:p>
          <a:p/>
          <a:p>
            <a:r>
              <a:t>On the diagram: Intel Skylake is shown, one core, schematically. The Zen 4 core</a:t>
            </a:r>
          </a:p>
          <a:p>
            <a:r>
              <a:t>in this machine differs in detail -- 4 FP pipes rather than 3, AVX-512</a:t>
            </a:r>
          </a:p>
          <a:p>
            <a:r>
              <a:t>double-pumped on 256-bit datapaths -- but not in kind: ~6-wide front end, 4</a:t>
            </a:r>
          </a:p>
          <a:p>
            <a:r>
              <a:t>scalar ALUs, 2 SMT contexts, private L1 + L2. Load/store units are not drawn.</a:t>
            </a:r>
          </a:p>
          <a:p/>
          <a:p>
            <a:r>
              <a:t>On the die photo: Comet Lake, a 10-core Core i9, at the same scale of argument</a:t>
            </a:r>
          </a:p>
          <a:p>
            <a:r>
              <a:t>as the AD102 die on the next slide. Ten cores, and they do not fill the die --</a:t>
            </a:r>
          </a:p>
          <a:p>
            <a:r>
              <a:t>the orange slab on the right is L3 and the block on the left is I/O and the</a:t>
            </a:r>
          </a:p>
          <a:p>
            <a:r>
              <a:t>memory controller. If someone asks why a 16-core Ryzen is not simply 16x a</a:t>
            </a:r>
          </a:p>
          <a:p>
            <a:r>
              <a:t>1-core Ryzen, that picture is the answer.</a:t>
            </a:r>
          </a:p>
          <a:p/>
          <a:p>
            <a:r>
              <a:t>Six fetch/decode units, an out-of-order instruction selector, branch prediction</a:t>
            </a:r>
          </a:p>
          <a:p>
            <a:r>
              <a:t>(not even drawn), L1 + L2 private cache: all of that machinery exists to find</a:t>
            </a:r>
          </a:p>
          <a:p>
            <a:r>
              <a:t>independent work INSIDE one instruction stream, and to hide memory latency</a:t>
            </a:r>
          </a:p>
          <a:p>
            <a:r>
              <a:t>behind a cache. It is the right design when you have a few threads that must</a:t>
            </a:r>
          </a:p>
          <a:p>
            <a:r>
              <a:t>each finish fast.</a:t>
            </a:r>
          </a:p>
          <a:p/>
          <a:p>
            <a:r>
              <a:t>Our problem has the opposite shape: 160 000 work items that are already</a:t>
            </a:r>
          </a:p>
          <a:p>
            <a:r>
              <a:t>independent. We do not need a machine to FIND the parallelism -- it is handed to</a:t>
            </a:r>
          </a:p>
          <a:p>
            <a:r>
              <a:t>us. Every transistor spent looking for it is a transistor not doing arithmetic.</a:t>
            </a:r>
          </a:p>
          <a:p/>
          <a:p>
            <a:r>
              <a:t>On the thread sweep: 6 762 FPS is the best of a measured sweep (perf/cpu_threads.py),</a:t>
            </a:r>
          </a:p>
          <a:p>
            <a:r>
              <a:t>not a default. 48 threads on 16 cores is 24 % SLOWER than 24 -- worth saying out</a:t>
            </a:r>
          </a:p>
          <a:p>
            <a:r>
              <a:t>loud, because an oversubscribed baseline is the easiest way to inflate a GPU</a:t>
            </a:r>
          </a:p>
          <a:p>
            <a:r>
              <a:t>speedup without lying about anything.</a:t>
            </a:r>
          </a:p>
        </p:txBody>
      </p:sp>
      <p:sp>
        <p:nvSpPr>
          <p:cNvPr id="4" name="Slide Number Placeholder 3"/>
          <p:cNvSpPr>
            <a:spLocks noGrp="1"/>
          </p:cNvSpPr>
          <p:nvPr>
            <p:ph type="sldNum"/>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GPU slide, and the number to land.</a:t>
            </a:r>
          </a:p>
          <a:p/>
          <a:p>
            <a:r>
              <a:t>128 SMs x 1 536 threads = 196 608 thread slots that can be RESIDENT at the same</a:t>
            </a:r>
          </a:p>
          <a:p>
            <a:r>
              <a:t>time. Our frame is 160 000 pixels. The entire frame fits in the machine at once,</a:t>
            </a:r>
          </a:p>
          <a:p>
            <a:r>
              <a:t>one thread per pixel, with room left over -- which is why slide 7's "one thread</a:t>
            </a:r>
          </a:p>
          <a:p>
            <a:r>
              <a:t>per pixel" is not a figure of speech, and why slide 10 can talk about occupancy</a:t>
            </a:r>
          </a:p>
          <a:p>
            <a:r>
              <a:t>as a real quantity (3x3 achieves 100 %: 1 536 threads resident per SM).</a:t>
            </a:r>
          </a:p>
          <a:p/>
          <a:p>
            <a:r>
              <a:t>Latency hiding, in one sentence: the CPU hides memory latency with a cache and</a:t>
            </a:r>
          </a:p>
          <a:p>
            <a:r>
              <a:t>out-of-order execution; the GPU hides it by having 48 other warps ready to run.</a:t>
            </a:r>
          </a:p>
          <a:p>
            <a:r>
              <a:t>That is why there is no reorder buffer on this diagram and no branch predictor.</a:t>
            </a:r>
          </a:p>
          <a:p/>
          <a:p>
            <a:r>
              <a:t>Count the pink cells in the legend before moving on: FP64 units are a small</a:t>
            </a:r>
          </a:p>
          <a:p>
            <a:r>
              <a:t>minority of the SM, 8 MUL/ADD per clock against 16 for fp32 and 16 for int. On</a:t>
            </a:r>
          </a:p>
          <a:p>
            <a:r>
              <a:t>a GeForce part the ratio is far worse than this V100 diagram suggests -- 1/64.</a:t>
            </a:r>
          </a:p>
          <a:p>
            <a:r>
              <a:t>That is half of why opt7 pays, and it is worth planting here so opt7 lands as a</a:t>
            </a:r>
          </a:p>
          <a:p>
            <a:r>
              <a:t>consequence rather than a surprise.</a:t>
            </a:r>
          </a:p>
          <a:p/>
          <a:p>
            <a:r>
              <a:t>The trap to pre-empt: 16 384 lanes vs 32 streams is a factor of 512, and we</a:t>
            </a:r>
          </a:p>
          <a:p>
            <a:r>
              <a:t>measure x9.1. Say so before someone else does. We are not lane-limited; we are</a:t>
            </a:r>
          </a:p>
          <a:p>
            <a:r>
              <a:t>BANDWIDTH-limited -- 1 TB/s of device memory, and 25 GB/s of PCIe to reach it.</a:t>
            </a:r>
          </a:p>
          <a:p>
            <a:r>
              <a:t>That gap between 512 and 9 IS the talk.</a:t>
            </a:r>
          </a:p>
        </p:txBody>
      </p:sp>
      <p:sp>
        <p:nvSpPr>
          <p:cNvPr id="4" name="Slide Number Placeholder 3"/>
          <p:cNvSpPr>
            <a:spLocks noGrp="1"/>
          </p:cNvSpPr>
          <p:nvPr>
            <p:ph type="sldNum"/>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Shared memory is never the binding resource here.</a:t>
            </a:r>
          </a:p>
          <a:p/>
          <a:p>
            <a:r>
              <a:t>The tile is stored in COMPUTE_TYPE (float), not in the pedestal type: 1.3 KB for</a:t>
            </a:r>
          </a:p>
          <a:p>
            <a:r>
              <a:t>3x3 and 2.3 KB for 9x9, against 100 KB of shared memory per SM. Even the old</a:t>
            </a:r>
          </a:p>
          <a:p>
            <a:r>
              <a:t>double-precision tile only reached 4.5 KB. What runs out first is registers --</a:t>
            </a:r>
          </a:p>
          <a:p>
            <a:r>
              <a:t>the next slide.</a:t>
            </a:r>
          </a:p>
        </p:txBody>
      </p:sp>
      <p:sp>
        <p:nvSpPr>
          <p:cNvPr id="4" name="Slide Number Placeholder 3"/>
          <p:cNvSpPr>
            <a:spLocks noGrp="1"/>
          </p:cNvSpPr>
          <p:nvPr>
            <p:ph type="sldNum"/>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arithmetic, and the one build-dependent caveat.</a:t>
            </a:r>
          </a:p>
          <a:p/>
          <a:p>
            <a:r>
              <a:t>One SM holds 65 536 registers and 1 536 thread slots. A 16x16 block is 256</a:t>
            </a:r>
          </a:p>
          <a:p>
            <a:r>
              <a:t>threads, so a block costs regs_per_thread x 256 registers. At 3x3 that is 9 728,</a:t>
            </a:r>
          </a:p>
          <a:p>
            <a:r>
              <a:t>six blocks fit, and the THREAD SLOTS run out first. At 9x9 it is 32 768, so two</a:t>
            </a:r>
          </a:p>
          <a:p>
            <a:r>
              <a:t>blocks exactly fill the REGISTER FILE and strand two thirds of the slots. Same</a:t>
            </a:r>
          </a:p>
          <a:p>
            <a:r>
              <a:t>kernel, same block size, opposite binding resource.</a:t>
            </a:r>
          </a:p>
          <a:p/>
          <a:p>
            <a:r>
              <a:t>Build dependence of the register count itself: the f64 pedestal costs 3x3 nine</a:t>
            </a:r>
          </a:p>
          <a:p>
            <a:r>
              <a:t>extra registers (47), which loses a block per SM. 9x9 is unmoved at 128 -- there</a:t>
            </a:r>
          </a:p>
          <a:p>
            <a:r>
              <a:t>the limiter is the clusterData[9][9] staging array, not the pedestal, which is</a:t>
            </a:r>
          </a:p>
          <a:p>
            <a:r>
              <a:t>why opt7 helps 3x3's occupancy and not 9x9's.</a:t>
            </a:r>
          </a:p>
          <a:p/>
          <a:p>
            <a:r>
              <a:t>Reproduce blocks/SM at runtime with python/tests/perf/kernel_resources.py, which</a:t>
            </a:r>
          </a:p>
          <a:p>
            <a:r>
              <a:t>calls cudaOccupancyMaxActiveBlocksPerMultiprocessor on the built kernel.</a:t>
            </a:r>
          </a:p>
        </p:txBody>
      </p:sp>
      <p:sp>
        <p:nvSpPr>
          <p:cNvPr id="4" name="Slide Number Placeholder 3"/>
          <p:cNvSpPr>
            <a:spLocks noGrp="1"/>
          </p:cNvSpPr>
          <p:nvPr>
            <p:ph type="sldNum"/>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"33 % occupancy" is not the alarm it looks like.</a:t>
            </a:r>
          </a:p>
          <a:p/>
          <a:p>
            <a:r>
              <a:t>Occupancy only buys latency hiding, and latency hiding only matters if there is</a:t>
            </a:r>
          </a:p>
          <a:p>
            <a:r>
              <a:t>latency left unhidden. At 9x9 the kernel is long and each thread does a lot of</a:t>
            </a:r>
          </a:p>
          <a:p>
            <a:r>
              <a:t>work per byte loaded, so 16 resident warps are enough to keep the SM fed.</a:t>
            </a:r>
          </a:p>
          <a:p/>
          <a:p>
            <a:r>
              <a:t>It is also build-dependent, and that is the honest caveat. On the shipped f32</a:t>
            </a:r>
          </a:p>
          <a:p>
            <a:r>
              <a:t>build the 9x9 kernel overlaps across four streams by only 1.02x -- extra streams</a:t>
            </a:r>
          </a:p>
          <a:p>
            <a:r>
              <a:t>buy nothing in kernel concurrency. On the f64 build the kernel is 3.5x longer</a:t>
            </a:r>
          </a:p>
          <a:p>
            <a:r>
              <a:t>and DOES overlap, 1.32x, and there four streams genuinely lower the floor. So</a:t>
            </a:r>
          </a:p>
          <a:p>
            <a:r>
              <a:t>quote the overlap factor, never "occupancy is fine" on its own.</a:t>
            </a:r>
          </a:p>
          <a:p/>
          <a:p>
            <a:r>
              <a:t>Shared memory never binds here: 1.3 KB per block at 3x3, 2.3 KB at 9x9, against</a:t>
            </a:r>
          </a:p>
          <a:p>
            <a:r>
              <a:t>100 kB per SM.</a:t>
            </a:r>
          </a:p>
          <a:p/>
          <a:p>
            <a:r>
              <a:t>Provenance for both hardware slides: shipped f32 build, measured not estimated.</a:t>
            </a:r>
          </a:p>
          <a:p>
            <a:r>
              <a:t>cuobjdump -res-usage for registers and spills;</a:t>
            </a:r>
          </a:p>
          <a:p>
            <a:r>
              <a:t>cudaOccupancyMaxActiveBlocksPerMultiprocessor for blocks per SM; RTX 4090</a:t>
            </a:r>
          </a:p>
          <a:p>
            <a:r>
              <a:t>(sm_89). Reproduce with python/tests/perf/kernel_resources.py.</a:t>
            </a:r>
          </a:p>
        </p:txBody>
      </p:sp>
      <p:sp>
        <p:nvSpPr>
          <p:cNvPr id="4" name="Slide Number Placeholder 3"/>
          <p:cNvSpPr>
            <a:spLocks noGrp="1"/>
          </p:cNvSpPr>
          <p:nvPr>
            <p:ph type="sldNum"/>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slide is for the half of the room that has never written CUDA. If</a:t>
            </a:r>
          </a:p>
          <a:p>
            <a:r>
              <a:t>they are all GPU people, say the two sentences on the left and move on.</a:t>
            </a:r>
          </a:p>
          <a:p/>
          <a:p>
            <a:r>
              <a:t>The one idea: a kernel cannot dereference a host pointer. Everything it reads</a:t>
            </a:r>
          </a:p>
          <a:p>
            <a:r>
              <a:t>must already be in VRAM, and everything it produces must be copied back. That is</a:t>
            </a:r>
          </a:p>
          <a:p>
            <a:r>
              <a:t>not a performance detail, it is the programming model, and it is why six of the</a:t>
            </a:r>
          </a:p>
          <a:p>
            <a:r>
              <a:t>seven optimisations are about movement rather than arithmetic.</a:t>
            </a:r>
          </a:p>
          <a:p/>
          <a:p>
            <a:r>
              <a:t>THE THREE BANDWIDTHS, and be precise about which comparison is which. VRAM to SM</a:t>
            </a:r>
          </a:p>
          <a:p>
            <a:r>
              <a:t>is 1 008 GB/s. Host DRAM measured ~71 GB/s on pc-moench-04 (threaded copy over a</a:t>
            </a:r>
          </a:p>
          <a:p>
            <a:r>
              <a:t>1 GB array, counting 24 B per element: 8 read, 8 write, 8 read-for-ownership;</a:t>
            </a:r>
          </a:p>
          <a:p>
            <a:r>
              <a:t>dual-channel DDR5, so this is in the right family). PCIe 4.0 x16 is 31.5.</a:t>
            </a:r>
          </a:p>
          <a:p/>
          <a:p>
            <a:r>
              <a:t>So the wire is 32x below VRAM but only about 2.3x below host DRAM. The claim to</a:t>
            </a:r>
          </a:p>
          <a:p>
            <a:r>
              <a:t>make is NOT "the wire is 32x slower than memory" -- it is that the wire is the</a:t>
            </a:r>
          </a:p>
          <a:p>
            <a:r>
              <a:t>NARROWEST link in the chain, and that the GPU can consume about thirty times</a:t>
            </a:r>
          </a:p>
          <a:p>
            <a:r>
              <a:t>faster than the wire delivers. Any calculation whose input crosses that wire once</a:t>
            </a:r>
          </a:p>
          <a:p>
            <a:r>
              <a:t>per use is gated by the wire, and this one does exactly that: a frame arrives, is</a:t>
            </a:r>
          </a:p>
          <a:p>
            <a:r>
              <a:t>touched about five times, and leaves.</a:t>
            </a:r>
          </a:p>
          <a:p/>
          <a:p>
            <a:r>
              <a:t>If asked why not keep the data resident on the GPU: for this workload the frames</a:t>
            </a:r>
          </a:p>
          <a:p>
            <a:r>
              <a:t>come off a detector at 100 kHz and the results go to analysis on the host, so</a:t>
            </a:r>
          </a:p>
          <a:p>
            <a:r>
              <a:t>both ends are genuinely on the host side. Streaming is the problem, not a</a:t>
            </a:r>
          </a:p>
          <a:p>
            <a:r>
              <a:t>choice.</a:t>
            </a:r>
          </a:p>
          <a:p/>
          <a:p>
            <a:r>
              <a:t>The DMA engines are the reason the story is not simply "the wire is slow, the</a:t>
            </a:r>
          </a:p>
          <a:p>
            <a:r>
              <a:t>end". There are two, one per direction, independent of the SMs, so transfer and</a:t>
            </a:r>
          </a:p>
          <a:p>
            <a:r>
              <a:t>compute CAN overlap. Act I is getting the input arrow overlapped; Act II is the</a:t>
            </a:r>
          </a:p>
          <a:p>
            <a:r>
              <a:t>output arrow.</a:t>
            </a:r>
          </a:p>
          <a:p/>
          <a:p>
            <a:r>
              <a:t>Numbers on this slide, all from A1: H2D 13.2 us [s1] / 16.6 [s4], kernel 5.5 us</a:t>
            </a:r>
          </a:p>
          <a:p>
            <a:r>
              <a:t>at 3x3 f32, D2H payload 93 kB at 3x3.</a:t>
            </a:r>
          </a:p>
        </p:txBody>
      </p:sp>
      <p:sp>
        <p:nvSpPr>
          <p:cNvPr id="4" name="Slide Number Placeholder 3"/>
          <p:cNvSpPr>
            <a:spLocks noGrp="1"/>
          </p:cNvSpPr>
          <p:nvPr>
            <p:ph type="sldNum"/>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point to say out loud: this is the one step in the ladder that is</a:t>
            </a:r>
          </a:p>
          <a:p>
            <a:r>
              <a:t>not a setting. It changed the kernel signature, the buffer ownership and the</a:t>
            </a:r>
          </a:p>
          <a:p>
            <a:r>
              <a:t>collection loop, and it is why the opt1/opt2 class is frozen in a separate header</a:t>
            </a:r>
          </a:p>
          <a:p>
            <a:r>
              <a:t>(ClusterFinderCUDAOpt2.hpp) rather than being a flag on the current one.</a:t>
            </a:r>
          </a:p>
          <a:p/>
          <a:p>
            <a:r>
              <a:t>The dependency edge is the whole argument. In opt2 the second memcpy's SIZE</a:t>
            </a:r>
          </a:p>
          <a:p>
            <a:r>
              <a:t>argument is *sc.h_cluster_count -- host memory that only becomes valid after a</a:t>
            </a:r>
          </a:p>
          <a:p>
            <a:r>
              <a:t>cudaStreamSynchronize (Opt2.hpp:277-294, then :442-446). So the sequence is</a:t>
            </a:r>
          </a:p>
          <a:p>
            <a:r>
              <a:t>forced: kernel, copy 4 bytes, BLOCK, read, copy N bytes, BLOCK. Two of those six</a:t>
            </a:r>
          </a:p>
          <a:p>
            <a:r>
              <a:t>steps are the host doing nothing, every frame.</a:t>
            </a:r>
          </a:p>
          <a:p/>
          <a:p>
            <a:r>
              <a:t>opt3 fixes the size once in the constructor (m_output_bytes_per_frame =</a:t>
            </a:r>
          </a:p>
          <a:p>
            <a:r>
              <a:t>m_clusters_offset + cap * sizeof(ClusterType), ClusterFinderCUDA.hpp:440-445), so</a:t>
            </a:r>
          </a:p>
          <a:p>
            <a:r>
              <a:t>the copy is enqueued in the same loop iteration as the kernel launch (:725-728).</a:t>
            </a:r>
          </a:p>
          <a:p>
            <a:r>
              <a:t>The kernel gets two pointers into ONE allocation (:701 and :709).</a:t>
            </a:r>
          </a:p>
          <a:p/>
          <a:p>
            <a:r>
              <a:t>What it costs: 120 kB instead of 93 kB per frame at 3x3, 558 instead of 467 at</a:t>
            </a:r>
          </a:p>
          <a:p>
            <a:r>
              <a:t>9x9. Roughly 20 % more bytes on an engine that had spare time, to buy back a</a:t>
            </a:r>
          </a:p>
          <a:p>
            <a:r>
              <a:t>barrier that was stalling everything. That is also why the cap becomes a</a:t>
            </a:r>
          </a:p>
          <a:p>
            <a:r>
              <a:t>throughput knob only from opt3 onward: under opt2 it bounded an allocation, under</a:t>
            </a:r>
          </a:p>
          <a:p>
            <a:r>
              <a:t>opt3 it sets the D2H bar directly (report section 4.2).</a:t>
            </a:r>
          </a:p>
          <a:p/>
          <a:p>
            <a:r>
              <a:t>If asked why opt2 did not simply copy a cap-sized buffer and skip the sync: that</a:t>
            </a:r>
          </a:p>
          <a:p>
            <a:r>
              <a:t>IS opt3. It could not be done in opt2 because the clusters lived in their own</a:t>
            </a:r>
          </a:p>
          <a:p>
            <a:r>
              <a:t>device allocation with no count field and no fixed per-frame stride -- there was</a:t>
            </a:r>
          </a:p>
          <a:p>
            <a:r>
              <a:t>no single object to copy. Merging the two buffers is what created one.</a:t>
            </a:r>
          </a:p>
        </p:txBody>
      </p:sp>
      <p:sp>
        <p:nvSpPr>
          <p:cNvPr id="4" name="Slide Number Placeholder 3"/>
          <p:cNvSpPr>
            <a:spLocks noGrp="1"/>
          </p:cNvSpPr>
          <p:nvPr>
            <p:ph type="sldNum"/>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Which H2D number, and why there are two.</a:t>
            </a:r>
          </a:p>
          <a:p/>
          <a:p>
            <a:r>
              <a:t>13.2 us is uncontended [s1]. In the shipped pipeline H2D reads 16.6 us [s4]; the</a:t>
            </a:r>
          </a:p>
          <a:p>
            <a:r>
              <a:t>extra 26 % is H2D&lt;-&gt;D2H contention on the link, and the full engine grid is in</a:t>
            </a:r>
          </a:p>
          <a:p>
            <a:r>
              <a:t>annex A1.</a:t>
            </a:r>
          </a:p>
          <a:p/>
          <a:p>
            <a:r>
              <a:t>The rule this slide is the first sighting of: pinning attacks H2D, which is the</a:t>
            </a:r>
          </a:p>
          <a:p>
            <a:r>
              <a:t>tallest bar at 3x3 and the shortest at 9x9. So the same change is worth x1.32 at</a:t>
            </a:r>
          </a:p>
          <a:p>
            <a:r>
              <a:t>3x3 and only x1.03 at 9x9.</a:t>
            </a:r>
          </a:p>
        </p:txBody>
      </p:sp>
      <p:sp>
        <p:nvSpPr>
          <p:cNvPr id="4" name="Slide Number Placeholder 3"/>
          <p:cNvSpPr>
            <a:spLocks noGrp="1"/>
          </p:cNvSpPr>
          <p:nvPr>
            <p:ph type="sldNum"/>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opt5 — host&lt;-&gt;GPU overlap. Code and chunk sizing are on annex A3.</a:t>
            </a:r>
          </a:p>
          <a:p/>
          <a:p>
            <a:r>
              <a:t>    tok = cf.submit_batch(data[a0:b0], first_frame=a0)</a:t>
            </a:r>
          </a:p>
          <a:p>
            <a:r>
              <a:t>    for a, b in bounds[1:]:</a:t>
            </a:r>
          </a:p>
          <a:p>
            <a:r>
              <a:t>        nxt = cf.submit_batch(data[a:b], first_frame=a)   # GPU starts N+1 ...</a:t>
            </a:r>
          </a:p>
          <a:p>
            <a:r>
              <a:t>        results.extend(cf.collect(tok))                   # ... host unpacks N</a:t>
            </a:r>
          </a:p>
          <a:p>
            <a:r>
              <a:t>        tok = nxt</a:t>
            </a:r>
          </a:p>
          <a:p>
            <a:r>
              <a:t>    results.extend(cf.collect(tok))                       # drain</a:t>
            </a:r>
          </a:p>
          <a:p/>
          <a:p>
            <a:r>
              <a:t>1. This is now INTERNAL to find_clusters_batched(), so every caller gets it for</a:t>
            </a:r>
          </a:p>
          <a:p>
            <a:r>
              <a:t>   free. submit_batch/collect stay public for anyone who wants the token by hand.</a:t>
            </a:r>
          </a:p>
          <a:p/>
          <a:p>
            <a:r>
              <a:t>2. The chunk size is rounded to a multiple of n_streams, because the device</a:t>
            </a:r>
          </a:p>
          <a:p>
            <a:r>
              <a:t>   pedestal is per-stream: an uneven chunk would advance the four stream</a:t>
            </a:r>
          </a:p>
          <a:p>
            <a:r>
              <a:t>   pedestals by different amounts and the finders would stop being comparable.</a:t>
            </a:r>
          </a:p>
          <a:p/>
          <a:p>
            <a:r>
              <a:t>Why the gain differs by cluster size: the saving is min(GPU, host) per chunk, so</a:t>
            </a:r>
          </a:p>
          <a:p>
            <a:r>
              <a:t>it is largest when the two terms are comparable. At 3x3 they nearly are (GPU</a:t>
            </a:r>
          </a:p>
          <a:p>
            <a:r>
              <a:t>16.2 us, host ~9.8) and opt5 is worth x1.31. At 9x9 the host term is roughly</a:t>
            </a:r>
          </a:p>
          <a:p>
            <a:r>
              <a:t>twice the GPU term, so overlap hides only the smaller one and opt5 is worth</a:t>
            </a:r>
          </a:p>
          <a:p>
            <a:r>
              <a:t>x1.20 - which is exactly the diagnosis that motivates opt6: you cannot overlap</a:t>
            </a:r>
          </a:p>
          <a:p>
            <a:r>
              <a:t>your way out of a host term that is simply larger. Report SS8.2.</a:t>
            </a:r>
          </a:p>
        </p:txBody>
      </p:sp>
      <p:sp>
        <p:nvSpPr>
          <p:cNvPr id="4" name="Slide Number Placeholder 3"/>
          <p:cNvSpPr>
            <a:spLocks noGrp="1"/>
          </p:cNvSpPr>
          <p:nvPr>
            <p:ph type="sldNum"/>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slide exists because "add more slots" is the reliable guess here,</a:t>
            </a:r>
          </a:p>
          <a:p>
            <a:r>
              <a:t>and it is worth letting the room say it out loud before the second strip goes up.</a:t>
            </a:r>
          </a:p>
          <a:p/>
          <a:p>
            <a:r>
              <a:t>The queueing argument, if it is asked for: with producer period G and consumer</a:t>
            </a:r>
          </a:p>
          <a:p>
            <a:r>
              <a:t>period H, an N-buffer pipeline has steady-state period max(G, H) for every N &gt;= 2.</a:t>
            </a:r>
          </a:p>
          <a:p>
            <a:r>
              <a:t>Buffers DECOUPLE two stages; they do not speed up either. Depth beyond 2 only</a:t>
            </a:r>
          </a:p>
          <a:p>
            <a:r>
              <a:t>helps when the periods vary -- it absorbs jitter, at the cost of latency and</a:t>
            </a:r>
          </a:p>
          <a:p>
            <a:r>
              <a:t>pinned memory. Here the work per chunk is near constant, so there is no jitter to</a:t>
            </a:r>
          </a:p>
          <a:p>
            <a:r>
              <a:t>absorb.</a:t>
            </a:r>
          </a:p>
          <a:p/>
          <a:p>
            <a:r>
              <a:t>The concrete version lands better: a third slot needs somebody to fill it, and</a:t>
            </a:r>
          </a:p>
          <a:p>
            <a:r>
              <a:t>the only host thread is inside collect(). Adding slots without adding a producer</a:t>
            </a:r>
          </a:p>
          <a:p>
            <a:r>
              <a:t>thread is adding storage to a queue that is not storage-bound.</a:t>
            </a:r>
          </a:p>
          <a:p/>
          <a:p>
            <a:r>
              <a:t>"So would a producer thread help?" It would let submit and collect overlap, but</a:t>
            </a:r>
          </a:p>
          <a:p>
            <a:r>
              <a:t>the host term is dominated by malloc + first touch, which is allocator-serialised</a:t>
            </a:r>
          </a:p>
          <a:p>
            <a:r>
              <a:t>anyway. That was measured and reverted (ClusterFinderCUDA.hpp:130-136): 2.27 M</a:t>
            </a:r>
          </a:p>
          <a:p>
            <a:r>
              <a:t>faults at 8 threads against 9.7 k at 1, a 6 % gain at best and a 33 % LOSS when</a:t>
            </a:r>
          </a:p>
          <a:p>
            <a:r>
              <a:t>results are freed promptly. The comment there ends with the right conclusion --</a:t>
            </a:r>
          </a:p>
          <a:p>
            <a:r>
              <a:t>stop allocating per frame, do not copy faster. That is opt6.</a:t>
            </a:r>
          </a:p>
          <a:p/>
          <a:p>
            <a:r>
              <a:t>ON THE 62 US, if challenged. It is not measured directly; no one timed the host</a:t>
            </a:r>
          </a:p>
          <a:p>
            <a:r>
              <a:t>loop. Two independent routes agree on it. (1) Fault-correct the five f64 reps at</a:t>
            </a:r>
          </a:p>
          <a:p>
            <a:r>
              <a:t>0.68 us/fault -- the same rate fitted at 3x3 and applied out of sample -- and a</a:t>
            </a:r>
          </a:p>
          <a:p>
            <a:r>
              <a:t>22 % raw spread collapses to 4.6 %, at 61-64 us. (2) f32 rep 3 happened to run</a:t>
            </a:r>
          </a:p>
          <a:p>
            <a:r>
              <a:t>with only 10 128 faults and measured 61.85 us with no correction at all. The</a:t>
            </a:r>
          </a:p>
          <a:p>
            <a:r>
              <a:t>"~40 us" that used to be on the opt6 slide was the memcpy alone, computed at</a:t>
            </a:r>
          </a:p>
          <a:p>
            <a:r>
              <a:t>bandwidth; the loop is allocation-bound, not bandwidth-bound, so it under-counted</a:t>
            </a:r>
          </a:p>
          <a:p>
            <a:r>
              <a:t>the host term by about half.</a:t>
            </a:r>
          </a:p>
        </p:txBody>
      </p:sp>
      <p:sp>
        <p:nvSpPr>
          <p:cNvPr id="4" name="Slide Number Placeholder 3"/>
          <p:cNvSpPr>
            <a:spLocks noGrp="1"/>
          </p:cNvSpPr>
          <p:nvPr>
            <p:ph type="sldNum"/>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Where 93 kB and 467 kB come from: clusters/frame x sizeof(Cluster).</a:t>
            </a:r>
          </a:p>
          <a:p/>
          <a:p>
            <a:r>
              <a:t>sizeof — Cluster.hpp:28 is two CoordType coords then std::array&lt;T, X*Y&gt; data.</a:t>
            </a:r>
          </a:p>
          <a:p>
            <a:r>
              <a:t>CoordType=uint16, T=int32, alignof 4, so the coords pack with no padding:</a:t>
            </a:r>
          </a:p>
          <a:p>
            <a:r>
              <a:t>    3x3:  2x2 B +  9x4 B =  40 B</a:t>
            </a:r>
          </a:p>
          <a:p>
            <a:r>
              <a:t>    9x9:  2x2 B + 81x4 B = 328 B</a:t>
            </a:r>
          </a:p>
          <a:p/>
          <a:p>
            <a:r>
              <a:t>clusters/frame — report section 13, the same counts used for correctness:</a:t>
            </a:r>
          </a:p>
          <a:p>
            <a:r>
              <a:t>    3x3:  233 094 390 / 100 000 fr = 2 330.9 /fr</a:t>
            </a:r>
          </a:p>
          <a:p>
            <a:r>
              <a:t>    9x9:   28 447 962 /  20 000 fr = 1 422.4 /fr</a:t>
            </a:r>
          </a:p>
          <a:p/>
          <a:p>
            <a:r>
              <a:t>    2 330.9 x  40 B =  93.2 kB/frame</a:t>
            </a:r>
          </a:p>
          <a:p>
            <a:r>
              <a:t>    1 422.4 x 328 B = 466.5 kB/frame  -&gt;  x 20 000 fr = 9.33 GB/run</a:t>
            </a:r>
          </a:p>
          <a:p/>
          <a:p>
            <a:r>
              <a:t>NOT the D2H transfer. D2H is fixed at cap x sizeof regardless of how many clusters</a:t>
            </a:r>
          </a:p>
          <a:p>
            <a:r>
              <a:t>were found: at the 9x9 campaign cap of 1700 that is 1700 x 328 B = 558 kB every</a:t>
            </a:r>
          </a:p>
          <a:p>
            <a:r>
              <a:t>frame, i.e. the 467 kB of real clusters is an 84 % fill (section 4.2). The 467 kB</a:t>
            </a:r>
          </a:p>
          <a:p>
            <a:r>
              <a:t>is the HOST memcpy inside collect(), pinned buffer -&gt; freshly allocated</a:t>
            </a:r>
          </a:p>
          <a:p>
            <a:r>
              <a:t>ClusterVector. That is what collect_view() removes; the wire traffic is unchanged.</a:t>
            </a:r>
          </a:p>
          <a:p/>
          <a:p>
            <a:r>
              <a:t>Report: section 12 (payload table), section 9.4 (materialize_slot), section 13.</a:t>
            </a:r>
          </a:p>
        </p:txBody>
      </p:sp>
      <p:sp>
        <p:nvSpPr>
          <p:cNvPr id="4" name="Slide Number Placeholder 3"/>
          <p:cNvSpPr>
            <a:spLocks noGrp="1"/>
          </p:cNvSpPr>
          <p:nvPr>
            <p:ph type="sldNum"/>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Say the floor out loud, in this order.</a:t>
            </a:r>
          </a:p>
          <a:p/>
          <a:p>
            <a:r>
              <a:t>1. There are three engines and they are independent: the H2D copy engine, the</a:t>
            </a:r>
          </a:p>
          <a:p>
            <a:r>
              <a:t>   SMs, and the D2H copy engine. PCIe is full duplex, so a frame's cost is</a:t>
            </a:r>
          </a:p>
          <a:p>
            <a:r>
              <a:t>   never the sum of the three -- it is the slowest of them.</a:t>
            </a:r>
          </a:p>
          <a:p/>
          <a:p>
            <a:r>
              <a:t>2. There is exactly ONE copy engine per direction. So two H2D copies can never</a:t>
            </a:r>
          </a:p>
          <a:p>
            <a:r>
              <a:t>   run at the same time; they queue. That is not a modelling assumption, it is</a:t>
            </a:r>
          </a:p>
          <a:p>
            <a:r>
              <a:t>   measured: H2D_overlap and D2H_overlap are 1.000 in every row of probes.csv.</a:t>
            </a:r>
          </a:p>
          <a:p>
            <a:r>
              <a:t>   Kernels are the only row that ever overlaps.</a:t>
            </a:r>
          </a:p>
          <a:p/>
          <a:p>
            <a:r>
              <a:t>3. That is why s4 is a UNION, not a sum. Four kernels, each 43.2 us long, but</a:t>
            </a:r>
          </a:p>
          <a:p>
            <a:r>
              <a:t>   the SMs are busy only 32.66 us per frame: overlap factor 1.32x.</a:t>
            </a:r>
          </a:p>
          <a:p/>
          <a:p>
            <a:r>
              <a:t>4. On units, because the card says "1 / the busiest engine" and the axis says</a:t>
            </a:r>
          </a:p>
          <a:p>
            <a:r>
              <a:t>   microseconds: they are the same number. The busiest engine's busy time per</a:t>
            </a:r>
          </a:p>
          <a:p>
            <a:r>
              <a:t>   frame is in us/frame; one divided by it is frames per second. 30.01 us/frame</a:t>
            </a:r>
          </a:p>
          <a:p>
            <a:r>
              <a:t>   IS 33 323 FPS. The deck quotes whichever reads better in context -- us/frame</a:t>
            </a:r>
          </a:p>
          <a:p>
            <a:r>
              <a:t>   when comparing engines, FPS when comparing against the CPU or the detector --</a:t>
            </a:r>
          </a:p>
          <a:p>
            <a:r>
              <a:t>   and "% of floor" is the same ratio either way.</a:t>
            </a:r>
          </a:p>
          <a:p/>
          <a:p>
            <a:r>
              <a:t>5. The floor is max(H2D, kernel, D2H) at s4. At 9x9 f64 that max is 32.66 us</a:t>
            </a:r>
          </a:p>
          <a:p>
            <a:r>
              <a:t>   = 30 618 FPS. But the unprofiled pipeline actually sustained 30.01 us/frame,</a:t>
            </a:r>
          </a:p>
          <a:p>
            <a:r>
              <a:t>   which is FASTER than the probe says is possible -- because under nsys</a:t>
            </a:r>
          </a:p>
          <a:p>
            <a:r>
              <a:t>   submission is sparser, kernels overlap less, and a less-overlapped interval</a:t>
            </a:r>
          </a:p>
          <a:p>
            <a:r>
              <a:t>   set has a LARGER union. A sustained rate is an existence proof; a probe is an</a:t>
            </a:r>
          </a:p>
          <a:p>
            <a:r>
              <a:t>   estimate. So the floor is the lower of the two, and the 1.32x is a lower</a:t>
            </a:r>
          </a:p>
          <a:p>
            <a:r>
              <a:t>   bound on the real overlap.</a:t>
            </a:r>
          </a:p>
          <a:p/>
          <a:p>
            <a:r>
              <a:t>If time is short, say only: "s1 is how long it takes, s4 is how busy it is, and</a:t>
            </a:r>
          </a:p>
          <a:p>
            <a:r>
              <a:t>the floor is the busiest engine." The rest is in A1.</a:t>
            </a:r>
          </a:p>
        </p:txBody>
      </p:sp>
      <p:sp>
        <p:nvSpPr>
          <p:cNvPr id="4" name="Slide Number Placeholder 3"/>
          <p:cNvSpPr>
            <a:spLocks noGrp="1"/>
          </p:cNvSpPr>
          <p:nvPr>
            <p:ph type="sldNum"/>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Reading the two panels, and the number to quote.</a:t>
            </a:r>
          </a:p>
          <a:p/>
          <a:p>
            <a:r>
              <a:t>Left is s1: one stream, nothing else running, so those are true durations. The</a:t>
            </a:r>
          </a:p>
          <a:p>
            <a:r>
              <a:t>kernel binds in BOTH arms there -- 39.86 and 23.70 against a D2H of ~21.95 -- so</a:t>
            </a:r>
          </a:p>
          <a:p>
            <a:r>
              <a:t>s1 alone would say the kernel is the thing to optimise and stop there.</a:t>
            </a:r>
          </a:p>
          <a:p/>
          <a:p>
            <a:r>
              <a:t>Right is s4, the shipped four-stream pipeline, and it says something different:</a:t>
            </a:r>
          </a:p>
          <a:p>
            <a:r>
              <a:t>the f64 kernel's busy time falls to 32.66 (self-overlap, 1.32x) while every</a:t>
            </a:r>
          </a:p>
          <a:p>
            <a:r>
              <a:t>transfer RISES under contention, and once opt7 puts the kernel at 23.94 the D2H</a:t>
            </a:r>
          </a:p>
          <a:p>
            <a:r>
              <a:t>bar at 25.24 is above it. That is the handover slide 24 is about.</a:t>
            </a:r>
          </a:p>
          <a:p/>
          <a:p>
            <a:r>
              <a:t>So: -40.5 % is the s1 kernel claim and is the honest headline for what the</a:t>
            </a:r>
          </a:p>
          <a:p>
            <a:r>
              <a:t>typedef does to the arithmetic. -26.7 % is the same change measured at s4, where</a:t>
            </a:r>
          </a:p>
          <a:p>
            <a:r>
              <a:t>self-overlap had already hidden part of the win. Both are true, they measure</a:t>
            </a:r>
          </a:p>
          <a:p>
            <a:r>
              <a:t>different things, and the previous slide is the rule for which to quote.</a:t>
            </a:r>
          </a:p>
          <a:p/>
          <a:p>
            <a:r>
              <a:t>The 3x3 occupancy effect is real but not worth stage time: 47 registers -&gt; 38</a:t>
            </a:r>
          </a:p>
          <a:p>
            <a:r>
              <a:t>takes 3x3 from five blocks per SM to six, 83 % -&gt; 100 % occupancy. It changes</a:t>
            </a:r>
          </a:p>
          <a:p>
            <a:r>
              <a:t>nothing end to end, because at 3x3 H2D is the floor.</a:t>
            </a:r>
          </a:p>
        </p:txBody>
      </p:sp>
      <p:sp>
        <p:nvSpPr>
          <p:cNvPr id="4" name="Slide Number Placeholder 3"/>
          <p:cNvSpPr>
            <a:spLocks noGrp="1"/>
          </p:cNvSpPr>
          <p:nvPr>
            <p:ph type="sldNum"/>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one sentence to leave the room with.</a:t>
            </a:r>
          </a:p>
          <a:p/>
          <a:p>
            <a:r>
              <a:t>"Precision is relative." A float resolves small numbers finely and large numbers</a:t>
            </a:r>
          </a:p>
          <a:p>
            <a:r>
              <a:t>coarsely, so a small answer must never be computed as the difference of two</a:t>
            </a:r>
          </a:p>
          <a:p>
            <a:r>
              <a:t>large numbers. That is the transferable lesson; everything else on this slide is</a:t>
            </a:r>
          </a:p>
          <a:p>
            <a:r>
              <a:t>this detector's instance of it.</a:t>
            </a:r>
          </a:p>
          <a:p/>
          <a:p>
            <a:r>
              <a:t>Why the tail matters more than the count. +28 % is a number you might argue</a:t>
            </a:r>
          </a:p>
          <a:p>
            <a:r>
              <a:t>about. A spectrum with a population sitting below the 5 sigma cut is not</a:t>
            </a:r>
          </a:p>
          <a:p>
            <a:r>
              <a:t>arguable: those clusters cannot physically be there, and any gain or resolution</a:t>
            </a:r>
          </a:p>
          <a:p>
            <a:r>
              <a:t>fit done on that spectrum is wrong.</a:t>
            </a:r>
          </a:p>
          <a:p/>
          <a:p>
            <a:r>
              <a:t>Honesty about the right-hand panel: nobody kept the broken build around to</a:t>
            </a:r>
          </a:p>
          <a:p>
            <a:r>
              <a:t>re-run, so the f32 curve is reconstructed. What is measured is the f64 curve and</a:t>
            </a:r>
          </a:p>
          <a:p>
            <a:r>
              <a:t>the +28.06 % excess (CPU 116 010 113 vs CUDA 148 559 598, SS1 of the write-up).</a:t>
            </a:r>
          </a:p>
          <a:p>
            <a:r>
              <a:t>The placement follows SS9: a correct 5 sigma gate cuts at ~225 ADU, a collapsed</a:t>
            </a:r>
          </a:p>
          <a:p>
            <a:r>
              <a:t>gate admits the whole positive side of the pixel's distribution, so the excess</a:t>
            </a:r>
          </a:p>
          <a:p>
            <a:r>
              <a:t>is smeared upward from zero. The write-up's TL;DR calls it a high-energy tail;</a:t>
            </a:r>
          </a:p>
          <a:p>
            <a:r>
              <a:t>SS9 derives it from ~0 upward. Both describe the same corrupted pixels.</a:t>
            </a:r>
          </a:p>
          <a:p/>
          <a:p>
            <a:r>
              <a:t>Welford's online variance is the other correct answer and is mentioned in the</a:t>
            </a:r>
          </a:p>
          <a:p>
            <a:r>
              <a:t>write-up. The frozen-offset form was chosen because it is two lines and does not</a:t>
            </a:r>
          </a:p>
          <a:p>
            <a:r>
              <a:t>change the update's arithmetic cost.</a:t>
            </a:r>
          </a:p>
        </p:txBody>
      </p:sp>
      <p:sp>
        <p:nvSpPr>
          <p:cNvPr id="4" name="Slide Number Placeholder 3"/>
          <p:cNvSpPr>
            <a:spLocks noGrp="1"/>
          </p:cNvSpPr>
          <p:nvPr>
            <p:ph type="sldNum"/>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opt3 IS EXCLUDED AND opt5 IS DAGGERED. Both steps' two arms sat in</a:t>
            </a:r>
          </a:p>
          <a:p>
            <a:r>
              <a:t>different allocator states, so the difference between them does not report the</a:t>
            </a:r>
          </a:p>
          <a:p>
            <a:r>
              <a:t>typedef -- it reports the heap. opt3 is dropped entirely; opt5's reading agrees</a:t>
            </a:r>
          </a:p>
          <a:p>
            <a:r>
              <a:t>with opt4 and opt6 but is not independently attributable. Annex A4 has both.</a:t>
            </a:r>
          </a:p>
          <a:p/>
          <a:p>
            <a:r>
              <a:t>WHAT THE BARS ARE. The f32 bar at opt6 is opt7, the shipped build. The f32 bars</a:t>
            </a:r>
          </a:p>
          <a:p>
            <a:r>
              <a:t>at opt4 and opt5 are the same typedef applied at earlier steps -- configurations</a:t>
            </a:r>
          </a:p>
          <a:p>
            <a:r>
              <a:t>that exist only to make this comparison controlled, and that nobody ships.</a:t>
            </a:r>
          </a:p>
          <a:p/>
          <a:p>
            <a:r>
              <a:t>WHY opt4 AND opt6 ARE THE PAIR TO QUOTE. They are the two readings whose fault</a:t>
            </a:r>
          </a:p>
          <a:p>
            <a:r>
              <a:t>counts match, so the difference between their arms is the typedef and nothing</a:t>
            </a:r>
          </a:p>
          <a:p>
            <a:r>
              <a:t>else. That is the whole reason the saving can be called constant.</a:t>
            </a:r>
          </a:p>
          <a:p/>
          <a:p>
            <a:r>
              <a:t>THE HANDOVER, if asked for the numbers: [engines, slide 20 of the 33-slide</a:t>
            </a:r>
          </a:p>
          <a:p>
            <a:r>
              <a:t>draft] f64 s4 kernel 32.66 vs D2H 25.25 -&gt; kernel-bound; f32 s4 kernel 23.94 vs</a:t>
            </a:r>
          </a:p>
          <a:p>
            <a:r>
              <a:t>the same 25.25 -&gt; D2H-bound. The constraint moved from the arithmetic to the</a:t>
            </a:r>
          </a:p>
          <a:p>
            <a:r>
              <a:t>result path, which is why Act III is last and why there is no opt8.</a:t>
            </a:r>
          </a:p>
        </p:txBody>
      </p:sp>
      <p:sp>
        <p:nvSpPr>
          <p:cNvPr id="4" name="Slide Number Placeholder 3"/>
          <p:cNvSpPr>
            <a:spLocks noGrp="1"/>
          </p:cNvSpPr>
          <p:nvPr>
            <p:ph type="sldNum"/>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NUMBERS ARE 3x3, opt2, 100 000 frames, one process, results</a:t>
            </a:r>
          </a:p>
          <a:p>
            <a:r>
              <a:t>retained: 2 625 948 minor faults on run 1 at 6.110 s / 16 366 FPS, falling to</a:t>
            </a:r>
          </a:p>
          <a:p>
            <a:r>
              <a:t>185 885 by run 3 at 4.452 s / 22 459 FPS. 2.6 M pages x 4 kB = ~10 GB, which is</a:t>
            </a:r>
          </a:p>
          <a:p>
            <a:r>
              <a:t>100 000 x the 93 kB 3x3 payload. Section 12 of the report has the table.</a:t>
            </a:r>
          </a:p>
          <a:p/>
          <a:p>
            <a:r>
              <a:t>THE FIT. Correlating delta-wall against delta-faults across those three runs</a:t>
            </a:r>
          </a:p>
          <a:p>
            <a:r>
              <a:t>gives 0.65, 0.77 and 0.68 us/fault. Reconstructing run 1 from run 3:</a:t>
            </a:r>
          </a:p>
          <a:p>
            <a:r>
              <a:t>4.452 s + 2 439 648 x 0.68 us = 6.111 s against 6.110 measured. Kernel time was</a:t>
            </a:r>
          </a:p>
          <a:p>
            <a:r>
              <a:t>constant (0.022 ms) across all three, so the GPU is not involved at all.</a:t>
            </a:r>
          </a:p>
          <a:p/>
          <a:p>
            <a:r>
              <a:t>WHY IT IS ZEROING, NOT LOOKUP. The kernel must hand out a frame that last</a:t>
            </a:r>
          </a:p>
          <a:p>
            <a:r>
              <a:t>belonged to some other process, so it has to clear it first. That is mandatory</a:t>
            </a:r>
          </a:p>
          <a:p>
            <a:r>
              <a:t>and it is the whole cost. At 4 kB a page, 1 GB of freshly-touched memory is</a:t>
            </a:r>
          </a:p>
          <a:p>
            <a:r>
              <a:t>262 144 faults.</a:t>
            </a:r>
          </a:p>
          <a:p/>
          <a:p>
            <a:r>
              <a:t>TWO INSTRUMENT CAVEATS, named and set aside. (1) Under nsys, host-side CUDA API</a:t>
            </a:r>
          </a:p>
          <a:p>
            <a:r>
              <a:t>calls read ~4x high and wall time inflates with them, so every wall time in this</a:t>
            </a:r>
          </a:p>
          <a:p>
            <a:r>
              <a:t>deck comes from an UNPROFILED run and only GPU-side timestamps come from nsys.</a:t>
            </a:r>
          </a:p>
          <a:p>
            <a:r>
              <a:t>(2) CUDA events measure a stream, not a kernel. Both worked through in A6.</a:t>
            </a:r>
          </a:p>
          <a:p/>
          <a:p>
            <a:r>
              <a:t>THE FAIRNESS TRAP that follows from this: freeing a ~10 GB result heap hands it</a:t>
            </a:r>
          </a:p>
          <a:p>
            <a:r>
              <a:t>back to the allocator and the next loop reuses it, so on a cold heap the first</a:t>
            </a:r>
          </a:p>
          <a:p>
            <a:r>
              <a:t>loop pays the entire tax and any printed ratio is meaningless. Both loops must</a:t>
            </a:r>
          </a:p>
          <a:p>
            <a:r>
              <a:t>be at plateau; drop stale result bindings before timing.</a:t>
            </a:r>
          </a:p>
          <a:p/>
          <a:p>
            <a:r>
              <a:t>Synthetic confirmation, same report section: allocate ~8 GB in ClusterVector-sized</a:t>
            </a:r>
          </a:p>
          <a:p>
            <a:r>
              <a:t>chunks, touch every page, free, repeat in one process -- 2.05 s / 2 046 594</a:t>
            </a:r>
          </a:p>
          <a:p>
            <a:r>
              <a:t>faults cold, then 0.07 s / ~2 000 warm. 30x faster, 1000x fewer faults, same</a:t>
            </a:r>
          </a:p>
          <a:p>
            <a:r>
              <a:t>allocations. glibc retains the arenas.</a:t>
            </a:r>
          </a:p>
        </p:txBody>
      </p:sp>
      <p:sp>
        <p:nvSpPr>
          <p:cNvPr id="4" name="Slide Number Placeholder 3"/>
          <p:cNvSpPr>
            <a:spLocks noGrp="1"/>
          </p:cNvSpPr>
          <p:nvPr>
            <p:ph type="sldNum"/>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slide is here.</a:t>
            </a:r>
          </a:p>
          <a:p/>
          <a:p>
            <a:r>
              <a:t>The obvious experiment - run the CPU finder and the CUDA finder over the same</a:t>
            </a:r>
          </a:p>
          <a:p>
            <a:r>
              <a:t>frames and count the differences - cannot answer the question anyone actually</a:t>
            </a:r>
          </a:p>
          <a:p>
            <a:r>
              <a:t>asks, which is "is the port correct?" It moves two variables at once:</a:t>
            </a:r>
          </a:p>
          <a:p/>
          <a:p>
            <a:r>
              <a:t>  1. WHEN the pedestal is updated. The serial CPU finder updates per pixel,</a:t>
            </a:r>
          </a:p>
          <a:p>
            <a:r>
              <a:t>     during the raster scan, so a pixel late in the frame is judged against a</a:t>
            </a:r>
          </a:p>
          <a:p>
            <a:r>
              <a:t>     pedestal that already contains this frame's earlier pixels. That is</a:t>
            </a:r>
          </a:p>
          <a:p>
            <a:r>
              <a:t>     scan-order dependent by construction.</a:t>
            </a:r>
          </a:p>
          <a:p>
            <a:r>
              <a:t>  2. WHAT arithmetic runs. float vs double, a different local-max expression,</a:t>
            </a:r>
          </a:p>
          <a:p>
            <a:r>
              <a:t>     a different rounding point.</a:t>
            </a:r>
          </a:p>
          <a:p/>
          <a:p>
            <a:r>
              <a:t>ClusterFinderFrozen holds (2) fixed and changes only (1): it is the serial</a:t>
            </a:r>
          </a:p>
          <a:p>
            <a:r>
              <a:t>finder, same decision logic line for line, with the update deferred to the frame</a:t>
            </a:r>
          </a:p>
          <a:p>
            <a:r>
              <a:t>boundary. That is the CUDA update model, on the CPU.</a:t>
            </a:r>
          </a:p>
          <a:p/>
          <a:p>
            <a:r>
              <a:t>So the three-way comparison factorises:</a:t>
            </a:r>
          </a:p>
          <a:p>
            <a:r>
              <a:t>    cpu    vs frozen  -&gt; update timing alone      (19 of 23.2 M)</a:t>
            </a:r>
          </a:p>
          <a:p>
            <a:r>
              <a:t>    frozen vs cuda    -&gt; the port alone           (6 of 23.2 M)</a:t>
            </a:r>
          </a:p>
          <a:p/>
          <a:p>
            <a:r>
              <a:t>and the second is the number that answers the question. It is also why the</a:t>
            </a:r>
          </a:p>
          <a:p>
            <a:r>
              <a:t>headline mismatch figure in this deck is 6 / 23 M and not 25 / 23 M: the larger</a:t>
            </a:r>
          </a:p>
          <a:p>
            <a:r>
              <a:t>number is dominated by an effect that has nothing to do with CUDA.</a:t>
            </a:r>
          </a:p>
          <a:p/>
          <a:p>
            <a:r>
              <a:t>Frozen ships in the library as a diagnostic, not as the recommended finder.</a:t>
            </a:r>
          </a:p>
        </p:txBody>
      </p:sp>
      <p:sp>
        <p:nvSpPr>
          <p:cNvPr id="4" name="Slide Number Placeholder 3"/>
          <p:cNvSpPr>
            <a:spLocks noGrp="1"/>
          </p:cNvSpPr>
          <p:nvPr>
            <p:ph type="sldNum"/>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Row 1 and row 2 are the same 8/11, which is the point: everything</a:t>
            </a:r>
          </a:p>
          <a:p>
            <a:r>
              <a:t>CUDA changes is worth zero, and the whole residual is a CPU-vs-CPU effect.</a:t>
            </a:r>
          </a:p>
          <a:p/>
          <a:p>
            <a:r>
              <a:t>WHICH TEST the timing moves is measured in annex A7, and the answer is specific:</a:t>
            </a:r>
          </a:p>
          <a:p/>
          <a:p>
            <a:r>
              <a:t>    frozen-only 11 clusters  -&gt;  ALL from Test3 (total &gt; c3*nSigma*rms)</a:t>
            </a:r>
          </a:p>
          <a:p>
            <a:r>
              <a:t>    cpu-only     8 clusters  -&gt;  ALL from the local-max gate (value == max)</a:t>
            </a:r>
          </a:p>
          <a:p>
            <a:r>
              <a:t>    Test1 threshold          -&gt;  contributes ZERO clusters</a:t>
            </a:r>
          </a:p>
          <a:p/>
          <a:p>
            <a:r>
              <a:t>Why Test3 is the exposed one: it sums all nine values, so it collects the shift</a:t>
            </a:r>
          </a:p>
          <a:p>
            <a:r>
              <a:t>of EVERY already-scanned neighbour -- three above, one left, exactly the pixels</a:t>
            </a:r>
          </a:p>
          <a:p>
            <a:r>
              <a:t>eligible for update -- where Test1 feels at most the one that happens to be the</a:t>
            </a:r>
          </a:p>
          <a:p>
            <a:r>
              <a:t>argmax.</a:t>
            </a:r>
          </a:p>
          <a:p/>
          <a:p>
            <a:r>
              <a:t>Confirmed two ways: instrumented (branch codes diffed per frame) and ablated</a:t>
            </a:r>
          </a:p>
          <a:p>
            <a:r>
              <a:t>(Test3 compiled out, at which point the 11 go to zero exactly). A7 has both.</a:t>
            </a:r>
          </a:p>
          <a:p/>
          <a:p>
            <a:r>
              <a:t>Test1 flips MORE often than Test3 -- 619 of 974 divergent pixels -- and costs</a:t>
            </a:r>
          </a:p>
          <a:p>
            <a:r>
              <a:t>nothing, because it only moves a pixel between QUIET_UPDATE and SHADOW and</a:t>
            </a:r>
          </a:p>
          <a:p>
            <a:r>
              <a:t>neither of those stores. It is not merely downstream of Test3 either: with Test3</a:t>
            </a:r>
          </a:p>
          <a:p>
            <a:r>
              <a:t>ablated the first divergence is still a Test1 flip, on a frame where the two</a:t>
            </a:r>
          </a:p>
          <a:p>
            <a:r>
              <a:t>pedestals were provably identical. Test1 initiates on its own, just ~7x slower</a:t>
            </a:r>
          </a:p>
          <a:p>
            <a:r>
              <a:t>(frame 30 vs frame 4), and can never create a cluster by itself.</a:t>
            </a:r>
          </a:p>
          <a:p/>
          <a:p>
            <a:r>
              <a:t>Row 4 is a different mechanism entirely -- f32 EMA drift, not timing, since both</a:t>
            </a:r>
          </a:p>
          <a:p>
            <a:r>
              <a:t>finders freeze the pedestal there. That is the next slide.</a:t>
            </a:r>
          </a:p>
        </p:txBody>
      </p:sp>
      <p:sp>
        <p:nvSpPr>
          <p:cNvPr id="4" name="Slide Number Placeholder 3"/>
          <p:cNvSpPr>
            <a:spLocks noGrp="1"/>
          </p:cNvSpPr>
          <p:nvPr>
            <p:ph type="sldNum"/>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the strongest of the six residuals, shipping f32 build.</a:t>
            </a:r>
          </a:p>
          <a:p>
            <a:r>
              <a:t>Every other centre in the patch agrees, including the ordinary photon at bottom</a:t>
            </a:r>
          </a:p>
          <a:p>
            <a:r>
              <a:t>right.</a:t>
            </a:r>
          </a:p>
          <a:p/>
          <a:p>
            <a:r>
              <a:t>Each panel masks every pixel that is not inside the 3x3 footprint of one of THAT</a:t>
            </a:r>
          </a:p>
          <a:p>
            <a:r>
              <a:t>finder's own cluster centres. So a pixel is visible on the left only if frozen</a:t>
            </a:r>
          </a:p>
          <a:p>
            <a:r>
              <a:t>claimed it, and visible on the right only if cuda did. Where the panels look</a:t>
            </a:r>
          </a:p>
          <a:p>
            <a:r>
              <a:t>identical, the finders agreed pixel for pixel.</a:t>
            </a:r>
          </a:p>
          <a:p/>
          <a:p>
            <a:r>
              <a:t>The red dots are cluster centres. The amber ring is the one centre cuda keeps</a:t>
            </a:r>
          </a:p>
          <a:p>
            <a:r>
              <a:t>that frozen does not: (202, 8), directly below (202, 7) which both finders keep.</a:t>
            </a:r>
          </a:p>
          <a:p>
            <a:r>
              <a:t>Because the two 3x3 windows overlap, cuda's patch is four rows tall where</a:t>
            </a:r>
          </a:p>
          <a:p>
            <a:r>
              <a:t>frozen's is three - that visible extra row IS the disagreement.</a:t>
            </a:r>
          </a:p>
          <a:p/>
          <a:p>
            <a:r>
              <a:t>Note what is NOT happening: there is no cluster in one panel that is absent from</a:t>
            </a:r>
          </a:p>
          <a:p>
            <a:r>
              <a:t>the other's neighbourhood entirely. Nothing was missed, and nothing was invented</a:t>
            </a:r>
          </a:p>
          <a:p>
            <a:r>
              <a:t>out of noise. The two finders are arguing about which of two adjacent pixels owns</a:t>
            </a:r>
          </a:p>
          <a:p>
            <a:r>
              <a:t>a photon they both found.</a:t>
            </a:r>
          </a:p>
          <a:p/>
          <a:p>
            <a:r>
              <a:t>Same construction as helper.plot_masked_mismatch() in the notebook, so this is</a:t>
            </a:r>
          </a:p>
          <a:p>
            <a:r>
              <a:t>reproducible from ClusterFinderFrozen_vs_CUDA.ipynb directly.</a:t>
            </a:r>
          </a:p>
        </p:txBody>
      </p:sp>
      <p:sp>
        <p:nvSpPr>
          <p:cNvPr id="4" name="Slide Number Placeholder 3"/>
          <p:cNvSpPr>
            <a:spLocks noGrp="1"/>
          </p:cNvSpPr>
          <p:nvPr>
            <p:ph type="sldNum"/>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centre (x=202, y=8). The full numbers.</a:t>
            </a:r>
          </a:p>
          <a:p/>
          <a:p>
            <a:r>
              <a:t>                              centre               rival      centre - rival</a:t>
            </a:r>
          </a:p>
          <a:p>
            <a:r>
              <a:t>  frozen (f64 host ped)  638.382773664       638.383019956        -0.000246291</a:t>
            </a:r>
          </a:p>
          <a:p>
            <a:r>
              <a:t>  cuda   (f32 dev  ped)  638.382812500       638.382812500         0.000000000</a:t>
            </a:r>
          </a:p>
          <a:p/>
          <a:p>
            <a:r>
              <a:t>  pedestal mean, centre:  f64 4679.617226336   f32 4679.617187500</a:t>
            </a:r>
          </a:p>
          <a:p>
            <a:r>
              <a:t>  pedestal mean, rival :  f64 4643.616980044   f32 4643.617187500</a:t>
            </a:r>
          </a:p>
          <a:p/>
          <a:p>
            <a:r>
              <a:t>  1 float32 ULP at 4679.6 ADU = 0.000488 ADU</a:t>
            </a:r>
          </a:p>
          <a:p>
            <a:r>
              <a:t>  the f64 separation between the two pixels = 0.50 ULP</a:t>
            </a:r>
          </a:p>
          <a:p/>
          <a:p>
            <a:r>
              <a:t>Read that last line slowly: the two pixels differ by HALF a float32 ULP. There is</a:t>
            </a:r>
          </a:p>
          <a:p>
            <a:r>
              <a:t>no float32 number between them, so once the pedestal is stored as float32 they</a:t>
            </a:r>
          </a:p>
          <a:p>
            <a:r>
              <a:t>round to the identical bit pattern. The local-max gate is `value &gt;= max`, which</a:t>
            </a:r>
          </a:p>
          <a:p>
            <a:r>
              <a:t>accepts on equality - so CUDA keeps the centre and frozen, which can still see</a:t>
            </a:r>
          </a:p>
          <a:p>
            <a:r>
              <a:t>the rival is 2.5e-4 ADU higher, rejects it.</a:t>
            </a:r>
          </a:p>
          <a:p/>
          <a:p>
            <a:r>
              <a:t>This is not drift in the usual sense. It is not that the f32 EMA wandered away</a:t>
            </a:r>
          </a:p>
          <a:p>
            <a:r>
              <a:t>from the f64 one over thousands of updates - look at the pedestal columns, they</a:t>
            </a:r>
          </a:p>
          <a:p>
            <a:r>
              <a:t>agree to 4e-5 and 2e-4 ADU. It is that the QUESTION being asked ("which of these</a:t>
            </a:r>
          </a:p>
          <a:p>
            <a:r>
              <a:t>two pixels is larger?") has an answer that float32 cannot represent.</a:t>
            </a:r>
          </a:p>
          <a:p/>
          <a:p>
            <a:r>
              <a:t>Consequences worth stating out loud if asked:</a:t>
            </a:r>
          </a:p>
          <a:p>
            <a:r>
              <a:t>  - All six exist only in the shipping f32 build.</a:t>
            </a:r>
          </a:p>
          <a:p>
            <a:r>
              <a:t>  - Each of the six sits ONE PIXEL from a cluster both finders found: a duplicate</a:t>
            </a:r>
          </a:p>
          <a:p>
            <a:r>
              <a:t>    neighbour, never a spurious photon and never a missed one.</a:t>
            </a:r>
          </a:p>
          <a:p>
            <a:r>
              <a:t>  - It is one-directional. cuda-only 6, frozen-only 0. A tie can only ever ADD a</a:t>
            </a:r>
          </a:p>
          <a:p>
            <a:r>
              <a:t>    centre, never remove one, because &gt;= accepts.</a:t>
            </a:r>
          </a:p>
          <a:p>
            <a:r>
              <a:t>  - All six are at Chebyshev distance 1 from a cluster both finders found: a</a:t>
            </a:r>
          </a:p>
          <a:p>
            <a:r>
              <a:t>    duplicate neighbour, never a spurious photon.</a:t>
            </a:r>
          </a:p>
          <a:p>
            <a:r>
              <a:t>  - With DEVICE_PED_TYPE = double the residual is 0 / 0 at both 3x3 and 9x9.</a:t>
            </a:r>
          </a:p>
          <a:p>
            <a:r>
              <a:t>  - Fixing it in f32 would mean a strict &gt; in the gate, which changes the CPU's</a:t>
            </a:r>
          </a:p>
          <a:p>
            <a:r>
              <a:t>    documented behaviour on genuine ties. Not worth 6 clusters in 23 million.</a:t>
            </a:r>
          </a:p>
        </p:txBody>
      </p:sp>
      <p:sp>
        <p:nvSpPr>
          <p:cNvPr id="4" name="Slide Number Placeholder 3"/>
          <p:cNvSpPr>
            <a:spLocks noGrp="1"/>
          </p:cNvSpPr>
          <p:nvPr>
            <p:ph type="sldNum"/>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headroom claim, stated carefully.</a:t>
            </a:r>
          </a:p>
          <a:p/>
          <a:p>
            <a:r>
              <a:t>WHERE THE MATERIAL IS, if anyone asks for it after the talk rather than from the</a:t>
            </a:r>
          </a:p>
          <a:p>
            <a:r>
              <a:t>floor: docs/ClusterFinderCUDA_benchmark_results.md for every number and its</a:t>
            </a:r>
          </a:p>
          <a:p>
            <a:r>
              <a:t>provenance; python/tests/ClusterFinderCUDA_perf.ipynb for the timing protocol;</a:t>
            </a:r>
          </a:p>
          <a:p>
            <a:r>
              <a:t>python/tests/perf/ for the campaign; python/tests/validation_tiers.py and</a:t>
            </a:r>
          </a:p>
          <a:p>
            <a:r>
              <a:t>ClusterFinderFrozen_vs_CUDA.ipynb for the validation; python/tests/branch_trace.py</a:t>
            </a:r>
          </a:p>
          <a:p>
            <a:r>
              <a:t>and branch_site_dump.py for annex A7. Paths are deliberately off the slides.</a:t>
            </a:r>
          </a:p>
          <a:p/>
          <a:p>
            <a:r>
              <a:t>MOENCH03 runs at 1.3 kHz as standard and 3-6 kHz with optimised readout boards.</a:t>
            </a:r>
          </a:p>
          <a:p>
            <a:r>
              <a:t>The finder does 58 495 FPS at 3x3 and 39 775 at 9x9, so it is 45x and 31x the</a:t>
            </a:r>
          </a:p>
          <a:p>
            <a:r>
              <a:t>standard rate, and about 10x and 7x the optimised ceiling. The point is not the</a:t>
            </a:r>
          </a:p>
          <a:p>
            <a:r>
              <a:t>multiple: it is that cluster finding has stopped being the thing that decides</a:t>
            </a:r>
          </a:p>
          <a:p>
            <a:r>
              <a:t>how fast you can take data, on one GPU, at either cluster size.</a:t>
            </a:r>
          </a:p>
          <a:p/>
          <a:p>
            <a:r>
              <a:t>Two honest qualifications. First, this is throughput on frames already in host</a:t>
            </a:r>
          </a:p>
          <a:p>
            <a:r>
              <a:t>RAM -- getting them there from the detector is a separate problem and is not</a:t>
            </a:r>
          </a:p>
          <a:p>
            <a:r>
              <a:t>measured here. Second, at 9x9 the D2H slot is cap-sized, so the margin shrinks</a:t>
            </a:r>
          </a:p>
          <a:p>
            <a:r>
              <a:t>if max_clusters_per_frame has to grow for a busier beam.</a:t>
            </a:r>
          </a:p>
          <a:p/>
          <a:p>
            <a:r>
              <a:t>What the 24-thread CPU finder does, for contrast: 6 762 FPS at 3x3, which</a:t>
            </a:r>
          </a:p>
          <a:p>
            <a:r>
              <a:t>matches the standard mode with nothing to spare, and 1 503 FPS at 9x9, which</a:t>
            </a:r>
          </a:p>
          <a:p>
            <a:r>
              <a:t>does not.</a:t>
            </a:r>
          </a:p>
        </p:txBody>
      </p:sp>
      <p:sp>
        <p:nvSpPr>
          <p:cNvPr id="4" name="Slide Number Placeholder 3"/>
          <p:cNvSpPr>
            <a:spLocks noGrp="1"/>
          </p:cNvSpPr>
          <p:nvPr>
            <p:ph type="sldNum"/>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Neither direction is faster than the other, and the bar heights say so.</a:t>
            </a:r>
          </a:p>
          <a:p/>
          <a:p>
            <a:r>
              <a:t>At s1, H2D moves 320 000 B in 13.15 us = 24.3 GB/s; D2H moves 120 004 B in</a:t>
            </a:r>
          </a:p>
          <a:p>
            <a:r>
              <a:t>5.27 us = 22.8 GB/s; at 9x9, D2H moves 557 604 B in 21.95 us = 25.4 GB/s. All</a:t>
            </a:r>
          </a:p>
          <a:p>
            <a:r>
              <a:t>three sit at 72-81 % of PCIe 4.0 x16's 31.5 GB/s, the smallest transfer paying</a:t>
            </a:r>
          </a:p>
          <a:p>
            <a:r>
              <a:t>the most fixed cost per byte. So a taller bar in this deck always means MORE</a:t>
            </a:r>
          </a:p>
          <a:p>
            <a:r>
              <a:t>BYTES, never a slower wire -- which is exactly why raising the cap to 1 700</a:t>
            </a:r>
          </a:p>
          <a:p>
            <a:r>
              <a:t>hands the 9x9 floor to D2H: it is 544.5 kB per frame either way the arm is</a:t>
            </a:r>
          </a:p>
          <a:p>
            <a:r>
              <a:t>built, and it does not care about the typedef.</a:t>
            </a:r>
          </a:p>
          <a:p/>
          <a:p>
            <a:r>
              <a:t>On the last row: the floor is the LOWER of the s4 estimate and the best</a:t>
            </a:r>
          </a:p>
          <a:p>
            <a:r>
              <a:t>unprofiled sustained rate. 16.31 vs 16.63 at 3x3 f32; 25.14 vs 25.24 at 9x9 f32;</a:t>
            </a:r>
          </a:p>
          <a:p>
            <a:r>
              <a:t>30.01 vs 32.66 at 9x9 f64, which is the widest gap and the reason the rule</a:t>
            </a:r>
          </a:p>
          <a:p>
            <a:r>
              <a:t>exists. A probe roofline is an estimate, never a hard denominator.</a:t>
            </a:r>
          </a:p>
        </p:txBody>
      </p:sp>
      <p:sp>
        <p:nvSpPr>
          <p:cNvPr id="4" name="Slide Number Placeholder 3"/>
          <p:cNvSpPr>
            <a:spLocks noGrp="1"/>
          </p:cNvSpPr>
          <p:nvPr>
            <p:ph type="sldNum"/>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one slide is still cap 1500, and what not to read off it.</a:t>
            </a:r>
          </a:p>
          <a:p/>
          <a:p>
            <a:r>
              <a:t>The RUNTIME column exists only inside the trace: it is the cost of the host call</a:t>
            </a:r>
          </a:p>
          <a:p>
            <a:r>
              <a:t>itself, which does not depend on how large the output slot is. So there is</a:t>
            </a:r>
          </a:p>
          <a:p>
            <a:r>
              <a:t>nothing to re-run -- a cap-1700 trace would report the same ~1.65 and ~1.85 us</a:t>
            </a:r>
          </a:p>
          <a:p>
            <a:r>
              <a:t>for cudaMemcpyAsync and cudaLaunchKernel.</a:t>
            </a:r>
          </a:p>
          <a:p/>
          <a:p>
            <a:r>
              <a:t>What you must NOT read off this slide is the 19.44 us D2H. That is the cap-1500</a:t>
            </a:r>
          </a:p>
          <a:p>
            <a:r>
              <a:t>figure. At the shipped cap of 1 700 the same engine reads 21.95 us [s1] and</a:t>
            </a:r>
          </a:p>
          <a:p>
            <a:r>
              <a:t>25.24 us [s4], and it is the s4 value that binds the f32 build. A1 has the</a:t>
            </a:r>
          </a:p>
          <a:p>
            <a:r>
              <a:t>shipped grid.</a:t>
            </a:r>
          </a:p>
          <a:p/>
          <a:p>
            <a:r>
              <a:t>The one number in the whole deck taken from _RUNTIME is the CUDA Graph launch</a:t>
            </a:r>
          </a:p>
          <a:p>
            <a:r>
              <a:t>budget in A2, and it is quoted to a single significant figure for exactly this</a:t>
            </a:r>
          </a:p>
          <a:p>
            <a:r>
              <a:t>reason: a ~4x inflated host-call time can support "launch cost is about 2 us,</a:t>
            </a:r>
          </a:p>
          <a:p>
            <a:r>
              <a:t>against a 24 us floor", and nothing finer than that.</a:t>
            </a:r>
          </a:p>
        </p:txBody>
      </p:sp>
      <p:sp>
        <p:nvSpPr>
          <p:cNvPr id="4" name="Slide Number Placeholder 3"/>
          <p:cNvSpPr>
            <a:spLocks noGrp="1"/>
          </p:cNvSpPr>
          <p:nvPr>
            <p:ph type="sldNum"/>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slide 4 leaves Test3 out: at 3x3 it is a small correction to the</a:t>
            </a:r>
          </a:p>
          <a:p>
            <a:r>
              <a:t>cluster count, and the arc's point there is the THREE OUTCOMES shape -- store,</a:t>
            </a:r>
          </a:p>
          <a:p>
            <a:r>
              <a:t>shadow, update -- not completeness. This slide is where completeness belongs.</a:t>
            </a:r>
          </a:p>
          <a:p/>
          <a:p>
            <a:r>
              <a:t>Read c3 out loud, it is the part people find satisfying. Test1 asks whether one</a:t>
            </a:r>
          </a:p>
          <a:p>
            <a:r>
              <a:t>pixel is 5 sigma above ITS OWN noise. Test3 asks the same question of the SUM of</a:t>
            </a:r>
          </a:p>
          <a:p>
            <a:r>
              <a:t>nine pixels -- so the only thing needed is the noise on that sum, and that is</a:t>
            </a:r>
          </a:p>
          <a:p>
            <a:r>
              <a:t>just variance addition:</a:t>
            </a:r>
          </a:p>
          <a:p/>
          <a:p>
            <a:r>
              <a:t>    Var(v1 + ... + v9) = Var(v1) + ... + Var(v9) = 9 * sigma^2     (independent)</a:t>
            </a:r>
          </a:p>
          <a:p>
            <a:r>
              <a:t>    sigma_sum = sqrt(9 * sigma^2) = 3 * sigma</a:t>
            </a:r>
          </a:p>
          <a:p/>
          <a:p>
            <a:r>
              <a:t>Standard deviations do NOT add; variances do. That is the whole content of the</a:t>
            </a:r>
          </a:p>
          <a:p>
            <a:r>
              <a:t>sqrt: nine pixels give nine times the variance but only three times the rms, so</a:t>
            </a:r>
          </a:p>
          <a:p>
            <a:r>
              <a:t>a threshold on the sum has to be 3x larger to carry the same 5-sigma meaning.</a:t>
            </a:r>
          </a:p>
          <a:p>
            <a:r>
              <a:t>It is also why summing helps at all -- the signal adds linearly (x9) while the</a:t>
            </a:r>
          </a:p>
          <a:p>
            <a:r>
              <a:t>noise adds in quadrature (x3), a net sqrt(9) = 3x gain in signal-to-noise for a</a:t>
            </a:r>
          </a:p>
          <a:p>
            <a:r>
              <a:t>photon that is genuinely spread over the window.</a:t>
            </a:r>
          </a:p>
          <a:p/>
          <a:p>
            <a:r>
              <a:t>c3 = sqrt(ClusterSizeX * ClusterSizeY) in the constructor, so it generalises: at</a:t>
            </a:r>
          </a:p>
          <a:p>
            <a:r>
              <a:t>9x9 it is sqrt(81) = 9.</a:t>
            </a:r>
          </a:p>
          <a:p/>
          <a:p>
            <a:r>
              <a:t>If someone challenges the independence assumption: it is the pedestal noise that</a:t>
            </a:r>
          </a:p>
          <a:p>
            <a:r>
              <a:t>is being added, which is per-pixel readout noise and is uncorrelated between</a:t>
            </a:r>
          </a:p>
          <a:p>
            <a:r>
              <a:t>pixels to a good approximation. Correlated noise would need covariance terms and</a:t>
            </a:r>
          </a:p>
          <a:p>
            <a:r>
              <a:t>would make c3 larger than sqrt(N).</a:t>
            </a:r>
          </a:p>
          <a:p/>
          <a:p>
            <a:r>
              <a:t>The negative-value skip at the top is a fourth branch but not a test in the same</a:t>
            </a:r>
          </a:p>
          <a:p>
            <a:r>
              <a:t>sense -- it drops pixels far BELOW pedestal, which are detector artefacts rather</a:t>
            </a:r>
          </a:p>
          <a:p>
            <a:r>
              <a:t>than photons, and it does not update either.</a:t>
            </a:r>
          </a:p>
          <a:p/>
          <a:p>
            <a:r>
              <a:t>What matters for the next slide: Test1 reads the MAX of the window, Test3 reads</a:t>
            </a:r>
          </a:p>
          <a:p>
            <a:r>
              <a:t>the SUM. That is the whole difference in sensitivity.</a:t>
            </a:r>
          </a:p>
        </p:txBody>
      </p:sp>
      <p:sp>
        <p:nvSpPr>
          <p:cNvPr id="4" name="Slide Number Placeholder 3"/>
          <p:cNvSpPr>
            <a:spLocks noGrp="1"/>
          </p:cNvSpPr>
          <p:nvPr>
            <p:ph type="sldNum"/>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TWO EXPERIMENTS, INDEPENDENT ROUTES.</a:t>
            </a:r>
          </a:p>
          <a:p/>
          <a:p>
            <a:r>
              <a:t>Instrumented (both finders shipped logic, branch codes recorded): 974 pixels out</a:t>
            </a:r>
          </a:p>
          <a:p>
            <a:r>
              <a:t>of 1.6e9 take a different branch. Only some change the cluster set, and those</a:t>
            </a:r>
          </a:p>
          <a:p>
            <a:r>
              <a:t>decompose onto slide 31's 8/11 with no remainder:</a:t>
            </a:r>
          </a:p>
          <a:p/>
          <a:p>
            <a:r>
              <a:t>    frozen-only 11  =  QUIET_UPDATE -&gt; TEST3_STORE      (all Test 3)</a:t>
            </a:r>
          </a:p>
          <a:p>
            <a:r>
              <a:t>    cpu-only     8  =  TEST3_STORE  -&gt; TEST3_SKIP  (5)  (local-max gate)</a:t>
            </a:r>
          </a:p>
          <a:p>
            <a:r>
              <a:t>                    +  TEST1_STORE  -&gt; SHADOW      (3)</a:t>
            </a:r>
          </a:p>
          <a:p/>
          <a:p>
            <a:r>
              <a:t>Ablated (Test 3 compiled out of BOTH finders):</a:t>
            </a:r>
          </a:p>
          <a:p/>
          <a:p>
            <a:r>
              <a:t>                        Test3 ON     Test3 OFF</a:t>
            </a:r>
          </a:p>
          <a:p>
            <a:r>
              <a:t>    clusters (cpu)    23 244 602    23 241 342</a:t>
            </a:r>
          </a:p>
          <a:p>
            <a:r>
              <a:t>    divergent pixels         974           584</a:t>
            </a:r>
          </a:p>
          <a:p>
            <a:r>
              <a:t>    first divergence   frame   4     frame  30</a:t>
            </a:r>
          </a:p>
          <a:p>
            <a:r>
              <a:t>    frozen-only               11             0</a:t>
            </a:r>
          </a:p>
          <a:p>
            <a:r>
              <a:t>    cpu-only                   8             4</a:t>
            </a:r>
          </a:p>
          <a:p/>
          <a:p>
            <a:r>
              <a:t>The 11 go to zero exactly. The cpu-only 4 are all TEST1_STORE -&gt; SHADOW, the</a:t>
            </a:r>
          </a:p>
          <a:p>
            <a:r>
              <a:t>local-max gate, which does not need Test 3 -- the count is not preserved because</a:t>
            </a:r>
          </a:p>
          <a:p>
            <a:r>
              <a:t>ablating changes which pixels push, so the pedestal follows a different path and</a:t>
            </a:r>
          </a:p>
          <a:p>
            <a:r>
              <a:t>the downstream ties are a different realisation.</a:t>
            </a:r>
          </a:p>
          <a:p/>
          <a:p>
            <a:r>
              <a:t>WHY TEST1 FLIPS MOST AND COSTS NOTHING. A Test1 flip moves a pixel between</a:t>
            </a:r>
          </a:p>
          <a:p>
            <a:r>
              <a:t>QUIET_UPDATE and SHADOW. Neither stores, so no cluster appears or disappears; it</a:t>
            </a:r>
          </a:p>
          <a:p>
            <a:r>
              <a:t>only changes whether that pixel pushed, which feeds forward.</a:t>
            </a:r>
          </a:p>
          <a:p/>
          <a:p>
            <a:r>
              <a:t>TEST1 IS NOT MERELY DOWNSTREAM. With Test3 off, the first divergence is still at</a:t>
            </a:r>
          </a:p>
          <a:p>
            <a:r>
              <a:t>frame 30, and nothing diverged before it -- so the pedestals were identical and</a:t>
            </a:r>
          </a:p>
          <a:p>
            <a:r>
              <a:t>that Test1 flip came straight from the within-frame asymmetry. Test1 initiates</a:t>
            </a:r>
          </a:p>
          <a:p>
            <a:r>
              <a:t>independently; it is just ~7x slower to do so (frame 30 vs frame 4) and cannot</a:t>
            </a:r>
          </a:p>
          <a:p>
            <a:r>
              <a:t>create a cluster on its own.</a:t>
            </a:r>
          </a:p>
          <a:p/>
          <a:p>
            <a:r>
              <a:t>THE SITE. Frame 203, pixel (125,245). Threshold c3*5*rms = 256.511. Serial sums</a:t>
            </a:r>
          </a:p>
          <a:p>
            <a:r>
              <a:t>256.489 and calls it a pedestal sample; frozen sums 256.581 and stores. The gap</a:t>
            </a:r>
          </a:p>
          <a:p>
            <a:r>
              <a:t>is 0.09 ADU, from four neighbours whose pedestals differ by 0.12 ADU in total.</a:t>
            </a:r>
          </a:p>
          <a:p>
            <a:r>
              <a:t>max is 56.473 in BOTH -- printed because it is the argument: Test1 could not</a:t>
            </a:r>
          </a:p>
          <a:p>
            <a:r>
              <a:t>have caused this.</a:t>
            </a:r>
          </a:p>
          <a:p/>
          <a:p>
            <a:r>
              <a:t>READING THE LEFT PANEL. It is the FINISHED frame, not a scan in progress -- the</a:t>
            </a:r>
          </a:p>
          <a:p>
            <a:r>
              <a:t>branch map is read once find_clusters() returns, so every one of the 441 cells</a:t>
            </a:r>
          </a:p>
          <a:p>
            <a:r>
              <a:t>carries a final decision. The arrows are raster ORDER, drawn outside the grid so</a:t>
            </a:r>
          </a:p>
          <a:p>
            <a:r>
              <a:t>they cannot be mistaken for a cursor.</a:t>
            </a:r>
          </a:p>
          <a:p/>
          <a:p>
            <a:r>
              <a:t>If asked why a photon looks 3x4 and not 3x3: it does not. The green cells are</a:t>
            </a:r>
          </a:p>
          <a:p>
            <a:r>
              <a:t>the stored clusters and they are single pixels, nine of them in this patch. The</a:t>
            </a:r>
          </a:p>
          <a:p>
            <a:r>
              <a:t>dark region around them is SHADOW, and shadow is not the photon's 3x3 -- it is</a:t>
            </a:r>
          </a:p>
          <a:p>
            <a:r>
              <a:t>every pixel whose OWN 3x3 window contains something above 5 sigma. Note the</a:t>
            </a:r>
          </a:p>
          <a:p>
            <a:r>
              <a:t>shadow pixel need not be bright itself. Three tiers, all visible here:</a:t>
            </a:r>
          </a:p>
          <a:p/>
          <a:p>
            <a:r>
              <a:t>    810.3 ADU   IS the window max          -&gt; stored</a:t>
            </a:r>
          </a:p>
          <a:p>
            <a:r>
              <a:t>    345.0 ADU   above the 85.5 bar, not the peak  -&gt; shadow</a:t>
            </a:r>
          </a:p>
          <a:p>
            <a:r>
              <a:t>     17.7 ADU   nowhere near the bar, but its 3x3 reaches the 345 -&gt; shadow</a:t>
            </a:r>
          </a:p>
          <a:p/>
          <a:p>
            <a:r>
              <a:t>Charge shared across two adjacent pixels therefore lights up the union of every</a:t>
            </a:r>
          </a:p>
          <a:p>
            <a:r>
              <a:t>window that can see either one, which here is 3x4. In the whole patch 27 pixels</a:t>
            </a:r>
          </a:p>
          <a:p>
            <a:r>
              <a:t>clear 5 sigma, 9 are local maxima, and 98 end up shadowed.</a:t>
            </a:r>
          </a:p>
          <a:p/>
          <a:p>
            <a:r>
              <a:t>The marked pixel is amber with a green ring on purpose: the panel is coloured by</a:t>
            </a:r>
          </a:p>
          <a:p>
            <a:r>
              <a:t>the SERIAL finder, and serial sampled the pedestal there. Only frozen stored. If</a:t>
            </a:r>
          </a:p>
          <a:p>
            <a:r>
              <a:t>it were painted plain green the picture would contradict the sigma lines beside</a:t>
            </a:r>
          </a:p>
          <a:p>
            <a:r>
              <a:t>it. Amber means one thing in BOTH panels -- a pixel that pushed the pedestal --</a:t>
            </a:r>
          </a:p>
          <a:p>
            <a:r>
              <a:t>which is why the frozen readings on the right are red rather than amber.</a:t>
            </a:r>
          </a:p>
          <a:p/>
          <a:p>
            <a:r>
              <a:t>WORTH POINTING AT IF THE ROOM IS ENGINEERS, four rows below the marked pixel.</a:t>
            </a:r>
          </a:p>
          <a:p>
            <a:r>
              <a:t>(129,245) is an isolated shadow cell with pedestal samples on both sides of it.</a:t>
            </a:r>
          </a:p>
          <a:p>
            <a:r>
              <a:t>The cause is the 85.150 ADU pixel at (130,244), one row down and one column</a:t>
            </a:r>
          </a:p>
          <a:p>
            <a:r>
              <a:t>left, which sits in the window of BOTH (129,245) and (129,244). Their window</a:t>
            </a:r>
          </a:p>
          <a:p>
            <a:r>
              <a:t>maxima are IDENTICAL. They take different branches anyway, because the bar is</a:t>
            </a:r>
          </a:p>
          <a:p>
            <a:r>
              <a:t>per-pixel -- the test is m &gt; nSigma * rms[centre], the noise of the pixel being</a:t>
            </a:r>
          </a:p>
          <a:p>
            <a:r>
              <a:t>tested. The branch codes alone bound the two:</a:t>
            </a:r>
          </a:p>
          <a:p/>
          <a:p>
            <a:r>
              <a:t>    rms(129,245)  &lt;  17.030  &lt;=  rms(129,244)</a:t>
            </a:r>
          </a:p>
          <a:p/>
          <a:p>
            <a:r>
              <a:t>The left neighbour is noisier, so its bar is higher, so the same 85.150 fails to</a:t>
            </a:r>
          </a:p>
          <a:p>
            <a:r>
              <a:t>clear it. And (130,244) is itself only a pedestal sample: 85.2 does not clear its</a:t>
            </a:r>
          </a:p>
          <a:p>
            <a:r>
              <a:t>OWN bar and its window sums to 119.5 against a ~256 Test3 threshold. So a pixel</a:t>
            </a:r>
          </a:p>
          <a:p>
            <a:r>
              <a:t>can silence a neighbour's pedestal update without being bright enough to be</a:t>
            </a:r>
          </a:p>
          <a:p>
            <a:r>
              <a:t>anything itself -- "bright" is not a property of a pixel, it is a relation</a:t>
            </a:r>
          </a:p>
          <a:p>
            <a:r>
              <a:t>between a value and whose noise you measure it against.</a:t>
            </a:r>
          </a:p>
          <a:p/>
          <a:p>
            <a:r>
              <a:t>Deliberately NOT marked on the figure. It is a statement about the algorithm,</a:t>
            </a:r>
          </a:p>
          <a:p>
            <a:r>
              <a:t>not about serial-vs-frozen, and a second leader line would compete with the one</a:t>
            </a:r>
          </a:p>
          <a:p>
            <a:r>
              <a:t>that carries the slide's actual argument. Full numbers in docs/deck/QA.md.</a:t>
            </a:r>
          </a:p>
          <a:p/>
          <a:p>
            <a:r>
              <a:t>The branch_map property on both finders is diagnostic scaffolding. The ablation</a:t>
            </a:r>
          </a:p>
          <a:p>
            <a:r>
              <a:t>is AARE_TEST3_ENABLED in the two headers, 1 by default.</a:t>
            </a:r>
          </a:p>
        </p:txBody>
      </p:sp>
      <p:sp>
        <p:nvSpPr>
          <p:cNvPr id="4" name="Slide Number Placeholder 3"/>
          <p:cNvSpPr>
            <a:spLocks noGrp="1"/>
          </p:cNvSpPr>
          <p:nvPr>
            <p:ph type="sldNum"/>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8"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0"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1"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16"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7"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9"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20"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1"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3"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4"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5"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7"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8"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0"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1"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2"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3"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5"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6"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7"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8"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9"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40"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48"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0"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2"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3"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5"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7"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58"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9"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1"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62"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3"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6"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7"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9"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0"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2"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3"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4"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5"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7"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8"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9"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0"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1"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2"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wmf"/><Relationship Id="rId3" Type="http://schemas.openxmlformats.org/officeDocument/2006/relationships/image" Target="../media/image2.png"/><Relationship Id="rId4" Type="http://schemas.openxmlformats.org/officeDocument/2006/relationships/image" Target="../media/image3.wmf"/><Relationship Id="rId5" Type="http://schemas.openxmlformats.org/officeDocument/2006/relationships/slideLayout" Target="../slideLayouts/slideLayout1.xml"/><Relationship Id="rId6" Type="http://schemas.openxmlformats.org/officeDocument/2006/relationships/slideLayout" Target="../slideLayouts/slideLayout2.xml"/><Relationship Id="rId7" Type="http://schemas.openxmlformats.org/officeDocument/2006/relationships/slideLayout" Target="../slideLayouts/slideLayout3.xml"/><Relationship Id="rId8" Type="http://schemas.openxmlformats.org/officeDocument/2006/relationships/slideLayout" Target="../slideLayouts/slideLayout4.xml"/><Relationship Id="rId9" Type="http://schemas.openxmlformats.org/officeDocument/2006/relationships/slideLayout" Target="../slideLayouts/slideLayout5.xml"/><Relationship Id="rId10" Type="http://schemas.openxmlformats.org/officeDocument/2006/relationships/slideLayout" Target="../slideLayouts/slideLayout6.xml"/><Relationship Id="rId11" Type="http://schemas.openxmlformats.org/officeDocument/2006/relationships/slideLayout" Target="../slideLayouts/slideLayout7.xml"/><Relationship Id="rId12" Type="http://schemas.openxmlformats.org/officeDocument/2006/relationships/slideLayout" Target="../slideLayouts/slideLayout8.xml"/><Relationship Id="rId13" Type="http://schemas.openxmlformats.org/officeDocument/2006/relationships/slideLayout" Target="../slideLayouts/slideLayout9.xml"/><Relationship Id="rId14" Type="http://schemas.openxmlformats.org/officeDocument/2006/relationships/slideLayout" Target="../slideLayouts/slideLayout10.xml"/><Relationship Id="rId15" Type="http://schemas.openxmlformats.org/officeDocument/2006/relationships/slideLayout" Target="../slideLayouts/slideLayout11.xml"/><Relationship Id="rId16" Type="http://schemas.openxmlformats.org/officeDocument/2006/relationships/slideLayout" Target="../slideLayouts/slideLayout12.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4.wmf"/><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Grafik 19" descr=""/>
          <p:cNvPicPr/>
          <p:nvPr/>
        </p:nvPicPr>
        <p:blipFill>
          <a:blip r:embed="rId2"/>
          <a:stretch/>
        </p:blipFill>
        <p:spPr>
          <a:xfrm>
            <a:off x="10614960" y="305280"/>
            <a:ext cx="878760" cy="360000"/>
          </a:xfrm>
          <a:prstGeom prst="rect">
            <a:avLst/>
          </a:prstGeom>
          <a:ln>
            <a:noFill/>
          </a:ln>
        </p:spPr>
      </p:pic>
      <p:pic>
        <p:nvPicPr>
          <p:cNvPr id="1" name="Grafik 6" descr=""/>
          <p:cNvPicPr/>
          <p:nvPr/>
        </p:nvPicPr>
        <p:blipFill>
          <a:blip r:embed="rId3"/>
          <a:stretch/>
        </p:blipFill>
        <p:spPr>
          <a:xfrm>
            <a:off x="1440" y="1800"/>
            <a:ext cx="12187800" cy="6852960"/>
          </a:xfrm>
          <a:prstGeom prst="rect">
            <a:avLst/>
          </a:prstGeom>
          <a:ln>
            <a:noFill/>
          </a:ln>
        </p:spPr>
      </p:pic>
      <p:pic>
        <p:nvPicPr>
          <p:cNvPr id="2" name="Grafik 12" descr=""/>
          <p:cNvPicPr/>
          <p:nvPr/>
        </p:nvPicPr>
        <p:blipFill>
          <a:blip r:embed="rId4"/>
          <a:stretch/>
        </p:blipFill>
        <p:spPr>
          <a:xfrm>
            <a:off x="631080" y="358560"/>
            <a:ext cx="1770840" cy="727200"/>
          </a:xfrm>
          <a:prstGeom prst="rect">
            <a:avLst/>
          </a:prstGeom>
          <a:ln>
            <a:noFill/>
          </a:ln>
        </p:spPr>
      </p:pic>
      <p:sp>
        <p:nvSpPr>
          <p:cNvPr id="3"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a:t>
            </a:r>
            <a:r>
              <a:rPr b="0" lang="fr-FR" sz="4400" spc="-1" strike="noStrike">
                <a:solidFill>
                  <a:srgbClr val="000000"/>
                </a:solidFill>
                <a:latin typeface="Arial"/>
              </a:rPr>
              <a:t>ck </a:t>
            </a:r>
            <a:r>
              <a:rPr b="0" lang="fr-FR" sz="4400" spc="-1" strike="noStrike">
                <a:solidFill>
                  <a:srgbClr val="000000"/>
                </a:solidFill>
                <a:latin typeface="Arial"/>
              </a:rPr>
              <a:t>to </a:t>
            </a:r>
            <a:r>
              <a:rPr b="0" lang="fr-FR" sz="4400" spc="-1" strike="noStrike">
                <a:solidFill>
                  <a:srgbClr val="000000"/>
                </a:solidFill>
                <a:latin typeface="Arial"/>
              </a:rPr>
              <a:t>ed</a:t>
            </a:r>
            <a:r>
              <a:rPr b="0" lang="fr-FR" sz="4400" spc="-1" strike="noStrike">
                <a:solidFill>
                  <a:srgbClr val="000000"/>
                </a:solidFill>
                <a:latin typeface="Arial"/>
              </a:rPr>
              <a:t>it </a:t>
            </a:r>
            <a:r>
              <a:rPr b="0" lang="fr-FR" sz="4400" spc="-1" strike="noStrike">
                <a:solidFill>
                  <a:srgbClr val="000000"/>
                </a:solidFill>
                <a:latin typeface="Arial"/>
              </a:rPr>
              <a:t>th</a:t>
            </a:r>
            <a:r>
              <a:rPr b="0" lang="fr-FR" sz="4400" spc="-1" strike="noStrike">
                <a:solidFill>
                  <a:srgbClr val="000000"/>
                </a:solidFill>
                <a:latin typeface="Arial"/>
              </a:rPr>
              <a:t>e </a:t>
            </a:r>
            <a:r>
              <a:rPr b="0" lang="fr-FR" sz="4400" spc="-1" strike="noStrike">
                <a:solidFill>
                  <a:srgbClr val="000000"/>
                </a:solidFill>
                <a:latin typeface="Arial"/>
              </a:rPr>
              <a:t>titl</a:t>
            </a:r>
            <a:r>
              <a:rPr b="0" lang="fr-FR" sz="4400" spc="-1" strike="noStrike">
                <a:solidFill>
                  <a:srgbClr val="000000"/>
                </a:solidFill>
                <a:latin typeface="Arial"/>
              </a:rPr>
              <a:t>e </a:t>
            </a:r>
            <a:r>
              <a:rPr b="0" lang="fr-FR" sz="4400" spc="-1" strike="noStrike">
                <a:solidFill>
                  <a:srgbClr val="000000"/>
                </a:solidFill>
                <a:latin typeface="Arial"/>
              </a:rPr>
              <a:t>te</a:t>
            </a:r>
            <a:r>
              <a:rPr b="0" lang="fr-FR" sz="4400" spc="-1" strike="noStrike">
                <a:solidFill>
                  <a:srgbClr val="000000"/>
                </a:solidFill>
                <a:latin typeface="Arial"/>
              </a:rPr>
              <a:t>xt </a:t>
            </a:r>
            <a:r>
              <a:rPr b="0" lang="fr-FR" sz="4400" spc="-1" strike="noStrike">
                <a:solidFill>
                  <a:srgbClr val="000000"/>
                </a:solidFill>
                <a:latin typeface="Arial"/>
              </a:rPr>
              <a:t>for</a:t>
            </a:r>
            <a:r>
              <a:rPr b="0" lang="fr-FR" sz="4400" spc="-1" strike="noStrike">
                <a:solidFill>
                  <a:srgbClr val="000000"/>
                </a:solidFill>
                <a:latin typeface="Arial"/>
              </a:rPr>
              <a:t>m</a:t>
            </a:r>
            <a:r>
              <a:rPr b="0" lang="fr-FR" sz="4400" spc="-1" strike="noStrike">
                <a:solidFill>
                  <a:srgbClr val="000000"/>
                </a:solidFill>
                <a:latin typeface="Arial"/>
              </a:rPr>
              <a:t>at</a:t>
            </a:r>
            <a:endParaRPr b="0" lang="fr-FR" sz="4400" spc="-1" strike="noStrike">
              <a:solidFill>
                <a:srgbClr val="000000"/>
              </a:solidFill>
              <a:latin typeface="Arial"/>
            </a:endParaRPr>
          </a:p>
        </p:txBody>
      </p:sp>
      <p:sp>
        <p:nvSpPr>
          <p:cNvPr id="4"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000" spc="-1" strike="noStrike">
                <a:solidFill>
                  <a:srgbClr val="000000"/>
                </a:solidFill>
                <a:latin typeface="Arial"/>
              </a:rPr>
              <a:t>Second Outline Level</a:t>
            </a:r>
            <a:endParaRPr b="0" lang="fr-FR"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1800" spc="-1" strike="noStrike">
                <a:solidFill>
                  <a:srgbClr val="000000"/>
                </a:solidFill>
                <a:latin typeface="Arial"/>
              </a:rPr>
              <a:t>Third Outline Level</a:t>
            </a:r>
            <a:endParaRPr b="0" lang="fr-FR"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1800" spc="-1" strike="noStrike">
                <a:solidFill>
                  <a:srgbClr val="000000"/>
                </a:solidFill>
                <a:latin typeface="Arial"/>
              </a:rPr>
              <a:t>Fourth Outline Level</a:t>
            </a:r>
            <a:endParaRPr b="0" lang="fr-FR"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000" spc="-1" strike="noStrike">
                <a:solidFill>
                  <a:srgbClr val="000000"/>
                </a:solidFill>
                <a:latin typeface="Arial"/>
              </a:rPr>
              <a:t>Fifth Outline Level</a:t>
            </a:r>
            <a:endParaRPr b="0" lang="fr-F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000" spc="-1" strike="noStrike">
                <a:solidFill>
                  <a:srgbClr val="000000"/>
                </a:solidFill>
                <a:latin typeface="Arial"/>
              </a:rPr>
              <a:t>Sixth Outline Level</a:t>
            </a:r>
            <a:endParaRPr b="0" lang="fr-F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000" spc="-1" strike="noStrike">
                <a:solidFill>
                  <a:srgbClr val="000000"/>
                </a:solidFill>
                <a:latin typeface="Arial"/>
              </a:rPr>
              <a:t>Seventh Outline Level</a:t>
            </a:r>
            <a:endParaRPr b="0" lang="fr-F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5"/>
    <p:sldLayoutId id="214748365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 id="2147483660" r:id="rId16"/>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1" name="Grafik 19" descr=""/>
          <p:cNvPicPr/>
          <p:nvPr/>
        </p:nvPicPr>
        <p:blipFill>
          <a:blip r:embed="rId2"/>
          <a:stretch/>
        </p:blipFill>
        <p:spPr>
          <a:xfrm>
            <a:off x="10614960" y="305280"/>
            <a:ext cx="878760" cy="360000"/>
          </a:xfrm>
          <a:prstGeom prst="rect">
            <a:avLst/>
          </a:prstGeom>
          <a:ln>
            <a:noFill/>
          </a:ln>
        </p:spPr>
      </p:pic>
      <p:sp>
        <p:nvSpPr>
          <p:cNvPr id="42"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Click to edit the title text format</a:t>
            </a:r>
            <a:endParaRPr b="0" lang="fr-FR" sz="4400" spc="-1" strike="noStrike">
              <a:solidFill>
                <a:srgbClr val="000000"/>
              </a:solidFill>
              <a:latin typeface="Arial"/>
            </a:endParaRPr>
          </a:p>
        </p:txBody>
      </p:sp>
      <p:sp>
        <p:nvSpPr>
          <p:cNvPr id="43" name="PlaceHolder 2"/>
          <p:cNvSpPr>
            <a:spLocks noGrp="1"/>
          </p:cNvSpPr>
          <p:nvPr>
            <p:ph type="body"/>
          </p:nvPr>
        </p:nvSpPr>
        <p:spPr>
          <a:xfrm>
            <a:off x="695160" y="1376640"/>
            <a:ext cx="10798560" cy="464184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800" spc="-1" strike="noStrike">
                <a:solidFill>
                  <a:srgbClr val="000000"/>
                </a:solidFill>
                <a:latin typeface="Arial"/>
              </a:rPr>
              <a:t>Second Outline Level</a:t>
            </a:r>
            <a:endParaRPr b="0" lang="fr-F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2800" spc="-1" strike="noStrike">
                <a:solidFill>
                  <a:srgbClr val="000000"/>
                </a:solidFill>
                <a:latin typeface="Arial"/>
              </a:rPr>
              <a:t>Third Outline Level</a:t>
            </a:r>
            <a:endParaRPr b="0" lang="fr-FR" sz="2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2800" spc="-1" strike="noStrike">
                <a:solidFill>
                  <a:srgbClr val="000000"/>
                </a:solidFill>
                <a:latin typeface="Arial"/>
              </a:rPr>
              <a:t>Fourth Outline Level</a:t>
            </a:r>
            <a:endParaRPr b="0" lang="fr-FR" sz="2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800" spc="-1" strike="noStrike">
                <a:solidFill>
                  <a:srgbClr val="000000"/>
                </a:solidFill>
                <a:latin typeface="Arial"/>
              </a:rPr>
              <a:t>Fifth Outline Level</a:t>
            </a:r>
            <a:endParaRPr b="0" lang="fr-FR" sz="2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800" spc="-1" strike="noStrike">
                <a:solidFill>
                  <a:srgbClr val="000000"/>
                </a:solidFill>
                <a:latin typeface="Arial"/>
              </a:rPr>
              <a:t>Sixth Outline Level</a:t>
            </a:r>
            <a:endParaRPr b="0" lang="fr-FR" sz="2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800" spc="-1" strike="noStrike">
                <a:solidFill>
                  <a:srgbClr val="000000"/>
                </a:solidFill>
                <a:latin typeface="Arial"/>
              </a:rPr>
              <a:t>Seventh Outline Level</a:t>
            </a:r>
            <a:endParaRPr b="0" lang="fr-FR" sz="2800" spc="-1" strike="noStrike">
              <a:solidFill>
                <a:srgbClr val="000000"/>
              </a:solidFill>
              <a:latin typeface="Arial"/>
            </a:endParaRPr>
          </a:p>
        </p:txBody>
      </p:sp>
      <p:sp>
        <p:nvSpPr>
          <p:cNvPr id="44" name="PlaceHolder 3"/>
          <p:cNvSpPr>
            <a:spLocks noGrp="1"/>
          </p:cNvSpPr>
          <p:nvPr>
            <p:ph type="ftr"/>
          </p:nvPr>
        </p:nvSpPr>
        <p:spPr>
          <a:xfrm>
            <a:off x="1614600" y="6404400"/>
            <a:ext cx="8042400" cy="141120"/>
          </a:xfrm>
          <a:prstGeom prst="rect">
            <a:avLst/>
          </a:prstGeom>
        </p:spPr>
        <p:txBody>
          <a:bodyPr lIns="0" rIns="0" tIns="0" bIns="0">
            <a:noAutofit/>
          </a:bodyPr>
          <a:p>
            <a:pPr algn="ctr">
              <a:lnSpc>
                <a:spcPct val="100000"/>
              </a:lnSpc>
              <a:tabLst>
                <a:tab algn="l" pos="0"/>
              </a:tabLst>
            </a:pPr>
            <a:r>
              <a:rPr b="0" lang="en-US" sz="1400" spc="-1" strike="noStrike">
                <a:solidFill>
                  <a:srgbClr val="000000"/>
                </a:solidFill>
                <a:latin typeface="Times New Roman"/>
                <a:ea typeface="DejaVu Sans"/>
              </a:rPr>
              <a:t>Footer</a:t>
            </a:r>
            <a:endParaRPr b="0" lang="en-US" sz="1400" spc="-1" strike="noStrike">
              <a:latin typeface="Times New Roman"/>
            </a:endParaRPr>
          </a:p>
        </p:txBody>
      </p:sp>
      <p:sp>
        <p:nvSpPr>
          <p:cNvPr id="45" name="PlaceHolder 4"/>
          <p:cNvSpPr>
            <a:spLocks noGrp="1"/>
          </p:cNvSpPr>
          <p:nvPr>
            <p:ph type="sldNum"/>
          </p:nvPr>
        </p:nvSpPr>
        <p:spPr>
          <a:xfrm>
            <a:off x="695160" y="6404400"/>
            <a:ext cx="700560" cy="141120"/>
          </a:xfrm>
          <a:prstGeom prst="rect">
            <a:avLst/>
          </a:prstGeom>
        </p:spPr>
        <p:txBody>
          <a:bodyPr lIns="0" rIns="0" tIns="0" bIns="0">
            <a:noAutofit/>
          </a:bodyPr>
          <a:p>
            <a:pPr>
              <a:lnSpc>
                <a:spcPct val="100000"/>
              </a:lnSpc>
              <a:tabLst>
                <a:tab algn="l" pos="0"/>
              </a:tabLst>
            </a:pPr>
            <a:fld id="{33759EC6-DB03-48FD-BD56-3BCED0ACEF07}" type="slidenum">
              <a:rPr b="0" lang="en-GB" sz="1000" spc="-1" strike="noStrike">
                <a:solidFill>
                  <a:srgbClr val="000000"/>
                </a:solidFill>
                <a:latin typeface="Aptos"/>
                <a:ea typeface="DejaVu Sans"/>
              </a:rPr>
              <a:t>&lt;number&gt;</a:t>
            </a:fld>
            <a:endParaRPr b="0" lang="en-US" sz="1000" spc="-1" strike="noStrike">
              <a:latin typeface="Times New Roman"/>
            </a:endParaRPr>
          </a:p>
        </p:txBody>
      </p:sp>
      <p:sp>
        <p:nvSpPr>
          <p:cNvPr id="46" name="PlaceHolder 5"/>
          <p:cNvSpPr>
            <a:spLocks noGrp="1"/>
          </p:cNvSpPr>
          <p:nvPr>
            <p:ph type="dt"/>
          </p:nvPr>
        </p:nvSpPr>
        <p:spPr>
          <a:xfrm>
            <a:off x="9875880" y="6404400"/>
            <a:ext cx="1617840" cy="141120"/>
          </a:xfrm>
          <a:prstGeom prst="rect">
            <a:avLst/>
          </a:prstGeom>
        </p:spPr>
        <p:txBody>
          <a:bodyPr lIns="0" rIns="0" tIns="0" bIns="0">
            <a:noAutofit/>
          </a:bodyPr>
          <a:p>
            <a:endParaRPr b="0" lang="en-US" sz="24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notesSlide" Target="../notesSlides/notesSlide2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notesSlide" Target="../notesSlides/notesSlide2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TextShape 1"/>
          <p:cNvSpPr txBox="1"/>
          <p:nvPr/>
        </p:nvSpPr>
        <p:spPr>
          <a:xfrm>
            <a:off x="695520" y="1449720"/>
            <a:ext cx="9817920" cy="2001600"/>
          </a:xfrm>
          <a:prstGeom prst="rect">
            <a:avLst/>
          </a:prstGeom>
          <a:noFill/>
          <a:ln>
            <a:noFill/>
          </a:ln>
        </p:spPr>
        <p:txBody>
          <a:bodyPr lIns="0" rIns="0" tIns="0" bIns="0" anchor="b">
            <a:noAutofit/>
          </a:bodyPr>
          <a:p>
            <a:pPr>
              <a:lnSpc>
                <a:spcPct val="92000"/>
              </a:lnSpc>
              <a:spcBef>
                <a:spcPts val="1191"/>
              </a:spcBef>
              <a:spcAft>
                <a:spcPts val="992"/>
              </a:spcAft>
              <a:tabLst>
                <a:tab algn="l" pos="0"/>
              </a:tabLst>
            </a:pPr>
            <a:r>
              <a:rPr b="1" lang="en-US" sz="5400" spc="-1" strike="noStrike">
                <a:solidFill>
                  <a:srgbClr val="ffffff"/>
                </a:solidFill>
                <a:latin typeface="Aptos"/>
                <a:ea typeface="DejaVu Sans"/>
              </a:rPr>
              <a:t>The CUDA ClusterFinder</a:t>
            </a:r>
            <a:endParaRPr b="0" lang="fr-FR" sz="5400" spc="-1" strike="noStrike">
              <a:solidFill>
                <a:srgbClr val="000000"/>
              </a:solidFill>
              <a:latin typeface="Arial"/>
            </a:endParaRPr>
          </a:p>
        </p:txBody>
      </p:sp>
      <p:sp>
        <p:nvSpPr>
          <p:cNvPr id="90" name="CustomShape 2"/>
          <p:cNvSpPr/>
          <p:nvPr/>
        </p:nvSpPr>
        <p:spPr>
          <a:xfrm>
            <a:off x="692280" y="4856760"/>
            <a:ext cx="5931720" cy="666720"/>
          </a:xfrm>
          <a:prstGeom prst="rect">
            <a:avLst/>
          </a:prstGeom>
          <a:noFill/>
          <a:ln>
            <a:noFill/>
          </a:ln>
        </p:spPr>
        <p:style>
          <a:lnRef idx="0"/>
          <a:fillRef idx="0"/>
          <a:effectRef idx="0"/>
          <a:fontRef idx="minor"/>
        </p:style>
        <p:txBody>
          <a:bodyPr lIns="0" rIns="0" tIns="0" bIns="0" anchor="b">
            <a:noAutofit/>
          </a:bodyPr>
          <a:p>
            <a:pPr algn="just">
              <a:lnSpc>
                <a:spcPct val="100000"/>
              </a:lnSpc>
              <a:spcBef>
                <a:spcPts val="601"/>
              </a:spcBef>
              <a:tabLst>
                <a:tab algn="l" pos="0"/>
              </a:tabLst>
            </a:pPr>
            <a:r>
              <a:rPr b="0" lang="en-GB" sz="3000" spc="-1" strike="noStrike">
                <a:solidFill>
                  <a:srgbClr val="ffffff"/>
                </a:solidFill>
                <a:latin typeface="Aptos"/>
                <a:ea typeface="Calibri"/>
              </a:rPr>
              <a:t>Khalil Daniel Ferjaoui</a:t>
            </a:r>
            <a:endParaRPr b="0" lang="en-US" sz="3000" spc="-1" strike="noStrike">
              <a:latin typeface="Arial"/>
            </a:endParaRPr>
          </a:p>
          <a:p>
            <a:pPr>
              <a:lnSpc>
                <a:spcPct val="100000"/>
              </a:lnSpc>
              <a:spcBef>
                <a:spcPts val="601"/>
              </a:spcBef>
              <a:tabLst>
                <a:tab algn="l" pos="0"/>
              </a:tabLst>
            </a:pPr>
            <a:endParaRPr b="0" lang="en-US" sz="3000" spc="-1" strike="noStrike">
              <a:latin typeface="Arial"/>
            </a:endParaRPr>
          </a:p>
        </p:txBody>
      </p:sp>
      <p:sp>
        <p:nvSpPr>
          <p:cNvPr id="91" name="CustomShape 3"/>
          <p:cNvSpPr/>
          <p:nvPr/>
        </p:nvSpPr>
        <p:spPr>
          <a:xfrm>
            <a:off x="692280" y="6129360"/>
            <a:ext cx="5289840" cy="585720"/>
          </a:xfrm>
          <a:prstGeom prst="rect">
            <a:avLst/>
          </a:prstGeom>
          <a:noFill/>
          <a:ln>
            <a:noFill/>
          </a:ln>
        </p:spPr>
        <p:style>
          <a:lnRef idx="0"/>
          <a:fillRef idx="0"/>
          <a:effectRef idx="0"/>
          <a:fontRef idx="minor"/>
        </p:style>
        <p:txBody>
          <a:bodyPr lIns="0" rIns="0" tIns="0" bIns="0">
            <a:noAutofit/>
          </a:bodyPr>
          <a:p>
            <a:pPr>
              <a:lnSpc>
                <a:spcPct val="100000"/>
              </a:lnSpc>
              <a:spcBef>
                <a:spcPts val="601"/>
              </a:spcBef>
              <a:tabLst>
                <a:tab algn="l" pos="0"/>
              </a:tabLst>
            </a:pPr>
            <a:r>
              <a:rPr b="0" lang="en-US" sz="1600" spc="-1" strike="noStrike">
                <a:solidFill>
                  <a:srgbClr val="ffffff"/>
                </a:solidFill>
                <a:latin typeface="Aptos"/>
                <a:ea typeface="DejaVu Sans"/>
              </a:rPr>
              <a:t>Paul Scherrer Institut · aare</a:t>
            </a:r>
            <a:endParaRPr b="0" lang="en-US" sz="1600" spc="-1" strike="noStrike">
              <a:latin typeface="Arial"/>
            </a:endParaRPr>
          </a:p>
          <a:p>
            <a:pPr>
              <a:lnSpc>
                <a:spcPct val="100000"/>
              </a:lnSpc>
              <a:spcBef>
                <a:spcPts val="601"/>
              </a:spcBef>
              <a:tabLst>
                <a:tab algn="l" pos="0"/>
              </a:tabLst>
            </a:pPr>
            <a:r>
              <a:rPr b="0" lang="en-US" sz="1600" spc="-1" strike="noStrike">
                <a:solidFill>
                  <a:srgbClr val="ffffff"/>
                </a:solidFill>
                <a:latin typeface="Aptos"/>
                <a:ea typeface="DejaVu Sans"/>
              </a:rPr>
              <a:t>September 2026</a:t>
            </a:r>
            <a:endParaRPr b="0" lang="en-US" sz="1600" spc="-1" strike="noStrike">
              <a:latin typeface="Arial"/>
            </a:endParaRPr>
          </a:p>
        </p:txBody>
      </p:sp>
      <p:sp>
        <p:nvSpPr>
          <p:cNvPr id="92" name="CustomShape 4"/>
          <p:cNvSpPr/>
          <p:nvPr/>
        </p:nvSpPr>
        <p:spPr>
          <a:xfrm>
            <a:off x="692280" y="3591720"/>
            <a:ext cx="6840000" cy="63828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fr-CH" sz="1800" spc="-1" strike="noStrike">
                <a:solidFill>
                  <a:srgbClr val="f2f2f2"/>
                </a:solidFill>
                <a:latin typeface="Aptos"/>
                <a:ea typeface="DejaVu Sans"/>
              </a:rPr>
              <a:t>Kernel design · hardware limits · seven optimization steps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777240"/>
            <a:ext cx="10396728"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AARE · HYBRID PIXEL DETECTORS · CUDA CLUSTERFINDER</a:t>
            </a:r>
          </a:p>
        </p:txBody>
      </p:sp>
      <p:sp>
        <p:nvSpPr>
          <p:cNvPr id="5" name="TextBox 4"/>
          <p:cNvSpPr txBox="1"/>
          <p:nvPr/>
        </p:nvSpPr>
        <p:spPr>
          <a:xfrm>
            <a:off x="740664" y="1170432"/>
            <a:ext cx="10771632" cy="1325880"/>
          </a:xfrm>
          <a:prstGeom prst="rect">
            <a:avLst/>
          </a:prstGeom>
          <a:noFill/>
        </p:spPr>
        <p:txBody>
          <a:bodyPr wrap="square" lIns="0" rIns="0" tIns="0" bIns="0" anchor="t">
            <a:spAutoFit/>
          </a:bodyPr>
          <a:lstStyle/>
          <a:p>
            <a:pPr>
              <a:lnSpc>
                <a:spcPct val="102000"/>
              </a:lnSpc>
              <a:spcBef>
                <a:spcPts val="0"/>
              </a:spcBef>
              <a:spcAft>
                <a:spcPts val="0"/>
              </a:spcAft>
            </a:pPr>
            <a:r>
              <a:rPr sz="4200" b="1" i="0">
                <a:solidFill>
                  <a:srgbClr val="E7EDF4"/>
                </a:solidFill>
                <a:latin typeface="Segoe UI"/>
              </a:rPr>
              <a:t>The kernel was never the bottleneck —</a:t>
            </a:r>
            <a:r>
              <a:rPr sz="1700" b="1" i="0" baseline="110000">
                <a:solidFill>
                  <a:srgbClr val="6B7A90"/>
                </a:solidFill>
                <a:latin typeface="Segoe UI"/>
              </a:rPr>
              <a:t>*</a:t>
            </a:r>
            <a:r>
              <a:rPr sz="4200" b="1" i="0">
                <a:solidFill>
                  <a:srgbClr val="E7EDF4"/>
                </a:solidFill>
                <a:latin typeface="Segoe UI"/>
              </a:rPr>
              <a:t> feeding it was</a:t>
            </a:r>
          </a:p>
        </p:txBody>
      </p:sp>
      <p:sp>
        <p:nvSpPr>
          <p:cNvPr id="6" name="TextBox 5"/>
          <p:cNvSpPr txBox="1"/>
          <p:nvPr/>
        </p:nvSpPr>
        <p:spPr>
          <a:xfrm>
            <a:off x="740664" y="2560320"/>
            <a:ext cx="10771632" cy="411480"/>
          </a:xfrm>
          <a:prstGeom prst="rect">
            <a:avLst/>
          </a:prstGeom>
          <a:noFill/>
        </p:spPr>
        <p:txBody>
          <a:bodyPr wrap="square" lIns="0" rIns="0" tIns="0" bIns="0" anchor="t">
            <a:spAutoFit/>
          </a:bodyPr>
          <a:lstStyle/>
          <a:p>
            <a:pPr>
              <a:lnSpc>
                <a:spcPct val="105000"/>
              </a:lnSpc>
              <a:spcBef>
                <a:spcPts val="0"/>
              </a:spcBef>
              <a:spcAft>
                <a:spcPts val="0"/>
              </a:spcAft>
            </a:pPr>
            <a:r>
              <a:rPr sz="2200" b="0" i="0">
                <a:solidFill>
                  <a:srgbClr val="1E90C2"/>
                </a:solidFill>
                <a:latin typeface="Segoe UI"/>
              </a:rPr>
              <a:t>One kernel, one thread per pixel, and seven steps to keep it fed</a:t>
            </a:r>
          </a:p>
        </p:txBody>
      </p:sp>
      <p:sp>
        <p:nvSpPr>
          <p:cNvPr id="7" name="TextBox 6"/>
          <p:cNvSpPr txBox="1"/>
          <p:nvPr/>
        </p:nvSpPr>
        <p:spPr>
          <a:xfrm>
            <a:off x="740664" y="3108960"/>
            <a:ext cx="10771632" cy="822960"/>
          </a:xfrm>
          <a:prstGeom prst="rect">
            <a:avLst/>
          </a:prstGeom>
          <a:noFill/>
        </p:spPr>
        <p:txBody>
          <a:bodyPr wrap="square" lIns="0" rIns="0" tIns="0" bIns="0" anchor="t">
            <a:spAutoFit/>
          </a:bodyPr>
          <a:lstStyle/>
          <a:p>
            <a:pPr>
              <a:lnSpc>
                <a:spcPct val="130000"/>
              </a:lnSpc>
              <a:spcBef>
                <a:spcPts val="0"/>
              </a:spcBef>
              <a:spcAft>
                <a:spcPts val="0"/>
              </a:spcAft>
            </a:pPr>
            <a:r>
              <a:rPr sz="1250" b="0" i="0">
                <a:solidFill>
                  <a:srgbClr val="A5B2C4"/>
                </a:solidFill>
                <a:latin typeface="Segoe UI"/>
              </a:rPr>
              <a:t>The stencil was fast almost immediately: at 3×3 the kernel needs 5.5 µs per frame while getting that frame across PCIe costs 16.6 µs, or 13.2 uncontended. The frame is gated by PCIe, not the arithmetic. Six of the seven steps get data in, get results back, and measure honestly.</a:t>
            </a:r>
          </a:p>
        </p:txBody>
      </p:sp>
      <p:sp>
        <p:nvSpPr>
          <p:cNvPr id="8" name="TextBox 7"/>
          <p:cNvSpPr txBox="1"/>
          <p:nvPr/>
        </p:nvSpPr>
        <p:spPr>
          <a:xfrm>
            <a:off x="740664" y="4023360"/>
            <a:ext cx="10771632" cy="237744"/>
          </a:xfrm>
          <a:prstGeom prst="rect">
            <a:avLst/>
          </a:prstGeom>
          <a:noFill/>
        </p:spPr>
        <p:txBody>
          <a:bodyPr wrap="square" lIns="0" rIns="0" tIns="0" bIns="0" anchor="t">
            <a:spAutoFit/>
          </a:bodyPr>
          <a:lstStyle/>
          <a:p>
            <a:pPr>
              <a:spcBef>
                <a:spcPts val="0"/>
              </a:spcBef>
              <a:spcAft>
                <a:spcPts val="0"/>
              </a:spcAft>
            </a:pPr>
            <a:r>
              <a:rPr sz="900" b="1" i="0" spc="140">
                <a:solidFill>
                  <a:srgbClr val="E8B25C"/>
                </a:solidFill>
                <a:latin typeface="Segoe UI"/>
              </a:rPr>
              <a:t>WHERE THIS ENDS UP · THE SHIPPED f32 BUILD AFTER ALL SEVEN STEPS · ENGINE TIMES [f32 · s4] · RECONCILED IN A1</a:t>
            </a:r>
          </a:p>
        </p:txBody>
      </p:sp>
      <p:sp>
        <p:nvSpPr>
          <p:cNvPr id="9" name="Rectangle 8"/>
          <p:cNvSpPr/>
          <p:nvPr/>
        </p:nvSpPr>
        <p:spPr>
          <a:xfrm>
            <a:off x="740664" y="4370832"/>
            <a:ext cx="36576" cy="86868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4370832"/>
            <a:ext cx="2359152" cy="502920"/>
          </a:xfrm>
          <a:prstGeom prst="rect">
            <a:avLst/>
          </a:prstGeom>
          <a:noFill/>
        </p:spPr>
        <p:txBody>
          <a:bodyPr wrap="square" lIns="0" rIns="0" tIns="0" bIns="0" anchor="t">
            <a:spAutoFit/>
          </a:bodyPr>
          <a:lstStyle/>
          <a:p>
            <a:pPr>
              <a:spcBef>
                <a:spcPts val="0"/>
              </a:spcBef>
              <a:spcAft>
                <a:spcPts val="0"/>
              </a:spcAft>
            </a:pPr>
            <a:r>
              <a:rPr sz="3000" b="1" i="0">
                <a:solidFill>
                  <a:srgbClr val="1E90C2"/>
                </a:solidFill>
                <a:latin typeface="Segoe UI"/>
              </a:rPr>
              <a:t>×9.1</a:t>
            </a:r>
          </a:p>
        </p:txBody>
      </p:sp>
      <p:sp>
        <p:nvSpPr>
          <p:cNvPr id="11" name="TextBox 10"/>
          <p:cNvSpPr txBox="1"/>
          <p:nvPr/>
        </p:nvSpPr>
        <p:spPr>
          <a:xfrm>
            <a:off x="941832" y="4946904"/>
            <a:ext cx="2359152"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12" name="Rectangle 11"/>
          <p:cNvSpPr/>
          <p:nvPr/>
        </p:nvSpPr>
        <p:spPr>
          <a:xfrm>
            <a:off x="3438144" y="4370832"/>
            <a:ext cx="36576"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4370832"/>
            <a:ext cx="2359152"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61,312</a:t>
            </a:r>
          </a:p>
        </p:txBody>
      </p:sp>
      <p:sp>
        <p:nvSpPr>
          <p:cNvPr id="14" name="TextBox 13"/>
          <p:cNvSpPr txBox="1"/>
          <p:nvPr/>
        </p:nvSpPr>
        <p:spPr>
          <a:xfrm>
            <a:off x="3639312" y="4946904"/>
            <a:ext cx="2359152"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FRAMES / SECOND</a:t>
            </a:r>
          </a:p>
        </p:txBody>
      </p:sp>
      <p:sp>
        <p:nvSpPr>
          <p:cNvPr id="15" name="Rectangle 14"/>
          <p:cNvSpPr/>
          <p:nvPr/>
        </p:nvSpPr>
        <p:spPr>
          <a:xfrm>
            <a:off x="6135624" y="4370832"/>
            <a:ext cx="36576"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36792" y="4370832"/>
            <a:ext cx="2359152"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16.3 µs</a:t>
            </a:r>
          </a:p>
        </p:txBody>
      </p:sp>
      <p:sp>
        <p:nvSpPr>
          <p:cNvPr id="17" name="TextBox 16"/>
          <p:cNvSpPr txBox="1"/>
          <p:nvPr/>
        </p:nvSpPr>
        <p:spPr>
          <a:xfrm>
            <a:off x="6336792" y="4946904"/>
            <a:ext cx="2359152"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END TO END</a:t>
            </a:r>
          </a:p>
        </p:txBody>
      </p:sp>
      <p:sp>
        <p:nvSpPr>
          <p:cNvPr id="18" name="Rectangle 17"/>
          <p:cNvSpPr/>
          <p:nvPr/>
        </p:nvSpPr>
        <p:spPr>
          <a:xfrm>
            <a:off x="8833104" y="4370832"/>
            <a:ext cx="36576" cy="86868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34272" y="4370832"/>
            <a:ext cx="2359152" cy="502920"/>
          </a:xfrm>
          <a:prstGeom prst="rect">
            <a:avLst/>
          </a:prstGeom>
          <a:noFill/>
        </p:spPr>
        <p:txBody>
          <a:bodyPr wrap="square" lIns="0" rIns="0" tIns="0" bIns="0" anchor="t">
            <a:spAutoFit/>
          </a:bodyPr>
          <a:lstStyle/>
          <a:p>
            <a:pPr>
              <a:spcBef>
                <a:spcPts val="0"/>
              </a:spcBef>
              <a:spcAft>
                <a:spcPts val="0"/>
              </a:spcAft>
            </a:pPr>
            <a:r>
              <a:rPr sz="3000" b="1" i="0">
                <a:solidFill>
                  <a:srgbClr val="E8B25C"/>
                </a:solidFill>
                <a:latin typeface="Segoe UI"/>
              </a:rPr>
              <a:t>6 / 23 M</a:t>
            </a:r>
          </a:p>
        </p:txBody>
      </p:sp>
      <p:sp>
        <p:nvSpPr>
          <p:cNvPr id="20" name="TextBox 19"/>
          <p:cNvSpPr txBox="1"/>
          <p:nvPr/>
        </p:nvSpPr>
        <p:spPr>
          <a:xfrm>
            <a:off x="9034272" y="4946904"/>
            <a:ext cx="2359152"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CLUSTER MISMATCH VS CPU TWIN</a:t>
            </a:r>
          </a:p>
        </p:txBody>
      </p:sp>
      <p:sp>
        <p:nvSpPr>
          <p:cNvPr id="21" name="Rectangle 20"/>
          <p:cNvSpPr/>
          <p:nvPr/>
        </p:nvSpPr>
        <p:spPr>
          <a:xfrm>
            <a:off x="740664" y="5532120"/>
            <a:ext cx="10396728" cy="10972"/>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5715000"/>
            <a:ext cx="10771632" cy="548640"/>
          </a:xfrm>
          <a:prstGeom prst="rect">
            <a:avLst/>
          </a:prstGeom>
          <a:noFill/>
        </p:spPr>
        <p:txBody>
          <a:bodyPr wrap="square" lIns="0" rIns="0" tIns="0" bIns="0" anchor="t">
            <a:spAutoFit/>
          </a:bodyPr>
          <a:lstStyle/>
          <a:p>
            <a:pPr>
              <a:lnSpc>
                <a:spcPct val="135000"/>
              </a:lnSpc>
              <a:spcBef>
                <a:spcPts val="0"/>
              </a:spcBef>
              <a:spcAft>
                <a:spcPts val="0"/>
              </a:spcAft>
            </a:pPr>
            <a:r>
              <a:rPr sz="1000" b="0" i="0">
                <a:solidFill>
                  <a:srgbClr val="6B7A90"/>
                </a:solidFill>
                <a:latin typeface="Segoe UI"/>
              </a:rPr>
              <a:t>RTX 4090 (Ada, sm_89) · PCIe 4.0 ×16 · Mönch 400×400 uint16 · 3×3 clusters · 100 000 frames · Cu fluorescence, MAX IV</a:t>
            </a:r>
          </a:p>
        </p:txBody>
      </p:sp>
      <p:sp>
        <p:nvSpPr>
          <p:cNvPr id="23" name="TextBox 22"/>
          <p:cNvSpPr txBox="1"/>
          <p:nvPr/>
        </p:nvSpPr>
        <p:spPr>
          <a:xfrm>
            <a:off x="740664" y="6144768"/>
            <a:ext cx="10771632" cy="274320"/>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  This em dash was hand written (not AI generated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389888"/>
            <a:ext cx="5477256" cy="274320"/>
          </a:xfrm>
          <a:prstGeom prst="rect">
            <a:avLst/>
          </a:prstGeom>
          <a:noFill/>
        </p:spPr>
        <p:txBody>
          <a:bodyPr wrap="square" lIns="0" rIns="0" tIns="0" bIns="0" anchor="t">
            <a:spAutoFit/>
          </a:bodyPr>
          <a:lstStyle/>
          <a:p>
            <a:pPr>
              <a:spcBef>
                <a:spcPts val="0"/>
              </a:spcBef>
              <a:spcAft>
                <a:spcPts val="0"/>
              </a:spcAft>
            </a:pPr>
            <a:r>
              <a:rPr sz="1050" b="1" i="0" spc="180">
                <a:solidFill>
                  <a:srgbClr val="6B7A90"/>
                </a:solidFill>
                <a:latin typeface="Segoe UI"/>
              </a:rPr>
              <a:t>CONTEXT · WHAT THE CODE DOES</a:t>
            </a:r>
          </a:p>
        </p:txBody>
      </p:sp>
      <p:sp>
        <p:nvSpPr>
          <p:cNvPr id="5" name="TextBox 4"/>
          <p:cNvSpPr txBox="1"/>
          <p:nvPr/>
        </p:nvSpPr>
        <p:spPr>
          <a:xfrm>
            <a:off x="740664" y="1737360"/>
            <a:ext cx="566928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What the kernel does, and what limits it</a:t>
            </a:r>
          </a:p>
        </p:txBody>
      </p:sp>
      <p:sp>
        <p:nvSpPr>
          <p:cNvPr id="6" name="Rectangle 5"/>
          <p:cNvSpPr/>
          <p:nvPr/>
        </p:nvSpPr>
        <p:spPr>
          <a:xfrm>
            <a:off x="740664" y="3127248"/>
            <a:ext cx="141732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3383280"/>
            <a:ext cx="5385816" cy="1463040"/>
          </a:xfrm>
          <a:prstGeom prst="rect">
            <a:avLst/>
          </a:prstGeom>
          <a:noFill/>
        </p:spPr>
        <p:txBody>
          <a:bodyPr wrap="square" lIns="0" rIns="0" tIns="0" bIns="0" anchor="t">
            <a:spAutoFit/>
          </a:bodyPr>
          <a:lstStyle/>
          <a:p>
            <a:pPr>
              <a:lnSpc>
                <a:spcPct val="135000"/>
              </a:lnSpc>
              <a:spcBef>
                <a:spcPts val="0"/>
              </a:spcBef>
              <a:spcAft>
                <a:spcPts val="0"/>
              </a:spcAft>
            </a:pPr>
            <a:r>
              <a:rPr sz="1600" b="0" i="0">
                <a:solidFill>
                  <a:srgbClr val="A5B2C4"/>
                </a:solidFill>
                <a:latin typeface="Segoe UI"/>
              </a:rPr>
              <a:t>No optimizations yet, only what the hardware has to do.</a:t>
            </a:r>
          </a:p>
        </p:txBody>
      </p:sp>
      <p:sp>
        <p:nvSpPr>
          <p:cNvPr id="8" name="Rectangle 7"/>
          <p:cNvSpPr/>
          <p:nvPr/>
        </p:nvSpPr>
        <p:spPr>
          <a:xfrm>
            <a:off x="6556248"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30568" y="2317813"/>
            <a:ext cx="4727448" cy="237744"/>
          </a:xfrm>
          <a:prstGeom prst="rect">
            <a:avLst/>
          </a:prstGeom>
          <a:noFill/>
        </p:spPr>
        <p:txBody>
          <a:bodyPr wrap="square" lIns="0" rIns="0" tIns="0" bIns="0" anchor="t">
            <a:spAutoFit/>
          </a:bodyPr>
          <a:lstStyle/>
          <a:p>
            <a:pPr>
              <a:spcBef>
                <a:spcPts val="0"/>
              </a:spcBef>
              <a:spcAft>
                <a:spcPts val="0"/>
              </a:spcAft>
            </a:pPr>
            <a:r>
              <a:rPr sz="1000" b="1" i="0" spc="160">
                <a:solidFill>
                  <a:srgbClr val="6B7A90"/>
                </a:solidFill>
                <a:latin typeface="Segoe UI"/>
              </a:rPr>
              <a:t>COMING UP</a:t>
            </a:r>
          </a:p>
        </p:txBody>
      </p:sp>
      <p:sp>
        <p:nvSpPr>
          <p:cNvPr id="10" name="TextBox 9"/>
          <p:cNvSpPr txBox="1"/>
          <p:nvPr/>
        </p:nvSpPr>
        <p:spPr>
          <a:xfrm>
            <a:off x="6830568" y="2738437"/>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Consolas"/>
              </a:rPr>
              <a:t>3–4</a:t>
            </a:r>
          </a:p>
        </p:txBody>
      </p:sp>
      <p:sp>
        <p:nvSpPr>
          <p:cNvPr id="11" name="TextBox 10"/>
          <p:cNvSpPr txBox="1"/>
          <p:nvPr/>
        </p:nvSpPr>
        <p:spPr>
          <a:xfrm>
            <a:off x="7360920" y="2738437"/>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The algorithm</a:t>
            </a:r>
          </a:p>
        </p:txBody>
      </p:sp>
      <p:sp>
        <p:nvSpPr>
          <p:cNvPr id="12" name="TextBox 11"/>
          <p:cNvSpPr txBox="1"/>
          <p:nvPr/>
        </p:nvSpPr>
        <p:spPr>
          <a:xfrm>
            <a:off x="6830568" y="3197542"/>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Consolas"/>
              </a:rPr>
              <a:t>5–6</a:t>
            </a:r>
          </a:p>
        </p:txBody>
      </p:sp>
      <p:sp>
        <p:nvSpPr>
          <p:cNvPr id="13" name="TextBox 12"/>
          <p:cNvSpPr txBox="1"/>
          <p:nvPr/>
        </p:nvSpPr>
        <p:spPr>
          <a:xfrm>
            <a:off x="7360920" y="3197542"/>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The two machines</a:t>
            </a:r>
          </a:p>
        </p:txBody>
      </p:sp>
      <p:sp>
        <p:nvSpPr>
          <p:cNvPr id="14" name="TextBox 13"/>
          <p:cNvSpPr txBox="1"/>
          <p:nvPr/>
        </p:nvSpPr>
        <p:spPr>
          <a:xfrm>
            <a:off x="6830568" y="3656647"/>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Consolas"/>
              </a:rPr>
              <a:t>7–8</a:t>
            </a:r>
          </a:p>
        </p:txBody>
      </p:sp>
      <p:sp>
        <p:nvSpPr>
          <p:cNvPr id="15" name="TextBox 14"/>
          <p:cNvSpPr txBox="1"/>
          <p:nvPr/>
        </p:nvSpPr>
        <p:spPr>
          <a:xfrm>
            <a:off x="7360920" y="3656647"/>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The CUDA kernel</a:t>
            </a:r>
          </a:p>
        </p:txBody>
      </p:sp>
      <p:sp>
        <p:nvSpPr>
          <p:cNvPr id="16" name="TextBox 15"/>
          <p:cNvSpPr txBox="1"/>
          <p:nvPr/>
        </p:nvSpPr>
        <p:spPr>
          <a:xfrm>
            <a:off x="6830568" y="4115752"/>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Consolas"/>
              </a:rPr>
              <a:t>9–10</a:t>
            </a:r>
          </a:p>
        </p:txBody>
      </p:sp>
      <p:sp>
        <p:nvSpPr>
          <p:cNvPr id="17" name="TextBox 16"/>
          <p:cNvSpPr txBox="1"/>
          <p:nvPr/>
        </p:nvSpPr>
        <p:spPr>
          <a:xfrm>
            <a:off x="7360920" y="4115752"/>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What limits it</a:t>
            </a:r>
          </a:p>
        </p:txBody>
      </p:sp>
      <p:sp>
        <p:nvSpPr>
          <p:cNvPr id="18" name="TextBox 17"/>
          <p:cNvSpPr txBox="1"/>
          <p:nvPr/>
        </p:nvSpPr>
        <p:spPr>
          <a:xfrm>
            <a:off x="6830568" y="4574857"/>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Consolas"/>
              </a:rPr>
              <a:t>11</a:t>
            </a:r>
          </a:p>
        </p:txBody>
      </p:sp>
      <p:sp>
        <p:nvSpPr>
          <p:cNvPr id="19" name="TextBox 18"/>
          <p:cNvSpPr txBox="1"/>
          <p:nvPr/>
        </p:nvSpPr>
        <p:spPr>
          <a:xfrm>
            <a:off x="7360920" y="4574857"/>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The roadmap</a:t>
            </a:r>
          </a:p>
        </p:txBody>
      </p:sp>
      <p:sp>
        <p:nvSpPr>
          <p:cNvPr id="20" name="Rectangle 19"/>
          <p:cNvSpPr/>
          <p:nvPr/>
        </p:nvSpPr>
        <p:spPr>
          <a:xfrm>
            <a:off x="45720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5998"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3397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2277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1157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0037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WHAT IT IS FOR</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photon is not a pixel — it is a cluster</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 / 36</a:t>
            </a:r>
          </a:p>
        </p:txBody>
      </p:sp>
      <p:sp>
        <p:nvSpPr>
          <p:cNvPr id="43" name="TextBox 42"/>
          <p:cNvSpPr txBox="1"/>
          <p:nvPr/>
        </p:nvSpPr>
        <p:spPr>
          <a:xfrm>
            <a:off x="457200" y="1664208"/>
            <a:ext cx="7461504"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One photon's charge </a:t>
            </a:r>
            <a:r>
              <a:rPr sz="1500" b="1" i="0">
                <a:solidFill>
                  <a:srgbClr val="E7EDF4"/>
                </a:solidFill>
                <a:latin typeface="Segoe UI"/>
              </a:rPr>
              <a:t>spreads over neighbouring pixels</a:t>
            </a:r>
            <a:r>
              <a:rPr sz="1500" b="0" i="0">
                <a:solidFill>
                  <a:srgbClr val="A5B2C4"/>
                </a:solidFill>
                <a:latin typeface="Segoe UI"/>
              </a:rPr>
              <a:t>; summing the 3×3 patch recovers its energy.</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The histogram of those cluster energies </a:t>
            </a:r>
            <a:r>
              <a:rPr sz="1500" b="1" i="0">
                <a:solidFill>
                  <a:srgbClr val="E7EDF4"/>
                </a:solidFill>
                <a:latin typeface="Segoe UI"/>
              </a:rPr>
              <a:t>is</a:t>
            </a:r>
            <a:r>
              <a:rPr sz="1500" b="0" i="0">
                <a:solidFill>
                  <a:srgbClr val="A5B2C4"/>
                </a:solidFill>
                <a:latin typeface="Segoe UI"/>
              </a:rPr>
              <a:t> the measurement: peak and width give gain and </a:t>
            </a:r>
            <a:r>
              <a:rPr sz="1500" b="1" i="0">
                <a:solidFill>
                  <a:srgbClr val="E7EDF4"/>
                </a:solidFill>
                <a:latin typeface="Segoe UI"/>
              </a:rPr>
              <a:t>energy resolution</a:t>
            </a:r>
            <a:r>
              <a:rPr sz="1500" b="0" i="0">
                <a:solidFill>
                  <a:srgbClr val="A5B2C4"/>
                </a:solidFill>
                <a:latin typeface="Segoe UI"/>
              </a:rPr>
              <a:t>.</a:t>
            </a:r>
          </a:p>
        </p:txBody>
      </p:sp>
      <p:pic>
        <p:nvPicPr>
          <p:cNvPr id="44" name="Picture 43" descr="fig_frame.png"/>
          <p:cNvPicPr>
            <a:picLocks noChangeAspect="1"/>
          </p:cNvPicPr>
          <p:nvPr/>
        </p:nvPicPr>
        <p:blipFill>
          <a:blip r:embed="rId2"/>
          <a:stretch>
            <a:fillRect/>
          </a:stretch>
        </p:blipFill>
        <p:spPr>
          <a:xfrm>
            <a:off x="457200" y="2926080"/>
            <a:ext cx="7040880" cy="3229371"/>
          </a:xfrm>
          <a:prstGeom prst="rect">
            <a:avLst/>
          </a:prstGeom>
        </p:spPr>
      </p:pic>
      <p:sp>
        <p:nvSpPr>
          <p:cNvPr id="45" name="Rectangle 44"/>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85632" y="178308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WHY IT MATTERS</a:t>
            </a:r>
          </a:p>
        </p:txBody>
      </p:sp>
      <p:sp>
        <p:nvSpPr>
          <p:cNvPr id="47" name="Rounded Rectangle 46"/>
          <p:cNvSpPr/>
          <p:nvPr/>
        </p:nvSpPr>
        <p:spPr>
          <a:xfrm>
            <a:off x="8394192" y="2029967"/>
            <a:ext cx="3493008" cy="1669927"/>
          </a:xfrm>
          <a:prstGeom prst="round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g_spectra.png"/>
          <p:cNvPicPr>
            <a:picLocks noChangeAspect="1"/>
          </p:cNvPicPr>
          <p:nvPr/>
        </p:nvPicPr>
        <p:blipFill>
          <a:blip r:embed="rId3"/>
          <a:stretch>
            <a:fillRect/>
          </a:stretch>
        </p:blipFill>
        <p:spPr>
          <a:xfrm>
            <a:off x="8485632" y="2121408"/>
            <a:ext cx="3310128" cy="1487047"/>
          </a:xfrm>
          <a:prstGeom prst="rect">
            <a:avLst/>
          </a:prstGeom>
        </p:spPr>
      </p:pic>
      <p:sp>
        <p:nvSpPr>
          <p:cNvPr id="49" name="TextBox 48"/>
          <p:cNvSpPr txBox="1"/>
          <p:nvPr/>
        </p:nvSpPr>
        <p:spPr>
          <a:xfrm>
            <a:off x="8485632" y="3882775"/>
            <a:ext cx="3310128"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Cluster-energy spectra from an energy scan.</a:t>
            </a:r>
          </a:p>
        </p:txBody>
      </p:sp>
      <p:sp>
        <p:nvSpPr>
          <p:cNvPr id="50" name="TextBox 49"/>
          <p:cNvSpPr txBox="1"/>
          <p:nvPr/>
        </p:nvSpPr>
        <p:spPr>
          <a:xfrm>
            <a:off x="8485632" y="4498848"/>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MÖNCH03 · THE DETECTOR THIS FEEDS</a:t>
            </a:r>
          </a:p>
        </p:txBody>
      </p:sp>
      <p:sp>
        <p:nvSpPr>
          <p:cNvPr id="51" name="TextBox 50"/>
          <p:cNvSpPr txBox="1"/>
          <p:nvPr/>
        </p:nvSpPr>
        <p:spPr>
          <a:xfrm>
            <a:off x="8485632" y="479145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ARRAY · PITCH · ACTIVE AREA</a:t>
            </a:r>
          </a:p>
        </p:txBody>
      </p:sp>
      <p:sp>
        <p:nvSpPr>
          <p:cNvPr id="52" name="TextBox 51"/>
          <p:cNvSpPr txBox="1"/>
          <p:nvPr/>
        </p:nvSpPr>
        <p:spPr>
          <a:xfrm>
            <a:off x="8485632" y="5010912"/>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400 × 400 · 25 µm · 10 × 10 mm²</a:t>
            </a:r>
          </a:p>
        </p:txBody>
      </p:sp>
      <p:sp>
        <p:nvSpPr>
          <p:cNvPr id="53" name="TextBox 52"/>
          <p:cNvSpPr txBox="1"/>
          <p:nvPr/>
        </p:nvSpPr>
        <p:spPr>
          <a:xfrm>
            <a:off x="8485632" y="5449824"/>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FRAMES PER SECOND</a:t>
            </a:r>
          </a:p>
        </p:txBody>
      </p:sp>
      <p:sp>
        <p:nvSpPr>
          <p:cNvPr id="54" name="TextBox 53"/>
          <p:cNvSpPr txBox="1"/>
          <p:nvPr/>
        </p:nvSpPr>
        <p:spPr>
          <a:xfrm>
            <a:off x="8485632" y="5669280"/>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1.3 k standard, 3–6 k optimised</a:t>
            </a:r>
          </a:p>
        </p:txBody>
      </p:sp>
      <p:sp>
        <p:nvSpPr>
          <p:cNvPr id="55" name="TextBox 54"/>
          <p:cNvSpPr txBox="1"/>
          <p:nvPr/>
        </p:nvSpPr>
        <p:spPr>
          <a:xfrm>
            <a:off x="8485632" y="6108192"/>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PEAK PIXELS = PHOTONS / FRAME</a:t>
            </a:r>
          </a:p>
        </p:txBody>
      </p:sp>
      <p:sp>
        <p:nvSpPr>
          <p:cNvPr id="56" name="TextBox 55"/>
          <p:cNvSpPr txBox="1"/>
          <p:nvPr/>
        </p:nvSpPr>
        <p:spPr>
          <a:xfrm>
            <a:off x="8485632" y="6327648"/>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~2 330   ·   1.5 %</a:t>
            </a:r>
          </a:p>
        </p:txBody>
      </p:sp>
      <p:sp>
        <p:nvSpPr>
          <p:cNvPr id="57" name="TextBox 56"/>
          <p:cNvSpPr txBox="1"/>
          <p:nvPr/>
        </p:nvSpPr>
        <p:spPr>
          <a:xfrm>
            <a:off x="457200" y="6419088"/>
            <a:ext cx="7461504"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Real MÖNCH data, Cu fluorescence, MAX IV. One cluster per local maximum, so 2 330 counts photons.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PER FRAME</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Per pixel: subtract, threshold, update the pedestal</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4 / 36</a:t>
            </a:r>
          </a:p>
        </p:txBody>
      </p:sp>
      <p:sp>
        <p:nvSpPr>
          <p:cNvPr id="43" name="TextBox 42"/>
          <p:cNvSpPr txBox="1"/>
          <p:nvPr/>
        </p:nvSpPr>
        <p:spPr>
          <a:xfrm>
            <a:off x="457200" y="1664208"/>
            <a:ext cx="7461504"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Per pixel: subtract a </a:t>
            </a:r>
            <a:r>
              <a:rPr sz="1500" b="1" i="0">
                <a:solidFill>
                  <a:srgbClr val="E7EDF4"/>
                </a:solidFill>
                <a:latin typeface="Segoe UI"/>
              </a:rPr>
              <a:t>running pedestal</a:t>
            </a:r>
            <a:r>
              <a:rPr sz="1500" b="0" i="0">
                <a:solidFill>
                  <a:srgbClr val="A5B2C4"/>
                </a:solidFill>
                <a:latin typeface="Segoe UI"/>
              </a:rPr>
              <a:t>, keep what clears </a:t>
            </a:r>
            <a:r>
              <a:rPr sz="1500" b="1" i="0">
                <a:solidFill>
                  <a:srgbClr val="E7EDF4"/>
                </a:solidFill>
                <a:latin typeface="Segoe UI"/>
              </a:rPr>
              <a:t>nσ · rms</a:t>
            </a:r>
            <a:r>
              <a:rPr sz="1500" b="0" i="0">
                <a:solidFill>
                  <a:srgbClr val="A5B2C4"/>
                </a:solidFill>
                <a:latin typeface="Segoe UI"/>
              </a:rPr>
              <a:t>, cut a 3×3 cluster around each local maximum.</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The pedestal is </a:t>
            </a:r>
            <a:r>
              <a:rPr sz="1500" b="1" i="0">
                <a:solidFill>
                  <a:srgbClr val="E7EDF4"/>
                </a:solidFill>
                <a:latin typeface="Segoe UI"/>
              </a:rPr>
              <a:t>updated by ~80 % of pixels every frame</a:t>
            </a:r>
            <a:r>
              <a:rPr sz="1500" b="0" i="0">
                <a:solidFill>
                  <a:srgbClr val="A5B2C4"/>
                </a:solidFill>
                <a:latin typeface="Segoe UI"/>
              </a:rPr>
              <a:t>, so arithmetic and data movement are coupled.</a:t>
            </a:r>
          </a:p>
        </p:txBody>
      </p:sp>
      <p:sp>
        <p:nvSpPr>
          <p:cNvPr id="44" name="Rounded Rectangle 43"/>
          <p:cNvSpPr/>
          <p:nvPr/>
        </p:nvSpPr>
        <p:spPr>
          <a:xfrm>
            <a:off x="457200" y="3072384"/>
            <a:ext cx="7461504" cy="1890613"/>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3182112"/>
            <a:ext cx="7132320"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THE WHOLE ALGORITHM · THREE OUTCOMES, NOT TWO</a:t>
            </a:r>
          </a:p>
        </p:txBody>
      </p:sp>
      <p:sp>
        <p:nvSpPr>
          <p:cNvPr id="46" name="TextBox 45"/>
          <p:cNvSpPr txBox="1"/>
          <p:nvPr/>
        </p:nvSpPr>
        <p:spPr>
          <a:xfrm>
            <a:off x="621792" y="3401568"/>
            <a:ext cx="7132320" cy="1671157"/>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7C8A9E"/>
                </a:solidFill>
                <a:latin typeface="Consolas"/>
              </a:rPr>
              <a:t>// the whole algorithm, per pixel</a:t>
            </a:r>
          </a:p>
          <a:p>
            <a:pPr>
              <a:lnSpc>
                <a:spcPct val="112000"/>
              </a:lnSpc>
              <a:spcBef>
                <a:spcPts val="0"/>
              </a:spcBef>
              <a:spcAft>
                <a:spcPts val="0"/>
              </a:spcAft>
            </a:pPr>
            <a:r>
              <a:rPr sz="1050" b="0" i="0">
                <a:solidFill>
                  <a:srgbClr val="A5B2C4"/>
                </a:solidFill>
                <a:latin typeface="Consolas"/>
              </a:rPr>
              <a:t>v   = frame[i] - pedestal_mean[i]</a:t>
            </a:r>
          </a:p>
          <a:p>
            <a:pPr>
              <a:lnSpc>
                <a:spcPct val="112000"/>
              </a:lnSpc>
              <a:spcBef>
                <a:spcPts val="0"/>
              </a:spcBef>
              <a:spcAft>
                <a:spcPts val="0"/>
              </a:spcAft>
            </a:pPr>
            <a:r>
              <a:rPr sz="1050" b="0" i="0">
                <a:solidFill>
                  <a:srgbClr val="A5B2C4"/>
                </a:solidFill>
                <a:latin typeface="Consolas"/>
              </a:rPr>
              <a:t>rms = pedestal rms at i</a:t>
            </a:r>
          </a:p>
          <a:p>
            <a:pPr>
              <a:lnSpc>
                <a:spcPct val="112000"/>
              </a:lnSpc>
              <a:spcBef>
                <a:spcPts val="0"/>
              </a:spcBef>
              <a:spcAft>
                <a:spcPts val="0"/>
              </a:spcAft>
            </a:pPr>
            <a:r>
              <a:rPr sz="1050" b="0" i="0">
                <a:solidFill>
                  <a:srgbClr val="A5B2C4"/>
                </a:solidFill>
                <a:latin typeface="Consolas"/>
              </a:rPr>
              <a:t>m   = max(v) over the 3x3 window at i</a:t>
            </a:r>
          </a:p>
          <a:p>
            <a:pPr>
              <a:lnSpc>
                <a:spcPct val="112000"/>
              </a:lnSpc>
              <a:spcBef>
                <a:spcPts val="0"/>
              </a:spcBef>
              <a:spcAft>
                <a:spcPts val="0"/>
              </a:spcAft>
            </a:pPr>
            <a:r>
              <a:rPr sz="1050" b="0" i="0">
                <a:solidFill>
                  <a:srgbClr val="A5B2C4"/>
                </a:solidFill>
                <a:latin typeface="Consolas"/>
              </a:rPr>
              <a:t>if (m &gt; </a:t>
            </a:r>
            <a:r>
              <a:rPr sz="1050" b="1" i="0">
                <a:solidFill>
                  <a:srgbClr val="1E90C2"/>
                </a:solidFill>
                <a:latin typeface="Consolas"/>
              </a:rPr>
              <a:t>nSigma</a:t>
            </a:r>
            <a:r>
              <a:rPr sz="1050" b="0" i="0">
                <a:solidFill>
                  <a:srgbClr val="A5B2C4"/>
                </a:solidFill>
                <a:latin typeface="Consolas"/>
              </a:rPr>
              <a:t> * rms)                  // a photon is within reach</a:t>
            </a:r>
          </a:p>
          <a:p>
            <a:pPr>
              <a:lnSpc>
                <a:spcPct val="112000"/>
              </a:lnSpc>
              <a:spcBef>
                <a:spcPts val="0"/>
              </a:spcBef>
              <a:spcAft>
                <a:spcPts val="0"/>
              </a:spcAft>
            </a:pPr>
            <a:r>
              <a:rPr sz="1050" b="0" i="0">
                <a:solidFill>
                  <a:srgbClr val="A5B2C4"/>
                </a:solidFill>
                <a:latin typeface="Consolas"/>
              </a:rPr>
              <a:t>    if (v == m) -&gt; emit cluster        //   ... and I am its peak</a:t>
            </a:r>
          </a:p>
          <a:p>
            <a:pPr>
              <a:lnSpc>
                <a:spcPct val="112000"/>
              </a:lnSpc>
              <a:spcBef>
                <a:spcPts val="0"/>
              </a:spcBef>
              <a:spcAft>
                <a:spcPts val="0"/>
              </a:spcAft>
            </a:pPr>
            <a:r>
              <a:rPr sz="1050" b="0" i="0">
                <a:solidFill>
                  <a:srgbClr val="A5B2C4"/>
                </a:solidFill>
                <a:latin typeface="Consolas"/>
              </a:rPr>
              <a:t>    else        -&gt; </a:t>
            </a:r>
            <a:r>
              <a:rPr sz="1050" b="1" i="0">
                <a:solidFill>
                  <a:srgbClr val="1E90C2"/>
                </a:solidFill>
                <a:latin typeface="Consolas"/>
              </a:rPr>
              <a:t>nothing</a:t>
            </a:r>
            <a:r>
              <a:rPr sz="1050" b="0" i="0">
                <a:solidFill>
                  <a:srgbClr val="A5B2C4"/>
                </a:solidFill>
                <a:latin typeface="Consolas"/>
              </a:rPr>
              <a:t>             //   ... I am in its shadow</a:t>
            </a:r>
          </a:p>
          <a:p>
            <a:pPr>
              <a:lnSpc>
                <a:spcPct val="112000"/>
              </a:lnSpc>
              <a:spcBef>
                <a:spcPts val="0"/>
              </a:spcBef>
              <a:spcAft>
                <a:spcPts val="0"/>
              </a:spcAft>
            </a:pPr>
            <a:r>
              <a:rPr sz="1050" b="0" i="0">
                <a:solidFill>
                  <a:srgbClr val="A5B2C4"/>
                </a:solidFill>
                <a:latin typeface="Consolas"/>
              </a:rPr>
              <a:t>else            -&gt; update pedestal     // I saw nothing</a:t>
            </a:r>
          </a:p>
        </p:txBody>
      </p:sp>
      <p:sp>
        <p:nvSpPr>
          <p:cNvPr id="47" name="Rectangle 46"/>
          <p:cNvSpPr/>
          <p:nvPr/>
        </p:nvSpPr>
        <p:spPr>
          <a:xfrm>
            <a:off x="498348" y="5358384"/>
            <a:ext cx="7420356"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 y="5358384"/>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13232" y="5449824"/>
            <a:ext cx="7004304" cy="530352"/>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Thesis of this talk:</a:t>
            </a:r>
            <a:r>
              <a:rPr sz="1300" b="0" i="0">
                <a:solidFill>
                  <a:srgbClr val="A5B2C4"/>
                </a:solidFill>
                <a:latin typeface="Segoe UI"/>
              </a:rPr>
              <a:t> the compute was fast almost immediately. Six of the seven steps are about feeding it.</a:t>
            </a:r>
          </a:p>
        </p:txBody>
      </p:sp>
      <p:sp>
        <p:nvSpPr>
          <p:cNvPr id="50" name="Rectangle 49"/>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85632" y="192024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THE SHAPE OF THE WORK</a:t>
            </a:r>
          </a:p>
        </p:txBody>
      </p:sp>
      <p:sp>
        <p:nvSpPr>
          <p:cNvPr id="52" name="TextBox 51"/>
          <p:cNvSpPr txBox="1"/>
          <p:nvPr/>
        </p:nvSpPr>
        <p:spPr>
          <a:xfrm>
            <a:off x="8485632" y="2395728"/>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WORK ITEMS PER FRAME</a:t>
            </a:r>
          </a:p>
        </p:txBody>
      </p:sp>
      <p:sp>
        <p:nvSpPr>
          <p:cNvPr id="53" name="TextBox 52"/>
          <p:cNvSpPr txBox="1"/>
          <p:nvPr/>
        </p:nvSpPr>
        <p:spPr>
          <a:xfrm>
            <a:off x="8485632" y="2615184"/>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160 000</a:t>
            </a:r>
          </a:p>
        </p:txBody>
      </p:sp>
      <p:sp>
        <p:nvSpPr>
          <p:cNvPr id="54" name="TextBox 53"/>
          <p:cNvSpPr txBox="1"/>
          <p:nvPr/>
        </p:nvSpPr>
        <p:spPr>
          <a:xfrm>
            <a:off x="8485632" y="341985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OPERATIONS ON EACH</a:t>
            </a:r>
          </a:p>
        </p:txBody>
      </p:sp>
      <p:sp>
        <p:nvSpPr>
          <p:cNvPr id="55" name="TextBox 54"/>
          <p:cNvSpPr txBox="1"/>
          <p:nvPr/>
        </p:nvSpPr>
        <p:spPr>
          <a:xfrm>
            <a:off x="8485632" y="3639312"/>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~5, identical</a:t>
            </a:r>
          </a:p>
        </p:txBody>
      </p:sp>
      <p:sp>
        <p:nvSpPr>
          <p:cNvPr id="56" name="TextBox 55"/>
          <p:cNvSpPr txBox="1"/>
          <p:nvPr/>
        </p:nvSpPr>
        <p:spPr>
          <a:xfrm>
            <a:off x="8485632" y="424281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COMMUNICATION BETWEEN THEM</a:t>
            </a:r>
          </a:p>
        </p:txBody>
      </p:sp>
      <p:sp>
        <p:nvSpPr>
          <p:cNvPr id="57" name="TextBox 56"/>
          <p:cNvSpPr txBox="1"/>
          <p:nvPr/>
        </p:nvSpPr>
        <p:spPr>
          <a:xfrm>
            <a:off x="8485632" y="4462272"/>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none</a:t>
            </a:r>
          </a:p>
        </p:txBody>
      </p:sp>
      <p:sp>
        <p:nvSpPr>
          <p:cNvPr id="58" name="TextBox 57"/>
          <p:cNvSpPr txBox="1"/>
          <p:nvPr/>
        </p:nvSpPr>
        <p:spPr>
          <a:xfrm>
            <a:off x="8485632" y="5065775"/>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ORDER THEY MAY RUN IN</a:t>
            </a:r>
          </a:p>
        </p:txBody>
      </p:sp>
      <p:sp>
        <p:nvSpPr>
          <p:cNvPr id="59" name="TextBox 58"/>
          <p:cNvSpPr txBox="1"/>
          <p:nvPr/>
        </p:nvSpPr>
        <p:spPr>
          <a:xfrm>
            <a:off x="8485632" y="5285231"/>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any, once the pedestal is fixed</a:t>
            </a:r>
          </a:p>
        </p:txBody>
      </p:sp>
      <p:sp>
        <p:nvSpPr>
          <p:cNvPr id="60" name="TextBox 59"/>
          <p:cNvSpPr txBox="1"/>
          <p:nvPr/>
        </p:nvSpPr>
        <p:spPr>
          <a:xfrm>
            <a:off x="8485632" y="5907023"/>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BYTES PER FRAME</a:t>
            </a:r>
          </a:p>
        </p:txBody>
      </p:sp>
      <p:sp>
        <p:nvSpPr>
          <p:cNvPr id="61" name="TextBox 60"/>
          <p:cNvSpPr txBox="1"/>
          <p:nvPr/>
        </p:nvSpPr>
        <p:spPr>
          <a:xfrm>
            <a:off x="8485632" y="6126479"/>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312.5 kB · ~2 330 clusters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STARTING FROM</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latency-oriented, built to finish one thread fast</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5 / 36</a:t>
            </a:r>
          </a:p>
        </p:txBody>
      </p:sp>
      <p:pic>
        <p:nvPicPr>
          <p:cNvPr id="43" name="Picture 42" descr="img_cpu_core.png"/>
          <p:cNvPicPr>
            <a:picLocks noChangeAspect="1"/>
          </p:cNvPicPr>
          <p:nvPr/>
        </p:nvPicPr>
        <p:blipFill>
          <a:blip r:embed="rId2"/>
          <a:stretch>
            <a:fillRect/>
          </a:stretch>
        </p:blipFill>
        <p:spPr>
          <a:xfrm>
            <a:off x="457200" y="1664208"/>
            <a:ext cx="6144768" cy="2901586"/>
          </a:xfrm>
          <a:prstGeom prst="rect">
            <a:avLst/>
          </a:prstGeom>
        </p:spPr>
      </p:pic>
      <p:pic>
        <p:nvPicPr>
          <p:cNvPr id="44" name="Picture 43" descr="img_cpu_die.png"/>
          <p:cNvPicPr>
            <a:picLocks noChangeAspect="1"/>
          </p:cNvPicPr>
          <p:nvPr/>
        </p:nvPicPr>
        <p:blipFill>
          <a:blip r:embed="rId3"/>
          <a:stretch>
            <a:fillRect/>
          </a:stretch>
        </p:blipFill>
        <p:spPr>
          <a:xfrm>
            <a:off x="457200" y="4608576"/>
            <a:ext cx="4297680" cy="1830684"/>
          </a:xfrm>
          <a:prstGeom prst="rect">
            <a:avLst/>
          </a:prstGeom>
        </p:spPr>
      </p:pic>
      <p:sp>
        <p:nvSpPr>
          <p:cNvPr id="45" name="Rectangle 44"/>
          <p:cNvSpPr/>
          <p:nvPr/>
        </p:nvSpPr>
        <p:spPr>
          <a:xfrm>
            <a:off x="4960620" y="4608576"/>
            <a:ext cx="2967228" cy="12252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919472" y="4608576"/>
            <a:ext cx="41148" cy="122529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75504" y="4700016"/>
            <a:ext cx="2551176" cy="1042416"/>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Count the boxes: </a:t>
            </a:r>
            <a:r>
              <a:rPr sz="1300" b="1" i="0">
                <a:solidFill>
                  <a:srgbClr val="E7EDF4"/>
                </a:solidFill>
                <a:latin typeface="Segoe UI"/>
              </a:rPr>
              <a:t>6 fetch/decode</a:t>
            </a:r>
            <a:r>
              <a:rPr sz="1300" b="0" i="0">
                <a:solidFill>
                  <a:srgbClr val="A5B2C4"/>
                </a:solidFill>
                <a:latin typeface="Segoe UI"/>
              </a:rPr>
              <a:t> and two levels of private cache, all to keep </a:t>
            </a:r>
            <a:r>
              <a:rPr sz="1300" b="1" i="0">
                <a:solidFill>
                  <a:srgbClr val="E7EDF4"/>
                </a:solidFill>
                <a:latin typeface="Segoe UI"/>
              </a:rPr>
              <a:t>two</a:t>
            </a:r>
            <a:r>
              <a:rPr sz="1300" b="0" i="0">
                <a:solidFill>
                  <a:srgbClr val="A5B2C4"/>
                </a:solidFill>
                <a:latin typeface="Segoe UI"/>
              </a:rPr>
              <a:t> instruction streams fed. The ALUs are the small part.</a:t>
            </a:r>
          </a:p>
        </p:txBody>
      </p:sp>
      <p:sp>
        <p:nvSpPr>
          <p:cNvPr id="48" name="TextBox 47"/>
          <p:cNvSpPr txBox="1"/>
          <p:nvPr/>
        </p:nvSpPr>
        <p:spPr>
          <a:xfrm>
            <a:off x="4919472" y="6016752"/>
            <a:ext cx="3008376"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Both diagrams after Stanford CS149, Fall 2025.</a:t>
            </a:r>
          </a:p>
        </p:txBody>
      </p:sp>
      <p:sp>
        <p:nvSpPr>
          <p:cNvPr id="49" name="Rectangle 48"/>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85632" y="182880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PC-MOENCH-04 · AMD RYZEN 9 7950X</a:t>
            </a:r>
          </a:p>
        </p:txBody>
      </p:sp>
      <p:sp>
        <p:nvSpPr>
          <p:cNvPr id="51" name="TextBox 50"/>
          <p:cNvSpPr txBox="1"/>
          <p:nvPr/>
        </p:nvSpPr>
        <p:spPr>
          <a:xfrm>
            <a:off x="8485632" y="2212848"/>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CORES × SMT</a:t>
            </a:r>
          </a:p>
        </p:txBody>
      </p:sp>
      <p:sp>
        <p:nvSpPr>
          <p:cNvPr id="52" name="TextBox 51"/>
          <p:cNvSpPr txBox="1"/>
          <p:nvPr/>
        </p:nvSpPr>
        <p:spPr>
          <a:xfrm>
            <a:off x="8485632" y="2432304"/>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 2</a:t>
            </a:r>
          </a:p>
        </p:txBody>
      </p:sp>
      <p:sp>
        <p:nvSpPr>
          <p:cNvPr id="53" name="TextBox 52"/>
          <p:cNvSpPr txBox="1"/>
          <p:nvPr/>
        </p:nvSpPr>
        <p:spPr>
          <a:xfrm>
            <a:off x="8485632" y="3182112"/>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CPU, 1 THREAD</a:t>
            </a:r>
          </a:p>
        </p:txBody>
      </p:sp>
      <p:sp>
        <p:nvSpPr>
          <p:cNvPr id="54" name="TextBox 53"/>
          <p:cNvSpPr txBox="1"/>
          <p:nvPr/>
        </p:nvSpPr>
        <p:spPr>
          <a:xfrm>
            <a:off x="8485632" y="3401568"/>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6B7A90"/>
                </a:solidFill>
                <a:latin typeface="Segoe UI"/>
              </a:rPr>
              <a:t>1.75 ms</a:t>
            </a:r>
          </a:p>
        </p:txBody>
      </p:sp>
      <p:sp>
        <p:nvSpPr>
          <p:cNvPr id="55" name="TextBox 54"/>
          <p:cNvSpPr txBox="1"/>
          <p:nvPr/>
        </p:nvSpPr>
        <p:spPr>
          <a:xfrm>
            <a:off x="8485632" y="4114800"/>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CPU MT, 24 THREADS</a:t>
            </a:r>
          </a:p>
        </p:txBody>
      </p:sp>
      <p:sp>
        <p:nvSpPr>
          <p:cNvPr id="56" name="TextBox 55"/>
          <p:cNvSpPr txBox="1"/>
          <p:nvPr/>
        </p:nvSpPr>
        <p:spPr>
          <a:xfrm>
            <a:off x="8485632" y="4334256"/>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148 µs</a:t>
            </a:r>
          </a:p>
        </p:txBody>
      </p:sp>
      <p:sp>
        <p:nvSpPr>
          <p:cNvPr id="57" name="TextBox 56"/>
          <p:cNvSpPr txBox="1"/>
          <p:nvPr/>
        </p:nvSpPr>
        <p:spPr>
          <a:xfrm>
            <a:off x="8485632" y="5102351"/>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THAT IS THE BAR</a:t>
            </a:r>
          </a:p>
        </p:txBody>
      </p:sp>
      <p:sp>
        <p:nvSpPr>
          <p:cNvPr id="58" name="TextBox 57"/>
          <p:cNvSpPr txBox="1"/>
          <p:nvPr/>
        </p:nvSpPr>
        <p:spPr>
          <a:xfrm>
            <a:off x="8485632" y="5321807"/>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6 762 frames / s</a:t>
            </a:r>
          </a:p>
        </p:txBody>
      </p:sp>
      <p:sp>
        <p:nvSpPr>
          <p:cNvPr id="59" name="TextBox 58"/>
          <p:cNvSpPr txBox="1"/>
          <p:nvPr/>
        </p:nvSpPr>
        <p:spPr>
          <a:xfrm>
            <a:off x="8485632" y="5907023"/>
            <a:ext cx="3310128" cy="82296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A5B2C4"/>
                </a:solidFill>
                <a:latin typeface="Segoe UI"/>
              </a:rPr>
              <a:t>Thread count is swept per cluster size, not assumed: 24 at 3×3, 32 at 9×9.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MOVING TO</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GPU: throughput-oriented, the whole frame at once</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6 / 36</a:t>
            </a:r>
          </a:p>
        </p:txBody>
      </p:sp>
      <p:pic>
        <p:nvPicPr>
          <p:cNvPr id="43" name="Picture 42" descr="img_gpu_die.png"/>
          <p:cNvPicPr>
            <a:picLocks noChangeAspect="1"/>
          </p:cNvPicPr>
          <p:nvPr/>
        </p:nvPicPr>
        <p:blipFill>
          <a:blip r:embed="rId2"/>
          <a:stretch>
            <a:fillRect/>
          </a:stretch>
        </p:blipFill>
        <p:spPr>
          <a:xfrm>
            <a:off x="457200" y="1664208"/>
            <a:ext cx="2596896" cy="2561950"/>
          </a:xfrm>
          <a:prstGeom prst="rect">
            <a:avLst/>
          </a:prstGeom>
        </p:spPr>
      </p:pic>
      <p:sp>
        <p:nvSpPr>
          <p:cNvPr id="44" name="TextBox 43"/>
          <p:cNvSpPr txBox="1"/>
          <p:nvPr/>
        </p:nvSpPr>
        <p:spPr>
          <a:xfrm>
            <a:off x="457200" y="4718304"/>
            <a:ext cx="2596896"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AD102 · 144 blocks, 128 enabled on this card. One SM boxed.</a:t>
            </a:r>
          </a:p>
        </p:txBody>
      </p:sp>
      <p:pic>
        <p:nvPicPr>
          <p:cNvPr id="45" name="Picture 44" descr="img_gpu_sm.png"/>
          <p:cNvPicPr>
            <a:picLocks noChangeAspect="1"/>
          </p:cNvPicPr>
          <p:nvPr/>
        </p:nvPicPr>
        <p:blipFill>
          <a:blip r:embed="rId3"/>
          <a:stretch>
            <a:fillRect/>
          </a:stretch>
        </p:blipFill>
        <p:spPr>
          <a:xfrm>
            <a:off x="3337560" y="1664208"/>
            <a:ext cx="4489704" cy="3018346"/>
          </a:xfrm>
          <a:prstGeom prst="rect">
            <a:avLst/>
          </a:prstGeom>
        </p:spPr>
      </p:pic>
      <p:pic>
        <p:nvPicPr>
          <p:cNvPr id="46" name="Picture 45" descr="img_gpu_legend.png"/>
          <p:cNvPicPr>
            <a:picLocks noChangeAspect="1"/>
          </p:cNvPicPr>
          <p:nvPr/>
        </p:nvPicPr>
        <p:blipFill>
          <a:blip r:embed="rId4"/>
          <a:stretch>
            <a:fillRect/>
          </a:stretch>
        </p:blipFill>
        <p:spPr>
          <a:xfrm>
            <a:off x="3337560" y="4718304"/>
            <a:ext cx="4489704" cy="564802"/>
          </a:xfrm>
          <a:prstGeom prst="rect">
            <a:avLst/>
          </a:prstGeom>
        </p:spPr>
      </p:pic>
      <p:sp>
        <p:nvSpPr>
          <p:cNvPr id="47" name="Rectangle 46"/>
          <p:cNvSpPr/>
          <p:nvPr/>
        </p:nvSpPr>
        <p:spPr>
          <a:xfrm>
            <a:off x="498348" y="5358384"/>
            <a:ext cx="7420356"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 y="5358384"/>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13232" y="5449824"/>
            <a:ext cx="7004304" cy="475488"/>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Same grammar, inverted proportions: </a:t>
            </a:r>
            <a:r>
              <a:rPr sz="1300" b="1" i="0">
                <a:solidFill>
                  <a:srgbClr val="E7EDF4"/>
                </a:solidFill>
                <a:latin typeface="Segoe UI"/>
              </a:rPr>
              <a:t>4 fetch/decode</a:t>
            </a:r>
            <a:r>
              <a:rPr sz="1300" b="0" i="0">
                <a:solidFill>
                  <a:srgbClr val="A5B2C4"/>
                </a:solidFill>
                <a:latin typeface="Segoe UI"/>
              </a:rPr>
              <a:t> for </a:t>
            </a:r>
            <a:r>
              <a:rPr sz="1300" b="1" i="0">
                <a:solidFill>
                  <a:srgbClr val="E7EDF4"/>
                </a:solidFill>
                <a:latin typeface="Segoe UI"/>
              </a:rPr>
              <a:t>64 warp contexts</a:t>
            </a:r>
            <a:r>
              <a:rPr sz="1300" b="0" i="0">
                <a:solidFill>
                  <a:srgbClr val="A5B2C4"/>
                </a:solidFill>
                <a:latin typeface="Segoe UI"/>
              </a:rPr>
              <a:t>.</a:t>
            </a:r>
          </a:p>
        </p:txBody>
      </p:sp>
      <p:sp>
        <p:nvSpPr>
          <p:cNvPr id="50" name="TextBox 49"/>
          <p:cNvSpPr txBox="1"/>
          <p:nvPr/>
        </p:nvSpPr>
        <p:spPr>
          <a:xfrm>
            <a:off x="457200" y="6163056"/>
            <a:ext cx="7461504"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One SM: a V100 is shown; this card's is the same idea: 128 FP32 lanes, 48 warp slots, 100 kB shared memory. After Stanford CS149, Fall 2025.</a:t>
            </a:r>
          </a:p>
        </p:txBody>
      </p:sp>
      <p:sp>
        <p:nvSpPr>
          <p:cNvPr id="51" name="Rectangle 50"/>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85632" y="182880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NVIDIA GEFORCE RTX 4090</a:t>
            </a:r>
          </a:p>
        </p:txBody>
      </p:sp>
      <p:sp>
        <p:nvSpPr>
          <p:cNvPr id="53" name="TextBox 52"/>
          <p:cNvSpPr txBox="1"/>
          <p:nvPr/>
        </p:nvSpPr>
        <p:spPr>
          <a:xfrm>
            <a:off x="8485632" y="223113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FP32 LANES</a:t>
            </a:r>
          </a:p>
        </p:txBody>
      </p:sp>
      <p:sp>
        <p:nvSpPr>
          <p:cNvPr id="54" name="TextBox 53"/>
          <p:cNvSpPr txBox="1"/>
          <p:nvPr/>
        </p:nvSpPr>
        <p:spPr>
          <a:xfrm>
            <a:off x="8485632" y="2450591"/>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16 384</a:t>
            </a:r>
          </a:p>
        </p:txBody>
      </p:sp>
      <p:sp>
        <p:nvSpPr>
          <p:cNvPr id="55" name="TextBox 54"/>
          <p:cNvSpPr txBox="1"/>
          <p:nvPr/>
        </p:nvSpPr>
        <p:spPr>
          <a:xfrm>
            <a:off x="8485632" y="3163824"/>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128 SMS × 128 LANES</a:t>
            </a:r>
          </a:p>
        </p:txBody>
      </p:sp>
      <p:sp>
        <p:nvSpPr>
          <p:cNvPr id="56" name="TextBox 55"/>
          <p:cNvSpPr txBox="1"/>
          <p:nvPr/>
        </p:nvSpPr>
        <p:spPr>
          <a:xfrm>
            <a:off x="8485632" y="3383280"/>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vs 32 CPU streams</a:t>
            </a:r>
          </a:p>
        </p:txBody>
      </p:sp>
      <p:sp>
        <p:nvSpPr>
          <p:cNvPr id="57" name="TextBox 56"/>
          <p:cNvSpPr txBox="1"/>
          <p:nvPr/>
        </p:nvSpPr>
        <p:spPr>
          <a:xfrm>
            <a:off x="8485632" y="3950207"/>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RESIDENT THREAD SLOTS</a:t>
            </a:r>
          </a:p>
        </p:txBody>
      </p:sp>
      <p:sp>
        <p:nvSpPr>
          <p:cNvPr id="58" name="TextBox 57"/>
          <p:cNvSpPr txBox="1"/>
          <p:nvPr/>
        </p:nvSpPr>
        <p:spPr>
          <a:xfrm>
            <a:off x="8485632" y="4169663"/>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196 608</a:t>
            </a:r>
          </a:p>
        </p:txBody>
      </p:sp>
      <p:sp>
        <p:nvSpPr>
          <p:cNvPr id="59" name="TextBox 58"/>
          <p:cNvSpPr txBox="1"/>
          <p:nvPr/>
        </p:nvSpPr>
        <p:spPr>
          <a:xfrm>
            <a:off x="8485632" y="488289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THE FRAME NEEDS</a:t>
            </a:r>
          </a:p>
        </p:txBody>
      </p:sp>
      <p:sp>
        <p:nvSpPr>
          <p:cNvPr id="60" name="TextBox 59"/>
          <p:cNvSpPr txBox="1"/>
          <p:nvPr/>
        </p:nvSpPr>
        <p:spPr>
          <a:xfrm>
            <a:off x="8485632" y="5102352"/>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160 000  →  all at once</a:t>
            </a:r>
          </a:p>
        </p:txBody>
      </p:sp>
      <p:sp>
        <p:nvSpPr>
          <p:cNvPr id="61" name="TextBox 60"/>
          <p:cNvSpPr txBox="1"/>
          <p:nvPr/>
        </p:nvSpPr>
        <p:spPr>
          <a:xfrm>
            <a:off x="8485632" y="5724144"/>
            <a:ext cx="3310128" cy="82296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A5B2C4"/>
                </a:solidFill>
                <a:latin typeface="Segoe UI"/>
              </a:rPr>
              <a:t>Device memory runs at 1 008 GB/s (384-bit, 21 Gbps); PCIe delivers 25. Two copy engines, so H2D and D2H run at the same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EXECUTION MODEL</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thread per pixel</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7 / 36</a:t>
            </a:r>
          </a:p>
        </p:txBody>
      </p:sp>
      <p:sp>
        <p:nvSpPr>
          <p:cNvPr id="43" name="Rectangle 42"/>
          <p:cNvSpPr/>
          <p:nvPr/>
        </p:nvSpPr>
        <p:spPr>
          <a:xfrm>
            <a:off x="457200" y="1664208"/>
            <a:ext cx="2029968"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7200" y="166420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1709928"/>
            <a:ext cx="1737360"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1  </a:t>
            </a:r>
            <a:r>
              <a:rPr sz="1250" b="0" i="0">
                <a:solidFill>
                  <a:srgbClr val="E7EDF4"/>
                </a:solidFill>
                <a:latin typeface="Segoe UI"/>
              </a:rPr>
              <a:t>load tile + halo</a:t>
            </a:r>
          </a:p>
        </p:txBody>
      </p:sp>
      <p:sp>
        <p:nvSpPr>
          <p:cNvPr id="46" name="TextBox 45"/>
          <p:cNvSpPr txBox="1"/>
          <p:nvPr/>
        </p:nvSpPr>
        <p:spPr>
          <a:xfrm>
            <a:off x="2487168" y="170992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7" name="Rectangle 46"/>
          <p:cNvSpPr/>
          <p:nvPr/>
        </p:nvSpPr>
        <p:spPr>
          <a:xfrm>
            <a:off x="2761488" y="1664208"/>
            <a:ext cx="2029968"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61488" y="166420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944368" y="1709928"/>
            <a:ext cx="1737360"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2  </a:t>
            </a:r>
            <a:r>
              <a:rPr sz="1250" b="0" i="0">
                <a:solidFill>
                  <a:srgbClr val="E7EDF4"/>
                </a:solidFill>
                <a:latin typeface="Segoe UI"/>
              </a:rPr>
              <a:t>__syncthreads</a:t>
            </a:r>
          </a:p>
        </p:txBody>
      </p:sp>
      <p:sp>
        <p:nvSpPr>
          <p:cNvPr id="50" name="TextBox 49"/>
          <p:cNvSpPr txBox="1"/>
          <p:nvPr/>
        </p:nvSpPr>
        <p:spPr>
          <a:xfrm>
            <a:off x="4791456" y="170992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1" name="Rectangle 50"/>
          <p:cNvSpPr/>
          <p:nvPr/>
        </p:nvSpPr>
        <p:spPr>
          <a:xfrm>
            <a:off x="5065776" y="1664208"/>
            <a:ext cx="2029968"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065776" y="166420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48656" y="1709928"/>
            <a:ext cx="1737360"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3  </a:t>
            </a:r>
            <a:r>
              <a:rPr sz="1250" b="0" i="0">
                <a:solidFill>
                  <a:srgbClr val="E7EDF4"/>
                </a:solidFill>
                <a:latin typeface="Segoe UI"/>
              </a:rPr>
              <a:t>stencil reduction</a:t>
            </a:r>
          </a:p>
        </p:txBody>
      </p:sp>
      <p:sp>
        <p:nvSpPr>
          <p:cNvPr id="54" name="TextBox 53"/>
          <p:cNvSpPr txBox="1"/>
          <p:nvPr/>
        </p:nvSpPr>
        <p:spPr>
          <a:xfrm>
            <a:off x="7095744" y="170992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5" name="Rectangle 54"/>
          <p:cNvSpPr/>
          <p:nvPr/>
        </p:nvSpPr>
        <p:spPr>
          <a:xfrm>
            <a:off x="7370064" y="1664208"/>
            <a:ext cx="2029968"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370064" y="166420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52944" y="1709928"/>
            <a:ext cx="1737360"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4  </a:t>
            </a:r>
            <a:r>
              <a:rPr sz="1250" b="0" i="0">
                <a:solidFill>
                  <a:srgbClr val="E7EDF4"/>
                </a:solidFill>
                <a:latin typeface="Segoe UI"/>
              </a:rPr>
              <a:t>classify</a:t>
            </a:r>
          </a:p>
        </p:txBody>
      </p:sp>
      <p:sp>
        <p:nvSpPr>
          <p:cNvPr id="58" name="TextBox 57"/>
          <p:cNvSpPr txBox="1"/>
          <p:nvPr/>
        </p:nvSpPr>
        <p:spPr>
          <a:xfrm>
            <a:off x="9400032" y="170992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9" name="Rectangle 58"/>
          <p:cNvSpPr/>
          <p:nvPr/>
        </p:nvSpPr>
        <p:spPr>
          <a:xfrm>
            <a:off x="9674352" y="1664208"/>
            <a:ext cx="2029968"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674352" y="166420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857232" y="1709928"/>
            <a:ext cx="1737360"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5  </a:t>
            </a:r>
            <a:r>
              <a:rPr sz="1250" b="0" i="0">
                <a:solidFill>
                  <a:srgbClr val="E7EDF4"/>
                </a:solidFill>
                <a:latin typeface="Segoe UI"/>
              </a:rPr>
              <a:t>append or update pedestal</a:t>
            </a:r>
          </a:p>
        </p:txBody>
      </p:sp>
      <p:sp>
        <p:nvSpPr>
          <p:cNvPr id="62" name="TextBox 61"/>
          <p:cNvSpPr txBox="1"/>
          <p:nvPr/>
        </p:nvSpPr>
        <p:spPr>
          <a:xfrm>
            <a:off x="457200" y="2395728"/>
            <a:ext cx="708660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A </a:t>
            </a:r>
            <a:r>
              <a:rPr sz="1500" b="1" i="0">
                <a:solidFill>
                  <a:srgbClr val="E7EDF4"/>
                </a:solidFill>
                <a:latin typeface="Segoe UI"/>
              </a:rPr>
              <a:t>16×16 block = 256 threads</a:t>
            </a:r>
            <a:r>
              <a:rPr sz="1500" b="0" i="0">
                <a:solidFill>
                  <a:srgbClr val="A5B2C4"/>
                </a:solidFill>
                <a:latin typeface="Segoe UI"/>
              </a:rPr>
              <a:t>; the grid tiles the frame in </a:t>
            </a:r>
            <a:r>
              <a:rPr sz="1500" b="1" i="0">
                <a:solidFill>
                  <a:srgbClr val="E7EDF4"/>
                </a:solidFill>
                <a:latin typeface="Segoe UI"/>
              </a:rPr>
              <a:t>625 identical blocks</a:t>
            </a:r>
            <a:r>
              <a:rPr sz="1500" b="0" i="0">
                <a:solidFill>
                  <a:srgbClr val="A5B2C4"/>
                </a:solidFill>
                <a:latin typeface="Segoe UI"/>
              </a:rPr>
              <a:t>.</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The output is </a:t>
            </a:r>
            <a:r>
              <a:rPr sz="1500" b="1" i="0">
                <a:solidFill>
                  <a:srgbClr val="E7EDF4"/>
                </a:solidFill>
                <a:latin typeface="Segoe UI"/>
              </a:rPr>
              <a:t>sparse</a:t>
            </a:r>
            <a:r>
              <a:rPr sz="1500" b="0" i="0">
                <a:solidFill>
                  <a:srgbClr val="A5B2C4"/>
                </a:solidFill>
                <a:latin typeface="Segoe UI"/>
              </a:rPr>
              <a:t>, but the </a:t>
            </a:r>
            <a:r>
              <a:rPr sz="1500" b="1" i="0">
                <a:solidFill>
                  <a:srgbClr val="E7EDF4"/>
                </a:solidFill>
                <a:latin typeface="Segoe UI"/>
              </a:rPr>
              <a:t>decision work is dense</a:t>
            </a:r>
            <a:r>
              <a:rPr sz="1500" b="0" i="0">
                <a:solidFill>
                  <a:srgbClr val="A5B2C4"/>
                </a:solidFill>
                <a:latin typeface="Segoe UI"/>
              </a:rPr>
              <a:t>: every pixel is tested, </a:t>
            </a:r>
            <a:r>
              <a:rPr sz="1500" b="1" i="0">
                <a:solidFill>
                  <a:srgbClr val="E7EDF4"/>
                </a:solidFill>
                <a:latin typeface="Segoe UI"/>
              </a:rPr>
              <a:t>160 000 times per frame</a:t>
            </a:r>
            <a:r>
              <a:rPr sz="1500" b="0" i="0">
                <a:solidFill>
                  <a:srgbClr val="A5B2C4"/>
                </a:solidFill>
                <a:latin typeface="Segoe UI"/>
              </a:rPr>
              <a:t>.</a:t>
            </a:r>
          </a:p>
        </p:txBody>
      </p:sp>
      <p:sp>
        <p:nvSpPr>
          <p:cNvPr id="63" name="Rounded Rectangle 62"/>
          <p:cNvSpPr/>
          <p:nvPr/>
        </p:nvSpPr>
        <p:spPr>
          <a:xfrm>
            <a:off x="457200" y="3639312"/>
            <a:ext cx="7086600" cy="1527688"/>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21792" y="3749039"/>
            <a:ext cx="6757416"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LAUNCH CONFIGURATION · ClusterFinderCUDA.hpp</a:t>
            </a:r>
          </a:p>
        </p:txBody>
      </p:sp>
      <p:sp>
        <p:nvSpPr>
          <p:cNvPr id="65" name="TextBox 64"/>
          <p:cNvSpPr txBox="1"/>
          <p:nvPr/>
        </p:nvSpPr>
        <p:spPr>
          <a:xfrm>
            <a:off x="621792" y="3968496"/>
            <a:ext cx="6757416" cy="1308232"/>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A5B2C4"/>
                </a:solidFill>
                <a:latin typeface="Consolas"/>
              </a:rPr>
              <a:t>block = dim3(BLOCK_X, BLOCK_Y);            // 16 x 16</a:t>
            </a:r>
          </a:p>
          <a:p>
            <a:pPr>
              <a:lnSpc>
                <a:spcPct val="112000"/>
              </a:lnSpc>
              <a:spcBef>
                <a:spcPts val="0"/>
              </a:spcBef>
              <a:spcAft>
                <a:spcPts val="0"/>
              </a:spcAft>
            </a:pPr>
            <a:r>
              <a:rPr sz="1050" b="0" i="0">
                <a:solidFill>
                  <a:srgbClr val="A5B2C4"/>
                </a:solidFill>
                <a:latin typeface="Consolas"/>
              </a:rPr>
              <a:t>grid  = dim3((ncols + BLOCK_X - 1)/BLOCK_X,</a:t>
            </a:r>
          </a:p>
          <a:p>
            <a:pPr>
              <a:lnSpc>
                <a:spcPct val="112000"/>
              </a:lnSpc>
              <a:spcBef>
                <a:spcPts val="0"/>
              </a:spcBef>
              <a:spcAft>
                <a:spcPts val="0"/>
              </a:spcAft>
            </a:pPr>
            <a:r>
              <a:rPr sz="1050" b="0" i="0">
                <a:solidFill>
                  <a:srgbClr val="A5B2C4"/>
                </a:solidFill>
                <a:latin typeface="Consolas"/>
              </a:rPr>
              <a:t>             (nrows + BLOCK_Y - 1)/BLOCK_Y);</a:t>
            </a:r>
          </a:p>
          <a:p>
            <a:pPr>
              <a:lnSpc>
                <a:spcPct val="112000"/>
              </a:lnSpc>
              <a:spcBef>
                <a:spcPts val="0"/>
              </a:spcBef>
              <a:spcAft>
                <a:spcPts val="0"/>
              </a:spcAft>
            </a:pPr>
            <a:r>
              <a:rPr sz="1050" b="0" i="0">
                <a:solidFill>
                  <a:srgbClr val="A5B2C4"/>
                </a:solidFill>
                <a:latin typeface="Consolas"/>
              </a:rPr>
              <a:t>device::find_clusters_in_single_frame&lt;&lt;&lt;grid, block, </a:t>
            </a:r>
            <a:r>
              <a:rPr sz="1050" b="1" i="0">
                <a:solidFill>
                  <a:srgbClr val="1E90C2"/>
                </a:solidFill>
                <a:latin typeface="Consolas"/>
              </a:rPr>
              <a:t>shmem</a:t>
            </a:r>
            <a:r>
              <a:rPr sz="1050" b="0" i="0">
                <a:solidFill>
                  <a:srgbClr val="A5B2C4"/>
                </a:solidFill>
                <a:latin typeface="Consolas"/>
              </a:rPr>
              <a:t>, stream&gt;&gt;&gt;(</a:t>
            </a:r>
          </a:p>
          <a:p>
            <a:pPr>
              <a:lnSpc>
                <a:spcPct val="112000"/>
              </a:lnSpc>
              <a:spcBef>
                <a:spcPts val="0"/>
              </a:spcBef>
              <a:spcAft>
                <a:spcPts val="0"/>
              </a:spcAft>
            </a:pPr>
            <a:r>
              <a:rPr sz="1050" b="0" i="0">
                <a:solidFill>
                  <a:srgbClr val="A5B2C4"/>
                </a:solidFill>
                <a:latin typeface="Consolas"/>
              </a:rPr>
              <a:t>    d_frame, d_pd_mean, d_pd_sum, d_pd_sum2, d_pd_off, n_pd_samples,</a:t>
            </a:r>
          </a:p>
          <a:p>
            <a:pPr>
              <a:lnSpc>
                <a:spcPct val="112000"/>
              </a:lnSpc>
              <a:spcBef>
                <a:spcPts val="0"/>
              </a:spcBef>
              <a:spcAft>
                <a:spcPts val="0"/>
              </a:spcAft>
            </a:pPr>
            <a:r>
              <a:rPr sz="1050" b="0" i="0">
                <a:solidFill>
                  <a:srgbClr val="A5B2C4"/>
                </a:solidFill>
                <a:latin typeface="Consolas"/>
              </a:rPr>
              <a:t>    nSigma, nrows, ncols, d_clusters, d_cluster_count, max_clusters);</a:t>
            </a:r>
          </a:p>
        </p:txBody>
      </p:sp>
      <p:sp>
        <p:nvSpPr>
          <p:cNvPr id="66" name="TextBox 65"/>
          <p:cNvSpPr txBox="1"/>
          <p:nvPr/>
        </p:nvSpPr>
        <p:spPr>
          <a:xfrm>
            <a:off x="457200" y="5285232"/>
            <a:ext cx="708660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400×400 → a 25×25 grid of 16×16 blocks = 625 blocks per frame, over 128 SMs. Nothing in the launch depends on the cluster count.</a:t>
            </a:r>
          </a:p>
        </p:txBody>
      </p:sp>
      <p:sp>
        <p:nvSpPr>
          <p:cNvPr id="67" name="Rounded Rectangle 66"/>
          <p:cNvSpPr/>
          <p:nvPr/>
        </p:nvSpPr>
        <p:spPr>
          <a:xfrm>
            <a:off x="7827264" y="2395728"/>
            <a:ext cx="3877056" cy="2072076"/>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991856" y="2505456"/>
            <a:ext cx="3547872"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THREE OUTCOMES, NOT TWO</a:t>
            </a:r>
          </a:p>
        </p:txBody>
      </p:sp>
      <p:sp>
        <p:nvSpPr>
          <p:cNvPr id="69" name="TextBox 68"/>
          <p:cNvSpPr txBox="1"/>
          <p:nvPr/>
        </p:nvSpPr>
        <p:spPr>
          <a:xfrm>
            <a:off x="7991856" y="2724912"/>
            <a:ext cx="3547872" cy="1852620"/>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7C8A9E"/>
                </a:solidFill>
                <a:latin typeface="Consolas"/>
              </a:rPr>
              <a:t>// ClusterFinder.hpp · the serial CPU</a:t>
            </a:r>
          </a:p>
          <a:p>
            <a:pPr>
              <a:lnSpc>
                <a:spcPct val="112000"/>
              </a:lnSpc>
              <a:spcBef>
                <a:spcPts val="0"/>
              </a:spcBef>
              <a:spcAft>
                <a:spcPts val="0"/>
              </a:spcAft>
            </a:pPr>
            <a:r>
              <a:rPr sz="1050" b="0" i="0">
                <a:solidFill>
                  <a:srgbClr val="A5B2C4"/>
                </a:solidFill>
                <a:latin typeface="Consolas"/>
              </a:rPr>
              <a:t>if (max &gt; nSigma * rms) {</a:t>
            </a:r>
          </a:p>
          <a:p>
            <a:pPr>
              <a:lnSpc>
                <a:spcPct val="112000"/>
              </a:lnSpc>
              <a:spcBef>
                <a:spcPts val="0"/>
              </a:spcBef>
              <a:spcAft>
                <a:spcPts val="0"/>
              </a:spcAft>
            </a:pPr>
            <a:r>
              <a:rPr sz="1050" b="0" i="0">
                <a:solidFill>
                  <a:srgbClr val="A5B2C4"/>
                </a:solidFill>
                <a:latin typeface="Consolas"/>
              </a:rPr>
              <a:t>    if (value &lt; max)</a:t>
            </a:r>
          </a:p>
          <a:p>
            <a:pPr>
              <a:lnSpc>
                <a:spcPct val="112000"/>
              </a:lnSpc>
              <a:spcBef>
                <a:spcPts val="0"/>
              </a:spcBef>
              <a:spcAft>
                <a:spcPts val="0"/>
              </a:spcAft>
            </a:pPr>
            <a:r>
              <a:rPr sz="1050" b="0" i="0">
                <a:solidFill>
                  <a:srgbClr val="A5B2C4"/>
                </a:solidFill>
                <a:latin typeface="Consolas"/>
              </a:rPr>
              <a:t>        continue;</a:t>
            </a:r>
          </a:p>
          <a:p>
            <a:pPr>
              <a:lnSpc>
                <a:spcPct val="112000"/>
              </a:lnSpc>
              <a:spcBef>
                <a:spcPts val="0"/>
              </a:spcBef>
              <a:spcAft>
                <a:spcPts val="0"/>
              </a:spcAft>
            </a:pPr>
            <a:r>
              <a:rPr sz="1050" b="0" i="0">
                <a:solidFill>
                  <a:srgbClr val="7C8A9E"/>
                </a:solidFill>
                <a:latin typeface="Consolas"/>
              </a:rPr>
              <a:t>        // Not max go to the next pixel</a:t>
            </a:r>
          </a:p>
          <a:p>
            <a:pPr>
              <a:lnSpc>
                <a:spcPct val="112000"/>
              </a:lnSpc>
              <a:spcBef>
                <a:spcPts val="0"/>
              </a:spcBef>
              <a:spcAft>
                <a:spcPts val="0"/>
              </a:spcAft>
            </a:pPr>
            <a:r>
              <a:rPr sz="1050" b="0" i="0">
                <a:solidFill>
                  <a:srgbClr val="7C8A9E"/>
                </a:solidFill>
                <a:latin typeface="Consolas"/>
              </a:rPr>
              <a:t>        // but also no pedestal update</a:t>
            </a:r>
          </a:p>
          <a:p>
            <a:pPr>
              <a:lnSpc>
                <a:spcPct val="112000"/>
              </a:lnSpc>
              <a:spcBef>
                <a:spcPts val="0"/>
              </a:spcBef>
              <a:spcAft>
                <a:spcPts val="0"/>
              </a:spcAft>
            </a:pPr>
            <a:r>
              <a:rPr sz="1050" b="0" i="0">
                <a:solidFill>
                  <a:srgbClr val="A5B2C4"/>
                </a:solidFill>
                <a:latin typeface="Consolas"/>
              </a:rPr>
              <a:t>} else {</a:t>
            </a:r>
          </a:p>
          <a:p>
            <a:pPr>
              <a:lnSpc>
                <a:spcPct val="112000"/>
              </a:lnSpc>
              <a:spcBef>
                <a:spcPts val="0"/>
              </a:spcBef>
              <a:spcAft>
                <a:spcPts val="0"/>
              </a:spcAft>
            </a:pPr>
            <a:r>
              <a:rPr sz="1050" b="0" i="0">
                <a:solidFill>
                  <a:srgbClr val="A5B2C4"/>
                </a:solidFill>
                <a:latin typeface="Consolas"/>
              </a:rPr>
              <a:t>    pedestal.</a:t>
            </a:r>
            <a:r>
              <a:rPr sz="1050" b="1" i="0">
                <a:solidFill>
                  <a:srgbClr val="1E90C2"/>
                </a:solidFill>
                <a:latin typeface="Consolas"/>
              </a:rPr>
              <a:t>push_fast</a:t>
            </a:r>
            <a:r>
              <a:rPr sz="1050" b="0" i="0">
                <a:solidFill>
                  <a:srgbClr val="A5B2C4"/>
                </a:solidFill>
                <a:latin typeface="Consolas"/>
              </a:rPr>
              <a:t>(iy, ix, ...);</a:t>
            </a:r>
          </a:p>
          <a:p>
            <a:pPr>
              <a:lnSpc>
                <a:spcPct val="112000"/>
              </a:lnSpc>
              <a:spcBef>
                <a:spcPts val="0"/>
              </a:spcBef>
              <a:spcAft>
                <a:spcPts val="0"/>
              </a:spcAft>
            </a:pPr>
            <a:r>
              <a:rPr sz="1050" b="0" i="0">
                <a:solidFill>
                  <a:srgbClr val="A5B2C4"/>
                </a:solidFill>
                <a:latin typeface="Consolas"/>
              </a:rPr>
              <a:t>}</a:t>
            </a:r>
          </a:p>
        </p:txBody>
      </p:sp>
      <p:sp>
        <p:nvSpPr>
          <p:cNvPr id="70" name="Rectangle 69"/>
          <p:cNvSpPr/>
          <p:nvPr/>
        </p:nvSpPr>
        <p:spPr>
          <a:xfrm>
            <a:off x="7868412" y="4608576"/>
            <a:ext cx="3835908"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7827264" y="4608576"/>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83296" y="4700016"/>
            <a:ext cx="3419856" cy="475488"/>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A shadow pixel is </a:t>
            </a:r>
            <a:r>
              <a:rPr sz="1300" b="1" i="0">
                <a:solidFill>
                  <a:srgbClr val="E7EDF4"/>
                </a:solidFill>
                <a:latin typeface="Segoe UI"/>
              </a:rPr>
              <a:t>neither recorded nor fed back</a:t>
            </a:r>
            <a:r>
              <a:rPr sz="1300" b="0" i="0">
                <a:solidFill>
                  <a:srgbClr val="A5B2C4"/>
                </a:solidFill>
                <a:latin typeface="Segoe UI"/>
              </a:rPr>
              <a:t>.</a:t>
            </a:r>
          </a:p>
        </p:txBody>
      </p:sp>
      <p:sp>
        <p:nvSpPr>
          <p:cNvPr id="73" name="Rectangle 72"/>
          <p:cNvSpPr/>
          <p:nvPr/>
        </p:nvSpPr>
        <p:spPr>
          <a:xfrm>
            <a:off x="7868412" y="5449824"/>
            <a:ext cx="3835908"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827264" y="5449824"/>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083296" y="5541264"/>
            <a:ext cx="3419856" cy="475488"/>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~80 % of threads update the pedestal</a:t>
            </a:r>
            <a:r>
              <a:rPr sz="1300" b="0" i="0">
                <a:solidFill>
                  <a:srgbClr val="A5B2C4"/>
                </a:solidFill>
                <a:latin typeface="Segoe UI"/>
              </a:rPr>
              <a:t>, ~18 % shadow, ~1.5 % peaks.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SHARED MEMORY</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Load the tile once, reuse it nine times</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8 / 36</a:t>
            </a:r>
          </a:p>
        </p:txBody>
      </p:sp>
      <p:sp>
        <p:nvSpPr>
          <p:cNvPr id="43" name="TextBox 42"/>
          <p:cNvSpPr txBox="1"/>
          <p:nvPr/>
        </p:nvSpPr>
        <p:spPr>
          <a:xfrm>
            <a:off x="457200" y="1664208"/>
            <a:ext cx="1133856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Neighbouring threads need </a:t>
            </a:r>
            <a:r>
              <a:rPr sz="1500" b="1" i="0">
                <a:solidFill>
                  <a:srgbClr val="E7EDF4"/>
                </a:solidFill>
                <a:latin typeface="Segoe UI"/>
              </a:rPr>
              <a:t>overlapping</a:t>
            </a:r>
            <a:r>
              <a:rPr sz="1500" b="0" i="0">
                <a:solidFill>
                  <a:srgbClr val="A5B2C4"/>
                </a:solidFill>
                <a:latin typeface="Segoe UI"/>
              </a:rPr>
              <a:t> windows; without shared memory each pixel is fetched up to </a:t>
            </a:r>
            <a:r>
              <a:rPr sz="1500" b="1" i="0">
                <a:solidFill>
                  <a:srgbClr val="E7EDF4"/>
                </a:solidFill>
                <a:latin typeface="Segoe UI"/>
              </a:rPr>
              <a:t>nine times</a:t>
            </a:r>
            <a:r>
              <a:rPr sz="1500" b="0" i="0">
                <a:solidFill>
                  <a:srgbClr val="A5B2C4"/>
                </a:solidFill>
                <a:latin typeface="Segoe UI"/>
              </a:rPr>
              <a:t>.</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Each block stages one </a:t>
            </a:r>
            <a:r>
              <a:rPr sz="1500" b="1" i="0">
                <a:solidFill>
                  <a:srgbClr val="E7EDF4"/>
                </a:solidFill>
                <a:latin typeface="Segoe UI"/>
              </a:rPr>
              <a:t>pedestal-subtracted</a:t>
            </a:r>
            <a:r>
              <a:rPr sz="1500" b="0" i="0">
                <a:solidFill>
                  <a:srgbClr val="A5B2C4"/>
                </a:solidFill>
                <a:latin typeface="Segoe UI"/>
              </a:rPr>
              <a:t> tile plus its halo, loaded by the threads on the block edges.</a:t>
            </a:r>
          </a:p>
        </p:txBody>
      </p:sp>
      <p:pic>
        <p:nvPicPr>
          <p:cNvPr id="44" name="Picture 43" descr="fig_tile.png"/>
          <p:cNvPicPr>
            <a:picLocks noChangeAspect="1"/>
          </p:cNvPicPr>
          <p:nvPr/>
        </p:nvPicPr>
        <p:blipFill>
          <a:blip r:embed="rId2"/>
          <a:stretch>
            <a:fillRect/>
          </a:stretch>
        </p:blipFill>
        <p:spPr>
          <a:xfrm>
            <a:off x="457200" y="2468880"/>
            <a:ext cx="7644383" cy="3090493"/>
          </a:xfrm>
          <a:prstGeom prst="rect">
            <a:avLst/>
          </a:prstGeom>
        </p:spPr>
      </p:pic>
      <p:sp>
        <p:nvSpPr>
          <p:cNvPr id="45" name="Rounded Rectangle 44"/>
          <p:cNvSpPr/>
          <p:nvPr/>
        </p:nvSpPr>
        <p:spPr>
          <a:xfrm>
            <a:off x="8247888" y="2468880"/>
            <a:ext cx="3547872" cy="1709150"/>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12480" y="2578608"/>
            <a:ext cx="3218688"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clusterfinder_kernel.cuh</a:t>
            </a:r>
          </a:p>
        </p:txBody>
      </p:sp>
      <p:sp>
        <p:nvSpPr>
          <p:cNvPr id="47" name="TextBox 46"/>
          <p:cNvSpPr txBox="1"/>
          <p:nvPr/>
        </p:nvSpPr>
        <p:spPr>
          <a:xfrm>
            <a:off x="8412480" y="2798064"/>
            <a:ext cx="3218688" cy="1489694"/>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A5B2C4"/>
                </a:solidFill>
                <a:latin typeface="Consolas"/>
              </a:rPr>
              <a:t>extern __shared__ unsigned char smem[];</a:t>
            </a:r>
          </a:p>
          <a:p>
            <a:pPr>
              <a:lnSpc>
                <a:spcPct val="112000"/>
              </a:lnSpc>
              <a:spcBef>
                <a:spcPts val="0"/>
              </a:spcBef>
              <a:spcAft>
                <a:spcPts val="0"/>
              </a:spcAft>
            </a:pPr>
            <a:r>
              <a:rPr sz="1050" b="0" i="0">
                <a:solidFill>
                  <a:srgbClr val="A5B2C4"/>
                </a:solidFill>
                <a:latin typeface="Consolas"/>
              </a:rPr>
              <a:t>auto *sh = (COMPUTE_TYPE*)smem;</a:t>
            </a:r>
          </a:p>
          <a:p>
            <a:pPr>
              <a:lnSpc>
                <a:spcPct val="112000"/>
              </a:lnSpc>
              <a:spcBef>
                <a:spcPts val="0"/>
              </a:spcBef>
              <a:spcAft>
                <a:spcPts val="0"/>
              </a:spcAft>
            </a:pPr>
            <a:r>
              <a:rPr sz="1050" b="0" i="0">
                <a:solidFill>
                  <a:srgbClr val="A5B2C4"/>
                </a:solidFill>
                <a:latin typeface="Consolas"/>
              </a:rPr>
              <a:t>auto stride = blockDim.x + 2*col_radius;</a:t>
            </a:r>
          </a:p>
          <a:p>
            <a:pPr>
              <a:lnSpc>
                <a:spcPct val="112000"/>
              </a:lnSpc>
              <a:spcBef>
                <a:spcPts val="0"/>
              </a:spcBef>
              <a:spcAft>
                <a:spcPts val="0"/>
              </a:spcAft>
            </a:pPr>
            <a:r>
              <a:rPr sz="1050" b="0" i="0">
                <a:solidFill>
                  <a:srgbClr val="A5B2C4"/>
                </a:solidFill>
                <a:latin typeface="Consolas"/>
              </a:rPr>
              <a:t>auto tid = (threadIdx.y + row_radius)*stride</a:t>
            </a:r>
          </a:p>
          <a:p>
            <a:pPr>
              <a:lnSpc>
                <a:spcPct val="112000"/>
              </a:lnSpc>
              <a:spcBef>
                <a:spcPts val="0"/>
              </a:spcBef>
              <a:spcAft>
                <a:spcPts val="0"/>
              </a:spcAft>
            </a:pPr>
            <a:r>
              <a:rPr sz="1050" b="0" i="0">
                <a:solidFill>
                  <a:srgbClr val="A5B2C4"/>
                </a:solidFill>
                <a:latin typeface="Consolas"/>
              </a:rPr>
              <a:t>         + (threadIdx.x + col_radius);</a:t>
            </a:r>
          </a:p>
          <a:p>
            <a:pPr>
              <a:lnSpc>
                <a:spcPct val="112000"/>
              </a:lnSpc>
              <a:spcBef>
                <a:spcPts val="0"/>
              </a:spcBef>
              <a:spcAft>
                <a:spcPts val="0"/>
              </a:spcAft>
            </a:pPr>
            <a:r>
              <a:rPr sz="1050" b="0" i="0">
                <a:solidFill>
                  <a:srgbClr val="7C8A9E"/>
                </a:solidFill>
                <a:latin typeface="Consolas"/>
              </a:rPr>
              <a:t>// pedestal subtraction fused into the load</a:t>
            </a:r>
          </a:p>
          <a:p>
            <a:pPr>
              <a:lnSpc>
                <a:spcPct val="112000"/>
              </a:lnSpc>
              <a:spcBef>
                <a:spcPts val="0"/>
              </a:spcBef>
              <a:spcAft>
                <a:spcPts val="0"/>
              </a:spcAft>
            </a:pPr>
            <a:r>
              <a:rPr sz="1050" b="0" i="0">
                <a:solidFill>
                  <a:srgbClr val="A5B2C4"/>
                </a:solidFill>
                <a:latin typeface="Consolas"/>
              </a:rPr>
              <a:t>sh[tid] = d_frame[gid] - </a:t>
            </a:r>
            <a:r>
              <a:rPr sz="1050" b="1" i="0">
                <a:solidFill>
                  <a:srgbClr val="1E90C2"/>
                </a:solidFill>
                <a:latin typeface="Consolas"/>
              </a:rPr>
              <a:t>d_pd_mean</a:t>
            </a:r>
            <a:r>
              <a:rPr sz="1050" b="0" i="0">
                <a:solidFill>
                  <a:srgbClr val="A5B2C4"/>
                </a:solidFill>
                <a:latin typeface="Consolas"/>
              </a:rPr>
              <a:t>[gid];</a:t>
            </a:r>
          </a:p>
        </p:txBody>
      </p:sp>
      <p:sp>
        <p:nvSpPr>
          <p:cNvPr id="48" name="Rectangle 47"/>
          <p:cNvSpPr/>
          <p:nvPr/>
        </p:nvSpPr>
        <p:spPr>
          <a:xfrm>
            <a:off x="8289036" y="4315968"/>
            <a:ext cx="3506724" cy="84124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47888" y="4315968"/>
            <a:ext cx="41148" cy="8412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03919" y="4407407"/>
            <a:ext cx="3090672" cy="658368"/>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Only </a:t>
            </a:r>
            <a:r>
              <a:rPr sz="1300" b="1" i="0">
                <a:solidFill>
                  <a:srgbClr val="E7EDF4"/>
                </a:solidFill>
                <a:latin typeface="Segoe UI"/>
              </a:rPr>
              <a:t>odd</a:t>
            </a:r>
            <a:r>
              <a:rPr sz="1300" b="0" i="0">
                <a:solidFill>
                  <a:srgbClr val="A5B2C4"/>
                </a:solidFill>
                <a:latin typeface="Segoe UI"/>
              </a:rPr>
              <a:t> cluster sizes are supported, so the centre pixel is unique.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WHAT RUNS OUT FIRST</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38 registers per thread at 3×3, 128 at 9×9</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9 / 36</a:t>
            </a:r>
          </a:p>
        </p:txBody>
      </p:sp>
      <p:sp>
        <p:nvSpPr>
          <p:cNvPr id="43" name="TextBox 42"/>
          <p:cNvSpPr txBox="1"/>
          <p:nvPr/>
        </p:nvSpPr>
        <p:spPr>
          <a:xfrm>
            <a:off x="457200" y="1664208"/>
            <a:ext cx="7461504"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An SM has </a:t>
            </a:r>
            <a:r>
              <a:rPr sz="1500" b="1" i="0">
                <a:solidFill>
                  <a:srgbClr val="E7EDF4"/>
                </a:solidFill>
                <a:latin typeface="Segoe UI"/>
              </a:rPr>
              <a:t>65 536 registers</a:t>
            </a:r>
            <a:r>
              <a:rPr sz="1500" b="0" i="0">
                <a:solidFill>
                  <a:srgbClr val="A5B2C4"/>
                </a:solidFill>
                <a:latin typeface="Segoe UI"/>
              </a:rPr>
              <a:t> and </a:t>
            </a:r>
            <a:r>
              <a:rPr sz="1500" b="1" i="0">
                <a:solidFill>
                  <a:srgbClr val="E7EDF4"/>
                </a:solidFill>
                <a:latin typeface="Segoe UI"/>
              </a:rPr>
              <a:t>1 536 thread slots</a:t>
            </a:r>
            <a:r>
              <a:rPr sz="1500" b="0" i="0">
                <a:solidFill>
                  <a:srgbClr val="A5B2C4"/>
                </a:solidFill>
                <a:latin typeface="Segoe UI"/>
              </a:rPr>
              <a:t>; whichever runs out first decides how many blocks fit at once.</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Every thread keeps a private </a:t>
            </a:r>
            <a:r>
              <a:rPr sz="1500" b="1" i="0">
                <a:solidFill>
                  <a:srgbClr val="E7EDF4"/>
                </a:solidFill>
                <a:latin typeface="Segoe UI"/>
              </a:rPr>
              <a:t>clusterData[CSX × CSY]</a:t>
            </a:r>
            <a:r>
              <a:rPr sz="1500" b="0" i="0">
                <a:solidFill>
                  <a:srgbClr val="A5B2C4"/>
                </a:solidFill>
                <a:latin typeface="Segoe UI"/>
              </a:rPr>
              <a:t>, so register demand grows with the </a:t>
            </a:r>
            <a:r>
              <a:rPr sz="1500" b="1" i="0">
                <a:solidFill>
                  <a:srgbClr val="E7EDF4"/>
                </a:solidFill>
                <a:latin typeface="Segoe UI"/>
              </a:rPr>
              <a:t>square</a:t>
            </a:r>
            <a:r>
              <a:rPr sz="1500" b="0" i="0">
                <a:solidFill>
                  <a:srgbClr val="A5B2C4"/>
                </a:solidFill>
                <a:latin typeface="Segoe UI"/>
              </a:rPr>
              <a:t> of the cluster size. Neither build spills.</a:t>
            </a:r>
          </a:p>
        </p:txBody>
      </p:sp>
      <p:pic>
        <p:nvPicPr>
          <p:cNvPr id="44" name="Picture 43" descr="fig_regpressure.png"/>
          <p:cNvPicPr>
            <a:picLocks noChangeAspect="1"/>
          </p:cNvPicPr>
          <p:nvPr/>
        </p:nvPicPr>
        <p:blipFill>
          <a:blip r:embed="rId2"/>
          <a:stretch>
            <a:fillRect/>
          </a:stretch>
        </p:blipFill>
        <p:spPr>
          <a:xfrm>
            <a:off x="457200" y="2926080"/>
            <a:ext cx="7461504" cy="1653334"/>
          </a:xfrm>
          <a:prstGeom prst="rect">
            <a:avLst/>
          </a:prstGeom>
        </p:spPr>
      </p:pic>
      <p:sp>
        <p:nvSpPr>
          <p:cNvPr id="45" name="Rectangle 44"/>
          <p:cNvSpPr/>
          <p:nvPr/>
        </p:nvSpPr>
        <p:spPr>
          <a:xfrm>
            <a:off x="498348" y="4608576"/>
            <a:ext cx="7420356"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4608576"/>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13232" y="4700016"/>
            <a:ext cx="7004304" cy="548640"/>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9×9:</a:t>
            </a:r>
            <a:r>
              <a:rPr sz="1300" b="0" i="0">
                <a:solidFill>
                  <a:srgbClr val="A5B2C4"/>
                </a:solidFill>
                <a:latin typeface="Segoe UI"/>
              </a:rPr>
              <a:t> the register file is exactly full at two blocks (2 × 128 × 256 = 65 536).  </a:t>
            </a:r>
            <a:r>
              <a:rPr sz="1300" b="1" i="0">
                <a:solidFill>
                  <a:srgbClr val="E7EDF4"/>
                </a:solidFill>
                <a:latin typeface="Segoe UI"/>
              </a:rPr>
              <a:t>3×3:</a:t>
            </a:r>
            <a:r>
              <a:rPr sz="1300" b="0" i="0">
                <a:solidFill>
                  <a:srgbClr val="A5B2C4"/>
                </a:solidFill>
                <a:latin typeface="Segoe UI"/>
              </a:rPr>
              <a:t> the slots run out first, and the registers still have room.</a:t>
            </a:r>
          </a:p>
        </p:txBody>
      </p:sp>
      <p:sp>
        <p:nvSpPr>
          <p:cNvPr id="48" name="Rounded Rectangle 47"/>
          <p:cNvSpPr/>
          <p:nvPr/>
        </p:nvSpPr>
        <p:spPr>
          <a:xfrm>
            <a:off x="457200" y="5669280"/>
            <a:ext cx="7461504" cy="983300"/>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1792" y="5779008"/>
            <a:ext cx="7132320"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MEASURED, NOT ESTIMATED · READ FROM THE BUILT .SO</a:t>
            </a:r>
          </a:p>
        </p:txBody>
      </p:sp>
      <p:sp>
        <p:nvSpPr>
          <p:cNvPr id="50" name="TextBox 49"/>
          <p:cNvSpPr txBox="1"/>
          <p:nvPr/>
        </p:nvSpPr>
        <p:spPr>
          <a:xfrm>
            <a:off x="621792" y="5998464"/>
            <a:ext cx="7132320" cy="763844"/>
          </a:xfrm>
          <a:prstGeom prst="rect">
            <a:avLst/>
          </a:prstGeom>
          <a:noFill/>
        </p:spPr>
        <p:txBody>
          <a:bodyPr wrap="square" lIns="0" rIns="0" tIns="0" bIns="0" anchor="t">
            <a:spAutoFit/>
          </a:bodyPr>
          <a:lstStyle/>
          <a:p>
            <a:pPr>
              <a:lnSpc>
                <a:spcPct val="112000"/>
              </a:lnSpc>
              <a:spcBef>
                <a:spcPts val="0"/>
              </a:spcBef>
              <a:spcAft>
                <a:spcPts val="0"/>
              </a:spcAft>
            </a:pPr>
            <a:r>
              <a:rPr sz="1050" b="1" i="0">
                <a:solidFill>
                  <a:srgbClr val="1E90C2"/>
                </a:solidFill>
                <a:latin typeface="Consolas"/>
              </a:rPr>
              <a:t>cuobjdump -res-usage</a:t>
            </a:r>
            <a:r>
              <a:rPr sz="1050" b="0" i="0">
                <a:solidFill>
                  <a:srgbClr val="A5B2C4"/>
                </a:solidFill>
                <a:latin typeface="Consolas"/>
              </a:rPr>
              <a:t> build/aare/_aare_cuda*.so | c++filt</a:t>
            </a:r>
          </a:p>
          <a:p>
            <a:pPr>
              <a:lnSpc>
                <a:spcPct val="112000"/>
              </a:lnSpc>
              <a:spcBef>
                <a:spcPts val="0"/>
              </a:spcBef>
              <a:spcAft>
                <a:spcPts val="0"/>
              </a:spcAft>
            </a:pPr>
            <a:r>
              <a:rPr sz="1050" b="0" i="0">
                <a:solidFill>
                  <a:srgbClr val="A5B2C4"/>
                </a:solidFill>
                <a:latin typeface="Consolas"/>
              </a:rPr>
              <a:t>  3x3: REG:</a:t>
            </a:r>
            <a:r>
              <a:rPr sz="1050" b="1" i="0">
                <a:solidFill>
                  <a:srgbClr val="1E90C2"/>
                </a:solidFill>
                <a:latin typeface="Consolas"/>
              </a:rPr>
              <a:t>38</a:t>
            </a:r>
            <a:r>
              <a:rPr sz="1050" b="0" i="0">
                <a:solidFill>
                  <a:srgbClr val="A5B2C4"/>
                </a:solidFill>
                <a:latin typeface="Consolas"/>
              </a:rPr>
              <a:t>  STACK:0 LOCAL:0     # STACK/LOCAL 0 = no spills</a:t>
            </a:r>
          </a:p>
          <a:p>
            <a:pPr>
              <a:lnSpc>
                <a:spcPct val="112000"/>
              </a:lnSpc>
              <a:spcBef>
                <a:spcPts val="0"/>
              </a:spcBef>
              <a:spcAft>
                <a:spcPts val="0"/>
              </a:spcAft>
            </a:pPr>
            <a:r>
              <a:rPr sz="1050" b="0" i="0">
                <a:solidFill>
                  <a:srgbClr val="A5B2C4"/>
                </a:solidFill>
                <a:latin typeface="Consolas"/>
              </a:rPr>
              <a:t>  9x9: REG:</a:t>
            </a:r>
            <a:r>
              <a:rPr sz="1050" b="1" i="0">
                <a:solidFill>
                  <a:srgbClr val="1E90C2"/>
                </a:solidFill>
                <a:latin typeface="Consolas"/>
              </a:rPr>
              <a:t>128</a:t>
            </a:r>
            <a:r>
              <a:rPr sz="1050" b="0" i="0">
                <a:solidFill>
                  <a:srgbClr val="A5B2C4"/>
                </a:solidFill>
                <a:latin typeface="Consolas"/>
              </a:rPr>
              <a:t> STACK:0 LOCAL:0</a:t>
            </a:r>
          </a:p>
        </p:txBody>
      </p:sp>
      <p:sp>
        <p:nvSpPr>
          <p:cNvPr id="51" name="Rectangle 50"/>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85632" y="182880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PER SM · SM_89 · F32 BUILD</a:t>
            </a:r>
          </a:p>
        </p:txBody>
      </p:sp>
      <p:sp>
        <p:nvSpPr>
          <p:cNvPr id="53" name="TextBox 52"/>
          <p:cNvSpPr txBox="1"/>
          <p:nvPr/>
        </p:nvSpPr>
        <p:spPr>
          <a:xfrm>
            <a:off x="8485632" y="2258568"/>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3×3 · BLOCKS RESIDENT</a:t>
            </a:r>
          </a:p>
        </p:txBody>
      </p:sp>
      <p:sp>
        <p:nvSpPr>
          <p:cNvPr id="54" name="TextBox 53"/>
          <p:cNvSpPr txBox="1"/>
          <p:nvPr/>
        </p:nvSpPr>
        <p:spPr>
          <a:xfrm>
            <a:off x="8485632" y="2478024"/>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6</a:t>
            </a:r>
          </a:p>
        </p:txBody>
      </p:sp>
      <p:sp>
        <p:nvSpPr>
          <p:cNvPr id="55" name="TextBox 54"/>
          <p:cNvSpPr txBox="1"/>
          <p:nvPr/>
        </p:nvSpPr>
        <p:spPr>
          <a:xfrm>
            <a:off x="8485632" y="319125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9×9 · BLOCKS RESIDENT</a:t>
            </a:r>
          </a:p>
        </p:txBody>
      </p:sp>
      <p:sp>
        <p:nvSpPr>
          <p:cNvPr id="56" name="TextBox 55"/>
          <p:cNvSpPr txBox="1"/>
          <p:nvPr/>
        </p:nvSpPr>
        <p:spPr>
          <a:xfrm>
            <a:off x="8485632" y="3410711"/>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a:t>
            </a:r>
          </a:p>
        </p:txBody>
      </p:sp>
      <p:sp>
        <p:nvSpPr>
          <p:cNvPr id="57" name="TextBox 56"/>
          <p:cNvSpPr txBox="1"/>
          <p:nvPr/>
        </p:nvSpPr>
        <p:spPr>
          <a:xfrm>
            <a:off x="8485632" y="4169663"/>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SPILLS, EITHER CASE</a:t>
            </a:r>
          </a:p>
        </p:txBody>
      </p:sp>
      <p:sp>
        <p:nvSpPr>
          <p:cNvPr id="58" name="TextBox 57"/>
          <p:cNvSpPr txBox="1"/>
          <p:nvPr/>
        </p:nvSpPr>
        <p:spPr>
          <a:xfrm>
            <a:off x="8485632" y="4389120"/>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 bytes</a:t>
            </a:r>
          </a:p>
        </p:txBody>
      </p:sp>
      <p:sp>
        <p:nvSpPr>
          <p:cNvPr id="59" name="TextBox 58"/>
          <p:cNvSpPr txBox="1"/>
          <p:nvPr/>
        </p:nvSpPr>
        <p:spPr>
          <a:xfrm>
            <a:off x="8485632" y="4828031"/>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3×3 ON THE F64 BUILD</a:t>
            </a:r>
          </a:p>
        </p:txBody>
      </p:sp>
      <p:sp>
        <p:nvSpPr>
          <p:cNvPr id="60" name="TextBox 59"/>
          <p:cNvSpPr txBox="1"/>
          <p:nvPr/>
        </p:nvSpPr>
        <p:spPr>
          <a:xfrm>
            <a:off x="8485632" y="5047488"/>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47 regs → 5 blocks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OCCUPANCY</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Occupancy is a latency-hiding budget</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10 / 36</a:t>
            </a:r>
          </a:p>
        </p:txBody>
      </p:sp>
      <p:sp>
        <p:nvSpPr>
          <p:cNvPr id="43" name="TextBox 42"/>
          <p:cNvSpPr txBox="1"/>
          <p:nvPr/>
        </p:nvSpPr>
        <p:spPr>
          <a:xfrm>
            <a:off x="457200" y="1664208"/>
            <a:ext cx="1124712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When a warp stalls, the SM switches to another </a:t>
            </a:r>
            <a:r>
              <a:rPr sz="1500" b="1" i="0">
                <a:solidFill>
                  <a:srgbClr val="E7EDF4"/>
                </a:solidFill>
                <a:latin typeface="Segoe UI"/>
              </a:rPr>
              <a:t>already-resident</a:t>
            </a:r>
            <a:r>
              <a:rPr sz="1500" b="0" i="0">
                <a:solidFill>
                  <a:srgbClr val="A5B2C4"/>
                </a:solidFill>
                <a:latin typeface="Segoe UI"/>
              </a:rPr>
              <a:t> warp. </a:t>
            </a:r>
            <a:r>
              <a:rPr sz="1500" b="1" i="0">
                <a:solidFill>
                  <a:srgbClr val="E7EDF4"/>
                </a:solidFill>
                <a:latin typeface="Segoe UI"/>
              </a:rPr>
              <a:t>Occupancy = resident warps / the maximum</a:t>
            </a:r>
            <a:r>
              <a:rPr sz="1500" b="0" i="0">
                <a:solidFill>
                  <a:srgbClr val="A5B2C4"/>
                </a:solidFill>
                <a:latin typeface="Segoe UI"/>
              </a:rPr>
              <a:t> — how many alternatives it has to switch to.</a:t>
            </a:r>
          </a:p>
        </p:txBody>
      </p:sp>
      <p:sp>
        <p:nvSpPr>
          <p:cNvPr id="44" name="Rectangle 43"/>
          <p:cNvSpPr/>
          <p:nvPr/>
        </p:nvSpPr>
        <p:spPr>
          <a:xfrm>
            <a:off x="457200" y="2331720"/>
            <a:ext cx="2088489" cy="7680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2423160"/>
            <a:ext cx="1722729" cy="201168"/>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BLOCK SIZE</a:t>
            </a:r>
          </a:p>
        </p:txBody>
      </p:sp>
      <p:sp>
        <p:nvSpPr>
          <p:cNvPr id="46" name="TextBox 45"/>
          <p:cNvSpPr txBox="1"/>
          <p:nvPr/>
        </p:nvSpPr>
        <p:spPr>
          <a:xfrm>
            <a:off x="640080" y="2715768"/>
            <a:ext cx="1722729" cy="310896"/>
          </a:xfrm>
          <a:prstGeom prst="rect">
            <a:avLst/>
          </a:prstGeom>
          <a:noFill/>
        </p:spPr>
        <p:txBody>
          <a:bodyPr wrap="square" lIns="0" rIns="0" tIns="0" bIns="0" anchor="t">
            <a:spAutoFit/>
          </a:bodyPr>
          <a:lstStyle/>
          <a:p>
            <a:pPr>
              <a:spcBef>
                <a:spcPts val="0"/>
              </a:spcBef>
              <a:spcAft>
                <a:spcPts val="0"/>
              </a:spcAft>
            </a:pPr>
            <a:r>
              <a:rPr sz="1700" b="1" i="0">
                <a:solidFill>
                  <a:srgbClr val="E7EDF4"/>
                </a:solidFill>
                <a:latin typeface="Segoe UI"/>
              </a:rPr>
              <a:t>16 × 16</a:t>
            </a:r>
          </a:p>
        </p:txBody>
      </p:sp>
      <p:sp>
        <p:nvSpPr>
          <p:cNvPr id="47" name="Rectangle 46"/>
          <p:cNvSpPr/>
          <p:nvPr/>
        </p:nvSpPr>
        <p:spPr>
          <a:xfrm>
            <a:off x="2746857" y="2331720"/>
            <a:ext cx="2088489" cy="7680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929737" y="2423160"/>
            <a:ext cx="1722729" cy="201168"/>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THREADS / BLOCK</a:t>
            </a:r>
          </a:p>
        </p:txBody>
      </p:sp>
      <p:sp>
        <p:nvSpPr>
          <p:cNvPr id="49" name="TextBox 48"/>
          <p:cNvSpPr txBox="1"/>
          <p:nvPr/>
        </p:nvSpPr>
        <p:spPr>
          <a:xfrm>
            <a:off x="2929737" y="2715768"/>
            <a:ext cx="1722729" cy="310896"/>
          </a:xfrm>
          <a:prstGeom prst="rect">
            <a:avLst/>
          </a:prstGeom>
          <a:noFill/>
        </p:spPr>
        <p:txBody>
          <a:bodyPr wrap="square" lIns="0" rIns="0" tIns="0" bIns="0" anchor="t">
            <a:spAutoFit/>
          </a:bodyPr>
          <a:lstStyle/>
          <a:p>
            <a:pPr>
              <a:spcBef>
                <a:spcPts val="0"/>
              </a:spcBef>
              <a:spcAft>
                <a:spcPts val="0"/>
              </a:spcAft>
            </a:pPr>
            <a:r>
              <a:rPr sz="1700" b="1" i="0">
                <a:solidFill>
                  <a:srgbClr val="E7EDF4"/>
                </a:solidFill>
                <a:latin typeface="Segoe UI"/>
              </a:rPr>
              <a:t>256</a:t>
            </a:r>
          </a:p>
        </p:txBody>
      </p:sp>
      <p:sp>
        <p:nvSpPr>
          <p:cNvPr id="50" name="Rectangle 49"/>
          <p:cNvSpPr/>
          <p:nvPr/>
        </p:nvSpPr>
        <p:spPr>
          <a:xfrm>
            <a:off x="5036515" y="2331720"/>
            <a:ext cx="2088489" cy="7680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219395" y="2423160"/>
            <a:ext cx="1722729" cy="201168"/>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THREAD SLOTS / SM</a:t>
            </a:r>
          </a:p>
        </p:txBody>
      </p:sp>
      <p:sp>
        <p:nvSpPr>
          <p:cNvPr id="52" name="TextBox 51"/>
          <p:cNvSpPr txBox="1"/>
          <p:nvPr/>
        </p:nvSpPr>
        <p:spPr>
          <a:xfrm>
            <a:off x="5219395" y="2715768"/>
            <a:ext cx="1722729" cy="310896"/>
          </a:xfrm>
          <a:prstGeom prst="rect">
            <a:avLst/>
          </a:prstGeom>
          <a:noFill/>
        </p:spPr>
        <p:txBody>
          <a:bodyPr wrap="square" lIns="0" rIns="0" tIns="0" bIns="0" anchor="t">
            <a:spAutoFit/>
          </a:bodyPr>
          <a:lstStyle/>
          <a:p>
            <a:pPr>
              <a:spcBef>
                <a:spcPts val="0"/>
              </a:spcBef>
              <a:spcAft>
                <a:spcPts val="0"/>
              </a:spcAft>
            </a:pPr>
            <a:r>
              <a:rPr sz="1700" b="1" i="0">
                <a:solidFill>
                  <a:srgbClr val="E7EDF4"/>
                </a:solidFill>
                <a:latin typeface="Segoe UI"/>
              </a:rPr>
              <a:t>1 536</a:t>
            </a:r>
          </a:p>
        </p:txBody>
      </p:sp>
      <p:sp>
        <p:nvSpPr>
          <p:cNvPr id="53" name="Rectangle 52"/>
          <p:cNvSpPr/>
          <p:nvPr/>
        </p:nvSpPr>
        <p:spPr>
          <a:xfrm>
            <a:off x="7326172" y="2331720"/>
            <a:ext cx="2088489" cy="7680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509052" y="2423160"/>
            <a:ext cx="1722729" cy="201168"/>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MAX WARPS / SM</a:t>
            </a:r>
          </a:p>
        </p:txBody>
      </p:sp>
      <p:sp>
        <p:nvSpPr>
          <p:cNvPr id="55" name="TextBox 54"/>
          <p:cNvSpPr txBox="1"/>
          <p:nvPr/>
        </p:nvSpPr>
        <p:spPr>
          <a:xfrm>
            <a:off x="7509052" y="2715768"/>
            <a:ext cx="1722729" cy="310896"/>
          </a:xfrm>
          <a:prstGeom prst="rect">
            <a:avLst/>
          </a:prstGeom>
          <a:noFill/>
        </p:spPr>
        <p:txBody>
          <a:bodyPr wrap="square" lIns="0" rIns="0" tIns="0" bIns="0" anchor="t">
            <a:spAutoFit/>
          </a:bodyPr>
          <a:lstStyle/>
          <a:p>
            <a:pPr>
              <a:spcBef>
                <a:spcPts val="0"/>
              </a:spcBef>
              <a:spcAft>
                <a:spcPts val="0"/>
              </a:spcAft>
            </a:pPr>
            <a:r>
              <a:rPr sz="1700" b="1" i="0">
                <a:solidFill>
                  <a:srgbClr val="E7EDF4"/>
                </a:solidFill>
                <a:latin typeface="Segoe UI"/>
              </a:rPr>
              <a:t>48</a:t>
            </a:r>
          </a:p>
        </p:txBody>
      </p:sp>
      <p:sp>
        <p:nvSpPr>
          <p:cNvPr id="56" name="Rectangle 55"/>
          <p:cNvSpPr/>
          <p:nvPr/>
        </p:nvSpPr>
        <p:spPr>
          <a:xfrm>
            <a:off x="9615830" y="2331720"/>
            <a:ext cx="2088489" cy="7680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798710" y="2423160"/>
            <a:ext cx="1722729" cy="201168"/>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OCCUPANCY 3×3 · 9×9</a:t>
            </a:r>
          </a:p>
        </p:txBody>
      </p:sp>
      <p:sp>
        <p:nvSpPr>
          <p:cNvPr id="58" name="TextBox 57"/>
          <p:cNvSpPr txBox="1"/>
          <p:nvPr/>
        </p:nvSpPr>
        <p:spPr>
          <a:xfrm>
            <a:off x="9798710" y="2715768"/>
            <a:ext cx="1722729" cy="310896"/>
          </a:xfrm>
          <a:prstGeom prst="rect">
            <a:avLst/>
          </a:prstGeom>
          <a:noFill/>
        </p:spPr>
        <p:txBody>
          <a:bodyPr wrap="square" lIns="0" rIns="0" tIns="0" bIns="0" anchor="t">
            <a:spAutoFit/>
          </a:bodyPr>
          <a:lstStyle/>
          <a:p>
            <a:pPr>
              <a:spcBef>
                <a:spcPts val="0"/>
              </a:spcBef>
              <a:spcAft>
                <a:spcPts val="0"/>
              </a:spcAft>
            </a:pPr>
            <a:r>
              <a:rPr sz="1700" b="1" i="0">
                <a:solidFill>
                  <a:srgbClr val="E7EDF4"/>
                </a:solidFill>
                <a:latin typeface="Segoe UI"/>
              </a:rPr>
              <a:t>100 % · 33 %</a:t>
            </a:r>
          </a:p>
        </p:txBody>
      </p:sp>
      <p:pic>
        <p:nvPicPr>
          <p:cNvPr id="59" name="Picture 58" descr="fig_occupancy.png"/>
          <p:cNvPicPr>
            <a:picLocks noChangeAspect="1"/>
          </p:cNvPicPr>
          <p:nvPr/>
        </p:nvPicPr>
        <p:blipFill>
          <a:blip r:embed="rId2"/>
          <a:stretch>
            <a:fillRect/>
          </a:stretch>
        </p:blipFill>
        <p:spPr>
          <a:xfrm>
            <a:off x="1088136" y="3145536"/>
            <a:ext cx="10012680" cy="2901401"/>
          </a:xfrm>
          <a:prstGeom prst="rect">
            <a:avLst/>
          </a:prstGeom>
        </p:spPr>
      </p:pic>
      <p:sp>
        <p:nvSpPr>
          <p:cNvPr id="60" name="Rectangle 59"/>
          <p:cNvSpPr/>
          <p:nvPr/>
        </p:nvSpPr>
        <p:spPr>
          <a:xfrm>
            <a:off x="498348" y="6053328"/>
            <a:ext cx="1120597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57200" y="6053328"/>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13232" y="6144768"/>
            <a:ext cx="10789920" cy="384048"/>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16×16 is the balance point.</a:t>
            </a:r>
            <a:r>
              <a:rPr sz="1300" b="0" i="0">
                <a:solidFill>
                  <a:srgbClr val="A5B2C4"/>
                </a:solidFill>
                <a:latin typeface="Segoe UI"/>
              </a:rPr>
              <a:t> 33 % is not a failure to fix: it is what the register budget allows, and at 9×9 one kernel nearly fills the machine on its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ROADMAP</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acts, ordered by which bar is tallest</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11 / 36</a:t>
            </a:r>
          </a:p>
        </p:txBody>
      </p:sp>
      <p:sp>
        <p:nvSpPr>
          <p:cNvPr id="43" name="Rectangle 42"/>
          <p:cNvSpPr/>
          <p:nvPr/>
        </p:nvSpPr>
        <p:spPr>
          <a:xfrm>
            <a:off x="457200" y="1911095"/>
            <a:ext cx="11247120" cy="1463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5488" y="1627632"/>
            <a:ext cx="7562088" cy="256032"/>
          </a:xfrm>
          <a:prstGeom prst="rect">
            <a:avLst/>
          </a:prstGeom>
          <a:noFill/>
        </p:spPr>
        <p:txBody>
          <a:bodyPr wrap="square" lIns="0" rIns="0" tIns="0" bIns="0" anchor="t">
            <a:spAutoFit/>
          </a:bodyPr>
          <a:lstStyle/>
          <a:p>
            <a:pPr>
              <a:spcBef>
                <a:spcPts val="0"/>
              </a:spcBef>
              <a:spcAft>
                <a:spcPts val="0"/>
              </a:spcAft>
            </a:pPr>
            <a:r>
              <a:rPr sz="1200" b="1" i="0" spc="140">
                <a:solidFill>
                  <a:srgbClr val="1E90C2"/>
                </a:solidFill>
                <a:latin typeface="Segoe UI"/>
              </a:rPr>
              <a:t>ACT I  ·  FEED THE GPU</a:t>
            </a:r>
          </a:p>
        </p:txBody>
      </p:sp>
      <p:sp>
        <p:nvSpPr>
          <p:cNvPr id="45" name="TextBox 44"/>
          <p:cNvSpPr txBox="1"/>
          <p:nvPr/>
        </p:nvSpPr>
        <p:spPr>
          <a:xfrm>
            <a:off x="5367528" y="1664208"/>
            <a:ext cx="6327648" cy="237744"/>
          </a:xfrm>
          <a:prstGeom prst="rect">
            <a:avLst/>
          </a:prstGeom>
          <a:noFill/>
        </p:spPr>
        <p:txBody>
          <a:bodyPr wrap="square" lIns="0" rIns="0" tIns="0" bIns="0" anchor="t">
            <a:spAutoFit/>
          </a:bodyPr>
          <a:lstStyle/>
          <a:p>
            <a:pPr algn="r">
              <a:spcBef>
                <a:spcPts val="0"/>
              </a:spcBef>
              <a:spcAft>
                <a:spcPts val="0"/>
              </a:spcAft>
            </a:pPr>
            <a:r>
              <a:rPr sz="1000" b="0" i="0">
                <a:solidFill>
                  <a:srgbClr val="6B7A90"/>
                </a:solidFill>
                <a:latin typeface="Segoe UI"/>
              </a:rPr>
              <a:t>the host cannot submit work fast enough   at 3×3  [f64]</a:t>
            </a:r>
          </a:p>
        </p:txBody>
      </p:sp>
      <p:sp>
        <p:nvSpPr>
          <p:cNvPr id="46" name="Rectangle 45"/>
          <p:cNvSpPr/>
          <p:nvPr/>
        </p:nvSpPr>
        <p:spPr>
          <a:xfrm>
            <a:off x="457200" y="2011680"/>
            <a:ext cx="1124712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 y="2011680"/>
            <a:ext cx="36576" cy="4572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2376" y="2103120"/>
            <a:ext cx="941832"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Consolas"/>
              </a:rPr>
              <a:t>opt1</a:t>
            </a:r>
          </a:p>
        </p:txBody>
      </p:sp>
      <p:sp>
        <p:nvSpPr>
          <p:cNvPr id="49" name="TextBox 48"/>
          <p:cNvSpPr txBox="1"/>
          <p:nvPr/>
        </p:nvSpPr>
        <p:spPr>
          <a:xfrm>
            <a:off x="1828800" y="2048256"/>
            <a:ext cx="4727448" cy="256032"/>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Segoe UI"/>
              </a:rPr>
              <a:t>First CUDA port</a:t>
            </a:r>
          </a:p>
        </p:txBody>
      </p:sp>
      <p:sp>
        <p:nvSpPr>
          <p:cNvPr id="50" name="TextBox 49"/>
          <p:cNvSpPr txBox="1"/>
          <p:nvPr/>
        </p:nvSpPr>
        <p:spPr>
          <a:xfrm>
            <a:off x="1828800" y="2258568"/>
            <a:ext cx="5294376" cy="237744"/>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Segoe UI"/>
              </a:rPr>
              <a:t>1 stream, one launch per frame</a:t>
            </a:r>
          </a:p>
        </p:txBody>
      </p:sp>
      <p:sp>
        <p:nvSpPr>
          <p:cNvPr id="51" name="TextBox 50"/>
          <p:cNvSpPr txBox="1"/>
          <p:nvPr/>
        </p:nvSpPr>
        <p:spPr>
          <a:xfrm>
            <a:off x="8677656" y="2093976"/>
            <a:ext cx="2926080" cy="320040"/>
          </a:xfrm>
          <a:prstGeom prst="rect">
            <a:avLst/>
          </a:prstGeom>
          <a:noFill/>
        </p:spPr>
        <p:txBody>
          <a:bodyPr wrap="square" lIns="0" rIns="0" tIns="0" bIns="0" anchor="t">
            <a:spAutoFit/>
          </a:bodyPr>
          <a:lstStyle/>
          <a:p>
            <a:pPr algn="r">
              <a:spcBef>
                <a:spcPts val="0"/>
              </a:spcBef>
              <a:spcAft>
                <a:spcPts val="0"/>
              </a:spcAft>
            </a:pPr>
            <a:r>
              <a:rPr sz="1350" b="1" i="0">
                <a:solidFill>
                  <a:srgbClr val="1E90C2"/>
                </a:solidFill>
                <a:latin typeface="Segoe UI"/>
              </a:rPr>
              <a:t>×2.34</a:t>
            </a:r>
          </a:p>
        </p:txBody>
      </p:sp>
      <p:sp>
        <p:nvSpPr>
          <p:cNvPr id="52" name="Rectangle 51"/>
          <p:cNvSpPr/>
          <p:nvPr/>
        </p:nvSpPr>
        <p:spPr>
          <a:xfrm>
            <a:off x="457200" y="2514600"/>
            <a:ext cx="1124712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57200" y="2514600"/>
            <a:ext cx="36576" cy="4572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2376" y="2606040"/>
            <a:ext cx="941832"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Consolas"/>
              </a:rPr>
              <a:t>opt2</a:t>
            </a:r>
          </a:p>
        </p:txBody>
      </p:sp>
      <p:sp>
        <p:nvSpPr>
          <p:cNvPr id="55" name="TextBox 54"/>
          <p:cNvSpPr txBox="1"/>
          <p:nvPr/>
        </p:nvSpPr>
        <p:spPr>
          <a:xfrm>
            <a:off x="1828800" y="2551176"/>
            <a:ext cx="4727448" cy="256032"/>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Segoe UI"/>
              </a:rPr>
              <a:t>Streams + batching</a:t>
            </a:r>
          </a:p>
        </p:txBody>
      </p:sp>
      <p:sp>
        <p:nvSpPr>
          <p:cNvPr id="56" name="TextBox 55"/>
          <p:cNvSpPr txBox="1"/>
          <p:nvPr/>
        </p:nvSpPr>
        <p:spPr>
          <a:xfrm>
            <a:off x="1828800" y="2761488"/>
            <a:ext cx="5294376" cy="237744"/>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Segoe UI"/>
              </a:rPr>
              <a:t>4 streams, 2 000-frame batches</a:t>
            </a:r>
          </a:p>
        </p:txBody>
      </p:sp>
      <p:sp>
        <p:nvSpPr>
          <p:cNvPr id="57" name="TextBox 56"/>
          <p:cNvSpPr txBox="1"/>
          <p:nvPr/>
        </p:nvSpPr>
        <p:spPr>
          <a:xfrm>
            <a:off x="8677656" y="2596896"/>
            <a:ext cx="2926080" cy="320040"/>
          </a:xfrm>
          <a:prstGeom prst="rect">
            <a:avLst/>
          </a:prstGeom>
          <a:noFill/>
        </p:spPr>
        <p:txBody>
          <a:bodyPr wrap="square" lIns="0" rIns="0" tIns="0" bIns="0" anchor="t">
            <a:spAutoFit/>
          </a:bodyPr>
          <a:lstStyle/>
          <a:p>
            <a:pPr algn="r">
              <a:spcBef>
                <a:spcPts val="0"/>
              </a:spcBef>
              <a:spcAft>
                <a:spcPts val="0"/>
              </a:spcAft>
            </a:pPr>
            <a:r>
              <a:rPr sz="1350" b="1" i="0">
                <a:solidFill>
                  <a:srgbClr val="1E90C2"/>
                </a:solidFill>
                <a:latin typeface="Segoe UI"/>
              </a:rPr>
              <a:t>×3.66</a:t>
            </a:r>
          </a:p>
        </p:txBody>
      </p:sp>
      <p:sp>
        <p:nvSpPr>
          <p:cNvPr id="58" name="Rectangle 57"/>
          <p:cNvSpPr/>
          <p:nvPr/>
        </p:nvSpPr>
        <p:spPr>
          <a:xfrm>
            <a:off x="457200" y="3017520"/>
            <a:ext cx="1124712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57200" y="3017520"/>
            <a:ext cx="36576" cy="4572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3108960"/>
            <a:ext cx="941832"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Consolas"/>
              </a:rPr>
              <a:t>opt3</a:t>
            </a:r>
          </a:p>
        </p:txBody>
      </p:sp>
      <p:sp>
        <p:nvSpPr>
          <p:cNvPr id="61" name="TextBox 60"/>
          <p:cNvSpPr txBox="1"/>
          <p:nvPr/>
        </p:nvSpPr>
        <p:spPr>
          <a:xfrm>
            <a:off x="1828800" y="3054096"/>
            <a:ext cx="4727448" cy="256032"/>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Segoe UI"/>
              </a:rPr>
              <a:t>Pipeline rework</a:t>
            </a:r>
          </a:p>
        </p:txBody>
      </p:sp>
      <p:sp>
        <p:nvSpPr>
          <p:cNvPr id="62" name="TextBox 61"/>
          <p:cNvSpPr txBox="1"/>
          <p:nvPr/>
        </p:nvSpPr>
        <p:spPr>
          <a:xfrm>
            <a:off x="1828800" y="3264408"/>
            <a:ext cx="5294376" cy="237744"/>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Segoe UI"/>
              </a:rPr>
              <a:t>sync barriers removed</a:t>
            </a:r>
          </a:p>
        </p:txBody>
      </p:sp>
      <p:sp>
        <p:nvSpPr>
          <p:cNvPr id="63" name="TextBox 62"/>
          <p:cNvSpPr txBox="1"/>
          <p:nvPr/>
        </p:nvSpPr>
        <p:spPr>
          <a:xfrm>
            <a:off x="8677656" y="3099815"/>
            <a:ext cx="2926080" cy="320040"/>
          </a:xfrm>
          <a:prstGeom prst="rect">
            <a:avLst/>
          </a:prstGeom>
          <a:noFill/>
        </p:spPr>
        <p:txBody>
          <a:bodyPr wrap="square" lIns="0" rIns="0" tIns="0" bIns="0" anchor="t">
            <a:spAutoFit/>
          </a:bodyPr>
          <a:lstStyle/>
          <a:p>
            <a:pPr algn="r">
              <a:spcBef>
                <a:spcPts val="0"/>
              </a:spcBef>
              <a:spcAft>
                <a:spcPts val="0"/>
              </a:spcAft>
            </a:pPr>
            <a:r>
              <a:rPr sz="1350" b="1" i="0">
                <a:solidFill>
                  <a:srgbClr val="1E90C2"/>
                </a:solidFill>
                <a:latin typeface="Segoe UI"/>
              </a:rPr>
              <a:t>×4.32</a:t>
            </a:r>
          </a:p>
        </p:txBody>
      </p:sp>
      <p:sp>
        <p:nvSpPr>
          <p:cNvPr id="64" name="Rectangle 63"/>
          <p:cNvSpPr/>
          <p:nvPr/>
        </p:nvSpPr>
        <p:spPr>
          <a:xfrm>
            <a:off x="457200" y="3520439"/>
            <a:ext cx="1124712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7200" y="3520439"/>
            <a:ext cx="36576" cy="4572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3611879"/>
            <a:ext cx="941832"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Consolas"/>
              </a:rPr>
              <a:t>opt4</a:t>
            </a:r>
          </a:p>
        </p:txBody>
      </p:sp>
      <p:sp>
        <p:nvSpPr>
          <p:cNvPr id="67" name="TextBox 66"/>
          <p:cNvSpPr txBox="1"/>
          <p:nvPr/>
        </p:nvSpPr>
        <p:spPr>
          <a:xfrm>
            <a:off x="1828800" y="3557015"/>
            <a:ext cx="4727448" cy="256032"/>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Segoe UI"/>
              </a:rPr>
              <a:t>Pinned memory</a:t>
            </a:r>
          </a:p>
        </p:txBody>
      </p:sp>
      <p:sp>
        <p:nvSpPr>
          <p:cNvPr id="68" name="TextBox 67"/>
          <p:cNvSpPr txBox="1"/>
          <p:nvPr/>
        </p:nvSpPr>
        <p:spPr>
          <a:xfrm>
            <a:off x="1828800" y="3767327"/>
            <a:ext cx="5294376" cy="237744"/>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Segoe UI"/>
              </a:rPr>
              <a:t>DMA-speed host transfers</a:t>
            </a:r>
          </a:p>
        </p:txBody>
      </p:sp>
      <p:sp>
        <p:nvSpPr>
          <p:cNvPr id="69" name="TextBox 68"/>
          <p:cNvSpPr txBox="1"/>
          <p:nvPr/>
        </p:nvSpPr>
        <p:spPr>
          <a:xfrm>
            <a:off x="8677656" y="3602735"/>
            <a:ext cx="2926080" cy="320040"/>
          </a:xfrm>
          <a:prstGeom prst="rect">
            <a:avLst/>
          </a:prstGeom>
          <a:noFill/>
        </p:spPr>
        <p:txBody>
          <a:bodyPr wrap="square" lIns="0" rIns="0" tIns="0" bIns="0" anchor="t">
            <a:spAutoFit/>
          </a:bodyPr>
          <a:lstStyle/>
          <a:p>
            <a:pPr algn="r">
              <a:spcBef>
                <a:spcPts val="0"/>
              </a:spcBef>
              <a:spcAft>
                <a:spcPts val="0"/>
              </a:spcAft>
            </a:pPr>
            <a:r>
              <a:rPr sz="1350" b="1" i="0">
                <a:solidFill>
                  <a:srgbClr val="1E90C2"/>
                </a:solidFill>
                <a:latin typeface="Segoe UI"/>
              </a:rPr>
              <a:t>×5.69</a:t>
            </a:r>
          </a:p>
        </p:txBody>
      </p:sp>
      <p:sp>
        <p:nvSpPr>
          <p:cNvPr id="70" name="Rectangle 69"/>
          <p:cNvSpPr/>
          <p:nvPr/>
        </p:nvSpPr>
        <p:spPr>
          <a:xfrm>
            <a:off x="457200" y="4306823"/>
            <a:ext cx="11247120" cy="1463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75488" y="4023359"/>
            <a:ext cx="7562088" cy="256032"/>
          </a:xfrm>
          <a:prstGeom prst="rect">
            <a:avLst/>
          </a:prstGeom>
          <a:noFill/>
        </p:spPr>
        <p:txBody>
          <a:bodyPr wrap="square" lIns="0" rIns="0" tIns="0" bIns="0" anchor="t">
            <a:spAutoFit/>
          </a:bodyPr>
          <a:lstStyle/>
          <a:p>
            <a:pPr>
              <a:spcBef>
                <a:spcPts val="0"/>
              </a:spcBef>
              <a:spcAft>
                <a:spcPts val="0"/>
              </a:spcAft>
            </a:pPr>
            <a:r>
              <a:rPr sz="1200" b="1" i="0" spc="140">
                <a:solidFill>
                  <a:srgbClr val="E7EDF4"/>
                </a:solidFill>
                <a:latin typeface="Segoe UI"/>
              </a:rPr>
              <a:t>ACT II  ·  GET THE RESULTS BACK</a:t>
            </a:r>
          </a:p>
        </p:txBody>
      </p:sp>
      <p:sp>
        <p:nvSpPr>
          <p:cNvPr id="72" name="TextBox 71"/>
          <p:cNvSpPr txBox="1"/>
          <p:nvPr/>
        </p:nvSpPr>
        <p:spPr>
          <a:xfrm>
            <a:off x="5367528" y="4059935"/>
            <a:ext cx="6327648" cy="237744"/>
          </a:xfrm>
          <a:prstGeom prst="rect">
            <a:avLst/>
          </a:prstGeom>
          <a:noFill/>
        </p:spPr>
        <p:txBody>
          <a:bodyPr wrap="square" lIns="0" rIns="0" tIns="0" bIns="0" anchor="t">
            <a:spAutoFit/>
          </a:bodyPr>
          <a:lstStyle/>
          <a:p>
            <a:pPr algn="r">
              <a:spcBef>
                <a:spcPts val="0"/>
              </a:spcBef>
              <a:spcAft>
                <a:spcPts val="0"/>
              </a:spcAft>
            </a:pPr>
            <a:r>
              <a:rPr sz="1000" b="0" i="0">
                <a:solidFill>
                  <a:srgbClr val="6B7A90"/>
                </a:solidFill>
                <a:latin typeface="Segoe UI"/>
              </a:rPr>
              <a:t>the host copy is now the tallest bar   at 3×3  [f64]</a:t>
            </a:r>
          </a:p>
        </p:txBody>
      </p:sp>
      <p:sp>
        <p:nvSpPr>
          <p:cNvPr id="73" name="Rectangle 72"/>
          <p:cNvSpPr/>
          <p:nvPr/>
        </p:nvSpPr>
        <p:spPr>
          <a:xfrm>
            <a:off x="457200" y="4407407"/>
            <a:ext cx="1124712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57200" y="4407407"/>
            <a:ext cx="36576" cy="4572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22376" y="4498847"/>
            <a:ext cx="941832" cy="292608"/>
          </a:xfrm>
          <a:prstGeom prst="rect">
            <a:avLst/>
          </a:prstGeom>
          <a:noFill/>
        </p:spPr>
        <p:txBody>
          <a:bodyPr wrap="square" lIns="0" rIns="0" tIns="0" bIns="0" anchor="t">
            <a:spAutoFit/>
          </a:bodyPr>
          <a:lstStyle/>
          <a:p>
            <a:pPr>
              <a:spcBef>
                <a:spcPts val="0"/>
              </a:spcBef>
              <a:spcAft>
                <a:spcPts val="0"/>
              </a:spcAft>
            </a:pPr>
            <a:r>
              <a:rPr sz="1300" b="1" i="0">
                <a:solidFill>
                  <a:srgbClr val="E7EDF4"/>
                </a:solidFill>
                <a:latin typeface="Consolas"/>
              </a:rPr>
              <a:t>opt5</a:t>
            </a:r>
          </a:p>
        </p:txBody>
      </p:sp>
      <p:sp>
        <p:nvSpPr>
          <p:cNvPr id="76" name="TextBox 75"/>
          <p:cNvSpPr txBox="1"/>
          <p:nvPr/>
        </p:nvSpPr>
        <p:spPr>
          <a:xfrm>
            <a:off x="1828800" y="4443983"/>
            <a:ext cx="4727448" cy="256032"/>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Segoe UI"/>
              </a:rPr>
              <a:t>Host↔GPU overlap</a:t>
            </a:r>
          </a:p>
        </p:txBody>
      </p:sp>
      <p:sp>
        <p:nvSpPr>
          <p:cNvPr id="77" name="TextBox 76"/>
          <p:cNvSpPr txBox="1"/>
          <p:nvPr/>
        </p:nvSpPr>
        <p:spPr>
          <a:xfrm>
            <a:off x="1828800" y="4654296"/>
            <a:ext cx="5294376" cy="237744"/>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Segoe UI"/>
              </a:rPr>
              <a:t>chunked submit / collect</a:t>
            </a:r>
          </a:p>
        </p:txBody>
      </p:sp>
      <p:sp>
        <p:nvSpPr>
          <p:cNvPr id="78" name="TextBox 77"/>
          <p:cNvSpPr txBox="1"/>
          <p:nvPr/>
        </p:nvSpPr>
        <p:spPr>
          <a:xfrm>
            <a:off x="8677656" y="4489703"/>
            <a:ext cx="2926080" cy="320040"/>
          </a:xfrm>
          <a:prstGeom prst="rect">
            <a:avLst/>
          </a:prstGeom>
          <a:noFill/>
        </p:spPr>
        <p:txBody>
          <a:bodyPr wrap="square" lIns="0" rIns="0" tIns="0" bIns="0" anchor="t">
            <a:spAutoFit/>
          </a:bodyPr>
          <a:lstStyle/>
          <a:p>
            <a:pPr algn="r">
              <a:spcBef>
                <a:spcPts val="0"/>
              </a:spcBef>
              <a:spcAft>
                <a:spcPts val="0"/>
              </a:spcAft>
            </a:pPr>
            <a:r>
              <a:rPr sz="1350" b="1" i="0">
                <a:solidFill>
                  <a:srgbClr val="E7EDF4"/>
                </a:solidFill>
                <a:latin typeface="Segoe UI"/>
              </a:rPr>
              <a:t>×7.45</a:t>
            </a:r>
          </a:p>
        </p:txBody>
      </p:sp>
      <p:sp>
        <p:nvSpPr>
          <p:cNvPr id="79" name="Rectangle 78"/>
          <p:cNvSpPr/>
          <p:nvPr/>
        </p:nvSpPr>
        <p:spPr>
          <a:xfrm>
            <a:off x="457200" y="4910327"/>
            <a:ext cx="1124712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57200" y="4910327"/>
            <a:ext cx="36576" cy="4572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22376" y="5001767"/>
            <a:ext cx="941832" cy="292608"/>
          </a:xfrm>
          <a:prstGeom prst="rect">
            <a:avLst/>
          </a:prstGeom>
          <a:noFill/>
        </p:spPr>
        <p:txBody>
          <a:bodyPr wrap="square" lIns="0" rIns="0" tIns="0" bIns="0" anchor="t">
            <a:spAutoFit/>
          </a:bodyPr>
          <a:lstStyle/>
          <a:p>
            <a:pPr>
              <a:spcBef>
                <a:spcPts val="0"/>
              </a:spcBef>
              <a:spcAft>
                <a:spcPts val="0"/>
              </a:spcAft>
            </a:pPr>
            <a:r>
              <a:rPr sz="1300" b="1" i="0">
                <a:solidFill>
                  <a:srgbClr val="E7EDF4"/>
                </a:solidFill>
                <a:latin typeface="Consolas"/>
              </a:rPr>
              <a:t>opt6</a:t>
            </a:r>
          </a:p>
        </p:txBody>
      </p:sp>
      <p:sp>
        <p:nvSpPr>
          <p:cNvPr id="82" name="TextBox 81"/>
          <p:cNvSpPr txBox="1"/>
          <p:nvPr/>
        </p:nvSpPr>
        <p:spPr>
          <a:xfrm>
            <a:off x="1828800" y="4946903"/>
            <a:ext cx="4727448" cy="256032"/>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Segoe UI"/>
              </a:rPr>
              <a:t>Zero-copy collection</a:t>
            </a:r>
          </a:p>
        </p:txBody>
      </p:sp>
      <p:sp>
        <p:nvSpPr>
          <p:cNvPr id="83" name="TextBox 82"/>
          <p:cNvSpPr txBox="1"/>
          <p:nvPr/>
        </p:nvSpPr>
        <p:spPr>
          <a:xfrm>
            <a:off x="1828800" y="5157215"/>
            <a:ext cx="5294376" cy="237744"/>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Segoe UI"/>
              </a:rPr>
              <a:t>read in place, never copy</a:t>
            </a:r>
          </a:p>
        </p:txBody>
      </p:sp>
      <p:sp>
        <p:nvSpPr>
          <p:cNvPr id="84" name="TextBox 83"/>
          <p:cNvSpPr txBox="1"/>
          <p:nvPr/>
        </p:nvSpPr>
        <p:spPr>
          <a:xfrm>
            <a:off x="8677656" y="4992623"/>
            <a:ext cx="2926080" cy="320040"/>
          </a:xfrm>
          <a:prstGeom prst="rect">
            <a:avLst/>
          </a:prstGeom>
          <a:noFill/>
        </p:spPr>
        <p:txBody>
          <a:bodyPr wrap="square" lIns="0" rIns="0" tIns="0" bIns="0" anchor="t">
            <a:spAutoFit/>
          </a:bodyPr>
          <a:lstStyle/>
          <a:p>
            <a:pPr algn="r">
              <a:spcBef>
                <a:spcPts val="0"/>
              </a:spcBef>
              <a:spcAft>
                <a:spcPts val="0"/>
              </a:spcAft>
            </a:pPr>
            <a:r>
              <a:rPr sz="1350" b="1" i="0">
                <a:solidFill>
                  <a:srgbClr val="E7EDF4"/>
                </a:solidFill>
                <a:latin typeface="Segoe UI"/>
              </a:rPr>
              <a:t>×8.65</a:t>
            </a:r>
          </a:p>
        </p:txBody>
      </p:sp>
      <p:sp>
        <p:nvSpPr>
          <p:cNvPr id="85" name="Rectangle 84"/>
          <p:cNvSpPr/>
          <p:nvPr/>
        </p:nvSpPr>
        <p:spPr>
          <a:xfrm>
            <a:off x="457200" y="5696711"/>
            <a:ext cx="11247120" cy="1463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75488" y="5413247"/>
            <a:ext cx="7562088" cy="256032"/>
          </a:xfrm>
          <a:prstGeom prst="rect">
            <a:avLst/>
          </a:prstGeom>
          <a:noFill/>
        </p:spPr>
        <p:txBody>
          <a:bodyPr wrap="square" lIns="0" rIns="0" tIns="0" bIns="0" anchor="t">
            <a:spAutoFit/>
          </a:bodyPr>
          <a:lstStyle/>
          <a:p>
            <a:pPr>
              <a:spcBef>
                <a:spcPts val="0"/>
              </a:spcBef>
              <a:spcAft>
                <a:spcPts val="0"/>
              </a:spcAft>
            </a:pPr>
            <a:r>
              <a:rPr sz="1200" b="1" i="0" spc="140">
                <a:solidFill>
                  <a:srgbClr val="E8B25C"/>
                </a:solidFill>
                <a:latin typeface="Segoe UI"/>
              </a:rPr>
              <a:t>ACT III  ·  THE KERNEL</a:t>
            </a:r>
          </a:p>
        </p:txBody>
      </p:sp>
      <p:sp>
        <p:nvSpPr>
          <p:cNvPr id="87" name="TextBox 86"/>
          <p:cNvSpPr txBox="1"/>
          <p:nvPr/>
        </p:nvSpPr>
        <p:spPr>
          <a:xfrm>
            <a:off x="5367528" y="5449823"/>
            <a:ext cx="6327648" cy="237744"/>
          </a:xfrm>
          <a:prstGeom prst="rect">
            <a:avLst/>
          </a:prstGeom>
          <a:noFill/>
        </p:spPr>
        <p:txBody>
          <a:bodyPr wrap="square" lIns="0" rIns="0" tIns="0" bIns="0" anchor="t">
            <a:spAutoFit/>
          </a:bodyPr>
          <a:lstStyle/>
          <a:p>
            <a:pPr algn="r">
              <a:spcBef>
                <a:spcPts val="0"/>
              </a:spcBef>
              <a:spcAft>
                <a:spcPts val="0"/>
              </a:spcAft>
            </a:pPr>
            <a:r>
              <a:rPr sz="1000" b="0" i="0">
                <a:solidFill>
                  <a:srgbClr val="6B7A90"/>
                </a:solidFill>
                <a:latin typeface="Segoe UI"/>
              </a:rPr>
              <a:t>the kernel is the tallest bar, at 9×9   at 9×9  [f32]</a:t>
            </a:r>
          </a:p>
        </p:txBody>
      </p:sp>
      <p:sp>
        <p:nvSpPr>
          <p:cNvPr id="88" name="Rectangle 87"/>
          <p:cNvSpPr/>
          <p:nvPr/>
        </p:nvSpPr>
        <p:spPr>
          <a:xfrm>
            <a:off x="457200" y="5797295"/>
            <a:ext cx="1124712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457200" y="5797295"/>
            <a:ext cx="36576" cy="4572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22376" y="5888735"/>
            <a:ext cx="941832" cy="292608"/>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Consolas"/>
              </a:rPr>
              <a:t>opt7</a:t>
            </a:r>
          </a:p>
        </p:txBody>
      </p:sp>
      <p:sp>
        <p:nvSpPr>
          <p:cNvPr id="91" name="TextBox 90"/>
          <p:cNvSpPr txBox="1"/>
          <p:nvPr/>
        </p:nvSpPr>
        <p:spPr>
          <a:xfrm>
            <a:off x="1828800" y="5833871"/>
            <a:ext cx="4727448" cy="256032"/>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Segoe UI"/>
              </a:rPr>
              <a:t>FP32 pedestal + variance rewrite</a:t>
            </a:r>
          </a:p>
        </p:txBody>
      </p:sp>
      <p:sp>
        <p:nvSpPr>
          <p:cNvPr id="92" name="TextBox 91"/>
          <p:cNvSpPr txBox="1"/>
          <p:nvPr/>
        </p:nvSpPr>
        <p:spPr>
          <a:xfrm>
            <a:off x="1828800" y="6044183"/>
            <a:ext cx="5294376" cy="237744"/>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Segoe UI"/>
              </a:rPr>
              <a:t>the only kernel change in the deck</a:t>
            </a:r>
          </a:p>
        </p:txBody>
      </p:sp>
      <p:sp>
        <p:nvSpPr>
          <p:cNvPr id="93" name="TextBox 92"/>
          <p:cNvSpPr txBox="1"/>
          <p:nvPr/>
        </p:nvSpPr>
        <p:spPr>
          <a:xfrm>
            <a:off x="8677656" y="5879591"/>
            <a:ext cx="2926080" cy="320040"/>
          </a:xfrm>
          <a:prstGeom prst="rect">
            <a:avLst/>
          </a:prstGeom>
          <a:noFill/>
        </p:spPr>
        <p:txBody>
          <a:bodyPr wrap="square" lIns="0" rIns="0" tIns="0" bIns="0" anchor="t">
            <a:spAutoFit/>
          </a:bodyPr>
          <a:lstStyle/>
          <a:p>
            <a:pPr algn="r">
              <a:spcBef>
                <a:spcPts val="0"/>
              </a:spcBef>
              <a:spcAft>
                <a:spcPts val="0"/>
              </a:spcAft>
            </a:pPr>
            <a:r>
              <a:rPr sz="1350" b="1" i="0">
                <a:solidFill>
                  <a:srgbClr val="E8B25C"/>
                </a:solidFill>
                <a:latin typeface="Segoe UI"/>
              </a:rPr>
              <a:t>kernel −41%</a:t>
            </a:r>
          </a:p>
        </p:txBody>
      </p:sp>
      <p:sp>
        <p:nvSpPr>
          <p:cNvPr id="94" name="TextBox 93"/>
          <p:cNvSpPr txBox="1"/>
          <p:nvPr/>
        </p:nvSpPr>
        <p:spPr>
          <a:xfrm>
            <a:off x="457200" y="6382512"/>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Speedups are 3×3 against the best CPU configuration, 24 threads.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389888"/>
            <a:ext cx="5477256" cy="274320"/>
          </a:xfrm>
          <a:prstGeom prst="rect">
            <a:avLst/>
          </a:prstGeom>
          <a:noFill/>
        </p:spPr>
        <p:txBody>
          <a:bodyPr wrap="square" lIns="0" rIns="0" tIns="0" bIns="0" anchor="t">
            <a:spAutoFit/>
          </a:bodyPr>
          <a:lstStyle/>
          <a:p>
            <a:pPr>
              <a:spcBef>
                <a:spcPts val="0"/>
              </a:spcBef>
              <a:spcAft>
                <a:spcPts val="0"/>
              </a:spcAft>
            </a:pPr>
            <a:r>
              <a:rPr sz="1050" b="1" i="0" spc="180">
                <a:solidFill>
                  <a:srgbClr val="6B7A90"/>
                </a:solidFill>
                <a:latin typeface="Segoe UI"/>
              </a:rPr>
              <a:t>ACT I OF III · FEED THE GPU</a:t>
            </a:r>
          </a:p>
        </p:txBody>
      </p:sp>
      <p:sp>
        <p:nvSpPr>
          <p:cNvPr id="5" name="TextBox 4"/>
          <p:cNvSpPr txBox="1"/>
          <p:nvPr/>
        </p:nvSpPr>
        <p:spPr>
          <a:xfrm>
            <a:off x="740664" y="1737360"/>
            <a:ext cx="566928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The host cannot submit work fast enough</a:t>
            </a:r>
          </a:p>
        </p:txBody>
      </p:sp>
      <p:sp>
        <p:nvSpPr>
          <p:cNvPr id="6" name="Rectangle 5"/>
          <p:cNvSpPr/>
          <p:nvPr/>
        </p:nvSpPr>
        <p:spPr>
          <a:xfrm>
            <a:off x="740664" y="3127248"/>
            <a:ext cx="141732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3383280"/>
            <a:ext cx="5385816" cy="1463040"/>
          </a:xfrm>
          <a:prstGeom prst="rect">
            <a:avLst/>
          </a:prstGeom>
          <a:noFill/>
        </p:spPr>
        <p:txBody>
          <a:bodyPr wrap="square" lIns="0" rIns="0" tIns="0" bIns="0" anchor="t">
            <a:spAutoFit/>
          </a:bodyPr>
          <a:lstStyle/>
          <a:p>
            <a:pPr>
              <a:lnSpc>
                <a:spcPct val="135000"/>
              </a:lnSpc>
              <a:spcBef>
                <a:spcPts val="0"/>
              </a:spcBef>
              <a:spcAft>
                <a:spcPts val="0"/>
              </a:spcAft>
            </a:pPr>
            <a:r>
              <a:rPr sz="1600" b="0" i="0">
                <a:solidFill>
                  <a:srgbClr val="A5B2C4"/>
                </a:solidFill>
                <a:latin typeface="Segoe UI"/>
              </a:rPr>
              <a:t>The kernel was fast almost immediately. This act is about the host, and it is told at 3×3, where PCIe is the floor.</a:t>
            </a:r>
          </a:p>
        </p:txBody>
      </p:sp>
      <p:sp>
        <p:nvSpPr>
          <p:cNvPr id="8" name="Rectangle 7"/>
          <p:cNvSpPr/>
          <p:nvPr/>
        </p:nvSpPr>
        <p:spPr>
          <a:xfrm>
            <a:off x="740664" y="5074920"/>
            <a:ext cx="5385816"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5074920"/>
            <a:ext cx="32004" cy="10241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5212080"/>
            <a:ext cx="4910328" cy="219456"/>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STARTING FROM</a:t>
            </a:r>
          </a:p>
        </p:txBody>
      </p:sp>
      <p:sp>
        <p:nvSpPr>
          <p:cNvPr id="11" name="TextBox 10"/>
          <p:cNvSpPr txBox="1"/>
          <p:nvPr/>
        </p:nvSpPr>
        <p:spPr>
          <a:xfrm>
            <a:off x="1024128" y="5413248"/>
            <a:ext cx="4910328" cy="365760"/>
          </a:xfrm>
          <a:prstGeom prst="rect">
            <a:avLst/>
          </a:prstGeom>
          <a:noFill/>
        </p:spPr>
        <p:txBody>
          <a:bodyPr wrap="square" lIns="0" rIns="0" tIns="0" bIns="0" anchor="t">
            <a:spAutoFit/>
          </a:bodyPr>
          <a:lstStyle/>
          <a:p>
            <a:pPr>
              <a:spcBef>
                <a:spcPts val="0"/>
              </a:spcBef>
              <a:spcAft>
                <a:spcPts val="0"/>
              </a:spcAft>
            </a:pPr>
            <a:r>
              <a:rPr sz="2400" b="1" i="0">
                <a:solidFill>
                  <a:srgbClr val="1E90C2"/>
                </a:solidFill>
                <a:latin typeface="Segoe UI"/>
              </a:rPr>
              <a:t>6 762 FPS</a:t>
            </a:r>
          </a:p>
        </p:txBody>
      </p:sp>
      <p:sp>
        <p:nvSpPr>
          <p:cNvPr id="12" name="TextBox 11"/>
          <p:cNvSpPr txBox="1"/>
          <p:nvPr/>
        </p:nvSpPr>
        <p:spPr>
          <a:xfrm>
            <a:off x="1024128" y="5833872"/>
            <a:ext cx="4910328" cy="237744"/>
          </a:xfrm>
          <a:prstGeom prst="rect">
            <a:avLst/>
          </a:prstGeom>
          <a:noFill/>
        </p:spPr>
        <p:txBody>
          <a:bodyPr wrap="square" lIns="0" rIns="0" tIns="0" bIns="0" anchor="t">
            <a:spAutoFit/>
          </a:bodyPr>
          <a:lstStyle/>
          <a:p>
            <a:pPr>
              <a:spcBef>
                <a:spcPts val="0"/>
              </a:spcBef>
              <a:spcAft>
                <a:spcPts val="0"/>
              </a:spcAft>
            </a:pPr>
            <a:r>
              <a:rPr sz="1100" b="0" i="0">
                <a:solidFill>
                  <a:srgbClr val="6B7A90"/>
                </a:solidFill>
                <a:latin typeface="Segoe UI"/>
              </a:rPr>
              <a:t>24-thread CPU · 14.8 s for 100 000 frames</a:t>
            </a:r>
          </a:p>
        </p:txBody>
      </p:sp>
      <p:sp>
        <p:nvSpPr>
          <p:cNvPr id="13" name="Rectangle 12"/>
          <p:cNvSpPr/>
          <p:nvPr/>
        </p:nvSpPr>
        <p:spPr>
          <a:xfrm>
            <a:off x="6556248"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0568" y="2088261"/>
            <a:ext cx="4727448" cy="237744"/>
          </a:xfrm>
          <a:prstGeom prst="rect">
            <a:avLst/>
          </a:prstGeom>
          <a:noFill/>
        </p:spPr>
        <p:txBody>
          <a:bodyPr wrap="square" lIns="0" rIns="0" tIns="0" bIns="0" anchor="t">
            <a:spAutoFit/>
          </a:bodyPr>
          <a:lstStyle/>
          <a:p>
            <a:pPr>
              <a:spcBef>
                <a:spcPts val="0"/>
              </a:spcBef>
              <a:spcAft>
                <a:spcPts val="0"/>
              </a:spcAft>
            </a:pPr>
            <a:r>
              <a:rPr sz="1000" b="1" i="0" spc="160">
                <a:solidFill>
                  <a:srgbClr val="6B7A90"/>
                </a:solidFill>
                <a:latin typeface="Segoe UI"/>
              </a:rPr>
              <a:t>COMING UP</a:t>
            </a:r>
          </a:p>
        </p:txBody>
      </p:sp>
      <p:sp>
        <p:nvSpPr>
          <p:cNvPr id="15" name="TextBox 14"/>
          <p:cNvSpPr txBox="1"/>
          <p:nvPr/>
        </p:nvSpPr>
        <p:spPr>
          <a:xfrm>
            <a:off x="6830568" y="2508885"/>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Consolas"/>
              </a:rPr>
              <a:t>12</a:t>
            </a:r>
          </a:p>
        </p:txBody>
      </p:sp>
      <p:sp>
        <p:nvSpPr>
          <p:cNvPr id="16" name="TextBox 15"/>
          <p:cNvSpPr txBox="1"/>
          <p:nvPr/>
        </p:nvSpPr>
        <p:spPr>
          <a:xfrm>
            <a:off x="7360920" y="2508885"/>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two memories, one wire</a:t>
            </a:r>
          </a:p>
        </p:txBody>
      </p:sp>
      <p:sp>
        <p:nvSpPr>
          <p:cNvPr id="17" name="TextBox 16"/>
          <p:cNvSpPr txBox="1"/>
          <p:nvPr/>
        </p:nvSpPr>
        <p:spPr>
          <a:xfrm>
            <a:off x="6830568" y="2967990"/>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Consolas"/>
              </a:rPr>
              <a:t>13</a:t>
            </a:r>
          </a:p>
        </p:txBody>
      </p:sp>
      <p:sp>
        <p:nvSpPr>
          <p:cNvPr id="18" name="TextBox 17"/>
          <p:cNvSpPr txBox="1"/>
          <p:nvPr/>
        </p:nvSpPr>
        <p:spPr>
          <a:xfrm>
            <a:off x="7360920" y="2967990"/>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opt1 · first port</a:t>
            </a:r>
          </a:p>
        </p:txBody>
      </p:sp>
      <p:sp>
        <p:nvSpPr>
          <p:cNvPr id="19" name="TextBox 18"/>
          <p:cNvSpPr txBox="1"/>
          <p:nvPr/>
        </p:nvSpPr>
        <p:spPr>
          <a:xfrm>
            <a:off x="6830568" y="3427095"/>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Consolas"/>
              </a:rPr>
              <a:t>14</a:t>
            </a:r>
          </a:p>
        </p:txBody>
      </p:sp>
      <p:sp>
        <p:nvSpPr>
          <p:cNvPr id="20" name="TextBox 19"/>
          <p:cNvSpPr txBox="1"/>
          <p:nvPr/>
        </p:nvSpPr>
        <p:spPr>
          <a:xfrm>
            <a:off x="7360920" y="3427095"/>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opt2 · streams + batching</a:t>
            </a:r>
          </a:p>
        </p:txBody>
      </p:sp>
      <p:sp>
        <p:nvSpPr>
          <p:cNvPr id="21" name="TextBox 20"/>
          <p:cNvSpPr txBox="1"/>
          <p:nvPr/>
        </p:nvSpPr>
        <p:spPr>
          <a:xfrm>
            <a:off x="6830568" y="3886200"/>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Consolas"/>
              </a:rPr>
              <a:t>15</a:t>
            </a:r>
          </a:p>
        </p:txBody>
      </p:sp>
      <p:sp>
        <p:nvSpPr>
          <p:cNvPr id="22" name="TextBox 21"/>
          <p:cNvSpPr txBox="1"/>
          <p:nvPr/>
        </p:nvSpPr>
        <p:spPr>
          <a:xfrm>
            <a:off x="7360920" y="3886200"/>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opt3 · no barriers</a:t>
            </a:r>
          </a:p>
        </p:txBody>
      </p:sp>
      <p:sp>
        <p:nvSpPr>
          <p:cNvPr id="23" name="TextBox 22"/>
          <p:cNvSpPr txBox="1"/>
          <p:nvPr/>
        </p:nvSpPr>
        <p:spPr>
          <a:xfrm>
            <a:off x="6830568" y="4345305"/>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Consolas"/>
              </a:rPr>
              <a:t>16</a:t>
            </a:r>
          </a:p>
        </p:txBody>
      </p:sp>
      <p:sp>
        <p:nvSpPr>
          <p:cNvPr id="24" name="TextBox 23"/>
          <p:cNvSpPr txBox="1"/>
          <p:nvPr/>
        </p:nvSpPr>
        <p:spPr>
          <a:xfrm>
            <a:off x="7360920" y="4345305"/>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opt3 · one D2H, not two</a:t>
            </a:r>
          </a:p>
        </p:txBody>
      </p:sp>
      <p:sp>
        <p:nvSpPr>
          <p:cNvPr id="25" name="TextBox 24"/>
          <p:cNvSpPr txBox="1"/>
          <p:nvPr/>
        </p:nvSpPr>
        <p:spPr>
          <a:xfrm>
            <a:off x="6830568" y="4804410"/>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Consolas"/>
              </a:rPr>
              <a:t>17</a:t>
            </a:r>
          </a:p>
        </p:txBody>
      </p:sp>
      <p:sp>
        <p:nvSpPr>
          <p:cNvPr id="26" name="TextBox 25"/>
          <p:cNvSpPr txBox="1"/>
          <p:nvPr/>
        </p:nvSpPr>
        <p:spPr>
          <a:xfrm>
            <a:off x="7360920" y="4804410"/>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opt4 · pinned memory</a:t>
            </a:r>
          </a:p>
        </p:txBody>
      </p:sp>
      <p:sp>
        <p:nvSpPr>
          <p:cNvPr id="27" name="Rectangle 26"/>
          <p:cNvSpPr/>
          <p:nvPr/>
        </p:nvSpPr>
        <p:spPr>
          <a:xfrm>
            <a:off x="45720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5998"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3479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323593"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12391"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90119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18998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47878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767583"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056382"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34518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THE TWO MEMORIES</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GPU consumes 32× faster than PCIe delivers</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12 / 36</a:t>
            </a:r>
          </a:p>
        </p:txBody>
      </p:sp>
      <p:sp>
        <p:nvSpPr>
          <p:cNvPr id="43" name="TextBox 42"/>
          <p:cNvSpPr txBox="1"/>
          <p:nvPr/>
        </p:nvSpPr>
        <p:spPr>
          <a:xfrm>
            <a:off x="457200" y="1664208"/>
            <a:ext cx="1124712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A CUDA kernel addresses </a:t>
            </a:r>
            <a:r>
              <a:rPr sz="1500" b="1" i="0">
                <a:solidFill>
                  <a:srgbClr val="E7EDF4"/>
                </a:solidFill>
                <a:latin typeface="Segoe UI"/>
              </a:rPr>
              <a:t>the GPU's own memory and nothing else</a:t>
            </a:r>
            <a:r>
              <a:rPr sz="1500" b="0" i="0">
                <a:solidFill>
                  <a:srgbClr val="A5B2C4"/>
                </a:solidFill>
                <a:latin typeface="Segoe UI"/>
              </a:rPr>
              <a:t>. So every frame is copied in — </a:t>
            </a:r>
            <a:r>
              <a:rPr sz="1500" b="1" i="0">
                <a:solidFill>
                  <a:srgbClr val="E7EDF4"/>
                </a:solidFill>
                <a:latin typeface="Segoe UI"/>
              </a:rPr>
              <a:t>H2D, host to device</a:t>
            </a:r>
            <a:r>
              <a:rPr sz="1500" b="0" i="0">
                <a:solidFill>
                  <a:srgbClr val="A5B2C4"/>
                </a:solidFill>
                <a:latin typeface="Segoe UI"/>
              </a:rPr>
              <a:t> — and every result copied back out — </a:t>
            </a:r>
            <a:r>
              <a:rPr sz="1500" b="1" i="0">
                <a:solidFill>
                  <a:srgbClr val="E7EDF4"/>
                </a:solidFill>
                <a:latin typeface="Segoe UI"/>
              </a:rPr>
              <a:t>D2H</a:t>
            </a:r>
            <a:r>
              <a:rPr sz="1500" b="0" i="0">
                <a:solidFill>
                  <a:srgbClr val="A5B2C4"/>
                </a:solidFill>
                <a:latin typeface="Segoe UI"/>
              </a:rPr>
              <a:t>. Those two names are what the next five slides are about.</a:t>
            </a:r>
          </a:p>
        </p:txBody>
      </p:sp>
      <p:pic>
        <p:nvPicPr>
          <p:cNvPr id="44" name="Picture 43" descr="fig_gpu_model.png"/>
          <p:cNvPicPr>
            <a:picLocks noChangeAspect="1"/>
          </p:cNvPicPr>
          <p:nvPr/>
        </p:nvPicPr>
        <p:blipFill>
          <a:blip r:embed="rId2"/>
          <a:stretch>
            <a:fillRect/>
          </a:stretch>
        </p:blipFill>
        <p:spPr>
          <a:xfrm>
            <a:off x="868680" y="2578608"/>
            <a:ext cx="10241280" cy="3108505"/>
          </a:xfrm>
          <a:prstGeom prst="rect">
            <a:avLst/>
          </a:prstGeom>
        </p:spPr>
      </p:pic>
      <p:sp>
        <p:nvSpPr>
          <p:cNvPr id="45" name="Rectangle 44"/>
          <p:cNvSpPr/>
          <p:nvPr/>
        </p:nvSpPr>
        <p:spPr>
          <a:xfrm>
            <a:off x="498348" y="5852160"/>
            <a:ext cx="1120597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5852160"/>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13232" y="5943600"/>
            <a:ext cx="10789920" cy="530352"/>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The asymmetry is the whole talk.</a:t>
            </a:r>
            <a:r>
              <a:rPr sz="1300" b="0" i="0">
                <a:solidFill>
                  <a:srgbClr val="A5B2C4"/>
                </a:solidFill>
                <a:latin typeface="Segoe UI"/>
              </a:rPr>
              <a:t> Host DRAM runs at ~71 GB/s and VRAM at 1 008, but everything between them crawls through </a:t>
            </a:r>
            <a:r>
              <a:rPr sz="1300" b="1" i="0">
                <a:solidFill>
                  <a:srgbClr val="E7EDF4"/>
                </a:solidFill>
                <a:latin typeface="Segoe UI"/>
              </a:rPr>
              <a:t>31.5</a:t>
            </a:r>
            <a:r>
              <a:rPr sz="1300" b="0" i="0">
                <a:solidFill>
                  <a:srgbClr val="A5B2C4"/>
                </a:solidFill>
                <a:latin typeface="Segoe UI"/>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OPT1</a:t>
            </a:r>
          </a:p>
        </p:txBody>
      </p:sp>
      <p:sp>
        <p:nvSpPr>
          <p:cNvPr id="4" name="TextBox 3"/>
          <p:cNvSpPr txBox="1"/>
          <p:nvPr/>
        </p:nvSpPr>
        <p:spPr>
          <a:xfrm>
            <a:off x="1325880" y="457200"/>
            <a:ext cx="937260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THE FIRST CUDA PORT</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first port runs at 26 % of the GPU's floor</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13 / 36</a:t>
            </a:r>
          </a:p>
        </p:txBody>
      </p:sp>
      <p:sp>
        <p:nvSpPr>
          <p:cNvPr id="43" name="TextBox 42"/>
          <p:cNvSpPr txBox="1"/>
          <p:nvPr/>
        </p:nvSpPr>
        <p:spPr>
          <a:xfrm>
            <a:off x="457200" y="1664208"/>
            <a:ext cx="7461504"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Shared-memory tiling with </a:t>
            </a:r>
            <a:r>
              <a:rPr sz="1500" b="1" i="0">
                <a:solidFill>
                  <a:srgbClr val="E7EDF4"/>
                </a:solidFill>
                <a:latin typeface="Segoe UI"/>
              </a:rPr>
              <a:t>halo loading</a:t>
            </a:r>
            <a:r>
              <a:rPr sz="1500" b="0" i="0">
                <a:solidFill>
                  <a:srgbClr val="A5B2C4"/>
                </a:solidFill>
                <a:latin typeface="Segoe UI"/>
              </a:rPr>
              <a:t> for any cluster size; pedestal subtraction fused into the tile load.</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One cudaMemcpy in, one kernel, one cudaMemcpy out; </a:t>
            </a:r>
            <a:r>
              <a:rPr sz="1500" b="1" i="0">
                <a:solidFill>
                  <a:srgbClr val="E7EDF4"/>
                </a:solidFill>
                <a:latin typeface="Segoe UI"/>
              </a:rPr>
              <a:t>the host blocks on every frame</a:t>
            </a:r>
            <a:r>
              <a:rPr sz="1500" b="0" i="0">
                <a:solidFill>
                  <a:srgbClr val="A5B2C4"/>
                </a:solidFill>
                <a:latin typeface="Segoe UI"/>
              </a:rPr>
              <a:t>.</a:t>
            </a:r>
          </a:p>
        </p:txBody>
      </p:sp>
      <p:sp>
        <p:nvSpPr>
          <p:cNvPr id="44" name="Rounded Rectangle 43"/>
          <p:cNvSpPr/>
          <p:nvPr/>
        </p:nvSpPr>
        <p:spPr>
          <a:xfrm>
            <a:off x="457200" y="2926080"/>
            <a:ext cx="7461504" cy="1346225"/>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3035808"/>
            <a:ext cx="7132320"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ClusterFinderCUDAOpt2.hpp · find_clusters()</a:t>
            </a:r>
          </a:p>
        </p:txBody>
      </p:sp>
      <p:sp>
        <p:nvSpPr>
          <p:cNvPr id="46" name="TextBox 45"/>
          <p:cNvSpPr txBox="1"/>
          <p:nvPr/>
        </p:nvSpPr>
        <p:spPr>
          <a:xfrm>
            <a:off x="621792" y="3255264"/>
            <a:ext cx="7132320" cy="1126769"/>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7C8A9E"/>
                </a:solidFill>
                <a:latin typeface="Consolas"/>
              </a:rPr>
              <a:t>// one frame at a time, the host waits at every step</a:t>
            </a:r>
          </a:p>
          <a:p>
            <a:pPr>
              <a:lnSpc>
                <a:spcPct val="112000"/>
              </a:lnSpc>
              <a:spcBef>
                <a:spcPts val="0"/>
              </a:spcBef>
              <a:spcAft>
                <a:spcPts val="0"/>
              </a:spcAft>
            </a:pPr>
            <a:r>
              <a:rPr sz="1050" b="0" i="0">
                <a:solidFill>
                  <a:srgbClr val="A5B2C4"/>
                </a:solidFill>
                <a:latin typeface="Consolas"/>
              </a:rPr>
              <a:t>cudaMemcpy(d_frame, h_frame, bytes, cudaMemcpyHostToDevice);</a:t>
            </a:r>
          </a:p>
          <a:p>
            <a:pPr>
              <a:lnSpc>
                <a:spcPct val="112000"/>
              </a:lnSpc>
              <a:spcBef>
                <a:spcPts val="0"/>
              </a:spcBef>
              <a:spcAft>
                <a:spcPts val="0"/>
              </a:spcAft>
            </a:pPr>
            <a:r>
              <a:rPr sz="1050" b="0" i="0">
                <a:solidFill>
                  <a:srgbClr val="A5B2C4"/>
                </a:solidFill>
                <a:latin typeface="Consolas"/>
              </a:rPr>
              <a:t>find_clusters_in_single_frame&lt;ClusterType, FRAME_TYPE&gt;</a:t>
            </a:r>
          </a:p>
          <a:p>
            <a:pPr>
              <a:lnSpc>
                <a:spcPct val="112000"/>
              </a:lnSpc>
              <a:spcBef>
                <a:spcPts val="0"/>
              </a:spcBef>
              <a:spcAft>
                <a:spcPts val="0"/>
              </a:spcAft>
            </a:pPr>
            <a:r>
              <a:rPr sz="1050" b="0" i="0">
                <a:solidFill>
                  <a:srgbClr val="A5B2C4"/>
                </a:solidFill>
                <a:latin typeface="Consolas"/>
              </a:rPr>
              <a:t>    &lt;&lt;&lt;grid, block, shmem&gt;&gt;&gt;(d_frame, d_pd_mean, ...);</a:t>
            </a:r>
          </a:p>
          <a:p>
            <a:pPr>
              <a:lnSpc>
                <a:spcPct val="112000"/>
              </a:lnSpc>
              <a:spcBef>
                <a:spcPts val="0"/>
              </a:spcBef>
              <a:spcAft>
                <a:spcPts val="0"/>
              </a:spcAft>
            </a:pPr>
            <a:r>
              <a:rPr sz="1050" b="0" i="0">
                <a:solidFill>
                  <a:srgbClr val="A5B2C4"/>
                </a:solidFill>
                <a:latin typeface="Consolas"/>
              </a:rPr>
              <a:t>cudaMemcpy(h_out, d_out, out_bytes, cudaMemcpyDeviceToHost);</a:t>
            </a:r>
          </a:p>
        </p:txBody>
      </p:sp>
      <p:sp>
        <p:nvSpPr>
          <p:cNvPr id="47" name="Rectangle 46"/>
          <p:cNvSpPr/>
          <p:nvPr/>
        </p:nvSpPr>
        <p:spPr>
          <a:xfrm>
            <a:off x="498348" y="4407408"/>
            <a:ext cx="7420356"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 y="4407408"/>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13232" y="4498848"/>
            <a:ext cx="7004304" cy="731520"/>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PCIe is full-duplex</a:t>
            </a:r>
            <a:r>
              <a:rPr sz="1300" b="0" i="0">
                <a:solidFill>
                  <a:srgbClr val="A5B2C4"/>
                </a:solidFill>
                <a:latin typeface="Segoe UI"/>
              </a:rPr>
              <a:t>: H2D, kernel and D2H run on independent engines and overlap, so the </a:t>
            </a:r>
            <a:r>
              <a:rPr sz="1300" b="1" i="0">
                <a:solidFill>
                  <a:srgbClr val="E7EDF4"/>
                </a:solidFill>
                <a:latin typeface="Segoe UI"/>
              </a:rPr>
              <a:t>floor</a:t>
            </a:r>
            <a:r>
              <a:rPr sz="1300" b="0" i="0">
                <a:solidFill>
                  <a:srgbClr val="A5B2C4"/>
                </a:solidFill>
                <a:latin typeface="Segoe UI"/>
              </a:rPr>
              <a:t> is </a:t>
            </a:r>
            <a:r>
              <a:rPr sz="1300" b="1" i="0">
                <a:solidFill>
                  <a:srgbClr val="E7EDF4"/>
                </a:solidFill>
                <a:latin typeface="Segoe UI"/>
              </a:rPr>
              <a:t>max(H2D, kernel, D2H)</a:t>
            </a:r>
            <a:r>
              <a:rPr sz="1300" b="0" i="0">
                <a:solidFill>
                  <a:srgbClr val="A5B2C4"/>
                </a:solidFill>
                <a:latin typeface="Segoe UI"/>
              </a:rPr>
              <a:t>, never the sum. At 3×3 that is </a:t>
            </a:r>
            <a:r>
              <a:rPr sz="1300" b="1" i="0">
                <a:solidFill>
                  <a:srgbClr val="E7EDF4"/>
                </a:solidFill>
                <a:latin typeface="Segoe UI"/>
              </a:rPr>
              <a:t>16.2 µs → 61 859 FPS</a:t>
            </a:r>
            <a:r>
              <a:rPr sz="1300" b="0" i="0">
                <a:solidFill>
                  <a:srgbClr val="A5B2C4"/>
                </a:solidFill>
                <a:latin typeface="Segoe UI"/>
              </a:rPr>
              <a:t>.</a:t>
            </a:r>
          </a:p>
        </p:txBody>
      </p:sp>
      <p:pic>
        <p:nvPicPr>
          <p:cNvPr id="50" name="Picture 49" descr="fig_opt1_timeline.png"/>
          <p:cNvPicPr>
            <a:picLocks noChangeAspect="1"/>
          </p:cNvPicPr>
          <p:nvPr/>
        </p:nvPicPr>
        <p:blipFill>
          <a:blip r:embed="rId2"/>
          <a:stretch>
            <a:fillRect/>
          </a:stretch>
        </p:blipFill>
        <p:spPr>
          <a:xfrm>
            <a:off x="457200" y="5458968"/>
            <a:ext cx="7461504" cy="1247218"/>
          </a:xfrm>
          <a:prstGeom prst="rect">
            <a:avLst/>
          </a:prstGeom>
        </p:spPr>
      </p:pic>
      <p:sp>
        <p:nvSpPr>
          <p:cNvPr id="51" name="Rectangle 50"/>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85632" y="182880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OPT1 · 3×3 · 100 K FRAMES · F64</a:t>
            </a:r>
          </a:p>
        </p:txBody>
      </p:sp>
      <p:sp>
        <p:nvSpPr>
          <p:cNvPr id="53" name="TextBox 52"/>
          <p:cNvSpPr txBox="1"/>
          <p:nvPr/>
        </p:nvSpPr>
        <p:spPr>
          <a:xfrm>
            <a:off x="8485632" y="2212848"/>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THROUGHPUT</a:t>
            </a:r>
          </a:p>
        </p:txBody>
      </p:sp>
      <p:sp>
        <p:nvSpPr>
          <p:cNvPr id="54" name="TextBox 53"/>
          <p:cNvSpPr txBox="1"/>
          <p:nvPr/>
        </p:nvSpPr>
        <p:spPr>
          <a:xfrm>
            <a:off x="8485632" y="2432304"/>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15 807 FPS</a:t>
            </a:r>
          </a:p>
        </p:txBody>
      </p:sp>
      <p:sp>
        <p:nvSpPr>
          <p:cNvPr id="55" name="TextBox 54"/>
          <p:cNvSpPr txBox="1"/>
          <p:nvPr/>
        </p:nvSpPr>
        <p:spPr>
          <a:xfrm>
            <a:off x="8485632" y="314553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VS 24-THREAD CPU</a:t>
            </a:r>
          </a:p>
        </p:txBody>
      </p:sp>
      <p:sp>
        <p:nvSpPr>
          <p:cNvPr id="56" name="TextBox 55"/>
          <p:cNvSpPr txBox="1"/>
          <p:nvPr/>
        </p:nvSpPr>
        <p:spPr>
          <a:xfrm>
            <a:off x="8485632" y="3364991"/>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×2.34</a:t>
            </a:r>
          </a:p>
        </p:txBody>
      </p:sp>
      <p:sp>
        <p:nvSpPr>
          <p:cNvPr id="57" name="TextBox 56"/>
          <p:cNvSpPr txBox="1"/>
          <p:nvPr/>
        </p:nvSpPr>
        <p:spPr>
          <a:xfrm>
            <a:off x="8485632" y="4123944"/>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PER FRAME</a:t>
            </a:r>
          </a:p>
        </p:txBody>
      </p:sp>
      <p:sp>
        <p:nvSpPr>
          <p:cNvPr id="58" name="TextBox 57"/>
          <p:cNvSpPr txBox="1"/>
          <p:nvPr/>
        </p:nvSpPr>
        <p:spPr>
          <a:xfrm>
            <a:off x="8485632" y="4343400"/>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63.3 µs</a:t>
            </a:r>
          </a:p>
        </p:txBody>
      </p:sp>
      <p:sp>
        <p:nvSpPr>
          <p:cNvPr id="59" name="TextBox 58"/>
          <p:cNvSpPr txBox="1"/>
          <p:nvPr/>
        </p:nvSpPr>
        <p:spPr>
          <a:xfrm>
            <a:off x="8485632" y="4873751"/>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H2D · KERNEL · D2H  [S1]</a:t>
            </a:r>
          </a:p>
        </p:txBody>
      </p:sp>
      <p:sp>
        <p:nvSpPr>
          <p:cNvPr id="60" name="TextBox 59"/>
          <p:cNvSpPr txBox="1"/>
          <p:nvPr/>
        </p:nvSpPr>
        <p:spPr>
          <a:xfrm>
            <a:off x="8485632" y="5093207"/>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13.2 · 5.5 · 6.4 µs</a:t>
            </a:r>
          </a:p>
        </p:txBody>
      </p:sp>
      <p:sp>
        <p:nvSpPr>
          <p:cNvPr id="61" name="TextBox 60"/>
          <p:cNvSpPr txBox="1"/>
          <p:nvPr/>
        </p:nvSpPr>
        <p:spPr>
          <a:xfrm>
            <a:off x="8485632" y="5532119"/>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THE GPU FLOOR</a:t>
            </a:r>
          </a:p>
        </p:txBody>
      </p:sp>
      <p:sp>
        <p:nvSpPr>
          <p:cNvPr id="62" name="TextBox 61"/>
          <p:cNvSpPr txBox="1"/>
          <p:nvPr/>
        </p:nvSpPr>
        <p:spPr>
          <a:xfrm>
            <a:off x="8485632" y="5751575"/>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61 859 FPS</a:t>
            </a:r>
          </a:p>
        </p:txBody>
      </p:sp>
      <p:sp>
        <p:nvSpPr>
          <p:cNvPr id="63" name="TextBox 62"/>
          <p:cNvSpPr txBox="1"/>
          <p:nvPr/>
        </p:nvSpPr>
        <p:spPr>
          <a:xfrm>
            <a:off x="8485632" y="6190487"/>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 OF FLOOR</a:t>
            </a:r>
          </a:p>
        </p:txBody>
      </p:sp>
      <p:sp>
        <p:nvSpPr>
          <p:cNvPr id="64" name="TextBox 63"/>
          <p:cNvSpPr txBox="1"/>
          <p:nvPr/>
        </p:nvSpPr>
        <p:spPr>
          <a:xfrm>
            <a:off x="8485632" y="6409943"/>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26 %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OPT2</a:t>
            </a:r>
          </a:p>
        </p:txBody>
      </p:sp>
      <p:sp>
        <p:nvSpPr>
          <p:cNvPr id="4" name="TextBox 3"/>
          <p:cNvSpPr txBox="1"/>
          <p:nvPr/>
        </p:nvSpPr>
        <p:spPr>
          <a:xfrm>
            <a:off x="1325880" y="457200"/>
            <a:ext cx="937260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STREAMS AND BATCHING</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Four streams and 2 000-frame batches: ×1.56</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14 / 36</a:t>
            </a:r>
          </a:p>
        </p:txBody>
      </p:sp>
      <p:sp>
        <p:nvSpPr>
          <p:cNvPr id="43" name="TextBox 42"/>
          <p:cNvSpPr txBox="1"/>
          <p:nvPr/>
        </p:nvSpPr>
        <p:spPr>
          <a:xfrm>
            <a:off x="457200" y="1664208"/>
            <a:ext cx="7461504"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A </a:t>
            </a:r>
            <a:r>
              <a:rPr sz="1500" b="1" i="0">
                <a:solidFill>
                  <a:srgbClr val="E7EDF4"/>
                </a:solidFill>
                <a:latin typeface="Segoe UI"/>
              </a:rPr>
              <a:t>stream</a:t>
            </a:r>
            <a:r>
              <a:rPr sz="1500" b="0" i="0">
                <a:solidFill>
                  <a:srgbClr val="A5B2C4"/>
                </a:solidFill>
                <a:latin typeface="Segoe UI"/>
              </a:rPr>
              <a:t> is an ordered queue of GPU work. Work in </a:t>
            </a:r>
            <a:r>
              <a:rPr sz="1500" b="1" i="0">
                <a:solidFill>
                  <a:srgbClr val="E7EDF4"/>
                </a:solidFill>
                <a:latin typeface="Segoe UI"/>
              </a:rPr>
              <a:t>different</a:t>
            </a:r>
            <a:r>
              <a:rPr sz="1500" b="0" i="0">
                <a:solidFill>
                  <a:srgbClr val="A5B2C4"/>
                </a:solidFill>
                <a:latin typeface="Segoe UI"/>
              </a:rPr>
              <a:t> streams may overlap, so a copy can run while another stream computes.</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Each stream owns a </a:t>
            </a:r>
            <a:r>
              <a:rPr sz="1500" b="1" i="0">
                <a:solidFill>
                  <a:srgbClr val="E7EDF4"/>
                </a:solidFill>
                <a:latin typeface="Segoe UI"/>
              </a:rPr>
              <a:t>StreamContext</a:t>
            </a:r>
            <a:r>
              <a:rPr sz="1500" b="0" i="0">
                <a:solidFill>
                  <a:srgbClr val="A5B2C4"/>
                </a:solidFill>
                <a:latin typeface="Segoe UI"/>
              </a:rPr>
              <a:t> — frame buffer, output buffer, pedestal — and frames go </a:t>
            </a:r>
            <a:r>
              <a:rPr sz="1500" b="1" i="0">
                <a:solidFill>
                  <a:srgbClr val="E7EDF4"/>
                </a:solidFill>
                <a:latin typeface="Segoe UI"/>
              </a:rPr>
              <a:t>round-robin</a:t>
            </a:r>
            <a:r>
              <a:rPr sz="1500" b="0" i="0">
                <a:solidFill>
                  <a:srgbClr val="A5B2C4"/>
                </a:solidFill>
                <a:latin typeface="Segoe UI"/>
              </a:rPr>
              <a:t>, </a:t>
            </a:r>
            <a:r>
              <a:rPr sz="1500" b="1" i="0">
                <a:solidFill>
                  <a:srgbClr val="E7EDF4"/>
                </a:solidFill>
                <a:latin typeface="Segoe UI"/>
              </a:rPr>
              <a:t>2 000 per call</a:t>
            </a:r>
            <a:r>
              <a:rPr sz="1500" b="0" i="0">
                <a:solidFill>
                  <a:srgbClr val="A5B2C4"/>
                </a:solidFill>
                <a:latin typeface="Segoe UI"/>
              </a:rPr>
              <a:t>.</a:t>
            </a:r>
          </a:p>
        </p:txBody>
      </p:sp>
      <p:sp>
        <p:nvSpPr>
          <p:cNvPr id="44" name="Rounded Rectangle 43"/>
          <p:cNvSpPr/>
          <p:nvPr/>
        </p:nvSpPr>
        <p:spPr>
          <a:xfrm>
            <a:off x="457200" y="3017520"/>
            <a:ext cx="7461504" cy="1527688"/>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3127248"/>
            <a:ext cx="7132320"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ClusterFinderCUDA.hpp · per-stream state</a:t>
            </a:r>
          </a:p>
        </p:txBody>
      </p:sp>
      <p:sp>
        <p:nvSpPr>
          <p:cNvPr id="46" name="TextBox 45"/>
          <p:cNvSpPr txBox="1"/>
          <p:nvPr/>
        </p:nvSpPr>
        <p:spPr>
          <a:xfrm>
            <a:off x="621792" y="3346704"/>
            <a:ext cx="7132320" cy="1308232"/>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A5B2C4"/>
                </a:solidFill>
                <a:latin typeface="Consolas"/>
              </a:rPr>
              <a:t>struct StreamContext {</a:t>
            </a:r>
          </a:p>
          <a:p>
            <a:pPr>
              <a:lnSpc>
                <a:spcPct val="112000"/>
              </a:lnSpc>
              <a:spcBef>
                <a:spcPts val="0"/>
              </a:spcBef>
              <a:spcAft>
                <a:spcPts val="0"/>
              </a:spcAft>
            </a:pPr>
            <a:r>
              <a:rPr sz="1050" b="0" i="0">
                <a:solidFill>
                  <a:srgbClr val="A5B2C4"/>
                </a:solidFill>
                <a:latin typeface="Consolas"/>
              </a:rPr>
              <a:t>    cudaStream_t   stream;</a:t>
            </a:r>
          </a:p>
          <a:p>
            <a:pPr>
              <a:lnSpc>
                <a:spcPct val="112000"/>
              </a:lnSpc>
              <a:spcBef>
                <a:spcPts val="0"/>
              </a:spcBef>
              <a:spcAft>
                <a:spcPts val="0"/>
              </a:spcAft>
            </a:pPr>
            <a:r>
              <a:rPr sz="1050" b="0" i="0">
                <a:solidFill>
                  <a:srgbClr val="A5B2C4"/>
                </a:solidFill>
                <a:latin typeface="Consolas"/>
              </a:rPr>
              <a:t>    FRAME_TYPE    *d_frame;      ClusterType *d_clusters;</a:t>
            </a:r>
          </a:p>
          <a:p>
            <a:pPr>
              <a:lnSpc>
                <a:spcPct val="112000"/>
              </a:lnSpc>
              <a:spcBef>
                <a:spcPts val="0"/>
              </a:spcBef>
              <a:spcAft>
                <a:spcPts val="0"/>
              </a:spcAft>
            </a:pPr>
            <a:r>
              <a:rPr sz="1050" b="0" i="0">
                <a:solidFill>
                  <a:srgbClr val="A5B2C4"/>
                </a:solidFill>
                <a:latin typeface="Consolas"/>
              </a:rPr>
              <a:t>    PEDESTAL_TYPE *d_pd_mean, *d_pd_sum, *d_pd_sum2;</a:t>
            </a:r>
          </a:p>
          <a:p>
            <a:pPr>
              <a:lnSpc>
                <a:spcPct val="112000"/>
              </a:lnSpc>
              <a:spcBef>
                <a:spcPts val="0"/>
              </a:spcBef>
              <a:spcAft>
                <a:spcPts val="0"/>
              </a:spcAft>
            </a:pPr>
            <a:r>
              <a:rPr sz="1050" b="0" i="0">
                <a:solidFill>
                  <a:srgbClr val="A5B2C4"/>
                </a:solidFill>
                <a:latin typeface="Consolas"/>
              </a:rPr>
              <a:t>};</a:t>
            </a:r>
          </a:p>
          <a:p>
            <a:pPr>
              <a:lnSpc>
                <a:spcPct val="112000"/>
              </a:lnSpc>
              <a:spcBef>
                <a:spcPts val="0"/>
              </a:spcBef>
              <a:spcAft>
                <a:spcPts val="0"/>
              </a:spcAft>
            </a:pPr>
            <a:r>
              <a:rPr sz="1050" b="0" i="0">
                <a:solidFill>
                  <a:srgbClr val="A5B2C4"/>
                </a:solidFill>
                <a:latin typeface="Consolas"/>
              </a:rPr>
              <a:t>auto &amp;sc = v_sc[frame_idx % </a:t>
            </a:r>
            <a:r>
              <a:rPr sz="1050" b="1" i="0">
                <a:solidFill>
                  <a:srgbClr val="1E90C2"/>
                </a:solidFill>
                <a:latin typeface="Consolas"/>
              </a:rPr>
              <a:t>n_streams</a:t>
            </a:r>
            <a:r>
              <a:rPr sz="1050" b="0" i="0">
                <a:solidFill>
                  <a:srgbClr val="A5B2C4"/>
                </a:solidFill>
                <a:latin typeface="Consolas"/>
              </a:rPr>
              <a:t>];   // round-robin</a:t>
            </a:r>
          </a:p>
        </p:txBody>
      </p:sp>
      <p:pic>
        <p:nvPicPr>
          <p:cNvPr id="47" name="Picture 46" descr="fig_opt2_timeline.png"/>
          <p:cNvPicPr>
            <a:picLocks noChangeAspect="1"/>
          </p:cNvPicPr>
          <p:nvPr/>
        </p:nvPicPr>
        <p:blipFill>
          <a:blip r:embed="rId2"/>
          <a:stretch>
            <a:fillRect/>
          </a:stretch>
        </p:blipFill>
        <p:spPr>
          <a:xfrm>
            <a:off x="457200" y="4553712"/>
            <a:ext cx="6949440" cy="1472106"/>
          </a:xfrm>
          <a:prstGeom prst="rect">
            <a:avLst/>
          </a:prstGeom>
        </p:spPr>
      </p:pic>
      <p:sp>
        <p:nvSpPr>
          <p:cNvPr id="48" name="Rectangle 47"/>
          <p:cNvSpPr/>
          <p:nvPr/>
        </p:nvSpPr>
        <p:spPr>
          <a:xfrm>
            <a:off x="498348" y="6089904"/>
            <a:ext cx="7420356" cy="53035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6089904"/>
            <a:ext cx="41148" cy="53035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13232" y="6181344"/>
            <a:ext cx="7004304" cy="347471"/>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Scaffolding, not yet the payoff.</a:t>
            </a:r>
            <a:r>
              <a:rPr sz="1300" b="0" i="0">
                <a:solidFill>
                  <a:srgbClr val="A5B2C4"/>
                </a:solidFill>
                <a:latin typeface="Segoe UI"/>
              </a:rPr>
              <a:t> The streams exist, but the host still synchronises after every round: see opt3.</a:t>
            </a:r>
          </a:p>
        </p:txBody>
      </p:sp>
      <p:sp>
        <p:nvSpPr>
          <p:cNvPr id="51" name="Rectangle 50"/>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85632" y="182880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OPT2 · 3×3 · 4 STREAMS · BATCH 2 000</a:t>
            </a:r>
          </a:p>
        </p:txBody>
      </p:sp>
      <p:sp>
        <p:nvSpPr>
          <p:cNvPr id="53" name="TextBox 52"/>
          <p:cNvSpPr txBox="1"/>
          <p:nvPr/>
        </p:nvSpPr>
        <p:spPr>
          <a:xfrm>
            <a:off x="8485632" y="2212848"/>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THROUGHPUT</a:t>
            </a:r>
          </a:p>
        </p:txBody>
      </p:sp>
      <p:sp>
        <p:nvSpPr>
          <p:cNvPr id="54" name="TextBox 53"/>
          <p:cNvSpPr txBox="1"/>
          <p:nvPr/>
        </p:nvSpPr>
        <p:spPr>
          <a:xfrm>
            <a:off x="8485632" y="2432304"/>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24 726 FPS</a:t>
            </a:r>
          </a:p>
        </p:txBody>
      </p:sp>
      <p:sp>
        <p:nvSpPr>
          <p:cNvPr id="55" name="TextBox 54"/>
          <p:cNvSpPr txBox="1"/>
          <p:nvPr/>
        </p:nvSpPr>
        <p:spPr>
          <a:xfrm>
            <a:off x="8485632" y="314553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VS 24-THREAD CPU</a:t>
            </a:r>
          </a:p>
        </p:txBody>
      </p:sp>
      <p:sp>
        <p:nvSpPr>
          <p:cNvPr id="56" name="TextBox 55"/>
          <p:cNvSpPr txBox="1"/>
          <p:nvPr/>
        </p:nvSpPr>
        <p:spPr>
          <a:xfrm>
            <a:off x="8485632" y="3364991"/>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×3.66</a:t>
            </a:r>
          </a:p>
        </p:txBody>
      </p:sp>
      <p:sp>
        <p:nvSpPr>
          <p:cNvPr id="57" name="TextBox 56"/>
          <p:cNvSpPr txBox="1"/>
          <p:nvPr/>
        </p:nvSpPr>
        <p:spPr>
          <a:xfrm>
            <a:off x="8485632" y="4123944"/>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PER FRAME</a:t>
            </a:r>
          </a:p>
        </p:txBody>
      </p:sp>
      <p:sp>
        <p:nvSpPr>
          <p:cNvPr id="58" name="TextBox 57"/>
          <p:cNvSpPr txBox="1"/>
          <p:nvPr/>
        </p:nvSpPr>
        <p:spPr>
          <a:xfrm>
            <a:off x="8485632" y="4343400"/>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40.4 µs</a:t>
            </a:r>
          </a:p>
        </p:txBody>
      </p:sp>
      <p:sp>
        <p:nvSpPr>
          <p:cNvPr id="59" name="TextBox 58"/>
          <p:cNvSpPr txBox="1"/>
          <p:nvPr/>
        </p:nvSpPr>
        <p:spPr>
          <a:xfrm>
            <a:off x="8485632" y="4782312"/>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STEP GAIN OVER OPT1</a:t>
            </a:r>
          </a:p>
        </p:txBody>
      </p:sp>
      <p:sp>
        <p:nvSpPr>
          <p:cNvPr id="60" name="TextBox 59"/>
          <p:cNvSpPr txBox="1"/>
          <p:nvPr/>
        </p:nvSpPr>
        <p:spPr>
          <a:xfrm>
            <a:off x="8485632" y="5001768"/>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×1.56</a:t>
            </a:r>
          </a:p>
        </p:txBody>
      </p:sp>
      <p:sp>
        <p:nvSpPr>
          <p:cNvPr id="61" name="TextBox 60"/>
          <p:cNvSpPr txBox="1"/>
          <p:nvPr/>
        </p:nvSpPr>
        <p:spPr>
          <a:xfrm>
            <a:off x="8485632" y="5440679"/>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 OF FLOOR · 61 859 FPS</a:t>
            </a:r>
          </a:p>
        </p:txBody>
      </p:sp>
      <p:sp>
        <p:nvSpPr>
          <p:cNvPr id="62" name="TextBox 61"/>
          <p:cNvSpPr txBox="1"/>
          <p:nvPr/>
        </p:nvSpPr>
        <p:spPr>
          <a:xfrm>
            <a:off x="8485632" y="5660136"/>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40 %  (was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OPT3</a:t>
            </a:r>
          </a:p>
        </p:txBody>
      </p:sp>
      <p:sp>
        <p:nvSpPr>
          <p:cNvPr id="4" name="TextBox 3"/>
          <p:cNvSpPr txBox="1"/>
          <p:nvPr/>
        </p:nvSpPr>
        <p:spPr>
          <a:xfrm>
            <a:off x="1325880" y="457200"/>
            <a:ext cx="937260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REMOVE THE SYNC BARRIERS</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sync per batch, not one per round: ×1.18</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15 / 36</a:t>
            </a:r>
          </a:p>
        </p:txBody>
      </p:sp>
      <p:pic>
        <p:nvPicPr>
          <p:cNvPr id="43" name="Picture 42" descr="fig_streams.png"/>
          <p:cNvPicPr>
            <a:picLocks noChangeAspect="1"/>
          </p:cNvPicPr>
          <p:nvPr/>
        </p:nvPicPr>
        <p:blipFill>
          <a:blip r:embed="rId2"/>
          <a:stretch>
            <a:fillRect/>
          </a:stretch>
        </p:blipFill>
        <p:spPr>
          <a:xfrm>
            <a:off x="457200" y="1700784"/>
            <a:ext cx="7360920" cy="3268508"/>
          </a:xfrm>
          <a:prstGeom prst="rect">
            <a:avLst/>
          </a:prstGeom>
        </p:spPr>
      </p:pic>
      <p:sp>
        <p:nvSpPr>
          <p:cNvPr id="44" name="Rounded Rectangle 43"/>
          <p:cNvSpPr/>
          <p:nvPr/>
        </p:nvSpPr>
        <p:spPr>
          <a:xfrm>
            <a:off x="8046720" y="1700784"/>
            <a:ext cx="3749039" cy="2616464"/>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11312" y="1810512"/>
            <a:ext cx="3419856"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THE BARRIER, BEFORE AND AFTER</a:t>
            </a:r>
          </a:p>
        </p:txBody>
      </p:sp>
      <p:sp>
        <p:nvSpPr>
          <p:cNvPr id="46" name="TextBox 45"/>
          <p:cNvSpPr txBox="1"/>
          <p:nvPr/>
        </p:nvSpPr>
        <p:spPr>
          <a:xfrm>
            <a:off x="8211312" y="2029967"/>
            <a:ext cx="3419856" cy="2397008"/>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7C8A9E"/>
                </a:solidFill>
                <a:latin typeface="Consolas"/>
              </a:rPr>
              <a:t>// opt2:  barrier after every round</a:t>
            </a:r>
          </a:p>
          <a:p>
            <a:pPr>
              <a:lnSpc>
                <a:spcPct val="112000"/>
              </a:lnSpc>
              <a:spcBef>
                <a:spcPts val="0"/>
              </a:spcBef>
              <a:spcAft>
                <a:spcPts val="0"/>
              </a:spcAft>
            </a:pPr>
            <a:r>
              <a:rPr sz="1050" b="0" i="0">
                <a:solidFill>
                  <a:srgbClr val="A5B2C4"/>
                </a:solidFill>
                <a:latin typeface="Consolas"/>
              </a:rPr>
              <a:t>for (round) {</a:t>
            </a:r>
          </a:p>
          <a:p>
            <a:pPr>
              <a:lnSpc>
                <a:spcPct val="112000"/>
              </a:lnSpc>
              <a:spcBef>
                <a:spcPts val="0"/>
              </a:spcBef>
              <a:spcAft>
                <a:spcPts val="0"/>
              </a:spcAft>
            </a:pPr>
            <a:r>
              <a:rPr sz="1050" b="0" i="0">
                <a:solidFill>
                  <a:srgbClr val="A5B2C4"/>
                </a:solidFill>
                <a:latin typeface="Consolas"/>
              </a:rPr>
              <a:t>   submit(n_streams frames);</a:t>
            </a:r>
          </a:p>
          <a:p>
            <a:pPr>
              <a:lnSpc>
                <a:spcPct val="112000"/>
              </a:lnSpc>
              <a:spcBef>
                <a:spcPts val="0"/>
              </a:spcBef>
              <a:spcAft>
                <a:spcPts val="0"/>
              </a:spcAft>
            </a:pPr>
            <a:r>
              <a:rPr sz="1050" b="0" i="0">
                <a:solidFill>
                  <a:srgbClr val="A5B2C4"/>
                </a:solidFill>
                <a:latin typeface="Consolas"/>
              </a:rPr>
              <a:t>   </a:t>
            </a:r>
            <a:r>
              <a:rPr sz="1050" b="1" i="0">
                <a:solidFill>
                  <a:srgbClr val="1E90C2"/>
                </a:solidFill>
                <a:latin typeface="Consolas"/>
              </a:rPr>
              <a:t>cudaDeviceSynchronize</a:t>
            </a:r>
            <a:r>
              <a:rPr sz="1050" b="0" i="0">
                <a:solidFill>
                  <a:srgbClr val="A5B2C4"/>
                </a:solidFill>
                <a:latin typeface="Consolas"/>
              </a:rPr>
              <a:t>();</a:t>
            </a:r>
          </a:p>
          <a:p>
            <a:pPr>
              <a:lnSpc>
                <a:spcPct val="112000"/>
              </a:lnSpc>
              <a:spcBef>
                <a:spcPts val="0"/>
              </a:spcBef>
              <a:spcAft>
                <a:spcPts val="0"/>
              </a:spcAft>
            </a:pPr>
            <a:r>
              <a:rPr sz="1050" b="0" i="0">
                <a:solidFill>
                  <a:srgbClr val="A5B2C4"/>
                </a:solidFill>
                <a:latin typeface="Consolas"/>
              </a:rPr>
              <a:t>}</a:t>
            </a:r>
          </a:p>
          <a:p>
            <a:pPr>
              <a:lnSpc>
                <a:spcPct val="112000"/>
              </a:lnSpc>
              <a:spcBef>
                <a:spcPts val="0"/>
              </a:spcBef>
              <a:spcAft>
                <a:spcPts val="0"/>
              </a:spcAft>
            </a:pPr>
            <a:r>
              <a:rPr sz="1050" b="0" i="0">
                <a:solidFill>
                  <a:srgbClr val="7C8A9E"/>
                </a:solidFill>
                <a:latin typeface="Consolas"/>
              </a:rPr>
              <a:t>// opt3:  submit everything, sync once</a:t>
            </a:r>
          </a:p>
          <a:p>
            <a:pPr>
              <a:lnSpc>
                <a:spcPct val="112000"/>
              </a:lnSpc>
              <a:spcBef>
                <a:spcPts val="0"/>
              </a:spcBef>
              <a:spcAft>
                <a:spcPts val="0"/>
              </a:spcAft>
            </a:pPr>
            <a:r>
              <a:rPr sz="1050" b="0" i="0">
                <a:solidFill>
                  <a:srgbClr val="A5B2C4"/>
                </a:solidFill>
                <a:latin typeface="Consolas"/>
              </a:rPr>
              <a:t>for (frame : batch) {</a:t>
            </a:r>
          </a:p>
          <a:p>
            <a:pPr>
              <a:lnSpc>
                <a:spcPct val="112000"/>
              </a:lnSpc>
              <a:spcBef>
                <a:spcPts val="0"/>
              </a:spcBef>
              <a:spcAft>
                <a:spcPts val="0"/>
              </a:spcAft>
            </a:pPr>
            <a:r>
              <a:rPr sz="1050" b="0" i="0">
                <a:solidFill>
                  <a:srgbClr val="A5B2C4"/>
                </a:solidFill>
                <a:latin typeface="Consolas"/>
              </a:rPr>
              <a:t>   cudaMemcpyAsync(..., sc.stream);</a:t>
            </a:r>
          </a:p>
          <a:p>
            <a:pPr>
              <a:lnSpc>
                <a:spcPct val="112000"/>
              </a:lnSpc>
              <a:spcBef>
                <a:spcPts val="0"/>
              </a:spcBef>
              <a:spcAft>
                <a:spcPts val="0"/>
              </a:spcAft>
            </a:pPr>
            <a:r>
              <a:rPr sz="1050" b="0" i="0">
                <a:solidFill>
                  <a:srgbClr val="A5B2C4"/>
                </a:solidFill>
                <a:latin typeface="Consolas"/>
              </a:rPr>
              <a:t>   kernel&lt;&lt;&lt;..., sc.stream&gt;&gt;&gt;(...);</a:t>
            </a:r>
          </a:p>
          <a:p>
            <a:pPr>
              <a:lnSpc>
                <a:spcPct val="112000"/>
              </a:lnSpc>
              <a:spcBef>
                <a:spcPts val="0"/>
              </a:spcBef>
              <a:spcAft>
                <a:spcPts val="0"/>
              </a:spcAft>
            </a:pPr>
            <a:r>
              <a:rPr sz="1050" b="0" i="0">
                <a:solidFill>
                  <a:srgbClr val="A5B2C4"/>
                </a:solidFill>
                <a:latin typeface="Consolas"/>
              </a:rPr>
              <a:t>   cudaMemcpyAsync(..., sc.stream);</a:t>
            </a:r>
          </a:p>
          <a:p>
            <a:pPr>
              <a:lnSpc>
                <a:spcPct val="112000"/>
              </a:lnSpc>
              <a:spcBef>
                <a:spcPts val="0"/>
              </a:spcBef>
              <a:spcAft>
                <a:spcPts val="0"/>
              </a:spcAft>
            </a:pPr>
            <a:r>
              <a:rPr sz="1050" b="0" i="0">
                <a:solidFill>
                  <a:srgbClr val="A5B2C4"/>
                </a:solidFill>
                <a:latin typeface="Consolas"/>
              </a:rPr>
              <a:t>}</a:t>
            </a:r>
          </a:p>
          <a:p>
            <a:pPr>
              <a:lnSpc>
                <a:spcPct val="112000"/>
              </a:lnSpc>
              <a:spcBef>
                <a:spcPts val="0"/>
              </a:spcBef>
              <a:spcAft>
                <a:spcPts val="0"/>
              </a:spcAft>
            </a:pPr>
            <a:r>
              <a:rPr sz="1050" b="1" i="0">
                <a:solidFill>
                  <a:srgbClr val="1E90C2"/>
                </a:solidFill>
                <a:latin typeface="Consolas"/>
              </a:rPr>
              <a:t>cudaStreamSynchronize</a:t>
            </a:r>
            <a:r>
              <a:rPr sz="1050" b="0" i="0">
                <a:solidFill>
                  <a:srgbClr val="A5B2C4"/>
                </a:solidFill>
                <a:latin typeface="Consolas"/>
              </a:rPr>
              <a:t>(...);   // once</a:t>
            </a:r>
          </a:p>
        </p:txBody>
      </p:sp>
      <p:sp>
        <p:nvSpPr>
          <p:cNvPr id="47" name="Rectangle 46"/>
          <p:cNvSpPr/>
          <p:nvPr/>
        </p:nvSpPr>
        <p:spPr>
          <a:xfrm>
            <a:off x="8087868" y="4663440"/>
            <a:ext cx="3707891"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046720" y="466344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302752" y="4754879"/>
            <a:ext cx="3291839" cy="603503"/>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29 188 FPS · ×4.32</a:t>
            </a:r>
            <a:r>
              <a:rPr sz="1300" b="0" i="0">
                <a:solidFill>
                  <a:srgbClr val="A5B2C4"/>
                </a:solidFill>
                <a:latin typeface="Segoe UI"/>
              </a:rPr>
              <a:t>
34.3 µs/frame · 47 % of floor (was 40)</a:t>
            </a:r>
          </a:p>
        </p:txBody>
      </p:sp>
      <p:sp>
        <p:nvSpPr>
          <p:cNvPr id="50" name="TextBox 49"/>
          <p:cNvSpPr txBox="1"/>
          <p:nvPr/>
        </p:nvSpPr>
        <p:spPr>
          <a:xfrm>
            <a:off x="457200" y="5358384"/>
            <a:ext cx="1124712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opt2 synchronised </a:t>
            </a:r>
            <a:r>
              <a:rPr sz="1500" b="1" i="0">
                <a:solidFill>
                  <a:srgbClr val="E7EDF4"/>
                </a:solidFill>
                <a:latin typeface="Segoe UI"/>
              </a:rPr>
              <a:t>all streams after every round</a:t>
            </a:r>
            <a:r>
              <a:rPr sz="1500" b="0" i="0">
                <a:solidFill>
                  <a:srgbClr val="A5B2C4"/>
                </a:solidFill>
                <a:latin typeface="Segoe UI"/>
              </a:rPr>
              <a:t>, draining the GPU empty each time.</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opt3 submits every frame's H2D → kernel → D2H </a:t>
            </a:r>
            <a:r>
              <a:rPr sz="1500" b="1" i="0">
                <a:solidFill>
                  <a:srgbClr val="E7EDF4"/>
                </a:solidFill>
                <a:latin typeface="Segoe UI"/>
              </a:rPr>
              <a:t>asynchronously</a:t>
            </a:r>
            <a:r>
              <a:rPr sz="1500" b="0" i="0">
                <a:solidFill>
                  <a:srgbClr val="A5B2C4"/>
                </a:solidFill>
                <a:latin typeface="Segoe UI"/>
              </a:rPr>
              <a:t> and synchronises </a:t>
            </a:r>
            <a:r>
              <a:rPr sz="1500" b="1" i="0">
                <a:solidFill>
                  <a:srgbClr val="E7EDF4"/>
                </a:solidFill>
                <a:latin typeface="Segoe UI"/>
              </a:rPr>
              <a:t>once per batch</a:t>
            </a:r>
            <a:r>
              <a:rPr sz="1500" b="0" i="0">
                <a:solidFill>
                  <a:srgbClr val="A5B2C4"/>
                </a:solidFill>
                <a:latin typeface="Segoe UI"/>
              </a:rPr>
              <a:t>.</a:t>
            </a:r>
          </a:p>
        </p:txBody>
      </p:sp>
      <p:sp>
        <p:nvSpPr>
          <p:cNvPr id="51" name="TextBox 50"/>
          <p:cNvSpPr txBox="1"/>
          <p:nvPr/>
        </p:nvSpPr>
        <p:spPr>
          <a:xfrm>
            <a:off x="457200" y="6309360"/>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Each lane is one stream. The panels are scheduled, not sketched: H2D and D2H are one FIFO engine each.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OPT3</a:t>
            </a:r>
          </a:p>
        </p:txBody>
      </p:sp>
      <p:sp>
        <p:nvSpPr>
          <p:cNvPr id="4" name="TextBox 3"/>
          <p:cNvSpPr txBox="1"/>
          <p:nvPr/>
        </p:nvSpPr>
        <p:spPr>
          <a:xfrm>
            <a:off x="1325880" y="457200"/>
            <a:ext cx="937260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THE OTHER BARRIER</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D2H per frame, not two</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16 / 36</a:t>
            </a:r>
          </a:p>
        </p:txBody>
      </p:sp>
      <p:sp>
        <p:nvSpPr>
          <p:cNvPr id="43" name="TextBox 42"/>
          <p:cNvSpPr txBox="1"/>
          <p:nvPr/>
        </p:nvSpPr>
        <p:spPr>
          <a:xfrm>
            <a:off x="457200" y="1664208"/>
            <a:ext cx="1124712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opt2 asked the device </a:t>
            </a:r>
            <a:r>
              <a:rPr sz="1500" b="1" i="0">
                <a:solidFill>
                  <a:srgbClr val="E7EDF4"/>
                </a:solidFill>
                <a:latin typeface="Segoe UI"/>
              </a:rPr>
              <a:t>how many clusters</a:t>
            </a:r>
            <a:r>
              <a:rPr sz="1500" b="0" i="0">
                <a:solidFill>
                  <a:srgbClr val="A5B2C4"/>
                </a:solidFill>
                <a:latin typeface="Segoe UI"/>
              </a:rPr>
              <a:t>, blocked until the answer came back, then asked for </a:t>
            </a:r>
            <a:r>
              <a:rPr sz="1500" b="1" i="0">
                <a:solidFill>
                  <a:srgbClr val="E7EDF4"/>
                </a:solidFill>
                <a:latin typeface="Segoe UI"/>
              </a:rPr>
              <a:t>that many</a:t>
            </a:r>
            <a:r>
              <a:rPr sz="1500" b="0" i="0">
                <a:solidFill>
                  <a:srgbClr val="A5B2C4"/>
                </a:solidFill>
                <a:latin typeface="Segoe UI"/>
              </a:rPr>
              <a:t>. The size of the second copy was a function of data that had not arrived yet.</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opt3 gives every frame a </a:t>
            </a:r>
            <a:r>
              <a:rPr sz="1500" b="1" i="0">
                <a:solidFill>
                  <a:srgbClr val="E7EDF4"/>
                </a:solidFill>
                <a:latin typeface="Segoe UI"/>
              </a:rPr>
              <a:t>fixed envelope</a:t>
            </a:r>
            <a:r>
              <a:rPr sz="1500" b="0" i="0">
                <a:solidFill>
                  <a:srgbClr val="A5B2C4"/>
                </a:solidFill>
                <a:latin typeface="Segoe UI"/>
              </a:rPr>
              <a:t> — count, then room for </a:t>
            </a:r>
            <a:r>
              <a:rPr sz="1500" b="1" i="0">
                <a:solidFill>
                  <a:srgbClr val="E7EDF4"/>
                </a:solidFill>
                <a:latin typeface="Segoe UI"/>
              </a:rPr>
              <a:t>cap</a:t>
            </a:r>
            <a:r>
              <a:rPr sz="1500" b="0" i="0">
                <a:solidFill>
                  <a:srgbClr val="A5B2C4"/>
                </a:solidFill>
                <a:latin typeface="Segoe UI"/>
              </a:rPr>
              <a:t> clusters — so the copy's size is known at construction and can be queued with the kernel. The count is still read, but </a:t>
            </a:r>
            <a:r>
              <a:rPr sz="1500" b="1" i="0">
                <a:solidFill>
                  <a:srgbClr val="E7EDF4"/>
                </a:solidFill>
                <a:latin typeface="Segoe UI"/>
              </a:rPr>
              <a:t>afterwards</a:t>
            </a:r>
            <a:r>
              <a:rPr sz="1500" b="0" i="0">
                <a:solidFill>
                  <a:srgbClr val="A5B2C4"/>
                </a:solidFill>
                <a:latin typeface="Segoe UI"/>
              </a:rPr>
              <a:t>, on the host.</a:t>
            </a:r>
          </a:p>
        </p:txBody>
      </p:sp>
      <p:sp>
        <p:nvSpPr>
          <p:cNvPr id="44" name="Rectangle 43"/>
          <p:cNvSpPr/>
          <p:nvPr/>
        </p:nvSpPr>
        <p:spPr>
          <a:xfrm>
            <a:off x="457200" y="2926080"/>
            <a:ext cx="164592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7200" y="292608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 y="2971800"/>
            <a:ext cx="1353312"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1  </a:t>
            </a:r>
            <a:r>
              <a:rPr sz="1250" b="0" i="0">
                <a:solidFill>
                  <a:srgbClr val="E7EDF4"/>
                </a:solidFill>
                <a:latin typeface="Segoe UI"/>
              </a:rPr>
              <a:t>kernel</a:t>
            </a:r>
          </a:p>
        </p:txBody>
      </p:sp>
      <p:sp>
        <p:nvSpPr>
          <p:cNvPr id="47" name="TextBox 46"/>
          <p:cNvSpPr txBox="1"/>
          <p:nvPr/>
        </p:nvSpPr>
        <p:spPr>
          <a:xfrm>
            <a:off x="2103120" y="297180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8" name="Rectangle 47"/>
          <p:cNvSpPr/>
          <p:nvPr/>
        </p:nvSpPr>
        <p:spPr>
          <a:xfrm>
            <a:off x="2377440" y="2926080"/>
            <a:ext cx="164592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377440" y="292608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560320" y="2971800"/>
            <a:ext cx="1353312"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2  </a:t>
            </a:r>
            <a:r>
              <a:rPr sz="1250" b="0" i="0">
                <a:solidFill>
                  <a:srgbClr val="E7EDF4"/>
                </a:solidFill>
                <a:latin typeface="Segoe UI"/>
              </a:rPr>
              <a:t>copy 4 B</a:t>
            </a:r>
          </a:p>
        </p:txBody>
      </p:sp>
      <p:sp>
        <p:nvSpPr>
          <p:cNvPr id="51" name="TextBox 50"/>
          <p:cNvSpPr txBox="1"/>
          <p:nvPr/>
        </p:nvSpPr>
        <p:spPr>
          <a:xfrm>
            <a:off x="4023360" y="297180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2" name="Rectangle 51"/>
          <p:cNvSpPr/>
          <p:nvPr/>
        </p:nvSpPr>
        <p:spPr>
          <a:xfrm>
            <a:off x="4297680" y="2926080"/>
            <a:ext cx="164592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297680" y="292608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480560" y="2971800"/>
            <a:ext cx="1353312"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3  </a:t>
            </a:r>
            <a:r>
              <a:rPr sz="1250" b="0" i="0">
                <a:solidFill>
                  <a:srgbClr val="E7EDF4"/>
                </a:solidFill>
                <a:latin typeface="Segoe UI"/>
              </a:rPr>
              <a:t>BLOCK</a:t>
            </a:r>
          </a:p>
        </p:txBody>
      </p:sp>
      <p:sp>
        <p:nvSpPr>
          <p:cNvPr id="55" name="TextBox 54"/>
          <p:cNvSpPr txBox="1"/>
          <p:nvPr/>
        </p:nvSpPr>
        <p:spPr>
          <a:xfrm>
            <a:off x="5943600" y="297180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6" name="Rectangle 55"/>
          <p:cNvSpPr/>
          <p:nvPr/>
        </p:nvSpPr>
        <p:spPr>
          <a:xfrm>
            <a:off x="6217920" y="2926080"/>
            <a:ext cx="164592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17920" y="292608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0" y="2971800"/>
            <a:ext cx="1353312"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4  </a:t>
            </a:r>
            <a:r>
              <a:rPr sz="1250" b="0" i="0">
                <a:solidFill>
                  <a:srgbClr val="E7EDF4"/>
                </a:solidFill>
                <a:latin typeface="Segoe UI"/>
              </a:rPr>
              <a:t>read count</a:t>
            </a:r>
          </a:p>
        </p:txBody>
      </p:sp>
      <p:sp>
        <p:nvSpPr>
          <p:cNvPr id="59" name="TextBox 58"/>
          <p:cNvSpPr txBox="1"/>
          <p:nvPr/>
        </p:nvSpPr>
        <p:spPr>
          <a:xfrm>
            <a:off x="7863840" y="297180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60" name="Rectangle 59"/>
          <p:cNvSpPr/>
          <p:nvPr/>
        </p:nvSpPr>
        <p:spPr>
          <a:xfrm>
            <a:off x="8138160" y="2926080"/>
            <a:ext cx="164592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138160" y="292608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321040" y="2971800"/>
            <a:ext cx="1353312"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5  </a:t>
            </a:r>
            <a:r>
              <a:rPr sz="1250" b="0" i="0">
                <a:solidFill>
                  <a:srgbClr val="E7EDF4"/>
                </a:solidFill>
                <a:latin typeface="Segoe UI"/>
              </a:rPr>
              <a:t>copy N B</a:t>
            </a:r>
          </a:p>
        </p:txBody>
      </p:sp>
      <p:sp>
        <p:nvSpPr>
          <p:cNvPr id="63" name="TextBox 62"/>
          <p:cNvSpPr txBox="1"/>
          <p:nvPr/>
        </p:nvSpPr>
        <p:spPr>
          <a:xfrm>
            <a:off x="9784080" y="297180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64" name="Rectangle 63"/>
          <p:cNvSpPr/>
          <p:nvPr/>
        </p:nvSpPr>
        <p:spPr>
          <a:xfrm>
            <a:off x="10058400" y="2926080"/>
            <a:ext cx="164592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058400" y="292608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241280" y="2971800"/>
            <a:ext cx="1353312"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6  </a:t>
            </a:r>
            <a:r>
              <a:rPr sz="1250" b="0" i="0">
                <a:solidFill>
                  <a:srgbClr val="E7EDF4"/>
                </a:solidFill>
                <a:latin typeface="Segoe UI"/>
              </a:rPr>
              <a:t>BLOCK</a:t>
            </a:r>
          </a:p>
        </p:txBody>
      </p:sp>
      <p:sp>
        <p:nvSpPr>
          <p:cNvPr id="67" name="TextBox 66"/>
          <p:cNvSpPr txBox="1"/>
          <p:nvPr/>
        </p:nvSpPr>
        <p:spPr>
          <a:xfrm>
            <a:off x="457200" y="3630168"/>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opt2 · two transfers and two stalls per frame: the host must learn the count before it knows how much to fetch.</a:t>
            </a:r>
          </a:p>
        </p:txBody>
      </p:sp>
      <p:sp>
        <p:nvSpPr>
          <p:cNvPr id="68" name="Rectangle 67"/>
          <p:cNvSpPr/>
          <p:nvPr/>
        </p:nvSpPr>
        <p:spPr>
          <a:xfrm>
            <a:off x="457200" y="3941063"/>
            <a:ext cx="35661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57200" y="3941063"/>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 y="3986783"/>
            <a:ext cx="3273552"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1  </a:t>
            </a:r>
            <a:r>
              <a:rPr sz="1250" b="0" i="0">
                <a:solidFill>
                  <a:srgbClr val="E7EDF4"/>
                </a:solidFill>
                <a:latin typeface="Segoe UI"/>
              </a:rPr>
              <a:t>kernel</a:t>
            </a:r>
          </a:p>
        </p:txBody>
      </p:sp>
      <p:sp>
        <p:nvSpPr>
          <p:cNvPr id="71" name="TextBox 70"/>
          <p:cNvSpPr txBox="1"/>
          <p:nvPr/>
        </p:nvSpPr>
        <p:spPr>
          <a:xfrm>
            <a:off x="4023360" y="3986783"/>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72" name="Rectangle 71"/>
          <p:cNvSpPr/>
          <p:nvPr/>
        </p:nvSpPr>
        <p:spPr>
          <a:xfrm>
            <a:off x="4297680" y="3941063"/>
            <a:ext cx="35661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297680" y="3941063"/>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480560" y="3986783"/>
            <a:ext cx="3273552"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2  </a:t>
            </a:r>
            <a:r>
              <a:rPr sz="1250" b="0" i="0">
                <a:solidFill>
                  <a:srgbClr val="E7EDF4"/>
                </a:solidFill>
                <a:latin typeface="Segoe UI"/>
              </a:rPr>
              <a:t>copy the whole envelope</a:t>
            </a:r>
          </a:p>
        </p:txBody>
      </p:sp>
      <p:sp>
        <p:nvSpPr>
          <p:cNvPr id="75" name="TextBox 74"/>
          <p:cNvSpPr txBox="1"/>
          <p:nvPr/>
        </p:nvSpPr>
        <p:spPr>
          <a:xfrm>
            <a:off x="7863840" y="3986783"/>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76" name="Rectangle 75"/>
          <p:cNvSpPr/>
          <p:nvPr/>
        </p:nvSpPr>
        <p:spPr>
          <a:xfrm>
            <a:off x="8138160" y="3941063"/>
            <a:ext cx="35661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38160" y="3941063"/>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321040" y="3986783"/>
            <a:ext cx="3273552" cy="475488"/>
          </a:xfrm>
          <a:prstGeom prst="rect">
            <a:avLst/>
          </a:prstGeom>
          <a:noFill/>
        </p:spPr>
        <p:txBody>
          <a:bodyPr wrap="square" lIns="0" rIns="0" tIns="0" bIns="0" anchor="ctr">
            <a:spAutoFit/>
          </a:bodyPr>
          <a:lstStyle/>
          <a:p>
            <a:pPr>
              <a:lnSpc>
                <a:spcPct val="110000"/>
              </a:lnSpc>
              <a:spcBef>
                <a:spcPts val="0"/>
              </a:spcBef>
              <a:spcAft>
                <a:spcPts val="0"/>
              </a:spcAft>
            </a:pPr>
            <a:r>
              <a:rPr sz="950" b="1" i="0">
                <a:solidFill>
                  <a:srgbClr val="1E90C2"/>
                </a:solidFill>
                <a:latin typeface="Consolas"/>
              </a:rPr>
              <a:t>3  </a:t>
            </a:r>
            <a:r>
              <a:rPr sz="1250" b="0" i="0">
                <a:solidFill>
                  <a:srgbClr val="E7EDF4"/>
                </a:solidFill>
                <a:latin typeface="Segoe UI"/>
              </a:rPr>
              <a:t>→ next frame, host not involved</a:t>
            </a:r>
          </a:p>
        </p:txBody>
      </p:sp>
      <p:sp>
        <p:nvSpPr>
          <p:cNvPr id="79" name="TextBox 78"/>
          <p:cNvSpPr txBox="1"/>
          <p:nvPr/>
        </p:nvSpPr>
        <p:spPr>
          <a:xfrm>
            <a:off x="457200" y="4645152"/>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opt3 · one transfer, no stall. Nothing in the loop waits on a value.</a:t>
            </a:r>
          </a:p>
        </p:txBody>
      </p:sp>
      <p:sp>
        <p:nvSpPr>
          <p:cNvPr id="80" name="Rectangle 79"/>
          <p:cNvSpPr/>
          <p:nvPr/>
        </p:nvSpPr>
        <p:spPr>
          <a:xfrm>
            <a:off x="498348" y="5029200"/>
            <a:ext cx="1120597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57200" y="502920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13232" y="5120640"/>
            <a:ext cx="10789920" cy="603503"/>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You can only stream a transfer whose size is known in advance.</a:t>
            </a:r>
            <a:r>
              <a:rPr sz="1300" b="0" i="0">
                <a:solidFill>
                  <a:srgbClr val="A5B2C4"/>
                </a:solidFill>
                <a:latin typeface="Segoe UI"/>
              </a:rPr>
              <a:t> The price is bytes: the envelope is sized by the </a:t>
            </a:r>
            <a:r>
              <a:rPr sz="1300" b="1" i="0">
                <a:solidFill>
                  <a:srgbClr val="E7EDF4"/>
                </a:solidFill>
                <a:latin typeface="Segoe UI"/>
              </a:rPr>
              <a:t>cap</a:t>
            </a:r>
            <a:r>
              <a:rPr sz="1300" b="0" i="0">
                <a:solidFill>
                  <a:srgbClr val="A5B2C4"/>
                </a:solidFill>
                <a:latin typeface="Segoe UI"/>
              </a:rPr>
              <a:t>, not by the clusters actually found.  </a:t>
            </a:r>
            <a:r>
              <a:rPr sz="1300" b="1" i="0">
                <a:solidFill>
                  <a:srgbClr val="E7EDF4"/>
                </a:solidFill>
                <a:latin typeface="Segoe UI"/>
              </a:rPr>
              <a:t>3×3: 120 kB shipped for 93 kB of clusters.  9×9: 558 for 467.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OPT4</a:t>
            </a:r>
          </a:p>
        </p:txBody>
      </p:sp>
      <p:sp>
        <p:nvSpPr>
          <p:cNvPr id="4" name="TextBox 3"/>
          <p:cNvSpPr txBox="1"/>
          <p:nvPr/>
        </p:nvSpPr>
        <p:spPr>
          <a:xfrm>
            <a:off x="1325880" y="457200"/>
            <a:ext cx="937260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PINNED (PAGE-LOCKED) MEMORY</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Pinning the input buys DMA-speed H2D: ×1.32</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17 / 36</a:t>
            </a:r>
          </a:p>
        </p:txBody>
      </p:sp>
      <p:sp>
        <p:nvSpPr>
          <p:cNvPr id="43" name="TextBox 42"/>
          <p:cNvSpPr txBox="1"/>
          <p:nvPr/>
        </p:nvSpPr>
        <p:spPr>
          <a:xfrm>
            <a:off x="457200" y="1664208"/>
            <a:ext cx="7461504"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Normal host memory is </a:t>
            </a:r>
            <a:r>
              <a:rPr sz="1500" b="1" i="0">
                <a:solidFill>
                  <a:srgbClr val="E7EDF4"/>
                </a:solidFill>
                <a:latin typeface="Segoe UI"/>
              </a:rPr>
              <a:t>pageable</a:t>
            </a:r>
            <a:r>
              <a:rPr sz="1500" b="0" i="0">
                <a:solidFill>
                  <a:srgbClr val="A5B2C4"/>
                </a:solidFill>
                <a:latin typeface="Segoe UI"/>
              </a:rPr>
              <a:t>, so the driver stages every transfer through a </a:t>
            </a:r>
            <a:r>
              <a:rPr sz="1500" b="1" i="0">
                <a:solidFill>
                  <a:srgbClr val="E7EDF4"/>
                </a:solidFill>
                <a:latin typeface="Segoe UI"/>
              </a:rPr>
              <a:t>hidden pinned buffer</a:t>
            </a:r>
            <a:r>
              <a:rPr sz="1500" b="0" i="0">
                <a:solidFill>
                  <a:srgbClr val="A5B2C4"/>
                </a:solidFill>
                <a:latin typeface="Segoe UI"/>
              </a:rPr>
              <a:t>: copied twice.</a:t>
            </a:r>
          </a:p>
          <a:p>
            <a:pPr>
              <a:lnSpc>
                <a:spcPct val="125000"/>
              </a:lnSpc>
              <a:spcBef>
                <a:spcPts val="0"/>
              </a:spcBef>
              <a:spcAft>
                <a:spcPts val="900"/>
              </a:spcAft>
            </a:pPr>
            <a:r>
              <a:rPr sz="1500" b="0" i="0">
                <a:solidFill>
                  <a:srgbClr val="6B7A90"/>
                </a:solidFill>
                <a:latin typeface="Segoe UI"/>
              </a:rPr>
              <a:t>•  </a:t>
            </a:r>
            <a:r>
              <a:rPr sz="1500" b="1" i="0">
                <a:solidFill>
                  <a:srgbClr val="E7EDF4"/>
                </a:solidFill>
                <a:latin typeface="Segoe UI"/>
              </a:rPr>
              <a:t>Pinning</a:t>
            </a:r>
            <a:r>
              <a:rPr sz="1500" b="0" i="0">
                <a:solidFill>
                  <a:srgbClr val="A5B2C4"/>
                </a:solidFill>
                <a:latin typeface="Segoe UI"/>
              </a:rPr>
              <a:t> locks the pages in RAM, so the DMA engine reads host memory </a:t>
            </a:r>
            <a:r>
              <a:rPr sz="1500" b="1" i="0">
                <a:solidFill>
                  <a:srgbClr val="E7EDF4"/>
                </a:solidFill>
                <a:latin typeface="Segoe UI"/>
              </a:rPr>
              <a:t>directly</a:t>
            </a:r>
            <a:r>
              <a:rPr sz="1500" b="0" i="0">
                <a:solidFill>
                  <a:srgbClr val="A5B2C4"/>
                </a:solidFill>
                <a:latin typeface="Segoe UI"/>
              </a:rPr>
              <a:t>.</a:t>
            </a:r>
          </a:p>
        </p:txBody>
      </p:sp>
      <p:pic>
        <p:nvPicPr>
          <p:cNvPr id="44" name="Picture 43" descr="fig_pinning.png"/>
          <p:cNvPicPr>
            <a:picLocks noChangeAspect="1"/>
          </p:cNvPicPr>
          <p:nvPr/>
        </p:nvPicPr>
        <p:blipFill>
          <a:blip r:embed="rId2"/>
          <a:stretch>
            <a:fillRect/>
          </a:stretch>
        </p:blipFill>
        <p:spPr>
          <a:xfrm>
            <a:off x="457200" y="3072384"/>
            <a:ext cx="6675120" cy="2335139"/>
          </a:xfrm>
          <a:prstGeom prst="rect">
            <a:avLst/>
          </a:prstGeom>
        </p:spPr>
      </p:pic>
      <p:sp>
        <p:nvSpPr>
          <p:cNvPr id="45" name="Rounded Rectangle 44"/>
          <p:cNvSpPr/>
          <p:nvPr/>
        </p:nvSpPr>
        <p:spPr>
          <a:xfrm>
            <a:off x="8046720" y="3072384"/>
            <a:ext cx="3749039" cy="1709150"/>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11312" y="3182112"/>
            <a:ext cx="3419856"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ClusterFinderCUDA.hpp</a:t>
            </a:r>
          </a:p>
        </p:txBody>
      </p:sp>
      <p:sp>
        <p:nvSpPr>
          <p:cNvPr id="47" name="TextBox 46"/>
          <p:cNvSpPr txBox="1"/>
          <p:nvPr/>
        </p:nvSpPr>
        <p:spPr>
          <a:xfrm>
            <a:off x="8211312" y="3401568"/>
            <a:ext cx="3419856" cy="1489694"/>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7C8A9E"/>
                </a:solidFill>
                <a:latin typeface="Consolas"/>
              </a:rPr>
              <a:t>// pin the whole dataset once</a:t>
            </a:r>
          </a:p>
          <a:p>
            <a:pPr>
              <a:lnSpc>
                <a:spcPct val="112000"/>
              </a:lnSpc>
              <a:spcBef>
                <a:spcPts val="0"/>
              </a:spcBef>
              <a:spcAft>
                <a:spcPts val="0"/>
              </a:spcAft>
            </a:pPr>
            <a:r>
              <a:rPr sz="1050" b="1" i="0">
                <a:solidFill>
                  <a:srgbClr val="1E90C2"/>
                </a:solidFill>
                <a:latin typeface="Consolas"/>
              </a:rPr>
              <a:t>cudaHostRegister</a:t>
            </a:r>
            <a:r>
              <a:rPr sz="1050" b="0" i="0">
                <a:solidFill>
                  <a:srgbClr val="A5B2C4"/>
                </a:solidFill>
                <a:latin typeface="Consolas"/>
              </a:rPr>
              <a:t>(ptr, bytes,</a:t>
            </a:r>
          </a:p>
          <a:p>
            <a:pPr>
              <a:lnSpc>
                <a:spcPct val="112000"/>
              </a:lnSpc>
              <a:spcBef>
                <a:spcPts val="0"/>
              </a:spcBef>
              <a:spcAft>
                <a:spcPts val="0"/>
              </a:spcAft>
            </a:pPr>
            <a:r>
              <a:rPr sz="1050" b="0" i="0">
                <a:solidFill>
                  <a:srgbClr val="A5B2C4"/>
                </a:solidFill>
                <a:latin typeface="Consolas"/>
              </a:rPr>
              <a:t>                 cudaHostRegisterDefault);</a:t>
            </a:r>
          </a:p>
          <a:p>
            <a:pPr>
              <a:lnSpc>
                <a:spcPct val="112000"/>
              </a:lnSpc>
              <a:spcBef>
                <a:spcPts val="0"/>
              </a:spcBef>
              <a:spcAft>
                <a:spcPts val="0"/>
              </a:spcAft>
            </a:pPr>
          </a:p>
          <a:p>
            <a:pPr>
              <a:lnSpc>
                <a:spcPct val="112000"/>
              </a:lnSpc>
              <a:spcBef>
                <a:spcPts val="0"/>
              </a:spcBef>
              <a:spcAft>
                <a:spcPts val="0"/>
              </a:spcAft>
            </a:pPr>
            <a:r>
              <a:rPr sz="1050" b="0" i="0">
                <a:solidFill>
                  <a:srgbClr val="7C8A9E"/>
                </a:solidFill>
                <a:latin typeface="Consolas"/>
              </a:rPr>
              <a:t>// ... run the whole campaign ...</a:t>
            </a:r>
          </a:p>
          <a:p>
            <a:pPr>
              <a:lnSpc>
                <a:spcPct val="112000"/>
              </a:lnSpc>
              <a:spcBef>
                <a:spcPts val="0"/>
              </a:spcBef>
              <a:spcAft>
                <a:spcPts val="0"/>
              </a:spcAft>
            </a:pPr>
          </a:p>
          <a:p>
            <a:pPr>
              <a:lnSpc>
                <a:spcPct val="112000"/>
              </a:lnSpc>
              <a:spcBef>
                <a:spcPts val="0"/>
              </a:spcBef>
              <a:spcAft>
                <a:spcPts val="0"/>
              </a:spcAft>
            </a:pPr>
            <a:r>
              <a:rPr sz="1050" b="1" i="0">
                <a:solidFill>
                  <a:srgbClr val="1E90C2"/>
                </a:solidFill>
                <a:latin typeface="Consolas"/>
              </a:rPr>
              <a:t>cudaHostUnregister</a:t>
            </a:r>
            <a:r>
              <a:rPr sz="1050" b="0" i="0">
                <a:solidFill>
                  <a:srgbClr val="A5B2C4"/>
                </a:solidFill>
                <a:latin typeface="Consolas"/>
              </a:rPr>
              <a:t>(ptr);</a:t>
            </a:r>
          </a:p>
        </p:txBody>
      </p:sp>
      <p:sp>
        <p:nvSpPr>
          <p:cNvPr id="48" name="Rectangle 47"/>
          <p:cNvSpPr/>
          <p:nvPr/>
        </p:nvSpPr>
        <p:spPr>
          <a:xfrm>
            <a:off x="8087868" y="4846320"/>
            <a:ext cx="3707891"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046720" y="4846320"/>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02752" y="4937759"/>
            <a:ext cx="3291839" cy="731520"/>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38 486 FPS · ×5.69</a:t>
            </a:r>
            <a:r>
              <a:rPr sz="1300" b="0" i="0">
                <a:solidFill>
                  <a:srgbClr val="A5B2C4"/>
                </a:solidFill>
                <a:latin typeface="Segoe UI"/>
              </a:rPr>
              <a:t>
26.0 µs/frame · 62 % of floor, the largest step in Act I</a:t>
            </a:r>
          </a:p>
        </p:txBody>
      </p:sp>
      <p:sp>
        <p:nvSpPr>
          <p:cNvPr id="51" name="Rectangle 50"/>
          <p:cNvSpPr/>
          <p:nvPr/>
        </p:nvSpPr>
        <p:spPr>
          <a:xfrm>
            <a:off x="498348" y="5888736"/>
            <a:ext cx="1120597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5888736"/>
            <a:ext cx="41148" cy="7132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13232" y="5980176"/>
            <a:ext cx="10789920" cy="530352"/>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Measured H2D:</a:t>
            </a:r>
            <a:r>
              <a:rPr sz="1300" b="0" i="0">
                <a:solidFill>
                  <a:srgbClr val="A5B2C4"/>
                </a:solidFill>
                <a:latin typeface="Segoe UI"/>
              </a:rPr>
              <a:t> one 312.5 KiB frame in </a:t>
            </a:r>
            <a:r>
              <a:rPr sz="1300" b="1" i="0">
                <a:solidFill>
                  <a:srgbClr val="E7EDF4"/>
                </a:solidFill>
                <a:latin typeface="Segoe UI"/>
              </a:rPr>
              <a:t>13.2 µs = 24.2 GB/s</a:t>
            </a:r>
            <a:r>
              <a:rPr sz="1300" b="0" i="0">
                <a:solidFill>
                  <a:srgbClr val="A5B2C4"/>
                </a:solidFill>
                <a:latin typeface="Segoe UI"/>
              </a:rPr>
              <a:t> — 77 % of PCIe 4.0 ×16, i.e. true DMA speed. </a:t>
            </a:r>
            <a:r>
              <a:rPr sz="1300" b="1" i="0">
                <a:solidFill>
                  <a:srgbClr val="E7EDF4"/>
                </a:solidFill>
                <a:latin typeface="Segoe UI"/>
              </a:rPr>
              <a:t>Pageable staging manages ~15 GB/s</a:t>
            </a:r>
            <a:r>
              <a:rPr sz="1300" b="0" i="0">
                <a:solidFill>
                  <a:srgbClr val="A5B2C4"/>
                </a:solidFill>
                <a:latin typeface="Segoe UI"/>
              </a:rPr>
              <a:t> for the same frame, because it is copied twice.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389888"/>
            <a:ext cx="5477256" cy="274320"/>
          </a:xfrm>
          <a:prstGeom prst="rect">
            <a:avLst/>
          </a:prstGeom>
          <a:noFill/>
        </p:spPr>
        <p:txBody>
          <a:bodyPr wrap="square" lIns="0" rIns="0" tIns="0" bIns="0" anchor="t">
            <a:spAutoFit/>
          </a:bodyPr>
          <a:lstStyle/>
          <a:p>
            <a:pPr>
              <a:spcBef>
                <a:spcPts val="0"/>
              </a:spcBef>
              <a:spcAft>
                <a:spcPts val="0"/>
              </a:spcAft>
            </a:pPr>
            <a:r>
              <a:rPr sz="1050" b="1" i="0" spc="180">
                <a:solidFill>
                  <a:srgbClr val="6B7A90"/>
                </a:solidFill>
                <a:latin typeface="Segoe UI"/>
              </a:rPr>
              <a:t>ACT II OF III · GET THE RESULTS BACK</a:t>
            </a:r>
          </a:p>
        </p:txBody>
      </p:sp>
      <p:sp>
        <p:nvSpPr>
          <p:cNvPr id="5" name="TextBox 4"/>
          <p:cNvSpPr txBox="1"/>
          <p:nvPr/>
        </p:nvSpPr>
        <p:spPr>
          <a:xfrm>
            <a:off x="740664" y="1737360"/>
            <a:ext cx="566928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host copy is now the tallest bar</a:t>
            </a:r>
          </a:p>
        </p:txBody>
      </p:sp>
      <p:sp>
        <p:nvSpPr>
          <p:cNvPr id="6" name="Rectangle 5"/>
          <p:cNvSpPr/>
          <p:nvPr/>
        </p:nvSpPr>
        <p:spPr>
          <a:xfrm>
            <a:off x="740664" y="3127248"/>
            <a:ext cx="141732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3383280"/>
            <a:ext cx="5385816" cy="1463040"/>
          </a:xfrm>
          <a:prstGeom prst="rect">
            <a:avLst/>
          </a:prstGeom>
          <a:noFill/>
        </p:spPr>
        <p:txBody>
          <a:bodyPr wrap="square" lIns="0" rIns="0" tIns="0" bIns="0" anchor="t">
            <a:spAutoFit/>
          </a:bodyPr>
          <a:lstStyle/>
          <a:p>
            <a:pPr>
              <a:lnSpc>
                <a:spcPct val="135000"/>
              </a:lnSpc>
              <a:spcBef>
                <a:spcPts val="0"/>
              </a:spcBef>
              <a:spcAft>
                <a:spcPts val="0"/>
              </a:spcAft>
            </a:pPr>
            <a:r>
              <a:rPr sz="1600" b="0" i="0">
                <a:solidFill>
                  <a:srgbClr val="A5B2C4"/>
                </a:solidFill>
                <a:latin typeface="Segoe UI"/>
              </a:rPr>
              <a:t>Both transfers are DMA already. What is slow is what happens AFTER the D2H: copying clusters out of the finder's pinned buffer into heap the caller owns. Host to host. Still 3×3, but 9×9 is where this act pays most.</a:t>
            </a:r>
          </a:p>
        </p:txBody>
      </p:sp>
      <p:sp>
        <p:nvSpPr>
          <p:cNvPr id="8" name="Rectangle 7"/>
          <p:cNvSpPr/>
          <p:nvPr/>
        </p:nvSpPr>
        <p:spPr>
          <a:xfrm>
            <a:off x="740664" y="5074920"/>
            <a:ext cx="5385816"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5212080"/>
            <a:ext cx="4910328" cy="219456"/>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ARRIVING AT</a:t>
            </a:r>
          </a:p>
        </p:txBody>
      </p:sp>
      <p:sp>
        <p:nvSpPr>
          <p:cNvPr id="11" name="TextBox 10"/>
          <p:cNvSpPr txBox="1"/>
          <p:nvPr/>
        </p:nvSpPr>
        <p:spPr>
          <a:xfrm>
            <a:off x="1024128" y="5413248"/>
            <a:ext cx="4910328"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38 486 FPS</a:t>
            </a:r>
          </a:p>
        </p:txBody>
      </p:sp>
      <p:sp>
        <p:nvSpPr>
          <p:cNvPr id="12" name="TextBox 11"/>
          <p:cNvSpPr txBox="1"/>
          <p:nvPr/>
        </p:nvSpPr>
        <p:spPr>
          <a:xfrm>
            <a:off x="1024128" y="5833872"/>
            <a:ext cx="4910328" cy="237744"/>
          </a:xfrm>
          <a:prstGeom prst="rect">
            <a:avLst/>
          </a:prstGeom>
          <a:noFill/>
        </p:spPr>
        <p:txBody>
          <a:bodyPr wrap="square" lIns="0" rIns="0" tIns="0" bIns="0" anchor="t">
            <a:spAutoFit/>
          </a:bodyPr>
          <a:lstStyle/>
          <a:p>
            <a:pPr>
              <a:spcBef>
                <a:spcPts val="0"/>
              </a:spcBef>
              <a:spcAft>
                <a:spcPts val="0"/>
              </a:spcAft>
            </a:pPr>
            <a:r>
              <a:rPr sz="1100" b="0" i="0">
                <a:solidFill>
                  <a:srgbClr val="6B7A90"/>
                </a:solidFill>
                <a:latin typeface="Segoe UI"/>
              </a:rPr>
              <a:t>opt4 · 26.0 µs per frame · 62 % of the GPU floor</a:t>
            </a:r>
          </a:p>
        </p:txBody>
      </p:sp>
      <p:sp>
        <p:nvSpPr>
          <p:cNvPr id="13" name="Rectangle 12"/>
          <p:cNvSpPr/>
          <p:nvPr/>
        </p:nvSpPr>
        <p:spPr>
          <a:xfrm>
            <a:off x="6556248"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0568" y="2776918"/>
            <a:ext cx="4727448" cy="237744"/>
          </a:xfrm>
          <a:prstGeom prst="rect">
            <a:avLst/>
          </a:prstGeom>
          <a:noFill/>
        </p:spPr>
        <p:txBody>
          <a:bodyPr wrap="square" lIns="0" rIns="0" tIns="0" bIns="0" anchor="t">
            <a:spAutoFit/>
          </a:bodyPr>
          <a:lstStyle/>
          <a:p>
            <a:pPr>
              <a:spcBef>
                <a:spcPts val="0"/>
              </a:spcBef>
              <a:spcAft>
                <a:spcPts val="0"/>
              </a:spcAft>
            </a:pPr>
            <a:r>
              <a:rPr sz="1000" b="1" i="0" spc="160">
                <a:solidFill>
                  <a:srgbClr val="6B7A90"/>
                </a:solidFill>
                <a:latin typeface="Segoe UI"/>
              </a:rPr>
              <a:t>COMING UP</a:t>
            </a:r>
          </a:p>
        </p:txBody>
      </p:sp>
      <p:sp>
        <p:nvSpPr>
          <p:cNvPr id="15" name="TextBox 14"/>
          <p:cNvSpPr txBox="1"/>
          <p:nvPr/>
        </p:nvSpPr>
        <p:spPr>
          <a:xfrm>
            <a:off x="6830568" y="3197542"/>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Consolas"/>
              </a:rPr>
              <a:t>18</a:t>
            </a:r>
          </a:p>
        </p:txBody>
      </p:sp>
      <p:sp>
        <p:nvSpPr>
          <p:cNvPr id="16" name="TextBox 15"/>
          <p:cNvSpPr txBox="1"/>
          <p:nvPr/>
        </p:nvSpPr>
        <p:spPr>
          <a:xfrm>
            <a:off x="7360920" y="3197542"/>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opt5 · host↔GPU overlap</a:t>
            </a:r>
          </a:p>
        </p:txBody>
      </p:sp>
      <p:sp>
        <p:nvSpPr>
          <p:cNvPr id="17" name="TextBox 16"/>
          <p:cNvSpPr txBox="1"/>
          <p:nvPr/>
        </p:nvSpPr>
        <p:spPr>
          <a:xfrm>
            <a:off x="6830568" y="3656647"/>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Consolas"/>
              </a:rPr>
              <a:t>19</a:t>
            </a:r>
          </a:p>
        </p:txBody>
      </p:sp>
      <p:sp>
        <p:nvSpPr>
          <p:cNvPr id="18" name="TextBox 17"/>
          <p:cNvSpPr txBox="1"/>
          <p:nvPr/>
        </p:nvSpPr>
        <p:spPr>
          <a:xfrm>
            <a:off x="7360920" y="3656647"/>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9×9 · why overlap runs out</a:t>
            </a:r>
          </a:p>
        </p:txBody>
      </p:sp>
      <p:sp>
        <p:nvSpPr>
          <p:cNvPr id="19" name="TextBox 18"/>
          <p:cNvSpPr txBox="1"/>
          <p:nvPr/>
        </p:nvSpPr>
        <p:spPr>
          <a:xfrm>
            <a:off x="6830568" y="4115752"/>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Consolas"/>
              </a:rPr>
              <a:t>20</a:t>
            </a:r>
          </a:p>
        </p:txBody>
      </p:sp>
      <p:sp>
        <p:nvSpPr>
          <p:cNvPr id="20" name="TextBox 19"/>
          <p:cNvSpPr txBox="1"/>
          <p:nvPr/>
        </p:nvSpPr>
        <p:spPr>
          <a:xfrm>
            <a:off x="7360920" y="4115752"/>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opt6 · zero-copy</a:t>
            </a:r>
          </a:p>
        </p:txBody>
      </p:sp>
      <p:sp>
        <p:nvSpPr>
          <p:cNvPr id="21" name="Rectangle 20"/>
          <p:cNvSpPr/>
          <p:nvPr/>
        </p:nvSpPr>
        <p:spPr>
          <a:xfrm>
            <a:off x="45720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5998"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3479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323593"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12391"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90119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8998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47878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67583"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056382"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34518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3397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2277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11574"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00371"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8917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7796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366765"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55564"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944361"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OPT5</a:t>
            </a:r>
          </a:p>
        </p:txBody>
      </p:sp>
      <p:sp>
        <p:nvSpPr>
          <p:cNvPr id="4" name="TextBox 3"/>
          <p:cNvSpPr txBox="1"/>
          <p:nvPr/>
        </p:nvSpPr>
        <p:spPr>
          <a:xfrm>
            <a:off x="1325880" y="457200"/>
            <a:ext cx="937260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HOST↔GPU OVERLAP</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Overlapping host and GPU hides min(host, GPU): ×1.31</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18 / 36</a:t>
            </a:r>
          </a:p>
        </p:txBody>
      </p:sp>
      <p:sp>
        <p:nvSpPr>
          <p:cNvPr id="43" name="TextBox 42"/>
          <p:cNvSpPr txBox="1"/>
          <p:nvPr/>
        </p:nvSpPr>
        <p:spPr>
          <a:xfrm>
            <a:off x="457200" y="1664208"/>
            <a:ext cx="7461504"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opt3 overlapped the GPU's own engines, never the </a:t>
            </a:r>
            <a:r>
              <a:rPr sz="1500" b="1" i="0">
                <a:solidFill>
                  <a:srgbClr val="E7EDF4"/>
                </a:solidFill>
                <a:latin typeface="Segoe UI"/>
              </a:rPr>
              <a:t>host</a:t>
            </a:r>
            <a:r>
              <a:rPr sz="1500" b="0" i="0">
                <a:solidFill>
                  <a:srgbClr val="A5B2C4"/>
                </a:solidFill>
                <a:latin typeface="Segoe UI"/>
              </a:rPr>
              <a:t> with the GPU: the batch synchronised, then built ClusterVectors with the GPU idle.</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opt5 keeps </a:t>
            </a:r>
            <a:r>
              <a:rPr sz="1500" b="1" i="0">
                <a:solidFill>
                  <a:srgbClr val="E7EDF4"/>
                </a:solidFill>
                <a:latin typeface="Segoe UI"/>
              </a:rPr>
              <a:t>one batch in flight while materialising the previous one</a:t>
            </a:r>
            <a:r>
              <a:rPr sz="1500" b="0" i="0">
                <a:solidFill>
                  <a:srgbClr val="A5B2C4"/>
                </a:solidFill>
                <a:latin typeface="Segoe UI"/>
              </a:rPr>
              <a:t>.</a:t>
            </a:r>
          </a:p>
        </p:txBody>
      </p:sp>
      <p:pic>
        <p:nvPicPr>
          <p:cNvPr id="44" name="Picture 43" descr="fig_overlap.png"/>
          <p:cNvPicPr>
            <a:picLocks noChangeAspect="1"/>
          </p:cNvPicPr>
          <p:nvPr/>
        </p:nvPicPr>
        <p:blipFill>
          <a:blip r:embed="rId2"/>
          <a:stretch>
            <a:fillRect/>
          </a:stretch>
        </p:blipFill>
        <p:spPr>
          <a:xfrm>
            <a:off x="384048" y="2688336"/>
            <a:ext cx="7772400" cy="2348600"/>
          </a:xfrm>
          <a:prstGeom prst="rect">
            <a:avLst/>
          </a:prstGeom>
        </p:spPr>
      </p:pic>
      <p:sp>
        <p:nvSpPr>
          <p:cNvPr id="45" name="Rounded Rectangle 44"/>
          <p:cNvSpPr/>
          <p:nvPr/>
        </p:nvSpPr>
        <p:spPr>
          <a:xfrm>
            <a:off x="457200" y="5212080"/>
            <a:ext cx="7461504" cy="1346225"/>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1792" y="5321808"/>
            <a:ext cx="7132320"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you never write these: find_clusters_batched() wraps them</a:t>
            </a:r>
          </a:p>
        </p:txBody>
      </p:sp>
      <p:sp>
        <p:nvSpPr>
          <p:cNvPr id="47" name="TextBox 46"/>
          <p:cNvSpPr txBox="1"/>
          <p:nvPr/>
        </p:nvSpPr>
        <p:spPr>
          <a:xfrm>
            <a:off x="621792" y="5541264"/>
            <a:ext cx="7132320" cy="1126769"/>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A5B2C4"/>
                </a:solidFill>
                <a:latin typeface="Consolas"/>
              </a:rPr>
              <a:t>tok = cf.</a:t>
            </a:r>
            <a:r>
              <a:rPr sz="1050" b="1" i="0">
                <a:solidFill>
                  <a:srgbClr val="1E90C2"/>
                </a:solidFill>
                <a:latin typeface="Consolas"/>
              </a:rPr>
              <a:t>submit_batch</a:t>
            </a:r>
            <a:r>
              <a:rPr sz="1050" b="0" i="0">
                <a:solidFill>
                  <a:srgbClr val="A5B2C4"/>
                </a:solidFill>
                <a:latin typeface="Consolas"/>
              </a:rPr>
              <a:t>(data[a0:b0], first_frame=a0)</a:t>
            </a:r>
          </a:p>
          <a:p>
            <a:pPr>
              <a:lnSpc>
                <a:spcPct val="112000"/>
              </a:lnSpc>
              <a:spcBef>
                <a:spcPts val="0"/>
              </a:spcBef>
              <a:spcAft>
                <a:spcPts val="0"/>
              </a:spcAft>
            </a:pPr>
            <a:r>
              <a:rPr sz="1050" b="0" i="0">
                <a:solidFill>
                  <a:srgbClr val="A5B2C4"/>
                </a:solidFill>
                <a:latin typeface="Consolas"/>
              </a:rPr>
              <a:t>for a, b in bounds[1:]:</a:t>
            </a:r>
          </a:p>
          <a:p>
            <a:pPr>
              <a:lnSpc>
                <a:spcPct val="112000"/>
              </a:lnSpc>
              <a:spcBef>
                <a:spcPts val="0"/>
              </a:spcBef>
              <a:spcAft>
                <a:spcPts val="0"/>
              </a:spcAft>
            </a:pPr>
            <a:r>
              <a:rPr sz="1050" b="0" i="0">
                <a:solidFill>
                  <a:srgbClr val="A5B2C4"/>
                </a:solidFill>
                <a:latin typeface="Consolas"/>
              </a:rPr>
              <a:t>    nxt = cf.</a:t>
            </a:r>
            <a:r>
              <a:rPr sz="1050" b="1" i="0">
                <a:solidFill>
                  <a:srgbClr val="1E90C2"/>
                </a:solidFill>
                <a:latin typeface="Consolas"/>
              </a:rPr>
              <a:t>submit_batch</a:t>
            </a:r>
            <a:r>
              <a:rPr sz="1050" b="0" i="0">
                <a:solidFill>
                  <a:srgbClr val="A5B2C4"/>
                </a:solidFill>
                <a:latin typeface="Consolas"/>
              </a:rPr>
              <a:t>(data[a:b], first_frame=a)   // GPU starts i+1</a:t>
            </a:r>
          </a:p>
          <a:p>
            <a:pPr>
              <a:lnSpc>
                <a:spcPct val="112000"/>
              </a:lnSpc>
              <a:spcBef>
                <a:spcPts val="0"/>
              </a:spcBef>
              <a:spcAft>
                <a:spcPts val="0"/>
              </a:spcAft>
            </a:pPr>
            <a:r>
              <a:rPr sz="1050" b="0" i="0">
                <a:solidFill>
                  <a:srgbClr val="A5B2C4"/>
                </a:solidFill>
                <a:latin typeface="Consolas"/>
              </a:rPr>
              <a:t>    results.extend(cf.</a:t>
            </a:r>
            <a:r>
              <a:rPr sz="1050" b="1" i="0">
                <a:solidFill>
                  <a:srgbClr val="1E90C2"/>
                </a:solidFill>
                <a:latin typeface="Consolas"/>
              </a:rPr>
              <a:t>collect</a:t>
            </a:r>
            <a:r>
              <a:rPr sz="1050" b="0" i="0">
                <a:solidFill>
                  <a:srgbClr val="A5B2C4"/>
                </a:solidFill>
                <a:latin typeface="Consolas"/>
              </a:rPr>
              <a:t>(tok))                   // host unpacks i</a:t>
            </a:r>
          </a:p>
          <a:p>
            <a:pPr>
              <a:lnSpc>
                <a:spcPct val="112000"/>
              </a:lnSpc>
              <a:spcBef>
                <a:spcPts val="0"/>
              </a:spcBef>
              <a:spcAft>
                <a:spcPts val="0"/>
              </a:spcAft>
            </a:pPr>
            <a:r>
              <a:rPr sz="1050" b="0" i="0">
                <a:solidFill>
                  <a:srgbClr val="A5B2C4"/>
                </a:solidFill>
                <a:latin typeface="Consolas"/>
              </a:rPr>
              <a:t>    tok = nxt</a:t>
            </a:r>
          </a:p>
        </p:txBody>
      </p:sp>
      <p:sp>
        <p:nvSpPr>
          <p:cNvPr id="48" name="Rectangle 47"/>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85632" y="182880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OPT5 · 3×3 · NO CUDA WORK AT ALL</a:t>
            </a:r>
          </a:p>
        </p:txBody>
      </p:sp>
      <p:sp>
        <p:nvSpPr>
          <p:cNvPr id="50" name="TextBox 49"/>
          <p:cNvSpPr txBox="1"/>
          <p:nvPr/>
        </p:nvSpPr>
        <p:spPr>
          <a:xfrm>
            <a:off x="8485632" y="2212848"/>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3×3 THROUGHPUT</a:t>
            </a:r>
          </a:p>
        </p:txBody>
      </p:sp>
      <p:sp>
        <p:nvSpPr>
          <p:cNvPr id="51" name="TextBox 50"/>
          <p:cNvSpPr txBox="1"/>
          <p:nvPr/>
        </p:nvSpPr>
        <p:spPr>
          <a:xfrm>
            <a:off x="8485632" y="2432304"/>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50 410 FPS</a:t>
            </a:r>
          </a:p>
        </p:txBody>
      </p:sp>
      <p:sp>
        <p:nvSpPr>
          <p:cNvPr id="52" name="TextBox 51"/>
          <p:cNvSpPr txBox="1"/>
          <p:nvPr/>
        </p:nvSpPr>
        <p:spPr>
          <a:xfrm>
            <a:off x="8485632" y="314553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PER FRAME · STEP · OF FLOOR</a:t>
            </a:r>
          </a:p>
        </p:txBody>
      </p:sp>
      <p:sp>
        <p:nvSpPr>
          <p:cNvPr id="53" name="TextBox 52"/>
          <p:cNvSpPr txBox="1"/>
          <p:nvPr/>
        </p:nvSpPr>
        <p:spPr>
          <a:xfrm>
            <a:off x="8485632" y="3364991"/>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19.8 µs · ×1.31 · 81 %</a:t>
            </a:r>
          </a:p>
        </p:txBody>
      </p:sp>
      <p:sp>
        <p:nvSpPr>
          <p:cNvPr id="54" name="TextBox 53"/>
          <p:cNvSpPr txBox="1"/>
          <p:nvPr/>
        </p:nvSpPr>
        <p:spPr>
          <a:xfrm>
            <a:off x="8485632" y="3950208"/>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THE WHOLE CHANGE</a:t>
            </a:r>
          </a:p>
        </p:txBody>
      </p:sp>
      <p:sp>
        <p:nvSpPr>
          <p:cNvPr id="55" name="TextBox 54"/>
          <p:cNvSpPr txBox="1"/>
          <p:nvPr/>
        </p:nvSpPr>
        <p:spPr>
          <a:xfrm>
            <a:off x="8485632" y="4297680"/>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CUDA API CALLS ADDED</a:t>
            </a:r>
          </a:p>
        </p:txBody>
      </p:sp>
      <p:sp>
        <p:nvSpPr>
          <p:cNvPr id="56" name="TextBox 55"/>
          <p:cNvSpPr txBox="1"/>
          <p:nvPr/>
        </p:nvSpPr>
        <p:spPr>
          <a:xfrm>
            <a:off x="8485632" y="4517136"/>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none</a:t>
            </a:r>
          </a:p>
        </p:txBody>
      </p:sp>
      <p:sp>
        <p:nvSpPr>
          <p:cNvPr id="57" name="TextBox 56"/>
          <p:cNvSpPr txBox="1"/>
          <p:nvPr/>
        </p:nvSpPr>
        <p:spPr>
          <a:xfrm>
            <a:off x="8485632" y="4956048"/>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WHAT MOVED</a:t>
            </a:r>
          </a:p>
        </p:txBody>
      </p:sp>
      <p:sp>
        <p:nvSpPr>
          <p:cNvPr id="58" name="TextBox 57"/>
          <p:cNvSpPr txBox="1"/>
          <p:nvPr/>
        </p:nvSpPr>
        <p:spPr>
          <a:xfrm>
            <a:off x="8485632" y="5175504"/>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E7EDF4"/>
                </a:solidFill>
                <a:latin typeface="Segoe UI"/>
              </a:rPr>
              <a:t>the host loop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OPT5</a:t>
            </a:r>
          </a:p>
        </p:txBody>
      </p:sp>
      <p:sp>
        <p:nvSpPr>
          <p:cNvPr id="4" name="TextBox 3"/>
          <p:cNvSpPr txBox="1"/>
          <p:nvPr/>
        </p:nvSpPr>
        <p:spPr>
          <a:xfrm>
            <a:off x="1325880" y="457200"/>
            <a:ext cx="937260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AT 9×9 · WHY OVERLAP RUNS OUT</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Overlap runs out: the host is the taller bar</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19 / 36</a:t>
            </a:r>
          </a:p>
        </p:txBody>
      </p:sp>
      <p:sp>
        <p:nvSpPr>
          <p:cNvPr id="43" name="TextBox 42"/>
          <p:cNvSpPr txBox="1"/>
          <p:nvPr/>
        </p:nvSpPr>
        <p:spPr>
          <a:xfrm>
            <a:off x="457200" y="1664208"/>
            <a:ext cx="1124712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At 3×3 the host copy is </a:t>
            </a:r>
            <a:r>
              <a:rPr sz="1500" b="1" i="0">
                <a:solidFill>
                  <a:srgbClr val="E7EDF4"/>
                </a:solidFill>
                <a:latin typeface="Segoe UI"/>
              </a:rPr>
              <a:t>shorter than the GPU floor</a:t>
            </a:r>
            <a:r>
              <a:rPr sz="1500" b="0" i="0">
                <a:solidFill>
                  <a:srgbClr val="A5B2C4"/>
                </a:solidFill>
                <a:latin typeface="Segoe UI"/>
              </a:rPr>
              <a:t> and hides under it. At 9×9 it is </a:t>
            </a:r>
            <a:r>
              <a:rPr sz="1500" b="1" i="0">
                <a:solidFill>
                  <a:srgbClr val="E7EDF4"/>
                </a:solidFill>
                <a:latin typeface="Segoe UI"/>
              </a:rPr>
              <a:t>roughly twice the floor</a:t>
            </a:r>
            <a:r>
              <a:rPr sz="1500" b="0" i="0">
                <a:solidFill>
                  <a:srgbClr val="A5B2C4"/>
                </a:solidFill>
                <a:latin typeface="Segoe UI"/>
              </a:rPr>
              <a:t>, so overlap has less to hide: opt5 is worth </a:t>
            </a:r>
            <a:r>
              <a:rPr sz="1500" b="1" i="0">
                <a:solidFill>
                  <a:srgbClr val="E7EDF4"/>
                </a:solidFill>
                <a:latin typeface="Segoe UI"/>
              </a:rPr>
              <a:t>×1.20</a:t>
            </a:r>
            <a:r>
              <a:rPr sz="1500" b="0" i="0">
                <a:solidFill>
                  <a:srgbClr val="A5B2C4"/>
                </a:solidFill>
                <a:latin typeface="Segoe UI"/>
              </a:rPr>
              <a:t> here against ×1.31 at 3×3.</a:t>
            </a:r>
          </a:p>
        </p:txBody>
      </p:sp>
      <p:pic>
        <p:nvPicPr>
          <p:cNvPr id="44" name="Picture 43" descr="fig_overlap_9x9.png"/>
          <p:cNvPicPr>
            <a:picLocks noChangeAspect="1"/>
          </p:cNvPicPr>
          <p:nvPr/>
        </p:nvPicPr>
        <p:blipFill>
          <a:blip r:embed="rId2"/>
          <a:stretch>
            <a:fillRect/>
          </a:stretch>
        </p:blipFill>
        <p:spPr>
          <a:xfrm>
            <a:off x="603504" y="2286000"/>
            <a:ext cx="10680192" cy="3450185"/>
          </a:xfrm>
          <a:prstGeom prst="rect">
            <a:avLst/>
          </a:prstGeom>
        </p:spPr>
      </p:pic>
      <p:sp>
        <p:nvSpPr>
          <p:cNvPr id="45" name="Rectangle 44"/>
          <p:cNvSpPr/>
          <p:nvPr/>
        </p:nvSpPr>
        <p:spPr>
          <a:xfrm>
            <a:off x="498348" y="5760720"/>
            <a:ext cx="11205972" cy="60350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5760720"/>
            <a:ext cx="41148" cy="6035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13232" y="5852159"/>
            <a:ext cx="10789920" cy="420624"/>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A deeper buffer </a:t>
            </a:r>
            <a:r>
              <a:rPr sz="1300" b="1" i="0">
                <a:solidFill>
                  <a:srgbClr val="E7EDF4"/>
                </a:solidFill>
                <a:latin typeface="Segoe UI"/>
              </a:rPr>
              <a:t>relocates the GPU's idle, it does not close it</a:t>
            </a:r>
            <a:r>
              <a:rPr sz="1300" b="0" i="0">
                <a:solidFill>
                  <a:srgbClr val="A5B2C4"/>
                </a:solidFill>
                <a:latin typeface="Segoe UI"/>
              </a:rPr>
              <a:t>: the host lane is already back-to-back in both strips, so it alone sets the pace. </a:t>
            </a:r>
            <a:r>
              <a:rPr sz="1300" b="1" i="0">
                <a:solidFill>
                  <a:srgbClr val="E7EDF4"/>
                </a:solidFill>
                <a:latin typeface="Segoe UI"/>
              </a:rPr>
              <a:t>The only way down is to make the host term smaller.</a:t>
            </a:r>
          </a:p>
        </p:txBody>
      </p:sp>
      <p:sp>
        <p:nvSpPr>
          <p:cNvPr id="48" name="TextBox 47"/>
          <p:cNvSpPr txBox="1"/>
          <p:nvPr/>
        </p:nvSpPr>
        <p:spPr>
          <a:xfrm>
            <a:off x="457200" y="6455664"/>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Measured proportions: GPU 30.01 µs/frame, host ~62 µs steady-state [A4].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OPT6</a:t>
            </a:r>
          </a:p>
        </p:txBody>
      </p:sp>
      <p:sp>
        <p:nvSpPr>
          <p:cNvPr id="4" name="TextBox 3"/>
          <p:cNvSpPr txBox="1"/>
          <p:nvPr/>
        </p:nvSpPr>
        <p:spPr>
          <a:xfrm>
            <a:off x="1325880" y="457200"/>
            <a:ext cx="937260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ZERO-COPY COLLECTION</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Read the results in place: ×2.21 at 9×9</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20 / 36</a:t>
            </a:r>
          </a:p>
        </p:txBody>
      </p:sp>
      <p:sp>
        <p:nvSpPr>
          <p:cNvPr id="43" name="TextBox 42"/>
          <p:cNvSpPr txBox="1"/>
          <p:nvPr/>
        </p:nvSpPr>
        <p:spPr>
          <a:xfrm>
            <a:off x="457200" y="1664208"/>
            <a:ext cx="7461504"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The D2H lands in a </a:t>
            </a:r>
            <a:r>
              <a:rPr sz="1500" b="1" i="0">
                <a:solidFill>
                  <a:srgbClr val="E7EDF4"/>
                </a:solidFill>
                <a:latin typeface="Segoe UI"/>
              </a:rPr>
              <a:t>pinned host buffer</a:t>
            </a:r>
            <a:r>
              <a:rPr sz="1500" b="0" i="0">
                <a:solidFill>
                  <a:srgbClr val="A5B2C4"/>
                </a:solidFill>
                <a:latin typeface="Segoe UI"/>
              </a:rPr>
              <a:t>; collect() then allocates one ClusterVector per frame and memcpys into it — </a:t>
            </a:r>
            <a:r>
              <a:rPr sz="1500" b="1" i="0">
                <a:solidFill>
                  <a:srgbClr val="E7EDF4"/>
                </a:solidFill>
                <a:latin typeface="Segoe UI"/>
              </a:rPr>
              <a:t>467 kB per frame at 9×9</a:t>
            </a:r>
            <a:r>
              <a:rPr sz="1500" b="0" i="0">
                <a:solidFill>
                  <a:srgbClr val="A5B2C4"/>
                </a:solidFill>
                <a:latin typeface="Segoe UI"/>
              </a:rPr>
              <a:t>.</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collect_view() returns a </a:t>
            </a:r>
            <a:r>
              <a:rPr sz="1500" b="1" i="0">
                <a:solidFill>
                  <a:srgbClr val="E7EDF4"/>
                </a:solidFill>
                <a:latin typeface="Segoe UI"/>
              </a:rPr>
              <a:t>BatchView</a:t>
            </a:r>
            <a:r>
              <a:rPr sz="1500" b="0" i="0">
                <a:solidFill>
                  <a:srgbClr val="A5B2C4"/>
                </a:solidFill>
                <a:latin typeface="Segoe UI"/>
              </a:rPr>
              <a:t> onto that buffer instead: it withholds </a:t>
            </a:r>
            <a:r>
              <a:rPr sz="1500" b="1" i="0">
                <a:solidFill>
                  <a:srgbClr val="E7EDF4"/>
                </a:solidFill>
                <a:latin typeface="Segoe UI"/>
              </a:rPr>
              <a:t>ownership</a:t>
            </a:r>
            <a:r>
              <a:rPr sz="1500" b="0" i="0">
                <a:solidFill>
                  <a:srgbClr val="A5B2C4"/>
                </a:solidFill>
                <a:latin typeface="Segoe UI"/>
              </a:rPr>
              <a:t> past the chunk, not access.</a:t>
            </a:r>
          </a:p>
        </p:txBody>
      </p:sp>
      <p:pic>
        <p:nvPicPr>
          <p:cNvPr id="44" name="Picture 43" descr="fig_resultpath.png"/>
          <p:cNvPicPr>
            <a:picLocks noChangeAspect="1"/>
          </p:cNvPicPr>
          <p:nvPr/>
        </p:nvPicPr>
        <p:blipFill>
          <a:blip r:embed="rId2"/>
          <a:stretch>
            <a:fillRect/>
          </a:stretch>
        </p:blipFill>
        <p:spPr>
          <a:xfrm>
            <a:off x="384048" y="3072384"/>
            <a:ext cx="7772400" cy="2420524"/>
          </a:xfrm>
          <a:prstGeom prst="rect">
            <a:avLst/>
          </a:prstGeom>
        </p:spPr>
      </p:pic>
      <p:sp>
        <p:nvSpPr>
          <p:cNvPr id="45" name="Rectangle 44"/>
          <p:cNvSpPr/>
          <p:nvPr/>
        </p:nvSpPr>
        <p:spPr>
          <a:xfrm>
            <a:off x="498348" y="5779008"/>
            <a:ext cx="7420356"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5779008"/>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13232" y="5870448"/>
            <a:ext cx="7004304" cy="548640"/>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The win is </a:t>
            </a:r>
            <a:r>
              <a:rPr sz="1300" b="1" i="0">
                <a:solidFill>
                  <a:srgbClr val="E7EDF4"/>
                </a:solidFill>
                <a:latin typeface="Segoe UI"/>
              </a:rPr>
              <a:t>max(0, host copy − GPU floor)</a:t>
            </a:r>
            <a:r>
              <a:rPr sz="1300" b="0" i="0">
                <a:solidFill>
                  <a:srgbClr val="A5B2C4"/>
                </a:solidFill>
                <a:latin typeface="Segoe UI"/>
              </a:rPr>
              <a:t>. At 3×3 the copy already hid under the floor; at 9×9 it is </a:t>
            </a:r>
            <a:r>
              <a:rPr sz="1300" b="1" i="0">
                <a:solidFill>
                  <a:srgbClr val="E7EDF4"/>
                </a:solidFill>
                <a:latin typeface="Segoe UI"/>
              </a:rPr>
              <a:t>twice the floor</a:t>
            </a:r>
            <a:r>
              <a:rPr sz="1300" b="0" i="0">
                <a:solidFill>
                  <a:srgbClr val="A5B2C4"/>
                </a:solidFill>
                <a:latin typeface="Segoe UI"/>
              </a:rPr>
              <a:t> and cannot hide at any overlap.</a:t>
            </a:r>
          </a:p>
        </p:txBody>
      </p:sp>
      <p:sp>
        <p:nvSpPr>
          <p:cNvPr id="48" name="Rectangle 47"/>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85632" y="182880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OPT6 · 3×3 AND 9×9 · COLLECT_VIEW()</a:t>
            </a:r>
          </a:p>
        </p:txBody>
      </p:sp>
      <p:sp>
        <p:nvSpPr>
          <p:cNvPr id="50" name="TextBox 49"/>
          <p:cNvSpPr txBox="1"/>
          <p:nvPr/>
        </p:nvSpPr>
        <p:spPr>
          <a:xfrm>
            <a:off x="8485632" y="2212848"/>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3×3 THROUGHPUT</a:t>
            </a:r>
          </a:p>
        </p:txBody>
      </p:sp>
      <p:sp>
        <p:nvSpPr>
          <p:cNvPr id="51" name="TextBox 50"/>
          <p:cNvSpPr txBox="1"/>
          <p:nvPr/>
        </p:nvSpPr>
        <p:spPr>
          <a:xfrm>
            <a:off x="8485632" y="2432304"/>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58 495 FPS</a:t>
            </a:r>
          </a:p>
        </p:txBody>
      </p:sp>
      <p:sp>
        <p:nvSpPr>
          <p:cNvPr id="52" name="TextBox 51"/>
          <p:cNvSpPr txBox="1"/>
          <p:nvPr/>
        </p:nvSpPr>
        <p:spPr>
          <a:xfrm>
            <a:off x="8485632" y="314553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PER FRAME · STEP · OF FLOOR</a:t>
            </a:r>
          </a:p>
        </p:txBody>
      </p:sp>
      <p:sp>
        <p:nvSpPr>
          <p:cNvPr id="53" name="TextBox 52"/>
          <p:cNvSpPr txBox="1"/>
          <p:nvPr/>
        </p:nvSpPr>
        <p:spPr>
          <a:xfrm>
            <a:off x="8485632" y="3364991"/>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17.1 µs · ×1.16 · 95 %</a:t>
            </a:r>
          </a:p>
        </p:txBody>
      </p:sp>
      <p:sp>
        <p:nvSpPr>
          <p:cNvPr id="54" name="TextBox 53"/>
          <p:cNvSpPr txBox="1"/>
          <p:nvPr/>
        </p:nvSpPr>
        <p:spPr>
          <a:xfrm>
            <a:off x="8485632" y="3931920"/>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9×9 THROUGHPUT</a:t>
            </a:r>
          </a:p>
        </p:txBody>
      </p:sp>
      <p:sp>
        <p:nvSpPr>
          <p:cNvPr id="55" name="TextBox 54"/>
          <p:cNvSpPr txBox="1"/>
          <p:nvPr/>
        </p:nvSpPr>
        <p:spPr>
          <a:xfrm>
            <a:off x="8485632" y="4151376"/>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33 323 FPS</a:t>
            </a:r>
          </a:p>
        </p:txBody>
      </p:sp>
      <p:sp>
        <p:nvSpPr>
          <p:cNvPr id="56" name="TextBox 55"/>
          <p:cNvSpPr txBox="1"/>
          <p:nvPr/>
        </p:nvSpPr>
        <p:spPr>
          <a:xfrm>
            <a:off x="8485632" y="4864608"/>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PER FRAME · STEP · OF FLOOR</a:t>
            </a:r>
          </a:p>
        </p:txBody>
      </p:sp>
      <p:sp>
        <p:nvSpPr>
          <p:cNvPr id="57" name="TextBox 56"/>
          <p:cNvSpPr txBox="1"/>
          <p:nvPr/>
        </p:nvSpPr>
        <p:spPr>
          <a:xfrm>
            <a:off x="8485632" y="5084064"/>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30.0 µs · ×2.21 · 100 %</a:t>
            </a:r>
          </a:p>
        </p:txBody>
      </p:sp>
      <p:sp>
        <p:nvSpPr>
          <p:cNvPr id="58" name="TextBox 57"/>
          <p:cNvSpPr txBox="1"/>
          <p:nvPr/>
        </p:nvSpPr>
        <p:spPr>
          <a:xfrm>
            <a:off x="8485632" y="5632704"/>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RESULTS</a:t>
            </a:r>
          </a:p>
        </p:txBody>
      </p:sp>
      <p:sp>
        <p:nvSpPr>
          <p:cNvPr id="59" name="TextBox 58"/>
          <p:cNvSpPr txBox="1"/>
          <p:nvPr/>
        </p:nvSpPr>
        <p:spPr>
          <a:xfrm>
            <a:off x="8485632" y="5852160"/>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bit-identical to opt5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389888"/>
            <a:ext cx="5477256" cy="274320"/>
          </a:xfrm>
          <a:prstGeom prst="rect">
            <a:avLst/>
          </a:prstGeom>
          <a:noFill/>
        </p:spPr>
        <p:txBody>
          <a:bodyPr wrap="square" lIns="0" rIns="0" tIns="0" bIns="0" anchor="t">
            <a:spAutoFit/>
          </a:bodyPr>
          <a:lstStyle/>
          <a:p>
            <a:pPr>
              <a:spcBef>
                <a:spcPts val="0"/>
              </a:spcBef>
              <a:spcAft>
                <a:spcPts val="0"/>
              </a:spcAft>
            </a:pPr>
            <a:r>
              <a:rPr sz="1050" b="1" i="0" spc="180">
                <a:solidFill>
                  <a:srgbClr val="6B7A90"/>
                </a:solidFill>
                <a:latin typeface="Segoe UI"/>
              </a:rPr>
              <a:t>ACT III OF III · THE KERNEL</a:t>
            </a:r>
          </a:p>
        </p:txBody>
      </p:sp>
      <p:sp>
        <p:nvSpPr>
          <p:cNvPr id="5" name="TextBox 4"/>
          <p:cNvSpPr txBox="1"/>
          <p:nvPr/>
        </p:nvSpPr>
        <p:spPr>
          <a:xfrm>
            <a:off x="740664" y="1737360"/>
            <a:ext cx="566928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Only now is the kernel the tallest bar</a:t>
            </a:r>
          </a:p>
        </p:txBody>
      </p:sp>
      <p:sp>
        <p:nvSpPr>
          <p:cNvPr id="6" name="Rectangle 5"/>
          <p:cNvSpPr/>
          <p:nvPr/>
        </p:nvSpPr>
        <p:spPr>
          <a:xfrm>
            <a:off x="740664" y="3127248"/>
            <a:ext cx="141732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3383280"/>
            <a:ext cx="5385816" cy="1463040"/>
          </a:xfrm>
          <a:prstGeom prst="rect">
            <a:avLst/>
          </a:prstGeom>
          <a:noFill/>
        </p:spPr>
        <p:txBody>
          <a:bodyPr wrap="square" lIns="0" rIns="0" tIns="0" bIns="0" anchor="t">
            <a:spAutoFit/>
          </a:bodyPr>
          <a:lstStyle/>
          <a:p>
            <a:pPr>
              <a:lnSpc>
                <a:spcPct val="135000"/>
              </a:lnSpc>
              <a:spcBef>
                <a:spcPts val="0"/>
              </a:spcBef>
              <a:spcAft>
                <a:spcPts val="0"/>
              </a:spcAft>
            </a:pPr>
            <a:r>
              <a:rPr sz="1600" b="0" i="0">
                <a:solidFill>
                  <a:srgbClr val="A5B2C4"/>
                </a:solidFill>
                <a:latin typeface="Segoe UI"/>
              </a:rPr>
              <a:t>The story moves to 9×9, where the kernel is finally the tallest bar. First, how the engine times in this act are measured.</a:t>
            </a:r>
          </a:p>
        </p:txBody>
      </p:sp>
      <p:sp>
        <p:nvSpPr>
          <p:cNvPr id="8" name="Rectangle 7"/>
          <p:cNvSpPr/>
          <p:nvPr/>
        </p:nvSpPr>
        <p:spPr>
          <a:xfrm>
            <a:off x="740664" y="5074920"/>
            <a:ext cx="5385816"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5212080"/>
            <a:ext cx="4910328" cy="219456"/>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ARRIVING AT</a:t>
            </a:r>
          </a:p>
        </p:txBody>
      </p:sp>
      <p:sp>
        <p:nvSpPr>
          <p:cNvPr id="11" name="TextBox 10"/>
          <p:cNvSpPr txBox="1"/>
          <p:nvPr/>
        </p:nvSpPr>
        <p:spPr>
          <a:xfrm>
            <a:off x="1024128" y="5413248"/>
            <a:ext cx="4910328"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58 495 FPS</a:t>
            </a:r>
          </a:p>
        </p:txBody>
      </p:sp>
      <p:sp>
        <p:nvSpPr>
          <p:cNvPr id="12" name="TextBox 11"/>
          <p:cNvSpPr txBox="1"/>
          <p:nvPr/>
        </p:nvSpPr>
        <p:spPr>
          <a:xfrm>
            <a:off x="1024128" y="5833872"/>
            <a:ext cx="4910328" cy="237744"/>
          </a:xfrm>
          <a:prstGeom prst="rect">
            <a:avLst/>
          </a:prstGeom>
          <a:noFill/>
        </p:spPr>
        <p:txBody>
          <a:bodyPr wrap="square" lIns="0" rIns="0" tIns="0" bIns="0" anchor="t">
            <a:spAutoFit/>
          </a:bodyPr>
          <a:lstStyle/>
          <a:p>
            <a:pPr>
              <a:spcBef>
                <a:spcPts val="0"/>
              </a:spcBef>
              <a:spcAft>
                <a:spcPts val="0"/>
              </a:spcAft>
            </a:pPr>
            <a:r>
              <a:rPr sz="1100" b="0" i="0">
                <a:solidFill>
                  <a:srgbClr val="6B7A90"/>
                </a:solidFill>
                <a:latin typeface="Segoe UI"/>
              </a:rPr>
              <a:t>opt6 · 3×3, and 33 323 FPS at 9×9, where this act pays</a:t>
            </a:r>
          </a:p>
        </p:txBody>
      </p:sp>
      <p:sp>
        <p:nvSpPr>
          <p:cNvPr id="13" name="Rectangle 12"/>
          <p:cNvSpPr/>
          <p:nvPr/>
        </p:nvSpPr>
        <p:spPr>
          <a:xfrm>
            <a:off x="6556248"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0568" y="2547366"/>
            <a:ext cx="4727448" cy="237744"/>
          </a:xfrm>
          <a:prstGeom prst="rect">
            <a:avLst/>
          </a:prstGeom>
          <a:noFill/>
        </p:spPr>
        <p:txBody>
          <a:bodyPr wrap="square" lIns="0" rIns="0" tIns="0" bIns="0" anchor="t">
            <a:spAutoFit/>
          </a:bodyPr>
          <a:lstStyle/>
          <a:p>
            <a:pPr>
              <a:spcBef>
                <a:spcPts val="0"/>
              </a:spcBef>
              <a:spcAft>
                <a:spcPts val="0"/>
              </a:spcAft>
            </a:pPr>
            <a:r>
              <a:rPr sz="1000" b="1" i="0" spc="160">
                <a:solidFill>
                  <a:srgbClr val="6B7A90"/>
                </a:solidFill>
                <a:latin typeface="Segoe UI"/>
              </a:rPr>
              <a:t>COMING UP</a:t>
            </a:r>
          </a:p>
        </p:txBody>
      </p:sp>
      <p:sp>
        <p:nvSpPr>
          <p:cNvPr id="15" name="TextBox 14"/>
          <p:cNvSpPr txBox="1"/>
          <p:nvPr/>
        </p:nvSpPr>
        <p:spPr>
          <a:xfrm>
            <a:off x="6830568" y="2967990"/>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Consolas"/>
              </a:rPr>
              <a:t>21</a:t>
            </a:r>
          </a:p>
        </p:txBody>
      </p:sp>
      <p:sp>
        <p:nvSpPr>
          <p:cNvPr id="16" name="TextBox 15"/>
          <p:cNvSpPr txBox="1"/>
          <p:nvPr/>
        </p:nvSpPr>
        <p:spPr>
          <a:xfrm>
            <a:off x="7360920" y="2967990"/>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how the engine times are measured</a:t>
            </a:r>
          </a:p>
        </p:txBody>
      </p:sp>
      <p:sp>
        <p:nvSpPr>
          <p:cNvPr id="17" name="TextBox 16"/>
          <p:cNvSpPr txBox="1"/>
          <p:nvPr/>
        </p:nvSpPr>
        <p:spPr>
          <a:xfrm>
            <a:off x="6830568" y="3427095"/>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Consolas"/>
              </a:rPr>
              <a:t>22</a:t>
            </a:r>
          </a:p>
        </p:txBody>
      </p:sp>
      <p:sp>
        <p:nvSpPr>
          <p:cNvPr id="18" name="TextBox 17"/>
          <p:cNvSpPr txBox="1"/>
          <p:nvPr/>
        </p:nvSpPr>
        <p:spPr>
          <a:xfrm>
            <a:off x="7360920" y="3427095"/>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opt7 · FP32 pedestal</a:t>
            </a:r>
          </a:p>
        </p:txBody>
      </p:sp>
      <p:sp>
        <p:nvSpPr>
          <p:cNvPr id="19" name="TextBox 18"/>
          <p:cNvSpPr txBox="1"/>
          <p:nvPr/>
        </p:nvSpPr>
        <p:spPr>
          <a:xfrm>
            <a:off x="6830568" y="3886200"/>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Consolas"/>
              </a:rPr>
              <a:t>23</a:t>
            </a:r>
          </a:p>
        </p:txBody>
      </p:sp>
      <p:sp>
        <p:nvSpPr>
          <p:cNvPr id="20" name="TextBox 19"/>
          <p:cNvSpPr txBox="1"/>
          <p:nvPr/>
        </p:nvSpPr>
        <p:spPr>
          <a:xfrm>
            <a:off x="7360920" y="3886200"/>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catastrophic cancellation</a:t>
            </a:r>
          </a:p>
        </p:txBody>
      </p:sp>
      <p:sp>
        <p:nvSpPr>
          <p:cNvPr id="21" name="TextBox 20"/>
          <p:cNvSpPr txBox="1"/>
          <p:nvPr/>
        </p:nvSpPr>
        <p:spPr>
          <a:xfrm>
            <a:off x="6830568" y="4345305"/>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Consolas"/>
              </a:rPr>
              <a:t>24</a:t>
            </a:r>
          </a:p>
        </p:txBody>
      </p:sp>
      <p:sp>
        <p:nvSpPr>
          <p:cNvPr id="22" name="TextBox 21"/>
          <p:cNvSpPr txBox="1"/>
          <p:nvPr/>
        </p:nvSpPr>
        <p:spPr>
          <a:xfrm>
            <a:off x="7360920" y="4345305"/>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why it comes last</a:t>
            </a:r>
          </a:p>
        </p:txBody>
      </p:sp>
      <p:sp>
        <p:nvSpPr>
          <p:cNvPr id="23" name="Rectangle 22"/>
          <p:cNvSpPr/>
          <p:nvPr/>
        </p:nvSpPr>
        <p:spPr>
          <a:xfrm>
            <a:off x="45720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5998"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3479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323593"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12391"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90119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18998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47878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67583"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056382"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34518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3397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92277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11574"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00371"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78917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7796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6676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655564"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944361"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3160" y="6656832"/>
            <a:ext cx="259918"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21957" y="6656832"/>
            <a:ext cx="259918"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810755" y="6656832"/>
            <a:ext cx="259918"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99554" y="6656832"/>
            <a:ext cx="259918"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HOW THE ENGINE TIMES ARE MEASURED</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Two configurations, one floor</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21 / 36</a:t>
            </a:r>
          </a:p>
        </p:txBody>
      </p:sp>
      <p:sp>
        <p:nvSpPr>
          <p:cNvPr id="43" name="Rectangle 42"/>
          <p:cNvSpPr/>
          <p:nvPr/>
        </p:nvSpPr>
        <p:spPr>
          <a:xfrm>
            <a:off x="457200" y="1664208"/>
            <a:ext cx="3621024" cy="11338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7200" y="1664208"/>
            <a:ext cx="3621024"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94944" y="1810512"/>
            <a:ext cx="3118104" cy="274320"/>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Consolas"/>
              </a:rPr>
              <a:t>s1</a:t>
            </a:r>
          </a:p>
        </p:txBody>
      </p:sp>
      <p:sp>
        <p:nvSpPr>
          <p:cNvPr id="46" name="TextBox 45"/>
          <p:cNvSpPr txBox="1"/>
          <p:nvPr/>
        </p:nvSpPr>
        <p:spPr>
          <a:xfrm>
            <a:off x="694944" y="2121408"/>
            <a:ext cx="3200400" cy="274320"/>
          </a:xfrm>
          <a:prstGeom prst="rect">
            <a:avLst/>
          </a:prstGeom>
          <a:noFill/>
        </p:spPr>
        <p:txBody>
          <a:bodyPr wrap="square" lIns="0" rIns="0" tIns="0" bIns="0" anchor="t">
            <a:spAutoFit/>
          </a:bodyPr>
          <a:lstStyle/>
          <a:p>
            <a:pPr>
              <a:lnSpc>
                <a:spcPct val="110000"/>
              </a:lnSpc>
              <a:spcBef>
                <a:spcPts val="0"/>
              </a:spcBef>
              <a:spcAft>
                <a:spcPts val="0"/>
              </a:spcAft>
            </a:pPr>
            <a:r>
              <a:rPr sz="1200" b="1" i="0">
                <a:solidFill>
                  <a:srgbClr val="E7EDF4"/>
                </a:solidFill>
                <a:latin typeface="Segoe UI"/>
              </a:rPr>
              <a:t>One stream, nothing else running</a:t>
            </a:r>
          </a:p>
        </p:txBody>
      </p:sp>
      <p:sp>
        <p:nvSpPr>
          <p:cNvPr id="47" name="TextBox 46"/>
          <p:cNvSpPr txBox="1"/>
          <p:nvPr/>
        </p:nvSpPr>
        <p:spPr>
          <a:xfrm>
            <a:off x="694944" y="2395728"/>
            <a:ext cx="3200400" cy="365760"/>
          </a:xfrm>
          <a:prstGeom prst="rect">
            <a:avLst/>
          </a:prstGeom>
          <a:noFill/>
        </p:spPr>
        <p:txBody>
          <a:bodyPr wrap="square" lIns="0" rIns="0" tIns="0" bIns="0" anchor="t">
            <a:spAutoFit/>
          </a:bodyPr>
          <a:lstStyle/>
          <a:p>
            <a:pPr>
              <a:lnSpc>
                <a:spcPct val="122000"/>
              </a:lnSpc>
              <a:spcBef>
                <a:spcPts val="0"/>
              </a:spcBef>
              <a:spcAft>
                <a:spcPts val="0"/>
              </a:spcAft>
            </a:pPr>
            <a:r>
              <a:rPr sz="1150" b="0" i="0">
                <a:solidFill>
                  <a:srgbClr val="A5B2C4"/>
                </a:solidFill>
                <a:latin typeface="Segoe UI"/>
              </a:rPr>
              <a:t>How long an operation actually takes.</a:t>
            </a:r>
          </a:p>
        </p:txBody>
      </p:sp>
      <p:sp>
        <p:nvSpPr>
          <p:cNvPr id="48" name="Rectangle 47"/>
          <p:cNvSpPr/>
          <p:nvPr/>
        </p:nvSpPr>
        <p:spPr>
          <a:xfrm>
            <a:off x="4261104" y="1664208"/>
            <a:ext cx="3621024" cy="11338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61104" y="1664208"/>
            <a:ext cx="3621024" cy="32004"/>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98848" y="1810512"/>
            <a:ext cx="3118104" cy="274320"/>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Consolas"/>
              </a:rPr>
              <a:t>s4</a:t>
            </a:r>
          </a:p>
        </p:txBody>
      </p:sp>
      <p:sp>
        <p:nvSpPr>
          <p:cNvPr id="51" name="TextBox 50"/>
          <p:cNvSpPr txBox="1"/>
          <p:nvPr/>
        </p:nvSpPr>
        <p:spPr>
          <a:xfrm>
            <a:off x="4498848" y="2121408"/>
            <a:ext cx="3200400" cy="274320"/>
          </a:xfrm>
          <a:prstGeom prst="rect">
            <a:avLst/>
          </a:prstGeom>
          <a:noFill/>
        </p:spPr>
        <p:txBody>
          <a:bodyPr wrap="square" lIns="0" rIns="0" tIns="0" bIns="0" anchor="t">
            <a:spAutoFit/>
          </a:bodyPr>
          <a:lstStyle/>
          <a:p>
            <a:pPr>
              <a:lnSpc>
                <a:spcPct val="110000"/>
              </a:lnSpc>
              <a:spcBef>
                <a:spcPts val="0"/>
              </a:spcBef>
              <a:spcAft>
                <a:spcPts val="0"/>
              </a:spcAft>
            </a:pPr>
            <a:r>
              <a:rPr sz="1200" b="1" i="0">
                <a:solidFill>
                  <a:srgbClr val="E7EDF4"/>
                </a:solidFill>
                <a:latin typeface="Segoe UI"/>
              </a:rPr>
              <a:t>The shipped pipeline, four streams</a:t>
            </a:r>
          </a:p>
        </p:txBody>
      </p:sp>
      <p:sp>
        <p:nvSpPr>
          <p:cNvPr id="52" name="TextBox 51"/>
          <p:cNvSpPr txBox="1"/>
          <p:nvPr/>
        </p:nvSpPr>
        <p:spPr>
          <a:xfrm>
            <a:off x="4498848" y="2395728"/>
            <a:ext cx="3200400" cy="365760"/>
          </a:xfrm>
          <a:prstGeom prst="rect">
            <a:avLst/>
          </a:prstGeom>
          <a:noFill/>
        </p:spPr>
        <p:txBody>
          <a:bodyPr wrap="square" lIns="0" rIns="0" tIns="0" bIns="0" anchor="t">
            <a:spAutoFit/>
          </a:bodyPr>
          <a:lstStyle/>
          <a:p>
            <a:pPr>
              <a:lnSpc>
                <a:spcPct val="122000"/>
              </a:lnSpc>
              <a:spcBef>
                <a:spcPts val="0"/>
              </a:spcBef>
              <a:spcAft>
                <a:spcPts val="0"/>
              </a:spcAft>
            </a:pPr>
            <a:r>
              <a:rPr sz="1150" b="0" i="0">
                <a:solidFill>
                  <a:srgbClr val="A5B2C4"/>
                </a:solidFill>
                <a:latin typeface="Segoe UI"/>
              </a:rPr>
              <a:t>How busy each engine is: a union, not a sum.</a:t>
            </a:r>
          </a:p>
        </p:txBody>
      </p:sp>
      <p:sp>
        <p:nvSpPr>
          <p:cNvPr id="53" name="Rectangle 52"/>
          <p:cNvSpPr/>
          <p:nvPr/>
        </p:nvSpPr>
        <p:spPr>
          <a:xfrm>
            <a:off x="8065008" y="1664208"/>
            <a:ext cx="3621024" cy="11338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065008" y="1664208"/>
            <a:ext cx="3621024"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02752" y="1810512"/>
            <a:ext cx="3118104" cy="274320"/>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Consolas"/>
              </a:rPr>
              <a:t>floor</a:t>
            </a:r>
          </a:p>
        </p:txBody>
      </p:sp>
      <p:sp>
        <p:nvSpPr>
          <p:cNvPr id="56" name="TextBox 55"/>
          <p:cNvSpPr txBox="1"/>
          <p:nvPr/>
        </p:nvSpPr>
        <p:spPr>
          <a:xfrm>
            <a:off x="8302752" y="2121408"/>
            <a:ext cx="3200400" cy="274320"/>
          </a:xfrm>
          <a:prstGeom prst="rect">
            <a:avLst/>
          </a:prstGeom>
          <a:noFill/>
        </p:spPr>
        <p:txBody>
          <a:bodyPr wrap="square" lIns="0" rIns="0" tIns="0" bIns="0" anchor="t">
            <a:spAutoFit/>
          </a:bodyPr>
          <a:lstStyle/>
          <a:p>
            <a:pPr>
              <a:lnSpc>
                <a:spcPct val="110000"/>
              </a:lnSpc>
              <a:spcBef>
                <a:spcPts val="0"/>
              </a:spcBef>
              <a:spcAft>
                <a:spcPts val="0"/>
              </a:spcAft>
            </a:pPr>
            <a:r>
              <a:rPr sz="1200" b="1" i="0">
                <a:solidFill>
                  <a:srgbClr val="E7EDF4"/>
                </a:solidFill>
                <a:latin typeface="Segoe UI"/>
              </a:rPr>
              <a:t>Set by the busiest engine</a:t>
            </a:r>
          </a:p>
        </p:txBody>
      </p:sp>
      <p:sp>
        <p:nvSpPr>
          <p:cNvPr id="57" name="TextBox 56"/>
          <p:cNvSpPr txBox="1"/>
          <p:nvPr/>
        </p:nvSpPr>
        <p:spPr>
          <a:xfrm>
            <a:off x="8302752" y="2395728"/>
            <a:ext cx="3200400" cy="365760"/>
          </a:xfrm>
          <a:prstGeom prst="rect">
            <a:avLst/>
          </a:prstGeom>
          <a:noFill/>
        </p:spPr>
        <p:txBody>
          <a:bodyPr wrap="square" lIns="0" rIns="0" tIns="0" bIns="0" anchor="t">
            <a:spAutoFit/>
          </a:bodyPr>
          <a:lstStyle/>
          <a:p>
            <a:pPr>
              <a:lnSpc>
                <a:spcPct val="122000"/>
              </a:lnSpc>
              <a:spcBef>
                <a:spcPts val="0"/>
              </a:spcBef>
              <a:spcAft>
                <a:spcPts val="0"/>
              </a:spcAft>
            </a:pPr>
            <a:r>
              <a:rPr sz="1150" b="0" i="0">
                <a:solidFill>
                  <a:srgbClr val="A5B2C4"/>
                </a:solidFill>
                <a:latin typeface="Segoe UI"/>
              </a:rPr>
              <a:t>1 / the busiest engine, in µs/frame or FPS.</a:t>
            </a:r>
          </a:p>
        </p:txBody>
      </p:sp>
      <p:pic>
        <p:nvPicPr>
          <p:cNvPr id="58" name="Picture 57" descr="fig_measure.png"/>
          <p:cNvPicPr>
            <a:picLocks noChangeAspect="1"/>
          </p:cNvPicPr>
          <p:nvPr/>
        </p:nvPicPr>
        <p:blipFill>
          <a:blip r:embed="rId2"/>
          <a:stretch>
            <a:fillRect/>
          </a:stretch>
        </p:blipFill>
        <p:spPr>
          <a:xfrm>
            <a:off x="795528" y="3035808"/>
            <a:ext cx="10607040" cy="289242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OPT7</a:t>
            </a:r>
          </a:p>
        </p:txBody>
      </p:sp>
      <p:sp>
        <p:nvSpPr>
          <p:cNvPr id="4" name="TextBox 3"/>
          <p:cNvSpPr txBox="1"/>
          <p:nvPr/>
        </p:nvSpPr>
        <p:spPr>
          <a:xfrm>
            <a:off x="1325880" y="457200"/>
            <a:ext cx="937260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FP32 DEVICE PEDESTAL</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FP32 halves pedestal traffic: −41 % kernel time</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22 / 36</a:t>
            </a:r>
          </a:p>
        </p:txBody>
      </p:sp>
      <p:sp>
        <p:nvSpPr>
          <p:cNvPr id="43" name="TextBox 42"/>
          <p:cNvSpPr txBox="1"/>
          <p:nvPr/>
        </p:nvSpPr>
        <p:spPr>
          <a:xfrm>
            <a:off x="457200" y="1664208"/>
            <a:ext cx="708660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1" i="0">
                <a:solidFill>
                  <a:srgbClr val="E7EDF4"/>
                </a:solidFill>
                <a:latin typeface="Segoe UI"/>
              </a:rPr>
              <a:t>~80 % of pixels</a:t>
            </a:r>
            <a:r>
              <a:rPr sz="1500" b="0" i="0">
                <a:solidFill>
                  <a:srgbClr val="A5B2C4"/>
                </a:solidFill>
                <a:latin typeface="Segoe UI"/>
              </a:rPr>
              <a:t> take the </a:t>
            </a:r>
            <a:r>
              <a:rPr sz="1500" b="1" i="0">
                <a:solidFill>
                  <a:srgbClr val="E7EDF4"/>
                </a:solidFill>
                <a:latin typeface="Segoe UI"/>
              </a:rPr>
              <a:t>pedestal-update</a:t>
            </a:r>
            <a:r>
              <a:rPr sz="1500" b="0" i="0">
                <a:solidFill>
                  <a:srgbClr val="A5B2C4"/>
                </a:solidFill>
                <a:latin typeface="Segoe UI"/>
              </a:rPr>
              <a:t> branch: six accumulator values read and written.</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One typedef halves all four pedestal arrays — </a:t>
            </a:r>
            <a:r>
              <a:rPr sz="1500" b="1" i="0">
                <a:solidFill>
                  <a:srgbClr val="E7EDF4"/>
                </a:solidFill>
                <a:latin typeface="Segoe UI"/>
              </a:rPr>
              <a:t>48 bytes per updating pixel in FP64, 24 in FP32</a:t>
            </a:r>
            <a:r>
              <a:rPr sz="1500" b="0" i="0">
                <a:solidFill>
                  <a:srgbClr val="A5B2C4"/>
                </a:solidFill>
                <a:latin typeface="Segoe UI"/>
              </a:rPr>
              <a:t> — and the kernel is </a:t>
            </a:r>
            <a:r>
              <a:rPr sz="1500" b="1" i="0">
                <a:solidFill>
                  <a:srgbClr val="E7EDF4"/>
                </a:solidFill>
                <a:latin typeface="Segoe UI"/>
              </a:rPr>
              <a:t>bandwidth-bound</a:t>
            </a:r>
            <a:r>
              <a:rPr sz="1500" b="0" i="0">
                <a:solidFill>
                  <a:srgbClr val="A5B2C4"/>
                </a:solidFill>
                <a:latin typeface="Segoe UI"/>
              </a:rPr>
              <a:t>.</a:t>
            </a:r>
          </a:p>
        </p:txBody>
      </p:sp>
      <p:pic>
        <p:nvPicPr>
          <p:cNvPr id="44" name="Picture 43" descr="fig_f32_kernel.png"/>
          <p:cNvPicPr>
            <a:picLocks noChangeAspect="1"/>
          </p:cNvPicPr>
          <p:nvPr/>
        </p:nvPicPr>
        <p:blipFill>
          <a:blip r:embed="rId2"/>
          <a:stretch>
            <a:fillRect/>
          </a:stretch>
        </p:blipFill>
        <p:spPr>
          <a:xfrm>
            <a:off x="457200" y="2926080"/>
            <a:ext cx="7461504" cy="2304016"/>
          </a:xfrm>
          <a:prstGeom prst="rect">
            <a:avLst/>
          </a:prstGeom>
        </p:spPr>
      </p:pic>
      <p:sp>
        <p:nvSpPr>
          <p:cNvPr id="45" name="TextBox 44"/>
          <p:cNvSpPr txBox="1"/>
          <p:nvPr/>
        </p:nvSpPr>
        <p:spPr>
          <a:xfrm>
            <a:off x="457200" y="5230368"/>
            <a:ext cx="7461504"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Two more effects, neither the reason it works: FP64 arithmetic runs at 1/64 of FP32 on a GeForce part, and the narrower accumulators free 9 registers at 3×3.</a:t>
            </a:r>
          </a:p>
        </p:txBody>
      </p:sp>
      <p:sp>
        <p:nvSpPr>
          <p:cNvPr id="46" name="Rounded Rectangle 45"/>
          <p:cNvSpPr/>
          <p:nvPr/>
        </p:nvSpPr>
        <p:spPr>
          <a:xfrm>
            <a:off x="8046720" y="1664208"/>
            <a:ext cx="3749039" cy="116476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11312" y="1773936"/>
            <a:ext cx="3419856"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ONE TYPEDEF</a:t>
            </a:r>
          </a:p>
        </p:txBody>
      </p:sp>
      <p:sp>
        <p:nvSpPr>
          <p:cNvPr id="48" name="TextBox 47"/>
          <p:cNvSpPr txBox="1"/>
          <p:nvPr/>
        </p:nvSpPr>
        <p:spPr>
          <a:xfrm>
            <a:off x="8211312" y="1993391"/>
            <a:ext cx="3419856" cy="945306"/>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7C8A9E"/>
                </a:solidFill>
                <a:latin typeface="Consolas"/>
              </a:rPr>
              <a:t>// clusterfinder_kernel.cuh</a:t>
            </a:r>
          </a:p>
          <a:p>
            <a:pPr>
              <a:lnSpc>
                <a:spcPct val="112000"/>
              </a:lnSpc>
              <a:spcBef>
                <a:spcPts val="0"/>
              </a:spcBef>
              <a:spcAft>
                <a:spcPts val="0"/>
              </a:spcAft>
            </a:pPr>
            <a:r>
              <a:rPr sz="1050" b="0" i="0">
                <a:solidFill>
                  <a:srgbClr val="A5B2C4"/>
                </a:solidFill>
                <a:latin typeface="Consolas"/>
              </a:rPr>
              <a:t>using COMPUTE_TYPE    = float;</a:t>
            </a:r>
          </a:p>
          <a:p>
            <a:pPr>
              <a:lnSpc>
                <a:spcPct val="112000"/>
              </a:lnSpc>
              <a:spcBef>
                <a:spcPts val="0"/>
              </a:spcBef>
              <a:spcAft>
                <a:spcPts val="0"/>
              </a:spcAft>
            </a:pPr>
            <a:r>
              <a:rPr sz="1050" b="0" i="0">
                <a:solidFill>
                  <a:srgbClr val="A5B2C4"/>
                </a:solidFill>
                <a:latin typeface="Consolas"/>
              </a:rPr>
              <a:t>using DEVICE_PED_TYPE = </a:t>
            </a:r>
            <a:r>
              <a:rPr sz="1050" b="1" i="0">
                <a:solidFill>
                  <a:srgbClr val="1E90C2"/>
                </a:solidFill>
                <a:latin typeface="Consolas"/>
              </a:rPr>
              <a:t>float</a:t>
            </a:r>
            <a:r>
              <a:rPr sz="1050" b="0" i="0">
                <a:solidFill>
                  <a:srgbClr val="A5B2C4"/>
                </a:solidFill>
                <a:latin typeface="Consolas"/>
              </a:rPr>
              <a:t>;</a:t>
            </a:r>
          </a:p>
          <a:p>
            <a:pPr>
              <a:lnSpc>
                <a:spcPct val="112000"/>
              </a:lnSpc>
              <a:spcBef>
                <a:spcPts val="0"/>
              </a:spcBef>
              <a:spcAft>
                <a:spcPts val="0"/>
              </a:spcAft>
            </a:pPr>
            <a:r>
              <a:rPr sz="1050" b="0" i="0">
                <a:solidFill>
                  <a:srgbClr val="7C8A9E"/>
                </a:solidFill>
                <a:latin typeface="Consolas"/>
              </a:rPr>
              <a:t>//            was: double</a:t>
            </a:r>
          </a:p>
        </p:txBody>
      </p:sp>
      <p:sp>
        <p:nvSpPr>
          <p:cNvPr id="49" name="Rectangle 48"/>
          <p:cNvSpPr/>
          <p:nvPr/>
        </p:nvSpPr>
        <p:spPr>
          <a:xfrm>
            <a:off x="8087868" y="2944368"/>
            <a:ext cx="3707891" cy="8595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046720" y="2944368"/>
            <a:ext cx="41148" cy="85953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02752" y="3035808"/>
            <a:ext cx="3291839" cy="676656"/>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Kernel, 9×9 </a:t>
            </a:r>
            <a:r>
              <a:rPr sz="1300" b="1" i="0">
                <a:solidFill>
                  <a:srgbClr val="E7EDF4"/>
                </a:solidFill>
                <a:latin typeface="Segoe UI"/>
              </a:rPr>
              <a:t>[s1 · cap 1700]</a:t>
            </a:r>
            <a:r>
              <a:rPr sz="1300" b="0" i="0">
                <a:solidFill>
                  <a:srgbClr val="A5B2C4"/>
                </a:solidFill>
                <a:latin typeface="Segoe UI"/>
              </a:rPr>
              <a:t>
</a:t>
            </a:r>
            <a:r>
              <a:rPr sz="1300" b="1" i="0">
                <a:solidFill>
                  <a:srgbClr val="E7EDF4"/>
                </a:solidFill>
                <a:latin typeface="Segoe UI"/>
              </a:rPr>
              <a:t>39.86 → 23.70 µs  (−40.5 %)</a:t>
            </a:r>
          </a:p>
        </p:txBody>
      </p:sp>
      <p:sp>
        <p:nvSpPr>
          <p:cNvPr id="52" name="Rectangle 51"/>
          <p:cNvSpPr/>
          <p:nvPr/>
        </p:nvSpPr>
        <p:spPr>
          <a:xfrm>
            <a:off x="8087868" y="3931920"/>
            <a:ext cx="3707891" cy="96926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046720" y="3931920"/>
            <a:ext cx="41148" cy="96926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02752" y="4023359"/>
            <a:ext cx="3291839" cy="786384"/>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At 3×3 the same typedef is worth </a:t>
            </a:r>
            <a:r>
              <a:rPr sz="1300" b="1" i="0">
                <a:solidFill>
                  <a:srgbClr val="E7EDF4"/>
                </a:solidFill>
                <a:latin typeface="Segoe UI"/>
              </a:rPr>
              <a:t>−70.6 %</a:t>
            </a:r>
            <a:r>
              <a:rPr sz="1300" b="0" i="0">
                <a:solidFill>
                  <a:srgbClr val="A5B2C4"/>
                </a:solidFill>
                <a:latin typeface="Segoe UI"/>
              </a:rPr>
              <a:t> in the kernel and </a:t>
            </a:r>
            <a:r>
              <a:rPr sz="1300" b="1" i="0">
                <a:solidFill>
                  <a:srgbClr val="E7EDF4"/>
                </a:solidFill>
                <a:latin typeface="Segoe UI"/>
              </a:rPr>
              <a:t>4.6 %</a:t>
            </a:r>
            <a:r>
              <a:rPr sz="1300" b="0" i="0">
                <a:solidFill>
                  <a:srgbClr val="A5B2C4"/>
                </a:solidFill>
                <a:latin typeface="Segoe UI"/>
              </a:rPr>
              <a:t> end to end: there the kernel was never the tallest bar.</a:t>
            </a:r>
          </a:p>
        </p:txBody>
      </p:sp>
      <p:sp>
        <p:nvSpPr>
          <p:cNvPr id="55" name="Rectangle 54"/>
          <p:cNvSpPr/>
          <p:nvPr/>
        </p:nvSpPr>
        <p:spPr>
          <a:xfrm>
            <a:off x="8087868" y="5029200"/>
            <a:ext cx="3707891" cy="51206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046720" y="5029200"/>
            <a:ext cx="41148" cy="51206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02752" y="5120640"/>
            <a:ext cx="3291839" cy="329184"/>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Naive FP32 is </a:t>
            </a:r>
            <a:r>
              <a:rPr sz="1300" b="1" i="0">
                <a:solidFill>
                  <a:srgbClr val="E7EDF4"/>
                </a:solidFill>
                <a:latin typeface="Segoe UI"/>
              </a:rPr>
              <a:t>wrong</a:t>
            </a:r>
            <a:r>
              <a:rPr sz="1300" b="0" i="0">
                <a:solidFill>
                  <a:srgbClr val="A5B2C4"/>
                </a:solidFill>
                <a:latin typeface="Segoe UI"/>
              </a:rPr>
              <a:t> (next slide).</a:t>
            </a:r>
          </a:p>
        </p:txBody>
      </p:sp>
      <p:sp>
        <p:nvSpPr>
          <p:cNvPr id="58" name="TextBox 57"/>
          <p:cNvSpPr txBox="1"/>
          <p:nvPr/>
        </p:nvSpPr>
        <p:spPr>
          <a:xfrm>
            <a:off x="8046720" y="5705856"/>
            <a:ext cx="3749039"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Both builds, same git rev, 20 000 frames. Full engine grid: A1.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OPT7</a:t>
            </a:r>
          </a:p>
        </p:txBody>
      </p:sp>
      <p:sp>
        <p:nvSpPr>
          <p:cNvPr id="4" name="TextBox 3"/>
          <p:cNvSpPr txBox="1"/>
          <p:nvPr/>
        </p:nvSpPr>
        <p:spPr>
          <a:xfrm>
            <a:off x="1325880" y="457200"/>
            <a:ext cx="937260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CATASTROPHIC CANCELLATION</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Accumulate what is small, not what is large</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23 / 36</a:t>
            </a:r>
          </a:p>
        </p:txBody>
      </p:sp>
      <p:sp>
        <p:nvSpPr>
          <p:cNvPr id="43" name="TextBox 42"/>
          <p:cNvSpPr txBox="1"/>
          <p:nvPr/>
        </p:nvSpPr>
        <p:spPr>
          <a:xfrm>
            <a:off x="457200" y="1664208"/>
            <a:ext cx="7461504"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1" i="0">
                <a:solidFill>
                  <a:srgbClr val="E7EDF4"/>
                </a:solidFill>
                <a:latin typeface="Segoe UI"/>
              </a:rPr>
              <a:t>The trap.</a:t>
            </a:r>
            <a:r>
              <a:rPr sz="1500" b="0" i="0">
                <a:solidFill>
                  <a:srgbClr val="A5B2C4"/>
                </a:solidFill>
                <a:latin typeface="Segoe UI"/>
              </a:rPr>
              <a:t> </a:t>
            </a:r>
            <a:r>
              <a:rPr sz="1500" b="1" i="0">
                <a:solidFill>
                  <a:srgbClr val="E7EDF4"/>
                </a:solidFill>
                <a:latin typeface="Segoe UI"/>
              </a:rPr>
              <a:t>var = E[X²] − mean²</a:t>
            </a:r>
            <a:r>
              <a:rPr sz="1500" b="0" i="0">
                <a:solidFill>
                  <a:srgbClr val="A5B2C4"/>
                </a:solidFill>
                <a:latin typeface="Segoe UI"/>
              </a:rPr>
              <a:t> takes two numbers near 2 × 10⁷ to get one near 2 000.</a:t>
            </a:r>
          </a:p>
          <a:p>
            <a:pPr>
              <a:lnSpc>
                <a:spcPct val="125000"/>
              </a:lnSpc>
              <a:spcBef>
                <a:spcPts val="0"/>
              </a:spcBef>
              <a:spcAft>
                <a:spcPts val="900"/>
              </a:spcAft>
            </a:pPr>
            <a:r>
              <a:rPr sz="1500" b="0" i="0">
                <a:solidFill>
                  <a:srgbClr val="6B7A90"/>
                </a:solidFill>
                <a:latin typeface="Segoe UI"/>
              </a:rPr>
              <a:t>•  </a:t>
            </a:r>
            <a:r>
              <a:rPr sz="1500" b="1" i="0">
                <a:solidFill>
                  <a:srgbClr val="E7EDF4"/>
                </a:solidFill>
                <a:latin typeface="Segoe UI"/>
              </a:rPr>
              <a:t>What it cost.</a:t>
            </a:r>
            <a:r>
              <a:rPr sz="1500" b="0" i="0">
                <a:solidFill>
                  <a:srgbClr val="A5B2C4"/>
                </a:solidFill>
                <a:latin typeface="Segoe UI"/>
              </a:rPr>
              <a:t> The rms </a:t>
            </a:r>
            <a:r>
              <a:rPr sz="1500" b="1" i="0">
                <a:solidFill>
                  <a:srgbClr val="E7EDF4"/>
                </a:solidFill>
                <a:latin typeface="Segoe UI"/>
              </a:rPr>
              <a:t>clamps to zero</a:t>
            </a:r>
            <a:r>
              <a:rPr sz="1500" b="0" i="0">
                <a:solidFill>
                  <a:srgbClr val="A5B2C4"/>
                </a:solidFill>
                <a:latin typeface="Segoe UI"/>
              </a:rPr>
              <a:t>, so a 5σ gate becomes a </a:t>
            </a:r>
            <a:r>
              <a:rPr sz="1500" b="1" i="0">
                <a:solidFill>
                  <a:srgbClr val="E7EDF4"/>
                </a:solidFill>
                <a:latin typeface="Segoe UI"/>
              </a:rPr>
              <a:t>0σ gate</a:t>
            </a:r>
            <a:r>
              <a:rPr sz="1500" b="0" i="0">
                <a:solidFill>
                  <a:srgbClr val="A5B2C4"/>
                </a:solidFill>
                <a:latin typeface="Segoe UI"/>
              </a:rPr>
              <a:t>.</a:t>
            </a:r>
          </a:p>
          <a:p>
            <a:pPr>
              <a:lnSpc>
                <a:spcPct val="125000"/>
              </a:lnSpc>
              <a:spcBef>
                <a:spcPts val="0"/>
              </a:spcBef>
              <a:spcAft>
                <a:spcPts val="900"/>
              </a:spcAft>
            </a:pPr>
            <a:r>
              <a:rPr sz="1500" b="0" i="0">
                <a:solidFill>
                  <a:srgbClr val="6B7A90"/>
                </a:solidFill>
                <a:latin typeface="Segoe UI"/>
              </a:rPr>
              <a:t>•  </a:t>
            </a:r>
            <a:r>
              <a:rPr sz="1500" b="1" i="0">
                <a:solidFill>
                  <a:srgbClr val="E7EDF4"/>
                </a:solidFill>
                <a:latin typeface="Segoe UI"/>
              </a:rPr>
              <a:t>The fix.</a:t>
            </a:r>
            <a:r>
              <a:rPr sz="1500" b="0" i="0">
                <a:solidFill>
                  <a:srgbClr val="A5B2C4"/>
                </a:solidFill>
                <a:latin typeface="Segoe UI"/>
              </a:rPr>
              <a:t> Accumulate the </a:t>
            </a:r>
            <a:r>
              <a:rPr sz="1500" b="1" i="0">
                <a:solidFill>
                  <a:srgbClr val="E7EDF4"/>
                </a:solidFill>
                <a:latin typeface="Segoe UI"/>
              </a:rPr>
              <a:t>centred Y = X − X₀</a:t>
            </a:r>
            <a:r>
              <a:rPr sz="1500" b="0" i="0">
                <a:solidFill>
                  <a:srgbClr val="A5B2C4"/>
                </a:solidFill>
                <a:latin typeface="Segoe UI"/>
              </a:rPr>
              <a:t>: both operands become O(rms).</a:t>
            </a:r>
          </a:p>
        </p:txBody>
      </p:sp>
      <p:pic>
        <p:nvPicPr>
          <p:cNvPr id="44" name="Picture 43" descr="fig_cancellation.png"/>
          <p:cNvPicPr>
            <a:picLocks noChangeAspect="1"/>
          </p:cNvPicPr>
          <p:nvPr/>
        </p:nvPicPr>
        <p:blipFill>
          <a:blip r:embed="rId2"/>
          <a:stretch>
            <a:fillRect/>
          </a:stretch>
        </p:blipFill>
        <p:spPr>
          <a:xfrm>
            <a:off x="457200" y="3474720"/>
            <a:ext cx="7461504" cy="2279419"/>
          </a:xfrm>
          <a:prstGeom prst="rect">
            <a:avLst/>
          </a:prstGeom>
        </p:spPr>
      </p:pic>
      <p:sp>
        <p:nvSpPr>
          <p:cNvPr id="45" name="TextBox 44"/>
          <p:cNvSpPr txBox="1"/>
          <p:nvPr/>
        </p:nvSpPr>
        <p:spPr>
          <a:xfrm>
            <a:off x="457200" y="5797296"/>
            <a:ext cx="7461504"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Left: the operands and the answer against the ±3 ADU² error floor. Right: the f32 curve is reconstructed — measured area, modelled shape. The two-line patch is in annex A5.</a:t>
            </a:r>
          </a:p>
        </p:txBody>
      </p:sp>
      <p:sp>
        <p:nvSpPr>
          <p:cNvPr id="46" name="Rectangle 45"/>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85632" y="182880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NAIVE F32 · WHAT IT DID</a:t>
            </a:r>
          </a:p>
        </p:txBody>
      </p:sp>
      <p:sp>
        <p:nvSpPr>
          <p:cNvPr id="48" name="TextBox 47"/>
          <p:cNvSpPr txBox="1"/>
          <p:nvPr/>
        </p:nvSpPr>
        <p:spPr>
          <a:xfrm>
            <a:off x="8485632" y="223113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EXTRA CLUSTERS</a:t>
            </a:r>
          </a:p>
        </p:txBody>
      </p:sp>
      <p:sp>
        <p:nvSpPr>
          <p:cNvPr id="49" name="TextBox 48"/>
          <p:cNvSpPr txBox="1"/>
          <p:nvPr/>
        </p:nvSpPr>
        <p:spPr>
          <a:xfrm>
            <a:off x="8485632" y="2450591"/>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+28.06 %</a:t>
            </a:r>
          </a:p>
        </p:txBody>
      </p:sp>
      <p:sp>
        <p:nvSpPr>
          <p:cNvPr id="50" name="TextBox 49"/>
          <p:cNvSpPr txBox="1"/>
          <p:nvPr/>
        </p:nvSpPr>
        <p:spPr>
          <a:xfrm>
            <a:off x="8485632" y="3163824"/>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PIXELS AFFECTED</a:t>
            </a:r>
          </a:p>
        </p:txBody>
      </p:sp>
      <p:sp>
        <p:nvSpPr>
          <p:cNvPr id="51" name="TextBox 50"/>
          <p:cNvSpPr txBox="1"/>
          <p:nvPr/>
        </p:nvSpPr>
        <p:spPr>
          <a:xfrm>
            <a:off x="8485632" y="3383280"/>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~1–2 % of the sensor</a:t>
            </a:r>
          </a:p>
        </p:txBody>
      </p:sp>
      <p:sp>
        <p:nvSpPr>
          <p:cNvPr id="52" name="TextBox 51"/>
          <p:cNvSpPr txBox="1"/>
          <p:nvPr/>
        </p:nvSpPr>
        <p:spPr>
          <a:xfrm>
            <a:off x="8485632" y="3822191"/>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ERROR FLOOR</a:t>
            </a:r>
          </a:p>
        </p:txBody>
      </p:sp>
      <p:sp>
        <p:nvSpPr>
          <p:cNvPr id="53" name="TextBox 52"/>
          <p:cNvSpPr txBox="1"/>
          <p:nvPr/>
        </p:nvSpPr>
        <p:spPr>
          <a:xfrm>
            <a:off x="8485632" y="4041648"/>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 ADU², absolute</a:t>
            </a:r>
          </a:p>
        </p:txBody>
      </p:sp>
      <p:sp>
        <p:nvSpPr>
          <p:cNvPr id="54" name="TextBox 53"/>
          <p:cNvSpPr txBox="1"/>
          <p:nvPr/>
        </p:nvSpPr>
        <p:spPr>
          <a:xfrm>
            <a:off x="8485632" y="4718303"/>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AFTER THE REWRITE</a:t>
            </a:r>
          </a:p>
        </p:txBody>
      </p:sp>
      <p:sp>
        <p:nvSpPr>
          <p:cNvPr id="55" name="TextBox 54"/>
          <p:cNvSpPr txBox="1"/>
          <p:nvPr/>
        </p:nvSpPr>
        <p:spPr>
          <a:xfrm>
            <a:off x="8485632" y="5120640"/>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F32 VS F64 COUNTS</a:t>
            </a:r>
          </a:p>
        </p:txBody>
      </p:sp>
      <p:sp>
        <p:nvSpPr>
          <p:cNvPr id="56" name="TextBox 55"/>
          <p:cNvSpPr txBox="1"/>
          <p:nvPr/>
        </p:nvSpPr>
        <p:spPr>
          <a:xfrm>
            <a:off x="8485632" y="5340096"/>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3 × 10⁻⁷</a:t>
            </a:r>
          </a:p>
        </p:txBody>
      </p:sp>
      <p:sp>
        <p:nvSpPr>
          <p:cNvPr id="57" name="TextBox 56"/>
          <p:cNvSpPr txBox="1"/>
          <p:nvPr/>
        </p:nvSpPr>
        <p:spPr>
          <a:xfrm>
            <a:off x="8485632" y="5779007"/>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VS THE CPU BASELINE</a:t>
            </a:r>
          </a:p>
        </p:txBody>
      </p:sp>
      <p:sp>
        <p:nvSpPr>
          <p:cNvPr id="58" name="TextBox 57"/>
          <p:cNvSpPr txBox="1"/>
          <p:nvPr/>
        </p:nvSpPr>
        <p:spPr>
          <a:xfrm>
            <a:off x="8485632" y="5998464"/>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0.0039 %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OPT7</a:t>
            </a:r>
          </a:p>
        </p:txBody>
      </p:sp>
      <p:sp>
        <p:nvSpPr>
          <p:cNvPr id="4" name="TextBox 3"/>
          <p:cNvSpPr txBox="1"/>
          <p:nvPr/>
        </p:nvSpPr>
        <p:spPr>
          <a:xfrm>
            <a:off x="1325880" y="457200"/>
            <a:ext cx="937260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WHY THIS ACT COMES LAST</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saving never grew — the frame around it shrank</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24 / 36</a:t>
            </a:r>
          </a:p>
        </p:txBody>
      </p:sp>
      <p:pic>
        <p:nvPicPr>
          <p:cNvPr id="43" name="Picture 42" descr="fig_f32_absolute.png"/>
          <p:cNvPicPr>
            <a:picLocks noChangeAspect="1"/>
          </p:cNvPicPr>
          <p:nvPr/>
        </p:nvPicPr>
        <p:blipFill>
          <a:blip r:embed="rId2"/>
          <a:stretch>
            <a:fillRect/>
          </a:stretch>
        </p:blipFill>
        <p:spPr>
          <a:xfrm>
            <a:off x="457200" y="1664208"/>
            <a:ext cx="11247120" cy="2623872"/>
          </a:xfrm>
          <a:prstGeom prst="rect">
            <a:avLst/>
          </a:prstGeom>
        </p:spPr>
      </p:pic>
      <p:sp>
        <p:nvSpPr>
          <p:cNvPr id="44" name="Rectangle 43"/>
          <p:cNvSpPr/>
          <p:nvPr/>
        </p:nvSpPr>
        <p:spPr>
          <a:xfrm>
            <a:off x="498348" y="4626864"/>
            <a:ext cx="1120597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7200" y="4626864"/>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3232" y="4718303"/>
            <a:ext cx="10789920" cy="548640"/>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The act ends by handing the floor away.</a:t>
            </a:r>
            <a:r>
              <a:rPr sz="1300" b="0" i="0">
                <a:solidFill>
                  <a:srgbClr val="A5B2C4"/>
                </a:solidFill>
                <a:latin typeface="Segoe UI"/>
              </a:rPr>
              <a:t> At </a:t>
            </a:r>
            <a:r>
              <a:rPr sz="1300" b="1" i="0">
                <a:solidFill>
                  <a:srgbClr val="E7EDF4"/>
                </a:solidFill>
                <a:latin typeface="Segoe UI"/>
              </a:rPr>
              <a:t>s4</a:t>
            </a:r>
            <a:r>
              <a:rPr sz="1300" b="0" i="0">
                <a:solidFill>
                  <a:srgbClr val="A5B2C4"/>
                </a:solidFill>
                <a:latin typeface="Segoe UI"/>
              </a:rPr>
              <a:t> the f64 arm is kernel-bound, </a:t>
            </a:r>
            <a:r>
              <a:rPr sz="1300" b="1" i="0">
                <a:solidFill>
                  <a:srgbClr val="E7EDF4"/>
                </a:solidFill>
                <a:latin typeface="Segoe UI"/>
              </a:rPr>
              <a:t>32.66 µs</a:t>
            </a:r>
            <a:r>
              <a:rPr sz="1300" b="0" i="0">
                <a:solidFill>
                  <a:srgbClr val="A5B2C4"/>
                </a:solidFill>
                <a:latin typeface="Segoe UI"/>
              </a:rPr>
              <a:t> against a </a:t>
            </a:r>
            <a:r>
              <a:rPr sz="1300" b="1" i="0">
                <a:solidFill>
                  <a:srgbClr val="E7EDF4"/>
                </a:solidFill>
                <a:latin typeface="Segoe UI"/>
              </a:rPr>
              <a:t>25.25 µs</a:t>
            </a:r>
            <a:r>
              <a:rPr sz="1300" b="0" i="0">
                <a:solidFill>
                  <a:srgbClr val="A5B2C4"/>
                </a:solidFill>
                <a:latin typeface="Segoe UI"/>
              </a:rPr>
              <a:t> D2H. The typedef puts the kernel at </a:t>
            </a:r>
            <a:r>
              <a:rPr sz="1300" b="1" i="0">
                <a:solidFill>
                  <a:srgbClr val="E7EDF4"/>
                </a:solidFill>
                <a:latin typeface="Segoe UI"/>
              </a:rPr>
              <a:t>23.94</a:t>
            </a:r>
            <a:r>
              <a:rPr sz="1300" b="0" i="0">
                <a:solidFill>
                  <a:srgbClr val="A5B2C4"/>
                </a:solidFill>
                <a:latin typeface="Segoe UI"/>
              </a:rPr>
              <a:t>, below a D2H that never moved.</a:t>
            </a:r>
          </a:p>
        </p:txBody>
      </p:sp>
      <p:sp>
        <p:nvSpPr>
          <p:cNvPr id="47" name="TextBox 46"/>
          <p:cNvSpPr txBox="1"/>
          <p:nvPr/>
        </p:nvSpPr>
        <p:spPr>
          <a:xfrm>
            <a:off x="457200" y="5504688"/>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9×9 · 20 000 frames · 4 streams · cap 1 700 · warm · both arms at the same git rev. opt3 excluded and opt5 marked †: their arms sat in different allocator states. Worked through in annex A4.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389888"/>
            <a:ext cx="5477256" cy="274320"/>
          </a:xfrm>
          <a:prstGeom prst="rect">
            <a:avLst/>
          </a:prstGeom>
          <a:noFill/>
        </p:spPr>
        <p:txBody>
          <a:bodyPr wrap="square" lIns="0" rIns="0" tIns="0" bIns="0" anchor="t">
            <a:spAutoFit/>
          </a:bodyPr>
          <a:lstStyle/>
          <a:p>
            <a:pPr>
              <a:spcBef>
                <a:spcPts val="0"/>
              </a:spcBef>
              <a:spcAft>
                <a:spcPts val="0"/>
              </a:spcAft>
            </a:pPr>
            <a:r>
              <a:rPr sz="1050" b="1" i="0" spc="180">
                <a:solidFill>
                  <a:srgbClr val="6B7A90"/>
                </a:solidFill>
                <a:latin typeface="Segoe UI"/>
              </a:rPr>
              <a:t>RESULTS · WHAT CAME OUT OF IT</a:t>
            </a:r>
          </a:p>
        </p:txBody>
      </p:sp>
      <p:sp>
        <p:nvSpPr>
          <p:cNvPr id="5" name="TextBox 4"/>
          <p:cNvSpPr txBox="1"/>
          <p:nvPr/>
        </p:nvSpPr>
        <p:spPr>
          <a:xfrm>
            <a:off x="740664" y="1737360"/>
            <a:ext cx="566928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whole ladder, and how to use it</a:t>
            </a:r>
          </a:p>
        </p:txBody>
      </p:sp>
      <p:sp>
        <p:nvSpPr>
          <p:cNvPr id="6" name="Rectangle 5"/>
          <p:cNvSpPr/>
          <p:nvPr/>
        </p:nvSpPr>
        <p:spPr>
          <a:xfrm>
            <a:off x="740664" y="3127248"/>
            <a:ext cx="141732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3383280"/>
            <a:ext cx="5385816" cy="1463040"/>
          </a:xfrm>
          <a:prstGeom prst="rect">
            <a:avLst/>
          </a:prstGeom>
          <a:noFill/>
        </p:spPr>
        <p:txBody>
          <a:bodyPr wrap="square" lIns="0" rIns="0" tIns="0" bIns="0" anchor="t">
            <a:spAutoFit/>
          </a:bodyPr>
          <a:lstStyle/>
          <a:p>
            <a:pPr>
              <a:lnSpc>
                <a:spcPct val="135000"/>
              </a:lnSpc>
              <a:spcBef>
                <a:spcPts val="0"/>
              </a:spcBef>
              <a:spcAft>
                <a:spcPts val="0"/>
              </a:spcAft>
            </a:pPr>
            <a:r>
              <a:rPr sz="1600" b="0" i="0">
                <a:solidFill>
                  <a:srgbClr val="A5B2C4"/>
                </a:solidFill>
                <a:latin typeface="Segoe UI"/>
              </a:rPr>
              <a:t>Both cluster sizes end to end, and the audit behind the numbers.</a:t>
            </a:r>
          </a:p>
        </p:txBody>
      </p:sp>
      <p:sp>
        <p:nvSpPr>
          <p:cNvPr id="8" name="Rectangle 7"/>
          <p:cNvSpPr/>
          <p:nvPr/>
        </p:nvSpPr>
        <p:spPr>
          <a:xfrm>
            <a:off x="740664" y="5074920"/>
            <a:ext cx="5385816"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5212080"/>
            <a:ext cx="4910328" cy="219456"/>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ARRIVING AT</a:t>
            </a:r>
          </a:p>
        </p:txBody>
      </p:sp>
      <p:sp>
        <p:nvSpPr>
          <p:cNvPr id="11" name="TextBox 10"/>
          <p:cNvSpPr txBox="1"/>
          <p:nvPr/>
        </p:nvSpPr>
        <p:spPr>
          <a:xfrm>
            <a:off x="1024128" y="5413248"/>
            <a:ext cx="4910328"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58 495 FPS</a:t>
            </a:r>
          </a:p>
        </p:txBody>
      </p:sp>
      <p:sp>
        <p:nvSpPr>
          <p:cNvPr id="12" name="TextBox 11"/>
          <p:cNvSpPr txBox="1"/>
          <p:nvPr/>
        </p:nvSpPr>
        <p:spPr>
          <a:xfrm>
            <a:off x="1024128" y="5833872"/>
            <a:ext cx="4910328" cy="237744"/>
          </a:xfrm>
          <a:prstGeom prst="rect">
            <a:avLst/>
          </a:prstGeom>
          <a:noFill/>
        </p:spPr>
        <p:txBody>
          <a:bodyPr wrap="square" lIns="0" rIns="0" tIns="0" bIns="0" anchor="t">
            <a:spAutoFit/>
          </a:bodyPr>
          <a:lstStyle/>
          <a:p>
            <a:pPr>
              <a:spcBef>
                <a:spcPts val="0"/>
              </a:spcBef>
              <a:spcAft>
                <a:spcPts val="0"/>
              </a:spcAft>
            </a:pPr>
            <a:r>
              <a:rPr sz="1100" b="0" i="0">
                <a:solidFill>
                  <a:srgbClr val="6B7A90"/>
                </a:solidFill>
                <a:latin typeface="Segoe UI"/>
              </a:rPr>
              <a:t>opt6 · everything after this is the ladder seen whole</a:t>
            </a:r>
          </a:p>
        </p:txBody>
      </p:sp>
      <p:sp>
        <p:nvSpPr>
          <p:cNvPr id="13" name="Rectangle 12"/>
          <p:cNvSpPr/>
          <p:nvPr/>
        </p:nvSpPr>
        <p:spPr>
          <a:xfrm>
            <a:off x="6556248"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0568" y="2776918"/>
            <a:ext cx="4727448" cy="237744"/>
          </a:xfrm>
          <a:prstGeom prst="rect">
            <a:avLst/>
          </a:prstGeom>
          <a:noFill/>
        </p:spPr>
        <p:txBody>
          <a:bodyPr wrap="square" lIns="0" rIns="0" tIns="0" bIns="0" anchor="t">
            <a:spAutoFit/>
          </a:bodyPr>
          <a:lstStyle/>
          <a:p>
            <a:pPr>
              <a:spcBef>
                <a:spcPts val="0"/>
              </a:spcBef>
              <a:spcAft>
                <a:spcPts val="0"/>
              </a:spcAft>
            </a:pPr>
            <a:r>
              <a:rPr sz="1000" b="1" i="0" spc="160">
                <a:solidFill>
                  <a:srgbClr val="6B7A90"/>
                </a:solidFill>
                <a:latin typeface="Segoe UI"/>
              </a:rPr>
              <a:t>COMING UP</a:t>
            </a:r>
          </a:p>
        </p:txBody>
      </p:sp>
      <p:sp>
        <p:nvSpPr>
          <p:cNvPr id="15" name="TextBox 14"/>
          <p:cNvSpPr txBox="1"/>
          <p:nvPr/>
        </p:nvSpPr>
        <p:spPr>
          <a:xfrm>
            <a:off x="6830568" y="3197542"/>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Consolas"/>
              </a:rPr>
              <a:t>25–26</a:t>
            </a:r>
          </a:p>
        </p:txBody>
      </p:sp>
      <p:sp>
        <p:nvSpPr>
          <p:cNvPr id="16" name="TextBox 15"/>
          <p:cNvSpPr txBox="1"/>
          <p:nvPr/>
        </p:nvSpPr>
        <p:spPr>
          <a:xfrm>
            <a:off x="7360920" y="3197542"/>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Results, both cluster sizes</a:t>
            </a:r>
          </a:p>
        </p:txBody>
      </p:sp>
      <p:sp>
        <p:nvSpPr>
          <p:cNvPr id="17" name="TextBox 16"/>
          <p:cNvSpPr txBox="1"/>
          <p:nvPr/>
        </p:nvSpPr>
        <p:spPr>
          <a:xfrm>
            <a:off x="6830568" y="3656647"/>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Consolas"/>
              </a:rPr>
              <a:t>27</a:t>
            </a:r>
          </a:p>
        </p:txBody>
      </p:sp>
      <p:sp>
        <p:nvSpPr>
          <p:cNvPr id="18" name="TextBox 17"/>
          <p:cNvSpPr txBox="1"/>
          <p:nvPr/>
        </p:nvSpPr>
        <p:spPr>
          <a:xfrm>
            <a:off x="7360920" y="3656647"/>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Where the time went</a:t>
            </a:r>
          </a:p>
        </p:txBody>
      </p:sp>
      <p:sp>
        <p:nvSpPr>
          <p:cNvPr id="19" name="TextBox 18"/>
          <p:cNvSpPr txBox="1"/>
          <p:nvPr/>
        </p:nvSpPr>
        <p:spPr>
          <a:xfrm>
            <a:off x="6830568" y="4115752"/>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Consolas"/>
              </a:rPr>
              <a:t>28–29</a:t>
            </a:r>
          </a:p>
        </p:txBody>
      </p:sp>
      <p:sp>
        <p:nvSpPr>
          <p:cNvPr id="20" name="TextBox 19"/>
          <p:cNvSpPr txBox="1"/>
          <p:nvPr/>
        </p:nvSpPr>
        <p:spPr>
          <a:xfrm>
            <a:off x="7360920" y="4115752"/>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What the numbers survived</a:t>
            </a:r>
          </a:p>
        </p:txBody>
      </p:sp>
      <p:sp>
        <p:nvSpPr>
          <p:cNvPr id="21" name="Rectangle 20"/>
          <p:cNvSpPr/>
          <p:nvPr/>
        </p:nvSpPr>
        <p:spPr>
          <a:xfrm>
            <a:off x="45720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5998"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3479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323593"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12391"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90119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8998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47878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67583"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056382"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34518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3397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2277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11574"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00371"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8917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7796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36676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55564"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944361"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16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2195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81075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99554"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88351"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77149"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65947"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54746"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43543"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3×3</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×9.1 at 3×3, sitting on the H2D floor</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25 / 36</a:t>
            </a:r>
          </a:p>
        </p:txBody>
      </p:sp>
      <p:pic>
        <p:nvPicPr>
          <p:cNvPr id="43" name="Picture 42" descr="fig_arc.png"/>
          <p:cNvPicPr>
            <a:picLocks noChangeAspect="1"/>
          </p:cNvPicPr>
          <p:nvPr/>
        </p:nvPicPr>
        <p:blipFill>
          <a:blip r:embed="rId2"/>
          <a:stretch>
            <a:fillRect/>
          </a:stretch>
        </p:blipFill>
        <p:spPr>
          <a:xfrm>
            <a:off x="1636776" y="1609344"/>
            <a:ext cx="8878824" cy="3552401"/>
          </a:xfrm>
          <a:prstGeom prst="rect">
            <a:avLst/>
          </a:prstGeom>
        </p:spPr>
      </p:pic>
      <p:sp>
        <p:nvSpPr>
          <p:cNvPr id="44" name="Rectangle 43"/>
          <p:cNvSpPr/>
          <p:nvPr/>
        </p:nvSpPr>
        <p:spPr>
          <a:xfrm>
            <a:off x="498348" y="5431536"/>
            <a:ext cx="5481828"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7200" y="5431536"/>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3232" y="5522976"/>
            <a:ext cx="5065776" cy="548640"/>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×9.1 over 24 CPU threads</a:t>
            </a:r>
            <a:r>
              <a:rPr sz="1300" b="0" i="0">
                <a:solidFill>
                  <a:srgbClr val="A5B2C4"/>
                </a:solidFill>
                <a:latin typeface="Segoe UI"/>
              </a:rPr>
              <a:t>, 14.8 s → 1.63 s for 100 000 frames, and </a:t>
            </a:r>
            <a:r>
              <a:rPr sz="1300" b="1" i="0">
                <a:solidFill>
                  <a:srgbClr val="E7EDF4"/>
                </a:solidFill>
                <a:latin typeface="Segoe UI"/>
              </a:rPr>
              <a:t>at the H2D floor</a:t>
            </a:r>
            <a:r>
              <a:rPr sz="1300" b="0" i="0">
                <a:solidFill>
                  <a:srgbClr val="A5B2C4"/>
                </a:solidFill>
                <a:latin typeface="Segoe UI"/>
              </a:rPr>
              <a:t>.</a:t>
            </a:r>
          </a:p>
        </p:txBody>
      </p:sp>
      <p:sp>
        <p:nvSpPr>
          <p:cNvPr id="47" name="Rectangle 46"/>
          <p:cNvSpPr/>
          <p:nvPr/>
        </p:nvSpPr>
        <p:spPr>
          <a:xfrm>
            <a:off x="6213348" y="5431536"/>
            <a:ext cx="5481828"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5431536"/>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28232" y="5522976"/>
            <a:ext cx="5065776" cy="548640"/>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Every step is </a:t>
            </a:r>
            <a:r>
              <a:rPr sz="1300" b="1" i="0">
                <a:solidFill>
                  <a:srgbClr val="E7EDF4"/>
                </a:solidFill>
                <a:latin typeface="Segoe UI"/>
              </a:rPr>
              <a:t>monotonic</a:t>
            </a:r>
            <a:r>
              <a:rPr sz="1300" b="0" i="0">
                <a:solidFill>
                  <a:srgbClr val="A5B2C4"/>
                </a:solidFill>
                <a:latin typeface="Segoe UI"/>
              </a:rPr>
              <a:t>, and correctness held constant throughout: </a:t>
            </a:r>
            <a:r>
              <a:rPr sz="1300" b="1" i="0">
                <a:solidFill>
                  <a:srgbClr val="E7EDF4"/>
                </a:solidFill>
                <a:latin typeface="Segoe UI"/>
              </a:rPr>
              <a:t>exact on the f64 pedestal</a:t>
            </a:r>
            <a:r>
              <a:rPr sz="1300" b="0" i="0">
                <a:solidFill>
                  <a:srgbClr val="A5B2C4"/>
                </a:solidFill>
                <a:latin typeface="Segoe UI"/>
              </a:rPr>
              <a:t>, </a:t>
            </a:r>
            <a:r>
              <a:rPr sz="1300" b="1" i="0">
                <a:solidFill>
                  <a:srgbClr val="E7EDF4"/>
                </a:solidFill>
                <a:latin typeface="Segoe UI"/>
              </a:rPr>
              <a:t>6 clusters in 23 M</a:t>
            </a:r>
            <a:r>
              <a:rPr sz="1300" b="0" i="0">
                <a:solidFill>
                  <a:srgbClr val="A5B2C4"/>
                </a:solidFill>
                <a:latin typeface="Segoe UI"/>
              </a:rPr>
              <a:t> on the shipped f32.</a:t>
            </a:r>
          </a:p>
        </p:txBody>
      </p:sp>
      <p:sp>
        <p:nvSpPr>
          <p:cNvPr id="50" name="TextBox 49"/>
          <p:cNvSpPr txBox="1"/>
          <p:nvPr/>
        </p:nvSpPr>
        <p:spPr>
          <a:xfrm>
            <a:off x="457200" y="6364224"/>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3×3 · nσ = 5 · 100 000 frames · batch 2 000 · 4 streams · warm = best of reps 1–4 · each step in its own process.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9×9</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×26.5 at 9×9, and opt7 hands the floor to D2H</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26 / 36</a:t>
            </a:r>
          </a:p>
        </p:txBody>
      </p:sp>
      <p:pic>
        <p:nvPicPr>
          <p:cNvPr id="43" name="Picture 42" descr="fig_arc_9x9.png"/>
          <p:cNvPicPr>
            <a:picLocks noChangeAspect="1"/>
          </p:cNvPicPr>
          <p:nvPr/>
        </p:nvPicPr>
        <p:blipFill>
          <a:blip r:embed="rId2"/>
          <a:stretch>
            <a:fillRect/>
          </a:stretch>
        </p:blipFill>
        <p:spPr>
          <a:xfrm>
            <a:off x="1636776" y="1609344"/>
            <a:ext cx="8878824" cy="3403688"/>
          </a:xfrm>
          <a:prstGeom prst="rect">
            <a:avLst/>
          </a:prstGeom>
        </p:spPr>
      </p:pic>
      <p:sp>
        <p:nvSpPr>
          <p:cNvPr id="44" name="Rectangle 43"/>
          <p:cNvSpPr/>
          <p:nvPr/>
        </p:nvSpPr>
        <p:spPr>
          <a:xfrm>
            <a:off x="498348" y="5431536"/>
            <a:ext cx="1120597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7200" y="5431536"/>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3232" y="5522976"/>
            <a:ext cx="10789920" cy="475488"/>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×26.5 over 32 CPU threads</a:t>
            </a:r>
            <a:r>
              <a:rPr sz="1300" b="0" i="0">
                <a:solidFill>
                  <a:srgbClr val="A5B2C4"/>
                </a:solidFill>
                <a:latin typeface="Segoe UI"/>
              </a:rPr>
              <a:t>; the kernel is the tallest bar for the whole f64 arm, and opt7's −40 % drops it </a:t>
            </a:r>
            <a:r>
              <a:rPr sz="1300" b="1" i="0">
                <a:solidFill>
                  <a:srgbClr val="E7EDF4"/>
                </a:solidFill>
                <a:latin typeface="Segoe UI"/>
              </a:rPr>
              <a:t>below D2H</a:t>
            </a:r>
            <a:r>
              <a:rPr sz="1300" b="0" i="0">
                <a:solidFill>
                  <a:srgbClr val="A5B2C4"/>
                </a:solidFill>
                <a:latin typeface="Segoe UI"/>
              </a:rPr>
              <a:t>.</a:t>
            </a:r>
          </a:p>
        </p:txBody>
      </p:sp>
      <p:sp>
        <p:nvSpPr>
          <p:cNvPr id="47" name="TextBox 46"/>
          <p:cNvSpPr txBox="1"/>
          <p:nvPr/>
        </p:nvSpPr>
        <p:spPr>
          <a:xfrm>
            <a:off x="457200" y="6272784"/>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9×9 · cap 1 700 · 20 000 frames · CPU baseline at 32 threads. opt1 and opt2 are 3×3-only. Why the two arms differ is in the notes.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THE TIME ACTUALLY WENT</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host bar dies first, then the floor itself drops</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27 / 36</a:t>
            </a:r>
          </a:p>
        </p:txBody>
      </p:sp>
      <p:pic>
        <p:nvPicPr>
          <p:cNvPr id="43" name="Picture 42" descr="fig_overhead.png"/>
          <p:cNvPicPr>
            <a:picLocks noChangeAspect="1"/>
          </p:cNvPicPr>
          <p:nvPr/>
        </p:nvPicPr>
        <p:blipFill>
          <a:blip r:embed="rId2"/>
          <a:stretch>
            <a:fillRect/>
          </a:stretch>
        </p:blipFill>
        <p:spPr>
          <a:xfrm>
            <a:off x="1636776" y="1664208"/>
            <a:ext cx="8878824" cy="2946627"/>
          </a:xfrm>
          <a:prstGeom prst="rect">
            <a:avLst/>
          </a:prstGeom>
        </p:spPr>
      </p:pic>
      <p:sp>
        <p:nvSpPr>
          <p:cNvPr id="44" name="Rectangle 43"/>
          <p:cNvSpPr/>
          <p:nvPr/>
        </p:nvSpPr>
        <p:spPr>
          <a:xfrm>
            <a:off x="498348" y="4654296"/>
            <a:ext cx="5481828"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7200" y="4654296"/>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3232" y="4745736"/>
            <a:ext cx="5065776" cy="603503"/>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Acts I and II never touch the arithmetic.</a:t>
            </a:r>
            <a:r>
              <a:rPr sz="1300" b="0" i="0">
                <a:solidFill>
                  <a:srgbClr val="A5B2C4"/>
                </a:solidFill>
                <a:latin typeface="Segoe UI"/>
              </a:rPr>
              <a:t> The GPU floor is a flat 16.2 µs at 3×3 / 30.0 µs at 9×9; what collapses is everything stacked on it.</a:t>
            </a:r>
          </a:p>
        </p:txBody>
      </p:sp>
      <p:sp>
        <p:nvSpPr>
          <p:cNvPr id="47" name="Rectangle 46"/>
          <p:cNvSpPr/>
          <p:nvPr/>
        </p:nvSpPr>
        <p:spPr>
          <a:xfrm>
            <a:off x="6213348" y="4654296"/>
            <a:ext cx="5481828"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4654296"/>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28232" y="4745736"/>
            <a:ext cx="5065776" cy="603503"/>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Act III is the only step that lowers the floor itself</a:t>
            </a:r>
            <a:r>
              <a:rPr sz="1300" b="0" i="0">
                <a:solidFill>
                  <a:srgbClr val="A5B2C4"/>
                </a:solidFill>
                <a:latin typeface="Segoe UI"/>
              </a:rPr>
              <a:t>, and it could not have been seen until the stack above it was gone.</a:t>
            </a:r>
          </a:p>
        </p:txBody>
      </p:sp>
      <p:sp>
        <p:nvSpPr>
          <p:cNvPr id="50" name="TextBox 49"/>
          <p:cNvSpPr txBox="1"/>
          <p:nvPr/>
        </p:nvSpPr>
        <p:spPr>
          <a:xfrm>
            <a:off x="457200" y="5705856"/>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Coloured = the GPU floor for that act's build. Grey = everything the host adds on top: +50 µs at opt3, nothing at opt6.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THE RESULT HEAP, NOT THE GPU</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Materialising clusters costs 2.6 M page faults</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28 / 36</a:t>
            </a:r>
          </a:p>
        </p:txBody>
      </p:sp>
      <p:sp>
        <p:nvSpPr>
          <p:cNvPr id="43" name="TextBox 42"/>
          <p:cNvSpPr txBox="1"/>
          <p:nvPr/>
        </p:nvSpPr>
        <p:spPr>
          <a:xfrm>
            <a:off x="457200" y="1664208"/>
            <a:ext cx="7461504"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Every run that keeps its results </a:t>
            </a:r>
            <a:r>
              <a:rPr sz="1500" b="1" i="0">
                <a:solidFill>
                  <a:srgbClr val="E7EDF4"/>
                </a:solidFill>
                <a:latin typeface="Segoe UI"/>
              </a:rPr>
              <a:t>allocates a fresh heap and touches it once</a:t>
            </a:r>
            <a:r>
              <a:rPr sz="1500" b="0" i="0">
                <a:solidFill>
                  <a:srgbClr val="A5B2C4"/>
                </a:solidFill>
                <a:latin typeface="Segoe UI"/>
              </a:rPr>
              <a:t>. Linux only finds physical memory on </a:t>
            </a:r>
            <a:r>
              <a:rPr sz="1500" b="1" i="0">
                <a:solidFill>
                  <a:srgbClr val="E7EDF4"/>
                </a:solidFill>
                <a:latin typeface="Segoe UI"/>
              </a:rPr>
              <a:t>first touch</a:t>
            </a:r>
            <a:r>
              <a:rPr sz="1500" b="0" i="0">
                <a:solidFill>
                  <a:srgbClr val="A5B2C4"/>
                </a:solidFill>
                <a:latin typeface="Segoe UI"/>
              </a:rPr>
              <a:t>, so that pass is where the OS works — </a:t>
            </a:r>
            <a:r>
              <a:rPr sz="1500" b="1" i="0">
                <a:solidFill>
                  <a:srgbClr val="E7EDF4"/>
                </a:solidFill>
                <a:latin typeface="Segoe UI"/>
              </a:rPr>
              <a:t>inside the timer</a:t>
            </a:r>
            <a:r>
              <a:rPr sz="1500" b="0" i="0">
                <a:solidFill>
                  <a:srgbClr val="A5B2C4"/>
                </a:solidFill>
                <a:latin typeface="Segoe UI"/>
              </a:rPr>
              <a:t>.</a:t>
            </a:r>
          </a:p>
        </p:txBody>
      </p:sp>
      <p:pic>
        <p:nvPicPr>
          <p:cNvPr id="44" name="Picture 43" descr="fig_pagefault.png"/>
          <p:cNvPicPr>
            <a:picLocks noChangeAspect="1"/>
          </p:cNvPicPr>
          <p:nvPr/>
        </p:nvPicPr>
        <p:blipFill>
          <a:blip r:embed="rId2"/>
          <a:stretch>
            <a:fillRect/>
          </a:stretch>
        </p:blipFill>
        <p:spPr>
          <a:xfrm>
            <a:off x="457200" y="2569464"/>
            <a:ext cx="7461504" cy="1950251"/>
          </a:xfrm>
          <a:prstGeom prst="rect">
            <a:avLst/>
          </a:prstGeom>
        </p:spPr>
      </p:pic>
      <p:sp>
        <p:nvSpPr>
          <p:cNvPr id="45" name="Rounded Rectangle 44"/>
          <p:cNvSpPr/>
          <p:nvPr/>
        </p:nvSpPr>
        <p:spPr>
          <a:xfrm>
            <a:off x="457200" y="4517136"/>
            <a:ext cx="7461504" cy="116476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1792" y="4626864"/>
            <a:ext cx="7132320"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THE PROTOCOL · BRACKET EVERY TIMED CELL</a:t>
            </a:r>
          </a:p>
        </p:txBody>
      </p:sp>
      <p:sp>
        <p:nvSpPr>
          <p:cNvPr id="47" name="TextBox 46"/>
          <p:cNvSpPr txBox="1"/>
          <p:nvPr/>
        </p:nvSpPr>
        <p:spPr>
          <a:xfrm>
            <a:off x="621792" y="4846320"/>
            <a:ext cx="7132320" cy="945306"/>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7C8A9E"/>
                </a:solidFill>
                <a:latin typeface="Consolas"/>
              </a:rPr>
              <a:t># bracket every timed cell:</a:t>
            </a:r>
          </a:p>
          <a:p>
            <a:pPr>
              <a:lnSpc>
                <a:spcPct val="112000"/>
              </a:lnSpc>
              <a:spcBef>
                <a:spcPts val="0"/>
              </a:spcBef>
              <a:spcAft>
                <a:spcPts val="0"/>
              </a:spcAft>
            </a:pPr>
            <a:r>
              <a:rPr sz="1050" b="0" i="0">
                <a:solidFill>
                  <a:srgbClr val="A5B2C4"/>
                </a:solidFill>
                <a:latin typeface="Consolas"/>
              </a:rPr>
              <a:t>mf0 = resource.getrusage(resource.RUSAGE_SELF).ru_minflt</a:t>
            </a:r>
          </a:p>
          <a:p>
            <a:pPr>
              <a:lnSpc>
                <a:spcPct val="112000"/>
              </a:lnSpc>
              <a:spcBef>
                <a:spcPts val="0"/>
              </a:spcBef>
              <a:spcAft>
                <a:spcPts val="0"/>
              </a:spcAft>
            </a:pPr>
            <a:r>
              <a:rPr sz="1050" b="0" i="0">
                <a:solidFill>
                  <a:srgbClr val="A5B2C4"/>
                </a:solidFill>
                <a:latin typeface="Consolas"/>
              </a:rPr>
              <a:t>...   t = time.perf_counter() - t0   ...</a:t>
            </a:r>
          </a:p>
          <a:p>
            <a:pPr>
              <a:lnSpc>
                <a:spcPct val="112000"/>
              </a:lnSpc>
              <a:spcBef>
                <a:spcPts val="0"/>
              </a:spcBef>
              <a:spcAft>
                <a:spcPts val="0"/>
              </a:spcAft>
            </a:pPr>
            <a:r>
              <a:rPr sz="1050" b="0" i="0">
                <a:solidFill>
                  <a:srgbClr val="A5B2C4"/>
                </a:solidFill>
                <a:latin typeface="Consolas"/>
              </a:rPr>
              <a:t>print(f'minor faults: {mf1-mf0:,}')   # quote the run where this plateaus</a:t>
            </a:r>
          </a:p>
        </p:txBody>
      </p:sp>
      <p:sp>
        <p:nvSpPr>
          <p:cNvPr id="48" name="Rectangle 47"/>
          <p:cNvSpPr/>
          <p:nvPr/>
        </p:nvSpPr>
        <p:spPr>
          <a:xfrm>
            <a:off x="498348" y="5870448"/>
            <a:ext cx="742035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5870448"/>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13232" y="5961888"/>
            <a:ext cx="7004304" cy="384048"/>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Re-run until minor faults plateau (&lt; 200 k), and quote that run.</a:t>
            </a:r>
          </a:p>
        </p:txBody>
      </p:sp>
      <p:sp>
        <p:nvSpPr>
          <p:cNvPr id="51" name="Rectangle 50"/>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85632" y="182880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ONE 100 000-FRAME PASS · 3×3</a:t>
            </a:r>
          </a:p>
        </p:txBody>
      </p:sp>
      <p:sp>
        <p:nvSpPr>
          <p:cNvPr id="53" name="TextBox 52"/>
          <p:cNvSpPr txBox="1"/>
          <p:nvPr/>
        </p:nvSpPr>
        <p:spPr>
          <a:xfrm>
            <a:off x="8485632" y="223113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PAGES FAULTED IN</a:t>
            </a:r>
          </a:p>
        </p:txBody>
      </p:sp>
      <p:sp>
        <p:nvSpPr>
          <p:cNvPr id="54" name="TextBox 53"/>
          <p:cNvSpPr txBox="1"/>
          <p:nvPr/>
        </p:nvSpPr>
        <p:spPr>
          <a:xfrm>
            <a:off x="8485632" y="2450591"/>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~2.6 M</a:t>
            </a:r>
          </a:p>
        </p:txBody>
      </p:sp>
      <p:sp>
        <p:nvSpPr>
          <p:cNvPr id="55" name="TextBox 54"/>
          <p:cNvSpPr txBox="1"/>
          <p:nvPr/>
        </p:nvSpPr>
        <p:spPr>
          <a:xfrm>
            <a:off x="8485632" y="3163824"/>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COST INSIDE THE TIMER</a:t>
            </a:r>
          </a:p>
        </p:txBody>
      </p:sp>
      <p:sp>
        <p:nvSpPr>
          <p:cNvPr id="56" name="TextBox 55"/>
          <p:cNvSpPr txBox="1"/>
          <p:nvPr/>
        </p:nvSpPr>
        <p:spPr>
          <a:xfrm>
            <a:off x="8485632" y="3383280"/>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up to 4 s</a:t>
            </a:r>
          </a:p>
        </p:txBody>
      </p:sp>
      <p:sp>
        <p:nvSpPr>
          <p:cNvPr id="57" name="TextBox 56"/>
          <p:cNvSpPr txBox="1"/>
          <p:nvPr/>
        </p:nvSpPr>
        <p:spPr>
          <a:xfrm>
            <a:off x="8485632" y="4169664"/>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CLUSTERS MATERIALISED</a:t>
            </a:r>
          </a:p>
        </p:txBody>
      </p:sp>
      <p:sp>
        <p:nvSpPr>
          <p:cNvPr id="58" name="TextBox 57"/>
          <p:cNvSpPr txBox="1"/>
          <p:nvPr/>
        </p:nvSpPr>
        <p:spPr>
          <a:xfrm>
            <a:off x="8485632" y="4389120"/>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~10 GB</a:t>
            </a:r>
          </a:p>
        </p:txBody>
      </p:sp>
      <p:sp>
        <p:nvSpPr>
          <p:cNvPr id="59" name="TextBox 58"/>
          <p:cNvSpPr txBox="1"/>
          <p:nvPr/>
        </p:nvSpPr>
        <p:spPr>
          <a:xfrm>
            <a:off x="8485632" y="4828032"/>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COST PER FAULT, FITTED</a:t>
            </a:r>
          </a:p>
        </p:txBody>
      </p:sp>
      <p:sp>
        <p:nvSpPr>
          <p:cNvPr id="60" name="TextBox 59"/>
          <p:cNvSpPr txBox="1"/>
          <p:nvPr/>
        </p:nvSpPr>
        <p:spPr>
          <a:xfrm>
            <a:off x="8485632" y="5047488"/>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0.68 µs</a:t>
            </a:r>
          </a:p>
        </p:txBody>
      </p:sp>
      <p:sp>
        <p:nvSpPr>
          <p:cNvPr id="61" name="TextBox 60"/>
          <p:cNvSpPr txBox="1"/>
          <p:nvPr/>
        </p:nvSpPr>
        <p:spPr>
          <a:xfrm>
            <a:off x="8485632" y="5614416"/>
            <a:ext cx="3310128" cy="82296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A5B2C4"/>
                </a:solidFill>
                <a:latin typeface="Segoe UI"/>
              </a:rPr>
              <a:t>Zero major faults all campaign. Copying faster cannot avoid this; not allocating can. That is opt6.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WHAT A USER ACTUALLY GETS</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first run loses a third of its throughput to page faults</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29 / 36</a:t>
            </a:r>
          </a:p>
        </p:txBody>
      </p:sp>
      <p:pic>
        <p:nvPicPr>
          <p:cNvPr id="43" name="Picture 42" descr="fig_first_run.png"/>
          <p:cNvPicPr>
            <a:picLocks noChangeAspect="1"/>
          </p:cNvPicPr>
          <p:nvPr/>
        </p:nvPicPr>
        <p:blipFill>
          <a:blip r:embed="rId2"/>
          <a:stretch>
            <a:fillRect/>
          </a:stretch>
        </p:blipFill>
        <p:spPr>
          <a:xfrm>
            <a:off x="1435608" y="1572768"/>
            <a:ext cx="9326880" cy="3759672"/>
          </a:xfrm>
          <a:prstGeom prst="rect">
            <a:avLst/>
          </a:prstGeom>
        </p:spPr>
      </p:pic>
      <p:sp>
        <p:nvSpPr>
          <p:cNvPr id="44" name="Rectangle 43"/>
          <p:cNvSpPr/>
          <p:nvPr/>
        </p:nvSpPr>
        <p:spPr>
          <a:xfrm>
            <a:off x="498348" y="5449824"/>
            <a:ext cx="5481828"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7200" y="5449824"/>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3232" y="5541264"/>
            <a:ext cx="5065776" cy="731520"/>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Everything that materialises clusters loses a third of its throughput on the first run</a:t>
            </a:r>
            <a:r>
              <a:rPr sz="1300" b="0" i="0">
                <a:solidFill>
                  <a:srgbClr val="A5B2C4"/>
                </a:solidFill>
                <a:latin typeface="Segoe UI"/>
              </a:rPr>
              <a:t>: +7 to +20 µs per frame.</a:t>
            </a:r>
          </a:p>
        </p:txBody>
      </p:sp>
      <p:sp>
        <p:nvSpPr>
          <p:cNvPr id="47" name="Rectangle 46"/>
          <p:cNvSpPr/>
          <p:nvPr/>
        </p:nvSpPr>
        <p:spPr>
          <a:xfrm>
            <a:off x="6213348" y="5449824"/>
            <a:ext cx="5481828"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5449824"/>
            <a:ext cx="41148" cy="9144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28232" y="5541264"/>
            <a:ext cx="5065776" cy="731520"/>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Only the two ends escape, for opposite reasons.</a:t>
            </a:r>
            <a:r>
              <a:rPr sz="1300" b="0" i="0">
                <a:solidFill>
                  <a:srgbClr val="A5B2C4"/>
                </a:solidFill>
                <a:latin typeface="Segoe UI"/>
              </a:rPr>
              <a:t> opt1 discards each frame; opt6 never grows a heap, and reaches </a:t>
            </a:r>
            <a:r>
              <a:rPr sz="1300" b="1" i="0">
                <a:solidFill>
                  <a:srgbClr val="E7EDF4"/>
                </a:solidFill>
                <a:latin typeface="Segoe UI"/>
              </a:rPr>
              <a:t>98 % of its peak on a cold process</a:t>
            </a:r>
            <a:r>
              <a:rPr sz="1300" b="0" i="0">
                <a:solidFill>
                  <a:srgbClr val="A5B2C4"/>
                </a:solidFill>
                <a:latin typeface="Segoe UI"/>
              </a:rPr>
              <a:t>.</a:t>
            </a:r>
          </a:p>
        </p:txBody>
      </p:sp>
      <p:sp>
        <p:nvSpPr>
          <p:cNvPr id="50" name="TextBox 49"/>
          <p:cNvSpPr txBox="1"/>
          <p:nvPr/>
        </p:nvSpPr>
        <p:spPr>
          <a:xfrm>
            <a:off x="457200" y="6455664"/>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Single pass, one process, every ClusterVector retained · f32 · 100 000 frames. Repeat the run and the amber bars climb onto the blue ones.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389888"/>
            <a:ext cx="5477256" cy="274320"/>
          </a:xfrm>
          <a:prstGeom prst="rect">
            <a:avLst/>
          </a:prstGeom>
          <a:noFill/>
        </p:spPr>
        <p:txBody>
          <a:bodyPr wrap="square" lIns="0" rIns="0" tIns="0" bIns="0" anchor="t">
            <a:spAutoFit/>
          </a:bodyPr>
          <a:lstStyle/>
          <a:p>
            <a:pPr>
              <a:spcBef>
                <a:spcPts val="0"/>
              </a:spcBef>
              <a:spcAft>
                <a:spcPts val="0"/>
              </a:spcAft>
            </a:pPr>
            <a:r>
              <a:rPr sz="1050" b="1" i="0" spc="180">
                <a:solidFill>
                  <a:srgbClr val="6B7A90"/>
                </a:solidFill>
                <a:latin typeface="Segoe UI"/>
              </a:rPr>
              <a:t>VALIDATION · DOES IT FIND THE SAME PHOTONS</a:t>
            </a:r>
          </a:p>
        </p:txBody>
      </p:sp>
      <p:sp>
        <p:nvSpPr>
          <p:cNvPr id="5" name="TextBox 4"/>
          <p:cNvSpPr txBox="1"/>
          <p:nvPr/>
        </p:nvSpPr>
        <p:spPr>
          <a:xfrm>
            <a:off x="740664" y="1737360"/>
            <a:ext cx="5669280" cy="1234440"/>
          </a:xfrm>
          <a:prstGeom prst="rect">
            <a:avLst/>
          </a:prstGeom>
          <a:noFill/>
        </p:spPr>
        <p:txBody>
          <a:bodyPr wrap="square" lIns="0" rIns="0" tIns="0" bIns="0" anchor="t">
            <a:spAutoFit/>
          </a:bodyPr>
          <a:lstStyle/>
          <a:p>
            <a:pPr>
              <a:lnSpc>
                <a:spcPct val="103000"/>
              </a:lnSpc>
              <a:spcBef>
                <a:spcPts val="0"/>
              </a:spcBef>
              <a:spcAft>
                <a:spcPts val="0"/>
              </a:spcAft>
            </a:pPr>
            <a:r>
              <a:rPr sz="2400" b="1" i="0">
                <a:solidFill>
                  <a:srgbClr val="E7EDF4"/>
                </a:solidFill>
                <a:latin typeface="Segoe UI"/>
              </a:rPr>
              <a:t>Every number so far assumed the answers are identical</a:t>
            </a:r>
          </a:p>
        </p:txBody>
      </p:sp>
      <p:sp>
        <p:nvSpPr>
          <p:cNvPr id="6" name="Rectangle 5"/>
          <p:cNvSpPr/>
          <p:nvPr/>
        </p:nvSpPr>
        <p:spPr>
          <a:xfrm>
            <a:off x="740664" y="3127248"/>
            <a:ext cx="141732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3383280"/>
            <a:ext cx="5385816" cy="1463040"/>
          </a:xfrm>
          <a:prstGeom prst="rect">
            <a:avLst/>
          </a:prstGeom>
          <a:noFill/>
        </p:spPr>
        <p:txBody>
          <a:bodyPr wrap="square" lIns="0" rIns="0" tIns="0" bIns="0" anchor="t">
            <a:spAutoFit/>
          </a:bodyPr>
          <a:lstStyle/>
          <a:p>
            <a:pPr>
              <a:lnSpc>
                <a:spcPct val="135000"/>
              </a:lnSpc>
              <a:spcBef>
                <a:spcPts val="0"/>
              </a:spcBef>
              <a:spcAft>
                <a:spcPts val="0"/>
              </a:spcAft>
            </a:pPr>
            <a:r>
              <a:rPr sz="1600" b="0" i="0">
                <a:solidFill>
                  <a:srgbClr val="A5B2C4"/>
                </a:solidFill>
                <a:latin typeface="Segoe UI"/>
              </a:rPr>
              <a:t>Whether the CUDA finder returns the same clusters as the CPU.</a:t>
            </a:r>
          </a:p>
        </p:txBody>
      </p:sp>
      <p:sp>
        <p:nvSpPr>
          <p:cNvPr id="8" name="Rectangle 7"/>
          <p:cNvSpPr/>
          <p:nvPr/>
        </p:nvSpPr>
        <p:spPr>
          <a:xfrm>
            <a:off x="740664" y="5074920"/>
            <a:ext cx="5385816"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5212080"/>
            <a:ext cx="4910328" cy="219456"/>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ESTABLISHED</a:t>
            </a:r>
          </a:p>
        </p:txBody>
      </p:sp>
      <p:sp>
        <p:nvSpPr>
          <p:cNvPr id="11" name="TextBox 10"/>
          <p:cNvSpPr txBox="1"/>
          <p:nvPr/>
        </p:nvSpPr>
        <p:spPr>
          <a:xfrm>
            <a:off x="1024128" y="5413248"/>
            <a:ext cx="4910328"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×9.1 and ×26.5</a:t>
            </a:r>
          </a:p>
        </p:txBody>
      </p:sp>
      <p:sp>
        <p:nvSpPr>
          <p:cNvPr id="12" name="TextBox 11"/>
          <p:cNvSpPr txBox="1"/>
          <p:nvPr/>
        </p:nvSpPr>
        <p:spPr>
          <a:xfrm>
            <a:off x="1024128" y="5833872"/>
            <a:ext cx="4910328" cy="237744"/>
          </a:xfrm>
          <a:prstGeom prst="rect">
            <a:avLst/>
          </a:prstGeom>
          <a:noFill/>
        </p:spPr>
        <p:txBody>
          <a:bodyPr wrap="square" lIns="0" rIns="0" tIns="0" bIns="0" anchor="t">
            <a:spAutoFit/>
          </a:bodyPr>
          <a:lstStyle/>
          <a:p>
            <a:pPr>
              <a:spcBef>
                <a:spcPts val="0"/>
              </a:spcBef>
              <a:spcAft>
                <a:spcPts val="0"/>
              </a:spcAft>
            </a:pPr>
            <a:r>
              <a:rPr sz="1100" b="0" i="0">
                <a:solidFill>
                  <a:srgbClr val="6B7A90"/>
                </a:solidFill>
                <a:latin typeface="Segoe UI"/>
              </a:rPr>
              <a:t>on the hardware floor at both cluster sizes, if the physics holds</a:t>
            </a:r>
          </a:p>
        </p:txBody>
      </p:sp>
      <p:sp>
        <p:nvSpPr>
          <p:cNvPr id="13" name="Rectangle 12"/>
          <p:cNvSpPr/>
          <p:nvPr/>
        </p:nvSpPr>
        <p:spPr>
          <a:xfrm>
            <a:off x="6556248"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0568" y="2547366"/>
            <a:ext cx="4727448" cy="237744"/>
          </a:xfrm>
          <a:prstGeom prst="rect">
            <a:avLst/>
          </a:prstGeom>
          <a:noFill/>
        </p:spPr>
        <p:txBody>
          <a:bodyPr wrap="square" lIns="0" rIns="0" tIns="0" bIns="0" anchor="t">
            <a:spAutoFit/>
          </a:bodyPr>
          <a:lstStyle/>
          <a:p>
            <a:pPr>
              <a:spcBef>
                <a:spcPts val="0"/>
              </a:spcBef>
              <a:spcAft>
                <a:spcPts val="0"/>
              </a:spcAft>
            </a:pPr>
            <a:r>
              <a:rPr sz="1000" b="1" i="0" spc="160">
                <a:solidFill>
                  <a:srgbClr val="6B7A90"/>
                </a:solidFill>
                <a:latin typeface="Segoe UI"/>
              </a:rPr>
              <a:t>COMING UP</a:t>
            </a:r>
          </a:p>
        </p:txBody>
      </p:sp>
      <p:sp>
        <p:nvSpPr>
          <p:cNvPr id="15" name="TextBox 14"/>
          <p:cNvSpPr txBox="1"/>
          <p:nvPr/>
        </p:nvSpPr>
        <p:spPr>
          <a:xfrm>
            <a:off x="6830568" y="2967990"/>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Consolas"/>
              </a:rPr>
              <a:t>30–31</a:t>
            </a:r>
          </a:p>
        </p:txBody>
      </p:sp>
      <p:sp>
        <p:nvSpPr>
          <p:cNvPr id="16" name="TextBox 15"/>
          <p:cNvSpPr txBox="1"/>
          <p:nvPr/>
        </p:nvSpPr>
        <p:spPr>
          <a:xfrm>
            <a:off x="7360920" y="2967990"/>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The fair comparison</a:t>
            </a:r>
          </a:p>
        </p:txBody>
      </p:sp>
      <p:sp>
        <p:nvSpPr>
          <p:cNvPr id="17" name="TextBox 16"/>
          <p:cNvSpPr txBox="1"/>
          <p:nvPr/>
        </p:nvSpPr>
        <p:spPr>
          <a:xfrm>
            <a:off x="6830568" y="3427095"/>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Consolas"/>
              </a:rPr>
              <a:t>32–33</a:t>
            </a:r>
          </a:p>
        </p:txBody>
      </p:sp>
      <p:sp>
        <p:nvSpPr>
          <p:cNvPr id="18" name="TextBox 17"/>
          <p:cNvSpPr txBox="1"/>
          <p:nvPr/>
        </p:nvSpPr>
        <p:spPr>
          <a:xfrm>
            <a:off x="7360920" y="3427095"/>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The residual, dissected</a:t>
            </a:r>
          </a:p>
        </p:txBody>
      </p:sp>
      <p:sp>
        <p:nvSpPr>
          <p:cNvPr id="19" name="TextBox 18"/>
          <p:cNvSpPr txBox="1"/>
          <p:nvPr/>
        </p:nvSpPr>
        <p:spPr>
          <a:xfrm>
            <a:off x="6830568" y="3886200"/>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Consolas"/>
              </a:rPr>
              <a:t>34–35</a:t>
            </a:r>
          </a:p>
        </p:txBody>
      </p:sp>
      <p:sp>
        <p:nvSpPr>
          <p:cNvPr id="20" name="TextBox 19"/>
          <p:cNvSpPr txBox="1"/>
          <p:nvPr/>
        </p:nvSpPr>
        <p:spPr>
          <a:xfrm>
            <a:off x="7360920" y="3886200"/>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For users</a:t>
            </a:r>
          </a:p>
        </p:txBody>
      </p:sp>
      <p:sp>
        <p:nvSpPr>
          <p:cNvPr id="21" name="TextBox 20"/>
          <p:cNvSpPr txBox="1"/>
          <p:nvPr/>
        </p:nvSpPr>
        <p:spPr>
          <a:xfrm>
            <a:off x="6830568" y="4345305"/>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Consolas"/>
              </a:rPr>
              <a:t>36</a:t>
            </a:r>
          </a:p>
        </p:txBody>
      </p:sp>
      <p:sp>
        <p:nvSpPr>
          <p:cNvPr id="22" name="TextBox 21"/>
          <p:cNvSpPr txBox="1"/>
          <p:nvPr/>
        </p:nvSpPr>
        <p:spPr>
          <a:xfrm>
            <a:off x="7360920" y="4345305"/>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What is next</a:t>
            </a:r>
          </a:p>
        </p:txBody>
      </p:sp>
      <p:sp>
        <p:nvSpPr>
          <p:cNvPr id="23" name="Rectangle 22"/>
          <p:cNvSpPr/>
          <p:nvPr/>
        </p:nvSpPr>
        <p:spPr>
          <a:xfrm>
            <a:off x="45720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5998"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3479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323593"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12391"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90119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18998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47878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67583"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056382"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34518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3397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92277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11574"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00371"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78917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7796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6676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655564"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944361"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3160"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2195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810755"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99554"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88351"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77149"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965947"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254746"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543543" y="6656832"/>
            <a:ext cx="259918"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832342"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121140"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409937"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698735"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987534"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276331"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0565129" y="6656832"/>
            <a:ext cx="259918"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WHY A CPU TWIN WAS NEEDED</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and CUDA update the pedestal at different moments</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30 / 36</a:t>
            </a:r>
          </a:p>
        </p:txBody>
      </p:sp>
      <p:pic>
        <p:nvPicPr>
          <p:cNvPr id="43" name="Picture 42" descr="fig_pedtiming.png"/>
          <p:cNvPicPr>
            <a:picLocks noChangeAspect="1"/>
          </p:cNvPicPr>
          <p:nvPr/>
        </p:nvPicPr>
        <p:blipFill>
          <a:blip r:embed="rId2"/>
          <a:stretch>
            <a:fillRect/>
          </a:stretch>
        </p:blipFill>
        <p:spPr>
          <a:xfrm>
            <a:off x="320040" y="1664208"/>
            <a:ext cx="11530584" cy="3711782"/>
          </a:xfrm>
          <a:prstGeom prst="rect">
            <a:avLst/>
          </a:prstGeom>
        </p:spPr>
      </p:pic>
      <p:sp>
        <p:nvSpPr>
          <p:cNvPr id="44" name="Rectangle 43"/>
          <p:cNvSpPr/>
          <p:nvPr/>
        </p:nvSpPr>
        <p:spPr>
          <a:xfrm>
            <a:off x="498348" y="5468112"/>
            <a:ext cx="5481828"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7200" y="5468112"/>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3232" y="5559552"/>
            <a:ext cx="5065776" cy="603503"/>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The CPU finder updates the pedestal </a:t>
            </a:r>
            <a:r>
              <a:rPr sz="1300" b="1" i="0">
                <a:solidFill>
                  <a:srgbClr val="E7EDF4"/>
                </a:solidFill>
                <a:latin typeface="Segoe UI"/>
              </a:rPr>
              <a:t>as the raster reaches each pixel</a:t>
            </a:r>
            <a:r>
              <a:rPr sz="1300" b="0" i="0">
                <a:solidFill>
                  <a:srgbClr val="A5B2C4"/>
                </a:solidFill>
                <a:latin typeface="Segoe UI"/>
              </a:rPr>
              <a:t>. 160 000 CUDA threads read it at once, so the update is </a:t>
            </a:r>
            <a:r>
              <a:rPr sz="1300" b="1" i="0">
                <a:solidFill>
                  <a:srgbClr val="E7EDF4"/>
                </a:solidFill>
                <a:latin typeface="Segoe UI"/>
              </a:rPr>
              <a:t>applied at the frame boundary</a:t>
            </a:r>
            <a:r>
              <a:rPr sz="1300" b="0" i="0">
                <a:solidFill>
                  <a:srgbClr val="A5B2C4"/>
                </a:solidFill>
                <a:latin typeface="Segoe UI"/>
              </a:rPr>
              <a:t>.</a:t>
            </a:r>
          </a:p>
        </p:txBody>
      </p:sp>
      <p:sp>
        <p:nvSpPr>
          <p:cNvPr id="47" name="Rectangle 46"/>
          <p:cNvSpPr/>
          <p:nvPr/>
        </p:nvSpPr>
        <p:spPr>
          <a:xfrm>
            <a:off x="6213348" y="5468112"/>
            <a:ext cx="5481828"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5468112"/>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28232" y="5559552"/>
            <a:ext cx="5065776" cy="603503"/>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A straight CPU↔CUDA comparison therefore moves </a:t>
            </a:r>
            <a:r>
              <a:rPr sz="1300" b="1" i="0">
                <a:solidFill>
                  <a:srgbClr val="E7EDF4"/>
                </a:solidFill>
                <a:latin typeface="Segoe UI"/>
              </a:rPr>
              <a:t>two</a:t>
            </a:r>
            <a:r>
              <a:rPr sz="1300" b="0" i="0">
                <a:solidFill>
                  <a:srgbClr val="A5B2C4"/>
                </a:solidFill>
                <a:latin typeface="Segoe UI"/>
              </a:rPr>
              <a:t> things at once. </a:t>
            </a:r>
            <a:r>
              <a:rPr sz="1300" b="1" i="0">
                <a:solidFill>
                  <a:srgbClr val="E7EDF4"/>
                </a:solidFill>
                <a:latin typeface="Segoe UI"/>
              </a:rPr>
              <a:t>ClusterFinderFrozen</a:t>
            </a:r>
            <a:r>
              <a:rPr sz="1300" b="0" i="0">
                <a:solidFill>
                  <a:srgbClr val="A5B2C4"/>
                </a:solidFill>
                <a:latin typeface="Segoe UI"/>
              </a:rPr>
              <a:t> moves only the update: same arithmetic, same gates, same scan.</a:t>
            </a:r>
          </a:p>
        </p:txBody>
      </p:sp>
      <p:sp>
        <p:nvSpPr>
          <p:cNvPr id="50" name="TextBox 49"/>
          <p:cNvSpPr txBox="1"/>
          <p:nvPr/>
        </p:nvSpPr>
        <p:spPr>
          <a:xfrm>
            <a:off x="457200" y="6419088"/>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Frozen is a diagnostic twin, not a product. Every finder trains on the same 1 000 pedestal frames and runs the same 10 000 data frames.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ISOLATING ONE VARIABLE AT A TIME</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and its CPU twin agree exactly: 0 in 23 million</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31 / 36</a:t>
            </a:r>
          </a:p>
        </p:txBody>
      </p:sp>
      <p:sp>
        <p:nvSpPr>
          <p:cNvPr id="43" name="TextBox 42"/>
          <p:cNvSpPr txBox="1"/>
          <p:nvPr/>
        </p:nvSpPr>
        <p:spPr>
          <a:xfrm>
            <a:off x="457200" y="1664208"/>
            <a:ext cx="1133856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1" i="0">
                <a:solidFill>
                  <a:srgbClr val="E7EDF4"/>
                </a:solidFill>
                <a:latin typeface="Segoe UI"/>
              </a:rPr>
              <a:t>ClusterFinderFrozen</a:t>
            </a:r>
            <a:r>
              <a:rPr sz="1500" b="0" i="0">
                <a:solidFill>
                  <a:srgbClr val="A5B2C4"/>
                </a:solidFill>
                <a:latin typeface="Segoe UI"/>
              </a:rPr>
              <a:t> makes byte-for-byte the same decisions as ClusterFinder and differs in exactly one thing: </a:t>
            </a:r>
            <a:r>
              <a:rPr sz="1500" b="1" i="0">
                <a:solidFill>
                  <a:srgbClr val="E7EDF4"/>
                </a:solidFill>
                <a:latin typeface="Segoe UI"/>
              </a:rPr>
              <a:t>when</a:t>
            </a:r>
            <a:r>
              <a:rPr sz="1500" b="0" i="0">
                <a:solidFill>
                  <a:srgbClr val="A5B2C4"/>
                </a:solidFill>
                <a:latin typeface="Segoe UI"/>
              </a:rPr>
              <a:t> the pedestal is updated. Frozen per frame, pushed at frame end. That is the CUDA model, so comparing against it isolates everything else the port changes.</a:t>
            </a:r>
          </a:p>
        </p:txBody>
      </p:sp>
      <p:sp>
        <p:nvSpPr>
          <p:cNvPr id="44" name="Rectangle 43"/>
          <p:cNvSpPr/>
          <p:nvPr/>
        </p:nvSpPr>
        <p:spPr>
          <a:xfrm>
            <a:off x="457200" y="2569464"/>
            <a:ext cx="1133856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03504" y="2642616"/>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COMPARISON</a:t>
            </a:r>
          </a:p>
        </p:txBody>
      </p:sp>
      <p:sp>
        <p:nvSpPr>
          <p:cNvPr id="46" name="TextBox 45"/>
          <p:cNvSpPr txBox="1"/>
          <p:nvPr/>
        </p:nvSpPr>
        <p:spPr>
          <a:xfrm>
            <a:off x="3778300" y="2642616"/>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THE ONE THING THAT DIFFERS</a:t>
            </a:r>
          </a:p>
        </p:txBody>
      </p:sp>
      <p:sp>
        <p:nvSpPr>
          <p:cNvPr id="47" name="TextBox 46"/>
          <p:cNvSpPr txBox="1"/>
          <p:nvPr/>
        </p:nvSpPr>
        <p:spPr>
          <a:xfrm>
            <a:off x="8313724" y="2642616"/>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A-ONLY / B-ONLY</a:t>
            </a:r>
          </a:p>
        </p:txBody>
      </p:sp>
      <p:sp>
        <p:nvSpPr>
          <p:cNvPr id="48" name="TextBox 47"/>
          <p:cNvSpPr txBox="1"/>
          <p:nvPr/>
        </p:nvSpPr>
        <p:spPr>
          <a:xfrm>
            <a:off x="10241280" y="2642616"/>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 OF CLUSTERS</a:t>
            </a:r>
          </a:p>
        </p:txBody>
      </p:sp>
      <p:sp>
        <p:nvSpPr>
          <p:cNvPr id="49" name="Rectangle 48"/>
          <p:cNvSpPr/>
          <p:nvPr/>
        </p:nvSpPr>
        <p:spPr>
          <a:xfrm>
            <a:off x="457200" y="2916936"/>
            <a:ext cx="1133856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4" y="3008376"/>
            <a:ext cx="2955340" cy="54864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serial CPU  vs  frozen CPU</a:t>
            </a:r>
          </a:p>
        </p:txBody>
      </p:sp>
      <p:sp>
        <p:nvSpPr>
          <p:cNvPr id="51" name="TextBox 50"/>
          <p:cNvSpPr txBox="1"/>
          <p:nvPr/>
        </p:nvSpPr>
        <p:spPr>
          <a:xfrm>
            <a:off x="3778300" y="3008376"/>
            <a:ext cx="4315968" cy="54864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update timing alone: </a:t>
            </a:r>
            <a:r>
              <a:rPr sz="1150" b="1" i="0">
                <a:solidFill>
                  <a:srgbClr val="E8B25C"/>
                </a:solidFill>
                <a:latin typeface="Segoe UI"/>
              </a:rPr>
              <a:t>a CPU-only effect</a:t>
            </a:r>
          </a:p>
        </p:txBody>
      </p:sp>
      <p:sp>
        <p:nvSpPr>
          <p:cNvPr id="52" name="TextBox 51"/>
          <p:cNvSpPr txBox="1"/>
          <p:nvPr/>
        </p:nvSpPr>
        <p:spPr>
          <a:xfrm>
            <a:off x="8313724" y="3008376"/>
            <a:ext cx="1708099" cy="54864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8 / 11</a:t>
            </a:r>
          </a:p>
        </p:txBody>
      </p:sp>
      <p:sp>
        <p:nvSpPr>
          <p:cNvPr id="53" name="TextBox 52"/>
          <p:cNvSpPr txBox="1"/>
          <p:nvPr/>
        </p:nvSpPr>
        <p:spPr>
          <a:xfrm>
            <a:off x="10241280" y="3008376"/>
            <a:ext cx="1481328" cy="54864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0.000082 %</a:t>
            </a:r>
          </a:p>
        </p:txBody>
      </p:sp>
      <p:sp>
        <p:nvSpPr>
          <p:cNvPr id="54" name="TextBox 53"/>
          <p:cNvSpPr txBox="1"/>
          <p:nvPr/>
        </p:nvSpPr>
        <p:spPr>
          <a:xfrm>
            <a:off x="603504" y="3593592"/>
            <a:ext cx="2955340" cy="54864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serial CPU  vs  CUDA  [f64 ped]</a:t>
            </a:r>
          </a:p>
        </p:txBody>
      </p:sp>
      <p:sp>
        <p:nvSpPr>
          <p:cNvPr id="55" name="TextBox 54"/>
          <p:cNvSpPr txBox="1"/>
          <p:nvPr/>
        </p:nvSpPr>
        <p:spPr>
          <a:xfrm>
            <a:off x="3778300" y="3593592"/>
            <a:ext cx="4315968" cy="54864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the same thing, </a:t>
            </a:r>
            <a:r>
              <a:rPr sz="1150" b="1" i="0">
                <a:solidFill>
                  <a:srgbClr val="E8B25C"/>
                </a:solidFill>
                <a:latin typeface="Segoe UI"/>
              </a:rPr>
              <a:t>and nothing else</a:t>
            </a:r>
          </a:p>
        </p:txBody>
      </p:sp>
      <p:sp>
        <p:nvSpPr>
          <p:cNvPr id="56" name="TextBox 55"/>
          <p:cNvSpPr txBox="1"/>
          <p:nvPr/>
        </p:nvSpPr>
        <p:spPr>
          <a:xfrm>
            <a:off x="8313724" y="3593592"/>
            <a:ext cx="1708099" cy="54864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8 / 11</a:t>
            </a:r>
          </a:p>
        </p:txBody>
      </p:sp>
      <p:sp>
        <p:nvSpPr>
          <p:cNvPr id="57" name="TextBox 56"/>
          <p:cNvSpPr txBox="1"/>
          <p:nvPr/>
        </p:nvSpPr>
        <p:spPr>
          <a:xfrm>
            <a:off x="10241280" y="3593592"/>
            <a:ext cx="1481328" cy="54864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0.000082 %</a:t>
            </a:r>
          </a:p>
        </p:txBody>
      </p:sp>
      <p:sp>
        <p:nvSpPr>
          <p:cNvPr id="58" name="Rectangle 57"/>
          <p:cNvSpPr/>
          <p:nvPr/>
        </p:nvSpPr>
        <p:spPr>
          <a:xfrm>
            <a:off x="457200" y="4087368"/>
            <a:ext cx="1133856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03504" y="4178807"/>
            <a:ext cx="2955340" cy="54864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frozen CPU  vs  CUDA  [f64 ped]</a:t>
            </a:r>
          </a:p>
        </p:txBody>
      </p:sp>
      <p:sp>
        <p:nvSpPr>
          <p:cNvPr id="60" name="TextBox 59"/>
          <p:cNvSpPr txBox="1"/>
          <p:nvPr/>
        </p:nvSpPr>
        <p:spPr>
          <a:xfrm>
            <a:off x="3778300" y="4178807"/>
            <a:ext cx="4315968" cy="548640"/>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nothing</a:t>
            </a:r>
          </a:p>
        </p:txBody>
      </p:sp>
      <p:sp>
        <p:nvSpPr>
          <p:cNvPr id="61" name="TextBox 60"/>
          <p:cNvSpPr txBox="1"/>
          <p:nvPr/>
        </p:nvSpPr>
        <p:spPr>
          <a:xfrm>
            <a:off x="8313724" y="4178807"/>
            <a:ext cx="1708099" cy="548640"/>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0 / 0</a:t>
            </a:r>
          </a:p>
        </p:txBody>
      </p:sp>
      <p:sp>
        <p:nvSpPr>
          <p:cNvPr id="62" name="TextBox 61"/>
          <p:cNvSpPr txBox="1"/>
          <p:nvPr/>
        </p:nvSpPr>
        <p:spPr>
          <a:xfrm>
            <a:off x="10241280" y="4178807"/>
            <a:ext cx="1481328" cy="548640"/>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0 %</a:t>
            </a:r>
          </a:p>
        </p:txBody>
      </p:sp>
      <p:sp>
        <p:nvSpPr>
          <p:cNvPr id="63" name="TextBox 62"/>
          <p:cNvSpPr txBox="1"/>
          <p:nvPr/>
        </p:nvSpPr>
        <p:spPr>
          <a:xfrm>
            <a:off x="603504" y="4764023"/>
            <a:ext cx="2955340" cy="54864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frozen CPU  vs  CUDA  [f32 ped]</a:t>
            </a:r>
          </a:p>
        </p:txBody>
      </p:sp>
      <p:sp>
        <p:nvSpPr>
          <p:cNvPr id="64" name="TextBox 63"/>
          <p:cNvSpPr txBox="1"/>
          <p:nvPr/>
        </p:nvSpPr>
        <p:spPr>
          <a:xfrm>
            <a:off x="3778300" y="4764023"/>
            <a:ext cx="4315968" cy="54864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the float32 pedestal EMA drifting: see next slide</a:t>
            </a:r>
          </a:p>
        </p:txBody>
      </p:sp>
      <p:sp>
        <p:nvSpPr>
          <p:cNvPr id="65" name="TextBox 64"/>
          <p:cNvSpPr txBox="1"/>
          <p:nvPr/>
        </p:nvSpPr>
        <p:spPr>
          <a:xfrm>
            <a:off x="8313724" y="4764023"/>
            <a:ext cx="1708099" cy="54864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0 / 6</a:t>
            </a:r>
          </a:p>
        </p:txBody>
      </p:sp>
      <p:sp>
        <p:nvSpPr>
          <p:cNvPr id="66" name="TextBox 65"/>
          <p:cNvSpPr txBox="1"/>
          <p:nvPr/>
        </p:nvSpPr>
        <p:spPr>
          <a:xfrm>
            <a:off x="10241280" y="4764023"/>
            <a:ext cx="1481328" cy="54864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0.000026 %</a:t>
            </a:r>
          </a:p>
        </p:txBody>
      </p:sp>
      <p:sp>
        <p:nvSpPr>
          <p:cNvPr id="67" name="Rounded Rectangle 66"/>
          <p:cNvSpPr/>
          <p:nvPr/>
        </p:nvSpPr>
        <p:spPr>
          <a:xfrm>
            <a:off x="420624" y="4050791"/>
            <a:ext cx="11411712" cy="1207008"/>
          </a:xfrm>
          <a:prstGeom prst="roundRect">
            <a:avLst>
              <a:gd name="adj" fmla="val 6000"/>
            </a:avLst>
          </a:prstGeom>
          <a:noFill/>
          <a:ln w="22225">
            <a:solidFill>
              <a:srgbClr val="E25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98348" y="5431536"/>
            <a:ext cx="11205972" cy="69494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57200" y="5431536"/>
            <a:ext cx="41148" cy="694944"/>
          </a:xfrm>
          <a:prstGeom prst="rect">
            <a:avLst/>
          </a:prstGeom>
          <a:solidFill>
            <a:srgbClr val="E25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13232" y="5522976"/>
            <a:ext cx="10789920" cy="512064"/>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The ringed pair is the port on its own.</a:t>
            </a:r>
            <a:r>
              <a:rPr sz="1300" b="0" i="0">
                <a:solidFill>
                  <a:srgbClr val="A5B2C4"/>
                </a:solidFill>
                <a:latin typeface="Segoe UI"/>
              </a:rPr>
              <a:t> At f64 the two finders agree on all 23 244 605 clusters. Every difference in the rows above it is a CPU-vs-CPU effect; the six at f32 are the next slide.</a:t>
            </a:r>
          </a:p>
        </p:txBody>
      </p:sp>
      <p:sp>
        <p:nvSpPr>
          <p:cNvPr id="71" name="TextBox 70"/>
          <p:cNvSpPr txBox="1"/>
          <p:nvPr/>
        </p:nvSpPr>
        <p:spPr>
          <a:xfrm>
            <a:off x="457200" y="6419088"/>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3×3 · 10 000 frames · 23.2 M clusters · exact centre-set difference at tol = 0. [f64 ped] and [f32 ped] differ only in DEVICE_PED_TYPE.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DISAGREEMENT, SEEN</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whole disagreement is one duplicate centre</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32 / 36</a:t>
            </a:r>
          </a:p>
        </p:txBody>
      </p:sp>
      <p:pic>
        <p:nvPicPr>
          <p:cNvPr id="43" name="Picture 42" descr="fig_mismatch147.png"/>
          <p:cNvPicPr>
            <a:picLocks noChangeAspect="1"/>
          </p:cNvPicPr>
          <p:nvPr/>
        </p:nvPicPr>
        <p:blipFill>
          <a:blip r:embed="rId2"/>
          <a:stretch>
            <a:fillRect/>
          </a:stretch>
        </p:blipFill>
        <p:spPr>
          <a:xfrm>
            <a:off x="1088136" y="1572768"/>
            <a:ext cx="10012680" cy="4238681"/>
          </a:xfrm>
          <a:prstGeom prst="rect">
            <a:avLst/>
          </a:prstGeom>
        </p:spPr>
      </p:pic>
      <p:sp>
        <p:nvSpPr>
          <p:cNvPr id="44" name="Rectangle 43"/>
          <p:cNvSpPr/>
          <p:nvPr/>
        </p:nvSpPr>
        <p:spPr>
          <a:xfrm>
            <a:off x="498348" y="5797296"/>
            <a:ext cx="5481828"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7200" y="5797296"/>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3232" y="5888736"/>
            <a:ext cx="5065776" cy="530352"/>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Only each finder's </a:t>
            </a:r>
            <a:r>
              <a:rPr sz="1300" b="1" i="0">
                <a:solidFill>
                  <a:srgbClr val="E7EDF4"/>
                </a:solidFill>
                <a:latin typeface="Segoe UI"/>
              </a:rPr>
              <a:t>own</a:t>
            </a:r>
            <a:r>
              <a:rPr sz="1300" b="0" i="0">
                <a:solidFill>
                  <a:srgbClr val="A5B2C4"/>
                </a:solidFill>
                <a:latin typeface="Segoe UI"/>
              </a:rPr>
              <a:t> 3×3 footprints are drawn, so the panels differ </a:t>
            </a:r>
            <a:r>
              <a:rPr sz="1300" b="1" i="0">
                <a:solidFill>
                  <a:srgbClr val="E7EDF4"/>
                </a:solidFill>
                <a:latin typeface="Segoe UI"/>
              </a:rPr>
              <a:t>exactly</a:t>
            </a:r>
            <a:r>
              <a:rPr sz="1300" b="0" i="0">
                <a:solidFill>
                  <a:srgbClr val="A5B2C4"/>
                </a:solidFill>
                <a:latin typeface="Segoe UI"/>
              </a:rPr>
              <a:t> where the finders do.</a:t>
            </a:r>
          </a:p>
        </p:txBody>
      </p:sp>
      <p:sp>
        <p:nvSpPr>
          <p:cNvPr id="47" name="Rectangle 46"/>
          <p:cNvSpPr/>
          <p:nvPr/>
        </p:nvSpPr>
        <p:spPr>
          <a:xfrm>
            <a:off x="6213348" y="5797296"/>
            <a:ext cx="5481828"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5797296"/>
            <a:ext cx="41148" cy="7132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28232" y="5888736"/>
            <a:ext cx="5065776" cy="530352"/>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cuda's patch is </a:t>
            </a:r>
            <a:r>
              <a:rPr sz="1300" b="1" i="0">
                <a:solidFill>
                  <a:srgbClr val="E7EDF4"/>
                </a:solidFill>
                <a:latin typeface="Segoe UI"/>
              </a:rPr>
              <a:t>one row taller</a:t>
            </a:r>
            <a:r>
              <a:rPr sz="1300" b="0" i="0">
                <a:solidFill>
                  <a:srgbClr val="A5B2C4"/>
                </a:solidFill>
                <a:latin typeface="Segoe UI"/>
              </a:rPr>
              <a:t>: a second centre directly below the one both found. </a:t>
            </a:r>
            <a:r>
              <a:rPr sz="1300" b="1" i="0">
                <a:solidFill>
                  <a:srgbClr val="E7EDF4"/>
                </a:solidFill>
                <a:latin typeface="Segoe UI"/>
              </a:rPr>
              <a:t>The charge is already counted</a:t>
            </a:r>
            <a:r>
              <a:rPr sz="1300" b="0" i="0">
                <a:solidFill>
                  <a:srgbClr val="A5B2C4"/>
                </a:solidFill>
                <a:latin typeface="Segoe UI"/>
              </a:rPr>
              <a:t>: a duplicate, not a new photon.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SIX RESIDUALS, DISSECTED</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float32 cannot tell these two pixels apart</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33 / 36</a:t>
            </a:r>
          </a:p>
        </p:txBody>
      </p:sp>
      <p:sp>
        <p:nvSpPr>
          <p:cNvPr id="43" name="Rounded Rectangle 42"/>
          <p:cNvSpPr/>
          <p:nvPr/>
        </p:nvSpPr>
        <p:spPr>
          <a:xfrm>
            <a:off x="457200" y="1664208"/>
            <a:ext cx="5998464" cy="2759933"/>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1773936"/>
            <a:ext cx="5669279" cy="2540477"/>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A5B2C4"/>
                </a:solidFill>
                <a:latin typeface="Consolas"/>
              </a:rPr>
              <a:t>frame 147    centre (x=202, y=8)      3×3 window</a:t>
            </a:r>
          </a:p>
          <a:p>
            <a:pPr>
              <a:lnSpc>
                <a:spcPct val="112000"/>
              </a:lnSpc>
              <a:spcBef>
                <a:spcPts val="0"/>
              </a:spcBef>
              <a:spcAft>
                <a:spcPts val="0"/>
              </a:spcAft>
            </a:pPr>
            <a:r>
              <a:rPr sz="1050" b="0" i="0">
                <a:solidFill>
                  <a:srgbClr val="A5B2C4"/>
                </a:solidFill>
                <a:latin typeface="Consolas"/>
              </a:rPr>
              <a:t>raw window (ADU)     pedestal-subtracted, 1 decimal</a:t>
            </a:r>
          </a:p>
          <a:p>
            <a:pPr>
              <a:lnSpc>
                <a:spcPct val="112000"/>
              </a:lnSpc>
              <a:spcBef>
                <a:spcPts val="0"/>
              </a:spcBef>
              <a:spcAft>
                <a:spcPts val="0"/>
              </a:spcAft>
            </a:pPr>
            <a:r>
              <a:rPr sz="1050" b="0" i="0">
                <a:solidFill>
                  <a:srgbClr val="A5B2C4"/>
                </a:solidFill>
                <a:latin typeface="Consolas"/>
              </a:rPr>
              <a:t>[[4646 5282 4703]    [[ 45.3 </a:t>
            </a:r>
            <a:r>
              <a:rPr sz="1050" b="1" i="0">
                <a:solidFill>
                  <a:srgbClr val="1E90C2"/>
                </a:solidFill>
                <a:latin typeface="Consolas"/>
              </a:rPr>
              <a:t>638.4</a:t>
            </a:r>
            <a:r>
              <a:rPr sz="1050" b="0" i="0">
                <a:solidFill>
                  <a:srgbClr val="A5B2C4"/>
                </a:solidFill>
                <a:latin typeface="Consolas"/>
              </a:rPr>
              <a:t> -12.1]   frozen and cuda</a:t>
            </a:r>
          </a:p>
          <a:p>
            <a:pPr>
              <a:lnSpc>
                <a:spcPct val="112000"/>
              </a:lnSpc>
              <a:spcBef>
                <a:spcPts val="0"/>
              </a:spcBef>
              <a:spcAft>
                <a:spcPts val="0"/>
              </a:spcAft>
            </a:pPr>
            <a:r>
              <a:rPr sz="1050" b="0" i="0">
                <a:solidFill>
                  <a:srgbClr val="A5B2C4"/>
                </a:solidFill>
                <a:latin typeface="Consolas"/>
              </a:rPr>
              <a:t> [4857 5318 4950]     [ 43.7 </a:t>
            </a:r>
            <a:r>
              <a:rPr sz="1050" b="1" i="0">
                <a:solidFill>
                  <a:srgbClr val="1E90C2"/>
                </a:solidFill>
                <a:latin typeface="Consolas"/>
              </a:rPr>
              <a:t>638.4</a:t>
            </a:r>
            <a:r>
              <a:rPr sz="1050" b="0" i="0">
                <a:solidFill>
                  <a:srgbClr val="A5B2C4"/>
                </a:solidFill>
                <a:latin typeface="Consolas"/>
              </a:rPr>
              <a:t>  -7.5]   print the SAME</a:t>
            </a:r>
          </a:p>
          <a:p>
            <a:pPr>
              <a:lnSpc>
                <a:spcPct val="112000"/>
              </a:lnSpc>
              <a:spcBef>
                <a:spcPts val="0"/>
              </a:spcBef>
              <a:spcAft>
                <a:spcPts val="0"/>
              </a:spcAft>
            </a:pPr>
            <a:r>
              <a:rPr sz="1050" b="0" i="0">
                <a:solidFill>
                  <a:srgbClr val="A5B2C4"/>
                </a:solidFill>
                <a:latin typeface="Consolas"/>
              </a:rPr>
              <a:t> [4763 4640 4858]]    [  1.1  70.7  136.4]]   window</a:t>
            </a:r>
          </a:p>
          <a:p>
            <a:pPr>
              <a:lnSpc>
                <a:spcPct val="112000"/>
              </a:lnSpc>
              <a:spcBef>
                <a:spcPts val="0"/>
              </a:spcBef>
              <a:spcAft>
                <a:spcPts val="0"/>
              </a:spcAft>
            </a:pPr>
          </a:p>
          <a:p>
            <a:pPr>
              <a:lnSpc>
                <a:spcPct val="112000"/>
              </a:lnSpc>
              <a:spcBef>
                <a:spcPts val="0"/>
              </a:spcBef>
              <a:spcAft>
                <a:spcPts val="0"/>
              </a:spcAft>
            </a:pPr>
            <a:r>
              <a:rPr sz="1050" b="0" i="0">
                <a:solidFill>
                  <a:srgbClr val="A5B2C4"/>
                </a:solidFill>
                <a:latin typeface="Consolas"/>
              </a:rPr>
              <a:t>the two contenders, at full precision:</a:t>
            </a:r>
          </a:p>
          <a:p>
            <a:pPr>
              <a:lnSpc>
                <a:spcPct val="112000"/>
              </a:lnSpc>
              <a:spcBef>
                <a:spcPts val="0"/>
              </a:spcBef>
              <a:spcAft>
                <a:spcPts val="0"/>
              </a:spcAft>
            </a:pPr>
            <a:r>
              <a:rPr sz="1050" b="0" i="0">
                <a:solidFill>
                  <a:srgbClr val="A5B2C4"/>
                </a:solidFill>
                <a:latin typeface="Consolas"/>
              </a:rPr>
              <a:t>                        rival (dy=-1)     centre</a:t>
            </a:r>
          </a:p>
          <a:p>
            <a:pPr>
              <a:lnSpc>
                <a:spcPct val="112000"/>
              </a:lnSpc>
              <a:spcBef>
                <a:spcPts val="0"/>
              </a:spcBef>
              <a:spcAft>
                <a:spcPts val="0"/>
              </a:spcAft>
            </a:pPr>
            <a:r>
              <a:rPr sz="1050" b="0" i="0">
                <a:solidFill>
                  <a:srgbClr val="A5B2C4"/>
                </a:solidFill>
                <a:latin typeface="Consolas"/>
              </a:rPr>
              <a:t>frozen  [f64 ped]     638.383019956   638.382773664</a:t>
            </a:r>
          </a:p>
          <a:p>
            <a:pPr>
              <a:lnSpc>
                <a:spcPct val="112000"/>
              </a:lnSpc>
              <a:spcBef>
                <a:spcPts val="0"/>
              </a:spcBef>
              <a:spcAft>
                <a:spcPts val="0"/>
              </a:spcAft>
            </a:pPr>
            <a:r>
              <a:rPr sz="1050" b="0" i="0">
                <a:solidFill>
                  <a:srgbClr val="A5B2C4"/>
                </a:solidFill>
                <a:latin typeface="Consolas"/>
              </a:rPr>
              <a:t>cuda    [f32 ped]     638.382812500   </a:t>
            </a:r>
            <a:r>
              <a:rPr sz="1050" b="1" i="0">
                <a:solidFill>
                  <a:srgbClr val="1E90C2"/>
                </a:solidFill>
                <a:latin typeface="Consolas"/>
              </a:rPr>
              <a:t>638.382812500</a:t>
            </a:r>
          </a:p>
          <a:p>
            <a:pPr>
              <a:lnSpc>
                <a:spcPct val="112000"/>
              </a:lnSpc>
              <a:spcBef>
                <a:spcPts val="0"/>
              </a:spcBef>
              <a:spcAft>
                <a:spcPts val="0"/>
              </a:spcAft>
            </a:pPr>
          </a:p>
          <a:p>
            <a:pPr>
              <a:lnSpc>
                <a:spcPct val="112000"/>
              </a:lnSpc>
              <a:spcBef>
                <a:spcPts val="0"/>
              </a:spcBef>
              <a:spcAft>
                <a:spcPts val="0"/>
              </a:spcAft>
            </a:pPr>
            <a:r>
              <a:rPr sz="1050" b="0" i="0">
                <a:solidFill>
                  <a:srgbClr val="A5B2C4"/>
                </a:solidFill>
                <a:latin typeface="Consolas"/>
              </a:rPr>
              <a:t>gate:  accept if  centre &gt;= max(window)</a:t>
            </a:r>
          </a:p>
          <a:p>
            <a:pPr>
              <a:lnSpc>
                <a:spcPct val="112000"/>
              </a:lnSpc>
              <a:spcBef>
                <a:spcPts val="0"/>
              </a:spcBef>
              <a:spcAft>
                <a:spcPts val="0"/>
              </a:spcAft>
            </a:pPr>
            <a:r>
              <a:rPr sz="1050" b="0" i="0">
                <a:solidFill>
                  <a:srgbClr val="A5B2C4"/>
                </a:solidFill>
                <a:latin typeface="Consolas"/>
              </a:rPr>
              <a:t>   frozen   638.382773664 &gt;= 638.383019956  -&gt;  reject</a:t>
            </a:r>
          </a:p>
          <a:p>
            <a:pPr>
              <a:lnSpc>
                <a:spcPct val="112000"/>
              </a:lnSpc>
              <a:spcBef>
                <a:spcPts val="0"/>
              </a:spcBef>
              <a:spcAft>
                <a:spcPts val="0"/>
              </a:spcAft>
            </a:pPr>
            <a:r>
              <a:rPr sz="1050" b="0" i="0">
                <a:solidFill>
                  <a:srgbClr val="A5B2C4"/>
                </a:solidFill>
                <a:latin typeface="Consolas"/>
              </a:rPr>
              <a:t>   cuda     638.382812500 &gt;= 638.382812500  -&gt;  </a:t>
            </a:r>
            <a:r>
              <a:rPr sz="1050" b="1" i="0">
                <a:solidFill>
                  <a:srgbClr val="1E90C2"/>
                </a:solidFill>
                <a:latin typeface="Consolas"/>
              </a:rPr>
              <a:t>accept</a:t>
            </a:r>
          </a:p>
        </p:txBody>
      </p:sp>
      <p:sp>
        <p:nvSpPr>
          <p:cNvPr id="45" name="Rectangle 44"/>
          <p:cNvSpPr/>
          <p:nvPr/>
        </p:nvSpPr>
        <p:spPr>
          <a:xfrm>
            <a:off x="498348" y="4443984"/>
            <a:ext cx="5957316"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4443984"/>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13232" y="4535424"/>
            <a:ext cx="5541264" cy="731520"/>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Under the f64 pedestal the two pixels are </a:t>
            </a:r>
            <a:r>
              <a:rPr sz="1300" b="1" i="0">
                <a:solidFill>
                  <a:srgbClr val="E7EDF4"/>
                </a:solidFill>
                <a:latin typeface="Segoe UI"/>
              </a:rPr>
              <a:t>0.000246 ADU</a:t>
            </a:r>
            <a:r>
              <a:rPr sz="1300" b="0" i="0">
                <a:solidFill>
                  <a:srgbClr val="A5B2C4"/>
                </a:solidFill>
                <a:latin typeface="Segoe UI"/>
              </a:rPr>
              <a:t> apart; one float32 ULP here is </a:t>
            </a:r>
            <a:r>
              <a:rPr sz="1300" b="1" i="0">
                <a:solidFill>
                  <a:srgbClr val="E7EDF4"/>
                </a:solidFill>
                <a:latin typeface="Segoe UI"/>
              </a:rPr>
              <a:t>0.000488</a:t>
            </a:r>
            <a:r>
              <a:rPr sz="1300" b="0" i="0">
                <a:solidFill>
                  <a:srgbClr val="A5B2C4"/>
                </a:solidFill>
                <a:latin typeface="Segoe UI"/>
              </a:rPr>
              <a:t>. </a:t>
            </a:r>
            <a:r>
              <a:rPr sz="1300" b="1" i="0">
                <a:solidFill>
                  <a:srgbClr val="E7EDF4"/>
                </a:solidFill>
                <a:latin typeface="Segoe UI"/>
              </a:rPr>
              <a:t>Half a ULP</a:t>
            </a:r>
            <a:r>
              <a:rPr sz="1300" b="0" i="0">
                <a:solidFill>
                  <a:srgbClr val="A5B2C4"/>
                </a:solidFill>
                <a:latin typeface="Segoe UI"/>
              </a:rPr>
              <a:t> — in float32, the same number.</a:t>
            </a:r>
          </a:p>
        </p:txBody>
      </p:sp>
      <p:pic>
        <p:nvPicPr>
          <p:cNvPr id="48" name="Picture 47" descr="fig_spectra_valid.png"/>
          <p:cNvPicPr>
            <a:picLocks noChangeAspect="1"/>
          </p:cNvPicPr>
          <p:nvPr/>
        </p:nvPicPr>
        <p:blipFill>
          <a:blip r:embed="rId2"/>
          <a:stretch>
            <a:fillRect/>
          </a:stretch>
        </p:blipFill>
        <p:spPr>
          <a:xfrm>
            <a:off x="6693408" y="1664208"/>
            <a:ext cx="5102352" cy="3532397"/>
          </a:xfrm>
          <a:prstGeom prst="rect">
            <a:avLst/>
          </a:prstGeom>
        </p:spPr>
      </p:pic>
      <p:sp>
        <p:nvSpPr>
          <p:cNvPr id="49" name="Rectangle 48"/>
          <p:cNvSpPr/>
          <p:nvPr/>
        </p:nvSpPr>
        <p:spPr>
          <a:xfrm>
            <a:off x="498348" y="5577840"/>
            <a:ext cx="11205972"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57200" y="5577840"/>
            <a:ext cx="41148" cy="47548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13232" y="5669279"/>
            <a:ext cx="10789920" cy="292608"/>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At f64 the residual is zero.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PYTHON API</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fast path in eight lines</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34 / 36</a:t>
            </a:r>
          </a:p>
        </p:txBody>
      </p:sp>
      <p:sp>
        <p:nvSpPr>
          <p:cNvPr id="43" name="Rounded Rectangle 42"/>
          <p:cNvSpPr/>
          <p:nvPr/>
        </p:nvSpPr>
        <p:spPr>
          <a:xfrm>
            <a:off x="457200" y="1664208"/>
            <a:ext cx="7178040" cy="2435001"/>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1773936"/>
            <a:ext cx="6848855"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THE RECOMMENDED PATTERN</a:t>
            </a:r>
          </a:p>
        </p:txBody>
      </p:sp>
      <p:sp>
        <p:nvSpPr>
          <p:cNvPr id="45" name="TextBox 44"/>
          <p:cNvSpPr txBox="1"/>
          <p:nvPr/>
        </p:nvSpPr>
        <p:spPr>
          <a:xfrm>
            <a:off x="621792" y="1993391"/>
            <a:ext cx="6848855" cy="2215545"/>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A5B2C4"/>
                </a:solidFill>
                <a:latin typeface="Consolas"/>
              </a:rPr>
              <a:t>from aare import File, ClusterFinderCUDA</a:t>
            </a:r>
          </a:p>
          <a:p>
            <a:pPr>
              <a:lnSpc>
                <a:spcPct val="112000"/>
              </a:lnSpc>
              <a:spcBef>
                <a:spcPts val="0"/>
              </a:spcBef>
              <a:spcAft>
                <a:spcPts val="0"/>
              </a:spcAft>
            </a:pPr>
            <a:r>
              <a:rPr sz="1050" b="0" i="0">
                <a:solidFill>
                  <a:srgbClr val="A5B2C4"/>
                </a:solidFill>
                <a:latin typeface="Consolas"/>
              </a:rPr>
              <a:t>cf = ClusterFinderCUDA(image_size=(400, 400), cluster_size=(3, 3),</a:t>
            </a:r>
          </a:p>
          <a:p>
            <a:pPr>
              <a:lnSpc>
                <a:spcPct val="112000"/>
              </a:lnSpc>
              <a:spcBef>
                <a:spcPts val="0"/>
              </a:spcBef>
              <a:spcAft>
                <a:spcPts val="0"/>
              </a:spcAft>
            </a:pPr>
            <a:r>
              <a:rPr sz="1050" b="0" i="0">
                <a:solidFill>
                  <a:srgbClr val="A5B2C4"/>
                </a:solidFill>
                <a:latin typeface="Consolas"/>
              </a:rPr>
              <a:t>                       n_sigma=5, </a:t>
            </a:r>
            <a:r>
              <a:rPr sz="1050" b="1" i="0">
                <a:solidFill>
                  <a:srgbClr val="1E90C2"/>
                </a:solidFill>
                <a:latin typeface="Consolas"/>
              </a:rPr>
              <a:t>n_streams</a:t>
            </a:r>
            <a:r>
              <a:rPr sz="1050" b="0" i="0">
                <a:solidFill>
                  <a:srgbClr val="A5B2C4"/>
                </a:solidFill>
                <a:latin typeface="Consolas"/>
              </a:rPr>
              <a:t>=4,</a:t>
            </a:r>
          </a:p>
          <a:p>
            <a:pPr>
              <a:lnSpc>
                <a:spcPct val="112000"/>
              </a:lnSpc>
              <a:spcBef>
                <a:spcPts val="0"/>
              </a:spcBef>
              <a:spcAft>
                <a:spcPts val="0"/>
              </a:spcAft>
            </a:pPr>
            <a:r>
              <a:rPr sz="1050" b="0" i="0">
                <a:solidFill>
                  <a:srgbClr val="A5B2C4"/>
                </a:solidFill>
                <a:latin typeface="Consolas"/>
              </a:rPr>
              <a:t>                       </a:t>
            </a:r>
            <a:r>
              <a:rPr sz="1050" b="1" i="0">
                <a:solidFill>
                  <a:srgbClr val="1E90C2"/>
                </a:solidFill>
                <a:latin typeface="Consolas"/>
              </a:rPr>
              <a:t>max_clusters_per_frame</a:t>
            </a:r>
            <a:r>
              <a:rPr sz="1050" b="0" i="0">
                <a:solidFill>
                  <a:srgbClr val="A5B2C4"/>
                </a:solidFill>
                <a:latin typeface="Consolas"/>
              </a:rPr>
              <a:t>=3000)</a:t>
            </a:r>
          </a:p>
          <a:p>
            <a:pPr>
              <a:lnSpc>
                <a:spcPct val="112000"/>
              </a:lnSpc>
              <a:spcBef>
                <a:spcPts val="0"/>
              </a:spcBef>
              <a:spcAft>
                <a:spcPts val="0"/>
              </a:spcAft>
            </a:pPr>
            <a:r>
              <a:rPr sz="1050" b="0" i="0">
                <a:solidFill>
                  <a:srgbClr val="A5B2C4"/>
                </a:solidFill>
                <a:latin typeface="Consolas"/>
              </a:rPr>
              <a:t>for _ in range(1000):                    </a:t>
            </a:r>
            <a:r>
              <a:rPr sz="1050" b="1" i="0">
                <a:solidFill>
                  <a:srgbClr val="1E90C2"/>
                </a:solidFill>
                <a:latin typeface="Consolas"/>
              </a:rPr>
              <a:t># 1. train the pedestal</a:t>
            </a:r>
          </a:p>
          <a:p>
            <a:pPr>
              <a:lnSpc>
                <a:spcPct val="112000"/>
              </a:lnSpc>
              <a:spcBef>
                <a:spcPts val="0"/>
              </a:spcBef>
              <a:spcAft>
                <a:spcPts val="0"/>
              </a:spcAft>
            </a:pPr>
            <a:r>
              <a:rPr sz="1050" b="0" i="0">
                <a:solidFill>
                  <a:srgbClr val="A5B2C4"/>
                </a:solidFill>
                <a:latin typeface="Consolas"/>
              </a:rPr>
              <a:t>    cf.push_pedestal_frame(pd.read_frame())</a:t>
            </a:r>
          </a:p>
          <a:p>
            <a:pPr>
              <a:lnSpc>
                <a:spcPct val="112000"/>
              </a:lnSpc>
              <a:spcBef>
                <a:spcPts val="0"/>
              </a:spcBef>
              <a:spcAft>
                <a:spcPts val="0"/>
              </a:spcAft>
            </a:pPr>
            <a:r>
              <a:rPr sz="1050" b="0" i="0">
                <a:solidFill>
                  <a:srgbClr val="A5B2C4"/>
                </a:solidFill>
                <a:latin typeface="Consolas"/>
              </a:rPr>
              <a:t>data = f.read_n(100_000)                 </a:t>
            </a:r>
            <a:r>
              <a:rPr sz="1050" b="1" i="0">
                <a:solidFill>
                  <a:srgbClr val="1E90C2"/>
                </a:solidFill>
                <a:latin typeface="Consolas"/>
              </a:rPr>
              <a:t># 2. one contiguous array</a:t>
            </a:r>
          </a:p>
          <a:p>
            <a:pPr>
              <a:lnSpc>
                <a:spcPct val="112000"/>
              </a:lnSpc>
              <a:spcBef>
                <a:spcPts val="0"/>
              </a:spcBef>
              <a:spcAft>
                <a:spcPts val="0"/>
              </a:spcAft>
            </a:pPr>
            <a:r>
              <a:rPr sz="1050" b="0" i="0">
                <a:solidFill>
                  <a:srgbClr val="A5B2C4"/>
                </a:solidFill>
                <a:latin typeface="Consolas"/>
              </a:rPr>
              <a:t>cf.</a:t>
            </a:r>
            <a:r>
              <a:rPr sz="1050" b="1" i="0">
                <a:solidFill>
                  <a:srgbClr val="E7EDF4"/>
                </a:solidFill>
                <a:latin typeface="Consolas"/>
              </a:rPr>
              <a:t>register_input_buffer</a:t>
            </a:r>
            <a:r>
              <a:rPr sz="1050" b="0" i="0">
                <a:solidFill>
                  <a:srgbClr val="A5B2C4"/>
                </a:solidFill>
                <a:latin typeface="Consolas"/>
              </a:rPr>
              <a:t>(data)           </a:t>
            </a:r>
            <a:r>
              <a:rPr sz="1050" b="1" i="0">
                <a:solidFill>
                  <a:srgbClr val="1E90C2"/>
                </a:solidFill>
                <a:latin typeface="Consolas"/>
              </a:rPr>
              <a:t># 3. pin it once</a:t>
            </a:r>
          </a:p>
          <a:p>
            <a:pPr>
              <a:lnSpc>
                <a:spcPct val="112000"/>
              </a:lnSpc>
              <a:spcBef>
                <a:spcPts val="0"/>
              </a:spcBef>
              <a:spcAft>
                <a:spcPts val="0"/>
              </a:spcAft>
            </a:pPr>
            <a:r>
              <a:rPr sz="1050" b="0" i="0">
                <a:solidFill>
                  <a:srgbClr val="A5B2C4"/>
                </a:solidFill>
                <a:latin typeface="Consolas"/>
              </a:rPr>
              <a:t>for s in range(0, len(data), 2000):      </a:t>
            </a:r>
            <a:r>
              <a:rPr sz="1050" b="1" i="0">
                <a:solidFill>
                  <a:srgbClr val="1E90C2"/>
                </a:solidFill>
                <a:latin typeface="Consolas"/>
              </a:rPr>
              <a:t># 4. batch through it</a:t>
            </a:r>
          </a:p>
          <a:p>
            <a:pPr>
              <a:lnSpc>
                <a:spcPct val="112000"/>
              </a:lnSpc>
              <a:spcBef>
                <a:spcPts val="0"/>
              </a:spcBef>
              <a:spcAft>
                <a:spcPts val="0"/>
              </a:spcAft>
            </a:pPr>
            <a:r>
              <a:rPr sz="1050" b="0" i="0">
                <a:solidFill>
                  <a:srgbClr val="A5B2C4"/>
                </a:solidFill>
                <a:latin typeface="Consolas"/>
              </a:rPr>
              <a:t>    clusters = cf.</a:t>
            </a:r>
            <a:r>
              <a:rPr sz="1050" b="1" i="0">
                <a:solidFill>
                  <a:srgbClr val="E7EDF4"/>
                </a:solidFill>
                <a:latin typeface="Consolas"/>
              </a:rPr>
              <a:t>find_clusters_batched</a:t>
            </a:r>
            <a:r>
              <a:rPr sz="1050" b="0" i="0">
                <a:solidFill>
                  <a:srgbClr val="A5B2C4"/>
                </a:solidFill>
                <a:latin typeface="Consolas"/>
              </a:rPr>
              <a:t>(data[s:s+2000], first_frame=s)</a:t>
            </a:r>
          </a:p>
          <a:p>
            <a:pPr>
              <a:lnSpc>
                <a:spcPct val="112000"/>
              </a:lnSpc>
              <a:spcBef>
                <a:spcPts val="0"/>
              </a:spcBef>
              <a:spcAft>
                <a:spcPts val="0"/>
              </a:spcAft>
            </a:pPr>
            <a:r>
              <a:rPr sz="1050" b="0" i="0">
                <a:solidFill>
                  <a:srgbClr val="A5B2C4"/>
                </a:solidFill>
                <a:latin typeface="Consolas"/>
              </a:rPr>
              <a:t>cf.</a:t>
            </a:r>
            <a:r>
              <a:rPr sz="1050" b="1" i="0">
                <a:solidFill>
                  <a:srgbClr val="E7EDF4"/>
                </a:solidFill>
                <a:latin typeface="Consolas"/>
              </a:rPr>
              <a:t>unregister_input_buffer</a:t>
            </a:r>
            <a:r>
              <a:rPr sz="1050" b="0" i="0">
                <a:solidFill>
                  <a:srgbClr val="A5B2C4"/>
                </a:solidFill>
                <a:latin typeface="Consolas"/>
              </a:rPr>
              <a:t>()             </a:t>
            </a:r>
            <a:r>
              <a:rPr sz="1050" b="1" i="0">
                <a:solidFill>
                  <a:srgbClr val="1E90C2"/>
                </a:solidFill>
                <a:latin typeface="Consolas"/>
              </a:rPr>
              <a:t># 5. release the pages</a:t>
            </a:r>
          </a:p>
        </p:txBody>
      </p:sp>
      <p:sp>
        <p:nvSpPr>
          <p:cNvPr id="46" name="Rounded Rectangle 45"/>
          <p:cNvSpPr/>
          <p:nvPr/>
        </p:nvSpPr>
        <p:spPr>
          <a:xfrm>
            <a:off x="457200" y="4224528"/>
            <a:ext cx="7178040" cy="983300"/>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4334256"/>
            <a:ext cx="6848855"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ZERO-COPY · SAME PATTERN, STEP 4 SWAPPED</a:t>
            </a:r>
          </a:p>
        </p:txBody>
      </p:sp>
      <p:sp>
        <p:nvSpPr>
          <p:cNvPr id="48" name="TextBox 47"/>
          <p:cNvSpPr txBox="1"/>
          <p:nvPr/>
        </p:nvSpPr>
        <p:spPr>
          <a:xfrm>
            <a:off x="621792" y="4553712"/>
            <a:ext cx="6848855" cy="763844"/>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A5B2C4"/>
                </a:solidFill>
                <a:latin typeface="Consolas"/>
              </a:rPr>
              <a:t>for v in cf.</a:t>
            </a:r>
            <a:r>
              <a:rPr sz="1050" b="1" i="0">
                <a:solidFill>
                  <a:srgbClr val="E7EDF4"/>
                </a:solidFill>
                <a:latin typeface="Consolas"/>
              </a:rPr>
              <a:t>find_cluster_views_batched_iter</a:t>
            </a:r>
            <a:r>
              <a:rPr sz="1050" b="0" i="0">
                <a:solidFill>
                  <a:srgbClr val="A5B2C4"/>
                </a:solidFill>
                <a:latin typeface="Consolas"/>
              </a:rPr>
              <a:t>(data, 2000):  </a:t>
            </a:r>
            <a:r>
              <a:rPr sz="1050" b="1" i="0">
                <a:solidFill>
                  <a:srgbClr val="1E90C2"/>
                </a:solidFill>
                <a:latin typeface="Consolas"/>
              </a:rPr>
              <a:t># 4, zero-copy</a:t>
            </a:r>
          </a:p>
          <a:p>
            <a:pPr>
              <a:lnSpc>
                <a:spcPct val="112000"/>
              </a:lnSpc>
              <a:spcBef>
                <a:spcPts val="0"/>
              </a:spcBef>
              <a:spcAft>
                <a:spcPts val="0"/>
              </a:spcAft>
            </a:pPr>
            <a:r>
              <a:rPr sz="1050" b="0" i="0">
                <a:solidFill>
                  <a:srgbClr val="A5B2C4"/>
                </a:solidFill>
                <a:latin typeface="Consolas"/>
              </a:rPr>
              <a:t>    hist.fill(v.sums())        # consume inside the loop:</a:t>
            </a:r>
          </a:p>
          <a:p>
            <a:pPr>
              <a:lnSpc>
                <a:spcPct val="112000"/>
              </a:lnSpc>
              <a:spcBef>
                <a:spcPts val="0"/>
              </a:spcBef>
              <a:spcAft>
                <a:spcPts val="0"/>
              </a:spcAft>
            </a:pPr>
            <a:r>
              <a:rPr sz="1050" b="0" i="0">
                <a:solidFill>
                  <a:srgbClr val="7C8A9E"/>
                </a:solidFill>
                <a:latin typeface="Consolas"/>
              </a:rPr>
              <a:t>                               # the view dies with its chunk</a:t>
            </a:r>
          </a:p>
        </p:txBody>
      </p:sp>
      <p:sp>
        <p:nvSpPr>
          <p:cNvPr id="49" name="TextBox 48"/>
          <p:cNvSpPr txBox="1"/>
          <p:nvPr/>
        </p:nvSpPr>
        <p:spPr>
          <a:xfrm>
            <a:off x="7918704" y="1664208"/>
            <a:ext cx="3877056"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1" i="0">
                <a:solidFill>
                  <a:srgbClr val="E7EDF4"/>
                </a:solidFill>
                <a:latin typeface="Segoe UI"/>
              </a:rPr>
              <a:t>3 · register_input_buffer()</a:t>
            </a:r>
            <a:r>
              <a:rPr sz="1500" b="0" i="0">
                <a:solidFill>
                  <a:srgbClr val="A5B2C4"/>
                </a:solidFill>
                <a:latin typeface="Segoe UI"/>
              </a:rPr>
              <a:t> — opt4 in one call. Pin </a:t>
            </a:r>
            <a:r>
              <a:rPr sz="1500" b="1" i="0">
                <a:solidFill>
                  <a:srgbClr val="E7EDF4"/>
                </a:solidFill>
                <a:latin typeface="Segoe UI"/>
              </a:rPr>
              <a:t>once</a:t>
            </a:r>
            <a:r>
              <a:rPr sz="1500" b="0" i="0">
                <a:solidFill>
                  <a:srgbClr val="A5B2C4"/>
                </a:solidFill>
                <a:latin typeface="Segoe UI"/>
              </a:rPr>
              <a:t>, outside the loop.</a:t>
            </a:r>
          </a:p>
          <a:p>
            <a:pPr>
              <a:lnSpc>
                <a:spcPct val="125000"/>
              </a:lnSpc>
              <a:spcBef>
                <a:spcPts val="0"/>
              </a:spcBef>
              <a:spcAft>
                <a:spcPts val="900"/>
              </a:spcAft>
            </a:pPr>
            <a:r>
              <a:rPr sz="1500" b="0" i="0">
                <a:solidFill>
                  <a:srgbClr val="6B7A90"/>
                </a:solidFill>
                <a:latin typeface="Segoe UI"/>
              </a:rPr>
              <a:t>•  </a:t>
            </a:r>
            <a:r>
              <a:rPr sz="1500" b="1" i="0">
                <a:solidFill>
                  <a:srgbClr val="E7EDF4"/>
                </a:solidFill>
                <a:latin typeface="Segoe UI"/>
              </a:rPr>
              <a:t>4 · find_clusters_batched()</a:t>
            </a:r>
            <a:r>
              <a:rPr sz="1500" b="0" i="0">
                <a:solidFill>
                  <a:srgbClr val="A5B2C4"/>
                </a:solidFill>
                <a:latin typeface="Segoe UI"/>
              </a:rPr>
              <a:t> — one ClusterVector per frame, with opt5's overlap built in.</a:t>
            </a:r>
          </a:p>
        </p:txBody>
      </p:sp>
      <p:sp>
        <p:nvSpPr>
          <p:cNvPr id="50" name="Rectangle 49"/>
          <p:cNvSpPr/>
          <p:nvPr/>
        </p:nvSpPr>
        <p:spPr>
          <a:xfrm>
            <a:off x="7959852" y="3200400"/>
            <a:ext cx="3835908" cy="9601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918704" y="3200400"/>
            <a:ext cx="41148" cy="9601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74736" y="3291840"/>
            <a:ext cx="3419856" cy="777240"/>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Zero-copy: ×1.16 at 3×3, ×2.21 at 9×9.</a:t>
            </a:r>
            <a:r>
              <a:rPr sz="1300" b="0" i="0">
                <a:solidFill>
                  <a:srgbClr val="A5B2C4"/>
                </a:solidFill>
                <a:latin typeface="Segoe UI"/>
              </a:rPr>
              <a:t> The views expose every cluster; they only withhold </a:t>
            </a:r>
            <a:r>
              <a:rPr sz="1300" b="1" i="0">
                <a:solidFill>
                  <a:srgbClr val="E7EDF4"/>
                </a:solidFill>
                <a:latin typeface="Segoe UI"/>
              </a:rPr>
              <a:t>ownership</a:t>
            </a:r>
            <a:r>
              <a:rPr sz="1300" b="0" i="0">
                <a:solidFill>
                  <a:srgbClr val="A5B2C4"/>
                </a:solidFill>
                <a:latin typeface="Segoe UI"/>
              </a:rPr>
              <a:t> past the chunk.</a:t>
            </a:r>
          </a:p>
        </p:txBody>
      </p:sp>
      <p:sp>
        <p:nvSpPr>
          <p:cNvPr id="53" name="Rectangle 52"/>
          <p:cNvSpPr/>
          <p:nvPr/>
        </p:nvSpPr>
        <p:spPr>
          <a:xfrm>
            <a:off x="7959852" y="4297680"/>
            <a:ext cx="3835908" cy="9601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918704" y="4297680"/>
            <a:ext cx="41148" cy="9601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74736" y="4389120"/>
            <a:ext cx="3419856" cy="777240"/>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Reduce as you go and you never allocate. Hold a view past its chunk and you stall the pipeline.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CHOOSING THE KNOBS</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Five knobs, and the one that silently truncates</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35 / 36</a:t>
            </a:r>
          </a:p>
        </p:txBody>
      </p:sp>
      <p:sp>
        <p:nvSpPr>
          <p:cNvPr id="43" name="Rectangle 42"/>
          <p:cNvSpPr/>
          <p:nvPr/>
        </p:nvSpPr>
        <p:spPr>
          <a:xfrm>
            <a:off x="498348" y="1627632"/>
            <a:ext cx="1120597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7200" y="1627632"/>
            <a:ext cx="41148" cy="566928"/>
          </a:xfrm>
          <a:prstGeom prst="rect">
            <a:avLst/>
          </a:prstGeom>
          <a:solidFill>
            <a:srgbClr val="E25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13232" y="1719072"/>
            <a:ext cx="10789920" cy="384048"/>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The single most common mistake: leaving </a:t>
            </a:r>
            <a:r>
              <a:rPr sz="1300" b="1" i="0">
                <a:solidFill>
                  <a:srgbClr val="E7EDF4"/>
                </a:solidFill>
                <a:latin typeface="Segoe UI"/>
              </a:rPr>
              <a:t>max_clusters_per_frame</a:t>
            </a:r>
            <a:r>
              <a:rPr sz="1300" b="0" i="0">
                <a:solidFill>
                  <a:srgbClr val="A5B2C4"/>
                </a:solidFill>
                <a:latin typeface="Segoe UI"/>
              </a:rPr>
              <a:t> too low. It does not error; it truncates, and every frame quietly returns the same count.</a:t>
            </a:r>
          </a:p>
        </p:txBody>
      </p:sp>
      <p:sp>
        <p:nvSpPr>
          <p:cNvPr id="46" name="Rectangle 45"/>
          <p:cNvSpPr/>
          <p:nvPr/>
        </p:nvSpPr>
        <p:spPr>
          <a:xfrm>
            <a:off x="457200" y="2340864"/>
            <a:ext cx="11247120" cy="3657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13232" y="2423160"/>
            <a:ext cx="4727448" cy="274320"/>
          </a:xfrm>
          <a:prstGeom prst="rect">
            <a:avLst/>
          </a:prstGeom>
          <a:noFill/>
        </p:spPr>
        <p:txBody>
          <a:bodyPr wrap="square" lIns="0" rIns="0" tIns="0" bIns="0" anchor="t">
            <a:spAutoFit/>
          </a:bodyPr>
          <a:lstStyle/>
          <a:p>
            <a:pPr>
              <a:spcBef>
                <a:spcPts val="0"/>
              </a:spcBef>
              <a:spcAft>
                <a:spcPts val="0"/>
              </a:spcAft>
            </a:pPr>
            <a:r>
              <a:rPr sz="950" b="1" i="0" spc="130">
                <a:solidFill>
                  <a:srgbClr val="6B7A90"/>
                </a:solidFill>
                <a:latin typeface="Segoe UI"/>
              </a:rPr>
              <a:t>PARAMETER</a:t>
            </a:r>
          </a:p>
        </p:txBody>
      </p:sp>
      <p:sp>
        <p:nvSpPr>
          <p:cNvPr id="48" name="TextBox 47"/>
          <p:cNvSpPr txBox="1"/>
          <p:nvPr/>
        </p:nvSpPr>
        <p:spPr>
          <a:xfrm>
            <a:off x="3081528" y="2423160"/>
            <a:ext cx="4727448" cy="274320"/>
          </a:xfrm>
          <a:prstGeom prst="rect">
            <a:avLst/>
          </a:prstGeom>
          <a:noFill/>
        </p:spPr>
        <p:txBody>
          <a:bodyPr wrap="square" lIns="0" rIns="0" tIns="0" bIns="0" anchor="t">
            <a:spAutoFit/>
          </a:bodyPr>
          <a:lstStyle/>
          <a:p>
            <a:pPr>
              <a:spcBef>
                <a:spcPts val="0"/>
              </a:spcBef>
              <a:spcAft>
                <a:spcPts val="0"/>
              </a:spcAft>
            </a:pPr>
            <a:r>
              <a:rPr sz="950" b="1" i="0" spc="130">
                <a:solidFill>
                  <a:srgbClr val="6B7A90"/>
                </a:solidFill>
                <a:latin typeface="Segoe UI"/>
              </a:rPr>
              <a:t>WHAT IT DOES</a:t>
            </a:r>
          </a:p>
        </p:txBody>
      </p:sp>
      <p:sp>
        <p:nvSpPr>
          <p:cNvPr id="49" name="TextBox 48"/>
          <p:cNvSpPr txBox="1"/>
          <p:nvPr/>
        </p:nvSpPr>
        <p:spPr>
          <a:xfrm>
            <a:off x="4590288" y="2423160"/>
            <a:ext cx="4727448" cy="274320"/>
          </a:xfrm>
          <a:prstGeom prst="rect">
            <a:avLst/>
          </a:prstGeom>
          <a:noFill/>
        </p:spPr>
        <p:txBody>
          <a:bodyPr wrap="square" lIns="0" rIns="0" tIns="0" bIns="0" anchor="t">
            <a:spAutoFit/>
          </a:bodyPr>
          <a:lstStyle/>
          <a:p>
            <a:pPr>
              <a:spcBef>
                <a:spcPts val="0"/>
              </a:spcBef>
              <a:spcAft>
                <a:spcPts val="0"/>
              </a:spcAft>
            </a:pPr>
            <a:r>
              <a:rPr sz="950" b="1" i="0" spc="130">
                <a:solidFill>
                  <a:srgbClr val="6B7A90"/>
                </a:solidFill>
                <a:latin typeface="Segoe UI"/>
              </a:rPr>
              <a:t>GUIDANCE</a:t>
            </a:r>
          </a:p>
        </p:txBody>
      </p:sp>
      <p:sp>
        <p:nvSpPr>
          <p:cNvPr id="50" name="Rectangle 49"/>
          <p:cNvSpPr/>
          <p:nvPr/>
        </p:nvSpPr>
        <p:spPr>
          <a:xfrm>
            <a:off x="457200" y="2743200"/>
            <a:ext cx="1124712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22376" y="2889504"/>
            <a:ext cx="2459736" cy="45720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1E90C2"/>
                </a:solidFill>
                <a:latin typeface="Consolas"/>
              </a:rPr>
              <a:t>n_streams</a:t>
            </a:r>
          </a:p>
        </p:txBody>
      </p:sp>
      <p:sp>
        <p:nvSpPr>
          <p:cNvPr id="52" name="TextBox 51"/>
          <p:cNvSpPr txBox="1"/>
          <p:nvPr/>
        </p:nvSpPr>
        <p:spPr>
          <a:xfrm>
            <a:off x="3291840" y="2889504"/>
            <a:ext cx="2743200" cy="548640"/>
          </a:xfrm>
          <a:prstGeom prst="rect">
            <a:avLst/>
          </a:prstGeom>
          <a:noFill/>
        </p:spPr>
        <p:txBody>
          <a:bodyPr wrap="square" lIns="0" rIns="0" tIns="0" bIns="0" anchor="t">
            <a:spAutoFit/>
          </a:bodyPr>
          <a:lstStyle/>
          <a:p>
            <a:pPr>
              <a:lnSpc>
                <a:spcPct val="120000"/>
              </a:lnSpc>
              <a:spcBef>
                <a:spcPts val="0"/>
              </a:spcBef>
              <a:spcAft>
                <a:spcPts val="0"/>
              </a:spcAft>
            </a:pPr>
            <a:r>
              <a:rPr sz="1100" b="0" i="0">
                <a:solidFill>
                  <a:srgbClr val="E7EDF4"/>
                </a:solidFill>
                <a:latin typeface="Segoe UI"/>
              </a:rPr>
              <a:t>Upper bound on frames in flight.</a:t>
            </a:r>
          </a:p>
        </p:txBody>
      </p:sp>
      <p:sp>
        <p:nvSpPr>
          <p:cNvPr id="53" name="TextBox 52"/>
          <p:cNvSpPr txBox="1"/>
          <p:nvPr/>
        </p:nvSpPr>
        <p:spPr>
          <a:xfrm>
            <a:off x="6272784" y="2889504"/>
            <a:ext cx="5102352" cy="548640"/>
          </a:xfrm>
          <a:prstGeom prst="rect">
            <a:avLst/>
          </a:prstGeom>
          <a:noFill/>
        </p:spPr>
        <p:txBody>
          <a:bodyPr wrap="square" lIns="0" rIns="0" tIns="0" bIns="0" anchor="t">
            <a:spAutoFit/>
          </a:bodyPr>
          <a:lstStyle/>
          <a:p>
            <a:pPr>
              <a:lnSpc>
                <a:spcPct val="120000"/>
              </a:lnSpc>
              <a:spcBef>
                <a:spcPts val="0"/>
              </a:spcBef>
              <a:spcAft>
                <a:spcPts val="0"/>
              </a:spcAft>
            </a:pPr>
            <a:r>
              <a:rPr sz="1100" b="0" i="0">
                <a:solidFill>
                  <a:srgbClr val="A5B2C4"/>
                </a:solidFill>
                <a:latin typeface="Segoe UI"/>
              </a:rPr>
              <a:t>4 at both cluster sizes. 8 buys no kernel concurrency at 9×9.</a:t>
            </a:r>
          </a:p>
        </p:txBody>
      </p:sp>
      <p:sp>
        <p:nvSpPr>
          <p:cNvPr id="54" name="TextBox 53"/>
          <p:cNvSpPr txBox="1"/>
          <p:nvPr/>
        </p:nvSpPr>
        <p:spPr>
          <a:xfrm>
            <a:off x="722376" y="3675887"/>
            <a:ext cx="2459736" cy="45720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1E90C2"/>
                </a:solidFill>
                <a:latin typeface="Consolas"/>
              </a:rPr>
              <a:t>max_clusters_per_frame</a:t>
            </a:r>
          </a:p>
        </p:txBody>
      </p:sp>
      <p:sp>
        <p:nvSpPr>
          <p:cNvPr id="55" name="TextBox 54"/>
          <p:cNvSpPr txBox="1"/>
          <p:nvPr/>
        </p:nvSpPr>
        <p:spPr>
          <a:xfrm>
            <a:off x="3291840" y="3675887"/>
            <a:ext cx="2743200" cy="548640"/>
          </a:xfrm>
          <a:prstGeom prst="rect">
            <a:avLst/>
          </a:prstGeom>
          <a:noFill/>
        </p:spPr>
        <p:txBody>
          <a:bodyPr wrap="square" lIns="0" rIns="0" tIns="0" bIns="0" anchor="t">
            <a:spAutoFit/>
          </a:bodyPr>
          <a:lstStyle/>
          <a:p>
            <a:pPr>
              <a:lnSpc>
                <a:spcPct val="120000"/>
              </a:lnSpc>
              <a:spcBef>
                <a:spcPts val="0"/>
              </a:spcBef>
              <a:spcAft>
                <a:spcPts val="0"/>
              </a:spcAft>
            </a:pPr>
            <a:r>
              <a:rPr sz="1100" b="0" i="0">
                <a:solidFill>
                  <a:srgbClr val="E7EDF4"/>
                </a:solidFill>
                <a:latin typeface="Segoe UI"/>
              </a:rPr>
              <a:t>Fixed size of the per-frame D2H transfer.</a:t>
            </a:r>
          </a:p>
        </p:txBody>
      </p:sp>
      <p:sp>
        <p:nvSpPr>
          <p:cNvPr id="56" name="TextBox 55"/>
          <p:cNvSpPr txBox="1"/>
          <p:nvPr/>
        </p:nvSpPr>
        <p:spPr>
          <a:xfrm>
            <a:off x="6272784" y="3675887"/>
            <a:ext cx="5102352" cy="548640"/>
          </a:xfrm>
          <a:prstGeom prst="rect">
            <a:avLst/>
          </a:prstGeom>
          <a:noFill/>
        </p:spPr>
        <p:txBody>
          <a:bodyPr wrap="square" lIns="0" rIns="0" tIns="0" bIns="0" anchor="t">
            <a:spAutoFit/>
          </a:bodyPr>
          <a:lstStyle/>
          <a:p>
            <a:pPr>
              <a:lnSpc>
                <a:spcPct val="120000"/>
              </a:lnSpc>
              <a:spcBef>
                <a:spcPts val="0"/>
              </a:spcBef>
              <a:spcAft>
                <a:spcPts val="0"/>
              </a:spcAft>
            </a:pPr>
            <a:r>
              <a:rPr sz="1100" b="0" i="0">
                <a:solidFill>
                  <a:srgbClr val="A5B2C4"/>
                </a:solidFill>
                <a:latin typeface="Segoe UI"/>
              </a:rPr>
              <a:t>Must exceed the real maximum or clusters are silently dropped. At 9×9 the maximum is 1 633, and a cap of 1 700 already makes D2H the bottleneck.</a:t>
            </a:r>
          </a:p>
        </p:txBody>
      </p:sp>
      <p:sp>
        <p:nvSpPr>
          <p:cNvPr id="57" name="Rectangle 56"/>
          <p:cNvSpPr/>
          <p:nvPr/>
        </p:nvSpPr>
        <p:spPr>
          <a:xfrm>
            <a:off x="457200" y="4315968"/>
            <a:ext cx="1124712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4462272"/>
            <a:ext cx="2459736" cy="45720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1E90C2"/>
                </a:solidFill>
                <a:latin typeface="Consolas"/>
              </a:rPr>
              <a:t>batch size</a:t>
            </a:r>
          </a:p>
        </p:txBody>
      </p:sp>
      <p:sp>
        <p:nvSpPr>
          <p:cNvPr id="59" name="TextBox 58"/>
          <p:cNvSpPr txBox="1"/>
          <p:nvPr/>
        </p:nvSpPr>
        <p:spPr>
          <a:xfrm>
            <a:off x="3291840" y="4462272"/>
            <a:ext cx="2743200" cy="548640"/>
          </a:xfrm>
          <a:prstGeom prst="rect">
            <a:avLst/>
          </a:prstGeom>
          <a:noFill/>
        </p:spPr>
        <p:txBody>
          <a:bodyPr wrap="square" lIns="0" rIns="0" tIns="0" bIns="0" anchor="t">
            <a:spAutoFit/>
          </a:bodyPr>
          <a:lstStyle/>
          <a:p>
            <a:pPr>
              <a:lnSpc>
                <a:spcPct val="120000"/>
              </a:lnSpc>
              <a:spcBef>
                <a:spcPts val="0"/>
              </a:spcBef>
              <a:spcAft>
                <a:spcPts val="0"/>
              </a:spcAft>
            </a:pPr>
            <a:r>
              <a:rPr sz="1100" b="0" i="0">
                <a:solidFill>
                  <a:srgbClr val="E7EDF4"/>
                </a:solidFill>
                <a:latin typeface="Segoe UI"/>
              </a:rPr>
              <a:t>Frames per find_clusters_batched call.</a:t>
            </a:r>
          </a:p>
        </p:txBody>
      </p:sp>
      <p:sp>
        <p:nvSpPr>
          <p:cNvPr id="60" name="TextBox 59"/>
          <p:cNvSpPr txBox="1"/>
          <p:nvPr/>
        </p:nvSpPr>
        <p:spPr>
          <a:xfrm>
            <a:off x="6272784" y="4462272"/>
            <a:ext cx="5102352" cy="548640"/>
          </a:xfrm>
          <a:prstGeom prst="rect">
            <a:avLst/>
          </a:prstGeom>
          <a:noFill/>
        </p:spPr>
        <p:txBody>
          <a:bodyPr wrap="square" lIns="0" rIns="0" tIns="0" bIns="0" anchor="t">
            <a:spAutoFit/>
          </a:bodyPr>
          <a:lstStyle/>
          <a:p>
            <a:pPr>
              <a:lnSpc>
                <a:spcPct val="120000"/>
              </a:lnSpc>
              <a:spcBef>
                <a:spcPts val="0"/>
              </a:spcBef>
              <a:spcAft>
                <a:spcPts val="0"/>
              </a:spcAft>
            </a:pPr>
            <a:r>
              <a:rPr sz="1100" b="0" i="0">
                <a:solidFill>
                  <a:srgbClr val="A5B2C4"/>
                </a:solidFill>
                <a:latin typeface="Segoe UI"/>
              </a:rPr>
              <a:t>2 000 amortises launch overhead without a large pinned footprint.</a:t>
            </a:r>
          </a:p>
        </p:txBody>
      </p:sp>
      <p:sp>
        <p:nvSpPr>
          <p:cNvPr id="61" name="TextBox 60"/>
          <p:cNvSpPr txBox="1"/>
          <p:nvPr/>
        </p:nvSpPr>
        <p:spPr>
          <a:xfrm>
            <a:off x="722376" y="5248656"/>
            <a:ext cx="2459736" cy="45720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1E90C2"/>
                </a:solidFill>
                <a:latin typeface="Consolas"/>
              </a:rPr>
              <a:t>cluster_size</a:t>
            </a:r>
          </a:p>
        </p:txBody>
      </p:sp>
      <p:sp>
        <p:nvSpPr>
          <p:cNvPr id="62" name="TextBox 61"/>
          <p:cNvSpPr txBox="1"/>
          <p:nvPr/>
        </p:nvSpPr>
        <p:spPr>
          <a:xfrm>
            <a:off x="3291840" y="5248656"/>
            <a:ext cx="2743200" cy="548640"/>
          </a:xfrm>
          <a:prstGeom prst="rect">
            <a:avLst/>
          </a:prstGeom>
          <a:noFill/>
        </p:spPr>
        <p:txBody>
          <a:bodyPr wrap="square" lIns="0" rIns="0" tIns="0" bIns="0" anchor="t">
            <a:spAutoFit/>
          </a:bodyPr>
          <a:lstStyle/>
          <a:p>
            <a:pPr>
              <a:lnSpc>
                <a:spcPct val="120000"/>
              </a:lnSpc>
              <a:spcBef>
                <a:spcPts val="0"/>
              </a:spcBef>
              <a:spcAft>
                <a:spcPts val="0"/>
              </a:spcAft>
            </a:pPr>
            <a:r>
              <a:rPr sz="1100" b="0" i="0">
                <a:solidFill>
                  <a:srgbClr val="E7EDF4"/>
                </a:solidFill>
                <a:latin typeface="Segoe UI"/>
              </a:rPr>
              <a:t>Compile-time stencil geometry.</a:t>
            </a:r>
          </a:p>
        </p:txBody>
      </p:sp>
      <p:sp>
        <p:nvSpPr>
          <p:cNvPr id="63" name="TextBox 62"/>
          <p:cNvSpPr txBox="1"/>
          <p:nvPr/>
        </p:nvSpPr>
        <p:spPr>
          <a:xfrm>
            <a:off x="6272784" y="5248656"/>
            <a:ext cx="5102352" cy="548640"/>
          </a:xfrm>
          <a:prstGeom prst="rect">
            <a:avLst/>
          </a:prstGeom>
          <a:noFill/>
        </p:spPr>
        <p:txBody>
          <a:bodyPr wrap="square" lIns="0" rIns="0" tIns="0" bIns="0" anchor="t">
            <a:spAutoFit/>
          </a:bodyPr>
          <a:lstStyle/>
          <a:p>
            <a:pPr>
              <a:lnSpc>
                <a:spcPct val="120000"/>
              </a:lnSpc>
              <a:spcBef>
                <a:spcPts val="0"/>
              </a:spcBef>
              <a:spcAft>
                <a:spcPts val="0"/>
              </a:spcAft>
            </a:pPr>
            <a:r>
              <a:rPr sz="1100" b="0" i="0">
                <a:solidFill>
                  <a:srgbClr val="A5B2C4"/>
                </a:solidFill>
                <a:latin typeface="Segoe UI"/>
              </a:rPr>
              <a:t>3×3 and 9×9 are registered. 9×9 moves the bottleneck off H2D.</a:t>
            </a:r>
          </a:p>
        </p:txBody>
      </p:sp>
      <p:sp>
        <p:nvSpPr>
          <p:cNvPr id="64" name="Rectangle 63"/>
          <p:cNvSpPr/>
          <p:nvPr/>
        </p:nvSpPr>
        <p:spPr>
          <a:xfrm>
            <a:off x="457200" y="5888736"/>
            <a:ext cx="1124712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2376" y="6035040"/>
            <a:ext cx="2459736" cy="45720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1E90C2"/>
                </a:solidFill>
                <a:latin typeface="Consolas"/>
              </a:rPr>
              <a:t>register_input_buffer</a:t>
            </a:r>
          </a:p>
        </p:txBody>
      </p:sp>
      <p:sp>
        <p:nvSpPr>
          <p:cNvPr id="66" name="TextBox 65"/>
          <p:cNvSpPr txBox="1"/>
          <p:nvPr/>
        </p:nvSpPr>
        <p:spPr>
          <a:xfrm>
            <a:off x="3291840" y="6035040"/>
            <a:ext cx="2743200" cy="548640"/>
          </a:xfrm>
          <a:prstGeom prst="rect">
            <a:avLst/>
          </a:prstGeom>
          <a:noFill/>
        </p:spPr>
        <p:txBody>
          <a:bodyPr wrap="square" lIns="0" rIns="0" tIns="0" bIns="0" anchor="t">
            <a:spAutoFit/>
          </a:bodyPr>
          <a:lstStyle/>
          <a:p>
            <a:pPr>
              <a:lnSpc>
                <a:spcPct val="120000"/>
              </a:lnSpc>
              <a:spcBef>
                <a:spcPts val="0"/>
              </a:spcBef>
              <a:spcAft>
                <a:spcPts val="0"/>
              </a:spcAft>
            </a:pPr>
            <a:r>
              <a:rPr sz="1100" b="0" i="0">
                <a:solidFill>
                  <a:srgbClr val="E7EDF4"/>
                </a:solidFill>
                <a:latin typeface="Segoe UI"/>
              </a:rPr>
              <a:t>Page-locks the host array for DMA.</a:t>
            </a:r>
          </a:p>
        </p:txBody>
      </p:sp>
      <p:sp>
        <p:nvSpPr>
          <p:cNvPr id="67" name="TextBox 66"/>
          <p:cNvSpPr txBox="1"/>
          <p:nvPr/>
        </p:nvSpPr>
        <p:spPr>
          <a:xfrm>
            <a:off x="6272784" y="6035040"/>
            <a:ext cx="5102352" cy="548640"/>
          </a:xfrm>
          <a:prstGeom prst="rect">
            <a:avLst/>
          </a:prstGeom>
          <a:noFill/>
        </p:spPr>
        <p:txBody>
          <a:bodyPr wrap="square" lIns="0" rIns="0" tIns="0" bIns="0" anchor="t">
            <a:spAutoFit/>
          </a:bodyPr>
          <a:lstStyle/>
          <a:p>
            <a:pPr>
              <a:lnSpc>
                <a:spcPct val="120000"/>
              </a:lnSpc>
              <a:spcBef>
                <a:spcPts val="0"/>
              </a:spcBef>
              <a:spcAft>
                <a:spcPts val="0"/>
              </a:spcAft>
            </a:pPr>
            <a:r>
              <a:rPr sz="1100" b="0" i="0">
                <a:solidFill>
                  <a:srgbClr val="A5B2C4"/>
                </a:solidFill>
                <a:latin typeface="Segoe UI"/>
              </a:rPr>
              <a:t>Always, if the data is already in RAM.</a:t>
            </a:r>
          </a:p>
        </p:txBody>
      </p:sp>
      <p:sp>
        <p:nvSpPr>
          <p:cNvPr id="68" name="Rounded Rectangle 67"/>
          <p:cNvSpPr/>
          <p:nvPr/>
        </p:nvSpPr>
        <p:spPr>
          <a:xfrm>
            <a:off x="420624" y="3483864"/>
            <a:ext cx="11320272" cy="877824"/>
          </a:xfrm>
          <a:prstGeom prst="roundRect">
            <a:avLst>
              <a:gd name="adj" fmla="val 6000"/>
            </a:avLst>
          </a:prstGeom>
          <a:noFill/>
          <a:ln w="22225">
            <a:solidFill>
              <a:srgbClr val="E25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7840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THIS LEAVES US</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bottleneck has walked from the host, to the GPU, to PCIe</a:t>
            </a:r>
          </a:p>
        </p:txBody>
      </p:sp>
      <p:sp>
        <p:nvSpPr>
          <p:cNvPr id="6" name="Rectangle 5"/>
          <p:cNvSpPr/>
          <p:nvPr/>
        </p:nvSpPr>
        <p:spPr>
          <a:xfrm>
            <a:off x="45720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998"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479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359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1239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90119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8998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7878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6758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5638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8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3397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2277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1157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037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8917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7796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6676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5556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436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16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2195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1075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955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8835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77149"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6594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4746"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43543"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832342"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21140"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09937"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98735"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87534"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76331"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65129" y="6656832"/>
            <a:ext cx="259918"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37976"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36 / 36</a:t>
            </a:r>
          </a:p>
        </p:txBody>
      </p:sp>
      <p:sp>
        <p:nvSpPr>
          <p:cNvPr id="43" name="Rectangle 42"/>
          <p:cNvSpPr/>
          <p:nvPr/>
        </p:nvSpPr>
        <p:spPr>
          <a:xfrm>
            <a:off x="498348" y="1627632"/>
            <a:ext cx="1120597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7200" y="1627632"/>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13232" y="1719072"/>
            <a:ext cx="10789920" cy="384048"/>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Every number in this deck is measured on one machine, one dataset, one git revision</a:t>
            </a:r>
            <a:r>
              <a:rPr sz="1300" b="0" i="0">
                <a:solidFill>
                  <a:srgbClr val="A5B2C4"/>
                </a:solidFill>
                <a:latin typeface="Segoe UI"/>
              </a:rPr>
              <a:t> — and the annexes carry the reconciliation for each of them.</a:t>
            </a:r>
          </a:p>
        </p:txBody>
      </p:sp>
      <p:sp>
        <p:nvSpPr>
          <p:cNvPr id="46" name="Rectangle 45"/>
          <p:cNvSpPr/>
          <p:nvPr/>
        </p:nvSpPr>
        <p:spPr>
          <a:xfrm>
            <a:off x="457200" y="2395728"/>
            <a:ext cx="5522976" cy="18288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 y="2395728"/>
            <a:ext cx="5522976"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2633472"/>
            <a:ext cx="1325880" cy="237744"/>
          </a:xfrm>
          <a:prstGeom prst="rect">
            <a:avLst/>
          </a:prstGeom>
          <a:noFill/>
        </p:spPr>
        <p:txBody>
          <a:bodyPr wrap="square" lIns="0" rIns="0" tIns="0" bIns="0" anchor="t">
            <a:spAutoFit/>
          </a:bodyPr>
          <a:lstStyle/>
          <a:p>
            <a:pPr>
              <a:spcBef>
                <a:spcPts val="0"/>
              </a:spcBef>
              <a:spcAft>
                <a:spcPts val="0"/>
              </a:spcAft>
            </a:pPr>
            <a:r>
              <a:rPr sz="950" b="1" i="0" spc="150">
                <a:solidFill>
                  <a:srgbClr val="1E90C2"/>
                </a:solidFill>
                <a:latin typeface="Segoe UI"/>
              </a:rPr>
              <a:t>DONE</a:t>
            </a:r>
          </a:p>
        </p:txBody>
      </p:sp>
      <p:sp>
        <p:nvSpPr>
          <p:cNvPr id="49" name="TextBox 48"/>
          <p:cNvSpPr txBox="1"/>
          <p:nvPr/>
        </p:nvSpPr>
        <p:spPr>
          <a:xfrm>
            <a:off x="731520" y="2926080"/>
            <a:ext cx="4910328" cy="365760"/>
          </a:xfrm>
          <a:prstGeom prst="rect">
            <a:avLst/>
          </a:prstGeom>
          <a:noFill/>
        </p:spPr>
        <p:txBody>
          <a:bodyPr wrap="square" lIns="0" rIns="0" tIns="0" bIns="0" anchor="t">
            <a:spAutoFit/>
          </a:bodyPr>
          <a:lstStyle/>
          <a:p>
            <a:pPr>
              <a:lnSpc>
                <a:spcPct val="110000"/>
              </a:lnSpc>
              <a:spcBef>
                <a:spcPts val="0"/>
              </a:spcBef>
              <a:spcAft>
                <a:spcPts val="0"/>
              </a:spcAft>
            </a:pPr>
            <a:r>
              <a:rPr sz="1500" b="1" i="0">
                <a:solidFill>
                  <a:srgbClr val="E7EDF4"/>
                </a:solidFill>
                <a:latin typeface="Segoe UI"/>
              </a:rPr>
              <a:t>×9.1 at 3×3, ×26.5 at 9×9</a:t>
            </a:r>
          </a:p>
        </p:txBody>
      </p:sp>
      <p:sp>
        <p:nvSpPr>
          <p:cNvPr id="50" name="TextBox 49"/>
          <p:cNvSpPr txBox="1"/>
          <p:nvPr/>
        </p:nvSpPr>
        <p:spPr>
          <a:xfrm>
            <a:off x="731520" y="3383280"/>
            <a:ext cx="4910328" cy="777240"/>
          </a:xfrm>
          <a:prstGeom prst="rect">
            <a:avLst/>
          </a:prstGeom>
          <a:noFill/>
        </p:spPr>
        <p:txBody>
          <a:bodyPr wrap="square" lIns="0" rIns="0" tIns="0" bIns="0" anchor="t">
            <a:spAutoFit/>
          </a:bodyPr>
          <a:lstStyle/>
          <a:p>
            <a:pPr>
              <a:lnSpc>
                <a:spcPct val="130000"/>
              </a:lnSpc>
              <a:spcBef>
                <a:spcPts val="0"/>
              </a:spcBef>
              <a:spcAft>
                <a:spcPts val="0"/>
              </a:spcAft>
            </a:pPr>
            <a:r>
              <a:rPr sz="1200" b="0" i="0">
                <a:solidFill>
                  <a:srgbClr val="A5B2C4"/>
                </a:solidFill>
                <a:latin typeface="Segoe UI"/>
              </a:rPr>
              <a:t>16.3 and 25.1 µs/frame end to end, both on their hardware floor. At 3×3 that is 45× MÖNCH03's standard frame rate.</a:t>
            </a:r>
          </a:p>
        </p:txBody>
      </p:sp>
      <p:sp>
        <p:nvSpPr>
          <p:cNvPr id="51" name="Rectangle 50"/>
          <p:cNvSpPr/>
          <p:nvPr/>
        </p:nvSpPr>
        <p:spPr>
          <a:xfrm>
            <a:off x="6172200" y="2395728"/>
            <a:ext cx="5522976" cy="18288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72200" y="2395728"/>
            <a:ext cx="5522976"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46520" y="2633472"/>
            <a:ext cx="1325880" cy="237744"/>
          </a:xfrm>
          <a:prstGeom prst="rect">
            <a:avLst/>
          </a:prstGeom>
          <a:noFill/>
        </p:spPr>
        <p:txBody>
          <a:bodyPr wrap="square" lIns="0" rIns="0" tIns="0" bIns="0" anchor="t">
            <a:spAutoFit/>
          </a:bodyPr>
          <a:lstStyle/>
          <a:p>
            <a:pPr>
              <a:spcBef>
                <a:spcPts val="0"/>
              </a:spcBef>
              <a:spcAft>
                <a:spcPts val="0"/>
              </a:spcAft>
            </a:pPr>
            <a:r>
              <a:rPr sz="950" b="1" i="0" spc="150">
                <a:solidFill>
                  <a:srgbClr val="1E90C2"/>
                </a:solidFill>
                <a:latin typeface="Segoe UI"/>
              </a:rPr>
              <a:t>DONE</a:t>
            </a:r>
          </a:p>
        </p:txBody>
      </p:sp>
      <p:sp>
        <p:nvSpPr>
          <p:cNvPr id="54" name="TextBox 53"/>
          <p:cNvSpPr txBox="1"/>
          <p:nvPr/>
        </p:nvSpPr>
        <p:spPr>
          <a:xfrm>
            <a:off x="6446520" y="2926080"/>
            <a:ext cx="4910328" cy="365760"/>
          </a:xfrm>
          <a:prstGeom prst="rect">
            <a:avLst/>
          </a:prstGeom>
          <a:noFill/>
        </p:spPr>
        <p:txBody>
          <a:bodyPr wrap="square" lIns="0" rIns="0" tIns="0" bIns="0" anchor="t">
            <a:spAutoFit/>
          </a:bodyPr>
          <a:lstStyle/>
          <a:p>
            <a:pPr>
              <a:lnSpc>
                <a:spcPct val="110000"/>
              </a:lnSpc>
              <a:spcBef>
                <a:spcPts val="0"/>
              </a:spcBef>
              <a:spcAft>
                <a:spcPts val="0"/>
              </a:spcAft>
            </a:pPr>
            <a:r>
              <a:rPr sz="1500" b="1" i="0">
                <a:solidFill>
                  <a:srgbClr val="E7EDF4"/>
                </a:solidFill>
                <a:latin typeface="Segoe UI"/>
              </a:rPr>
              <a:t>FP32 pedestal, safely</a:t>
            </a:r>
          </a:p>
        </p:txBody>
      </p:sp>
      <p:sp>
        <p:nvSpPr>
          <p:cNvPr id="55" name="TextBox 54"/>
          <p:cNvSpPr txBox="1"/>
          <p:nvPr/>
        </p:nvSpPr>
        <p:spPr>
          <a:xfrm>
            <a:off x="6446520" y="3383280"/>
            <a:ext cx="4910328" cy="777240"/>
          </a:xfrm>
          <a:prstGeom prst="rect">
            <a:avLst/>
          </a:prstGeom>
          <a:noFill/>
        </p:spPr>
        <p:txBody>
          <a:bodyPr wrap="square" lIns="0" rIns="0" tIns="0" bIns="0" anchor="t">
            <a:spAutoFit/>
          </a:bodyPr>
          <a:lstStyle/>
          <a:p>
            <a:pPr>
              <a:lnSpc>
                <a:spcPct val="130000"/>
              </a:lnSpc>
              <a:spcBef>
                <a:spcPts val="0"/>
              </a:spcBef>
              <a:spcAft>
                <a:spcPts val="0"/>
              </a:spcAft>
            </a:pPr>
            <a:r>
              <a:rPr sz="1200" b="0" i="0">
                <a:solidFill>
                  <a:srgbClr val="A5B2C4"/>
                </a:solidFill>
                <a:latin typeface="Segoe UI"/>
              </a:rPr>
              <a:t>−40.5 % kernel time, and correct: the variance accumulates on a frozen per-pixel offset. 6 duplicate clusters in 23 million.</a:t>
            </a:r>
          </a:p>
        </p:txBody>
      </p:sp>
      <p:sp>
        <p:nvSpPr>
          <p:cNvPr id="56" name="Rectangle 55"/>
          <p:cNvSpPr/>
          <p:nvPr/>
        </p:nvSpPr>
        <p:spPr>
          <a:xfrm>
            <a:off x="457200" y="4498848"/>
            <a:ext cx="5522976" cy="18288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57200" y="4498848"/>
            <a:ext cx="5522976"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31520" y="4736592"/>
            <a:ext cx="1325880" cy="237744"/>
          </a:xfrm>
          <a:prstGeom prst="rect">
            <a:avLst/>
          </a:prstGeom>
          <a:noFill/>
        </p:spPr>
        <p:txBody>
          <a:bodyPr wrap="square" lIns="0" rIns="0" tIns="0" bIns="0" anchor="t">
            <a:spAutoFit/>
          </a:bodyPr>
          <a:lstStyle/>
          <a:p>
            <a:pPr>
              <a:spcBef>
                <a:spcPts val="0"/>
              </a:spcBef>
              <a:spcAft>
                <a:spcPts val="0"/>
              </a:spcAft>
            </a:pPr>
            <a:r>
              <a:rPr sz="950" b="1" i="0" spc="150">
                <a:solidFill>
                  <a:srgbClr val="E8B25C"/>
                </a:solidFill>
                <a:latin typeface="Segoe UI"/>
              </a:rPr>
              <a:t>NEXT</a:t>
            </a:r>
          </a:p>
        </p:txBody>
      </p:sp>
      <p:sp>
        <p:nvSpPr>
          <p:cNvPr id="59" name="TextBox 58"/>
          <p:cNvSpPr txBox="1"/>
          <p:nvPr/>
        </p:nvSpPr>
        <p:spPr>
          <a:xfrm>
            <a:off x="731520" y="5029200"/>
            <a:ext cx="4910328" cy="365760"/>
          </a:xfrm>
          <a:prstGeom prst="rect">
            <a:avLst/>
          </a:prstGeom>
          <a:noFill/>
        </p:spPr>
        <p:txBody>
          <a:bodyPr wrap="square" lIns="0" rIns="0" tIns="0" bIns="0" anchor="t">
            <a:spAutoFit/>
          </a:bodyPr>
          <a:lstStyle/>
          <a:p>
            <a:pPr>
              <a:lnSpc>
                <a:spcPct val="110000"/>
              </a:lnSpc>
              <a:spcBef>
                <a:spcPts val="0"/>
              </a:spcBef>
              <a:spcAft>
                <a:spcPts val="0"/>
              </a:spcAft>
            </a:pPr>
            <a:r>
              <a:rPr sz="1500" b="1" i="0">
                <a:solidFill>
                  <a:srgbClr val="E7EDF4"/>
                </a:solidFill>
                <a:latin typeface="Segoe UI"/>
              </a:rPr>
              <a:t>3×3: transfer granularity</a:t>
            </a:r>
          </a:p>
        </p:txBody>
      </p:sp>
      <p:sp>
        <p:nvSpPr>
          <p:cNvPr id="60" name="TextBox 59"/>
          <p:cNvSpPr txBox="1"/>
          <p:nvPr/>
        </p:nvSpPr>
        <p:spPr>
          <a:xfrm>
            <a:off x="731520" y="5486400"/>
            <a:ext cx="4910328" cy="777240"/>
          </a:xfrm>
          <a:prstGeom prst="rect">
            <a:avLst/>
          </a:prstGeom>
          <a:noFill/>
        </p:spPr>
        <p:txBody>
          <a:bodyPr wrap="square" lIns="0" rIns="0" tIns="0" bIns="0" anchor="t">
            <a:spAutoFit/>
          </a:bodyPr>
          <a:lstStyle/>
          <a:p>
            <a:pPr>
              <a:lnSpc>
                <a:spcPct val="130000"/>
              </a:lnSpc>
              <a:spcBef>
                <a:spcPts val="0"/>
              </a:spcBef>
              <a:spcAft>
                <a:spcPts val="0"/>
              </a:spcAft>
            </a:pPr>
            <a:r>
              <a:rPr sz="1200" b="0" i="0">
                <a:solidFill>
                  <a:srgbClr val="A5B2C4"/>
                </a:solidFill>
                <a:latin typeface="Segoe UI"/>
              </a:rPr>
              <a:t>H2D sustains 16.31 µs against 13.15 uncontended — 2 000 separate 320 kB descriptors, plus H2D↔D2H contention.</a:t>
            </a:r>
          </a:p>
        </p:txBody>
      </p:sp>
      <p:sp>
        <p:nvSpPr>
          <p:cNvPr id="61" name="Rectangle 60"/>
          <p:cNvSpPr/>
          <p:nvPr/>
        </p:nvSpPr>
        <p:spPr>
          <a:xfrm>
            <a:off x="6172200" y="4498848"/>
            <a:ext cx="5522976" cy="18288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72200" y="4498848"/>
            <a:ext cx="5522976"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46520" y="4736592"/>
            <a:ext cx="1325880" cy="237744"/>
          </a:xfrm>
          <a:prstGeom prst="rect">
            <a:avLst/>
          </a:prstGeom>
          <a:noFill/>
        </p:spPr>
        <p:txBody>
          <a:bodyPr wrap="square" lIns="0" rIns="0" tIns="0" bIns="0" anchor="t">
            <a:spAutoFit/>
          </a:bodyPr>
          <a:lstStyle/>
          <a:p>
            <a:pPr>
              <a:spcBef>
                <a:spcPts val="0"/>
              </a:spcBef>
              <a:spcAft>
                <a:spcPts val="0"/>
              </a:spcAft>
            </a:pPr>
            <a:r>
              <a:rPr sz="950" b="1" i="0" spc="150">
                <a:solidFill>
                  <a:srgbClr val="E8B25C"/>
                </a:solidFill>
                <a:latin typeface="Segoe UI"/>
              </a:rPr>
              <a:t>NEXT</a:t>
            </a:r>
          </a:p>
        </p:txBody>
      </p:sp>
      <p:sp>
        <p:nvSpPr>
          <p:cNvPr id="64" name="TextBox 63"/>
          <p:cNvSpPr txBox="1"/>
          <p:nvPr/>
        </p:nvSpPr>
        <p:spPr>
          <a:xfrm>
            <a:off x="6446520" y="5029200"/>
            <a:ext cx="4910328" cy="365760"/>
          </a:xfrm>
          <a:prstGeom prst="rect">
            <a:avLst/>
          </a:prstGeom>
          <a:noFill/>
        </p:spPr>
        <p:txBody>
          <a:bodyPr wrap="square" lIns="0" rIns="0" tIns="0" bIns="0" anchor="t">
            <a:spAutoFit/>
          </a:bodyPr>
          <a:lstStyle/>
          <a:p>
            <a:pPr>
              <a:lnSpc>
                <a:spcPct val="110000"/>
              </a:lnSpc>
              <a:spcBef>
                <a:spcPts val="0"/>
              </a:spcBef>
              <a:spcAft>
                <a:spcPts val="0"/>
              </a:spcAft>
            </a:pPr>
            <a:r>
              <a:rPr sz="1500" b="1" i="0">
                <a:solidFill>
                  <a:srgbClr val="E7EDF4"/>
                </a:solidFill>
                <a:latin typeface="Segoe UI"/>
              </a:rPr>
              <a:t>9×9: the result path, not the kernel</a:t>
            </a:r>
          </a:p>
        </p:txBody>
      </p:sp>
      <p:sp>
        <p:nvSpPr>
          <p:cNvPr id="65" name="TextBox 64"/>
          <p:cNvSpPr txBox="1"/>
          <p:nvPr/>
        </p:nvSpPr>
        <p:spPr>
          <a:xfrm>
            <a:off x="6446520" y="5486400"/>
            <a:ext cx="4910328" cy="777240"/>
          </a:xfrm>
          <a:prstGeom prst="rect">
            <a:avLst/>
          </a:prstGeom>
          <a:noFill/>
        </p:spPr>
        <p:txBody>
          <a:bodyPr wrap="square" lIns="0" rIns="0" tIns="0" bIns="0" anchor="t">
            <a:spAutoFit/>
          </a:bodyPr>
          <a:lstStyle/>
          <a:p>
            <a:pPr>
              <a:lnSpc>
                <a:spcPct val="130000"/>
              </a:lnSpc>
              <a:spcBef>
                <a:spcPts val="0"/>
              </a:spcBef>
              <a:spcAft>
                <a:spcPts val="0"/>
              </a:spcAft>
            </a:pPr>
            <a:r>
              <a:rPr sz="1200" b="0" i="0">
                <a:solidFill>
                  <a:srgbClr val="A5B2C4"/>
                </a:solidFill>
                <a:latin typeface="Segoe UI"/>
              </a:rPr>
              <a:t>At a lossless cap D2H already binds: 25.24 µs against a 23.94 µs kernel. More kernel work buys nothing.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389888"/>
            <a:ext cx="5477256" cy="274320"/>
          </a:xfrm>
          <a:prstGeom prst="rect">
            <a:avLst/>
          </a:prstGeom>
          <a:noFill/>
        </p:spPr>
        <p:txBody>
          <a:bodyPr wrap="square" lIns="0" rIns="0" tIns="0" bIns="0" anchor="t">
            <a:spAutoFit/>
          </a:bodyPr>
          <a:lstStyle/>
          <a:p>
            <a:pPr>
              <a:spcBef>
                <a:spcPts val="0"/>
              </a:spcBef>
              <a:spcAft>
                <a:spcPts val="0"/>
              </a:spcAft>
            </a:pPr>
            <a:r>
              <a:rPr sz="1050" b="1" i="0" spc="180">
                <a:solidFill>
                  <a:srgbClr val="6B7A90"/>
                </a:solidFill>
                <a:latin typeface="Segoe UI"/>
              </a:rPr>
              <a:t/>
            </a:r>
          </a:p>
        </p:txBody>
      </p:sp>
      <p:sp>
        <p:nvSpPr>
          <p:cNvPr id="5" name="TextBox 4"/>
          <p:cNvSpPr txBox="1"/>
          <p:nvPr/>
        </p:nvSpPr>
        <p:spPr>
          <a:xfrm>
            <a:off x="740664" y="1737360"/>
            <a:ext cx="566928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Annexes</a:t>
            </a:r>
          </a:p>
        </p:txBody>
      </p:sp>
      <p:sp>
        <p:nvSpPr>
          <p:cNvPr id="6" name="Rectangle 5"/>
          <p:cNvSpPr/>
          <p:nvPr/>
        </p:nvSpPr>
        <p:spPr>
          <a:xfrm>
            <a:off x="740664" y="3127248"/>
            <a:ext cx="141732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3383280"/>
            <a:ext cx="5385816" cy="1463040"/>
          </a:xfrm>
          <a:prstGeom prst="rect">
            <a:avLst/>
          </a:prstGeom>
          <a:noFill/>
        </p:spPr>
        <p:txBody>
          <a:bodyPr wrap="square" lIns="0" rIns="0" tIns="0" bIns="0" anchor="t">
            <a:spAutoFit/>
          </a:bodyPr>
          <a:lstStyle/>
          <a:p>
            <a:pPr>
              <a:lnSpc>
                <a:spcPct val="135000"/>
              </a:lnSpc>
              <a:spcBef>
                <a:spcPts val="0"/>
              </a:spcBef>
              <a:spcAft>
                <a:spcPts val="0"/>
              </a:spcAft>
            </a:pPr>
            <a:r>
              <a:rPr sz="1600" b="0" i="0">
                <a:solidFill>
                  <a:srgbClr val="A5B2C4"/>
                </a:solidFill>
                <a:latin typeface="Segoe UI"/>
              </a:rPr>
              <a:t/>
            </a:r>
          </a:p>
        </p:txBody>
      </p:sp>
      <p:sp>
        <p:nvSpPr>
          <p:cNvPr id="8" name="Rectangle 7"/>
          <p:cNvSpPr/>
          <p:nvPr/>
        </p:nvSpPr>
        <p:spPr>
          <a:xfrm>
            <a:off x="740664" y="5074920"/>
            <a:ext cx="5385816"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5212080"/>
            <a:ext cx="4910328" cy="219456"/>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EVERYTHING SO FAR</a:t>
            </a:r>
          </a:p>
        </p:txBody>
      </p:sp>
      <p:sp>
        <p:nvSpPr>
          <p:cNvPr id="11" name="TextBox 10"/>
          <p:cNvSpPr txBox="1"/>
          <p:nvPr/>
        </p:nvSpPr>
        <p:spPr>
          <a:xfrm>
            <a:off x="1024128" y="5413248"/>
            <a:ext cx="4910328"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35 slides</a:t>
            </a:r>
          </a:p>
        </p:txBody>
      </p:sp>
      <p:sp>
        <p:nvSpPr>
          <p:cNvPr id="12" name="TextBox 11"/>
          <p:cNvSpPr txBox="1"/>
          <p:nvPr/>
        </p:nvSpPr>
        <p:spPr>
          <a:xfrm>
            <a:off x="1024128" y="5833872"/>
            <a:ext cx="4910328" cy="237744"/>
          </a:xfrm>
          <a:prstGeom prst="rect">
            <a:avLst/>
          </a:prstGeom>
          <a:noFill/>
        </p:spPr>
        <p:txBody>
          <a:bodyPr wrap="square" lIns="0" rIns="0" tIns="0" bIns="0" anchor="t">
            <a:spAutoFit/>
          </a:bodyPr>
          <a:lstStyle/>
          <a:p>
            <a:pPr>
              <a:spcBef>
                <a:spcPts val="0"/>
              </a:spcBef>
              <a:spcAft>
                <a:spcPts val="0"/>
              </a:spcAft>
            </a:pPr>
            <a:r>
              <a:rPr sz="1100" b="0" i="0">
                <a:solidFill>
                  <a:srgbClr val="6B7A90"/>
                </a:solidFill>
                <a:latin typeface="Segoe UI"/>
              </a:rPr>
              <a:t>the arc is finished; what follows answers questions</a:t>
            </a:r>
          </a:p>
        </p:txBody>
      </p:sp>
      <p:sp>
        <p:nvSpPr>
          <p:cNvPr id="13" name="Rectangle 12"/>
          <p:cNvSpPr/>
          <p:nvPr/>
        </p:nvSpPr>
        <p:spPr>
          <a:xfrm>
            <a:off x="6556248"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0568" y="1858708"/>
            <a:ext cx="4727448" cy="237744"/>
          </a:xfrm>
          <a:prstGeom prst="rect">
            <a:avLst/>
          </a:prstGeom>
          <a:noFill/>
        </p:spPr>
        <p:txBody>
          <a:bodyPr wrap="square" lIns="0" rIns="0" tIns="0" bIns="0" anchor="t">
            <a:spAutoFit/>
          </a:bodyPr>
          <a:lstStyle/>
          <a:p>
            <a:pPr>
              <a:spcBef>
                <a:spcPts val="0"/>
              </a:spcBef>
              <a:spcAft>
                <a:spcPts val="0"/>
              </a:spcAft>
            </a:pPr>
            <a:r>
              <a:rPr sz="1000" b="1" i="0" spc="160">
                <a:solidFill>
                  <a:srgbClr val="6B7A90"/>
                </a:solidFill>
                <a:latin typeface="Segoe UI"/>
              </a:rPr>
              <a:t>COMING UP</a:t>
            </a:r>
          </a:p>
        </p:txBody>
      </p:sp>
      <p:sp>
        <p:nvSpPr>
          <p:cNvPr id="15" name="TextBox 14"/>
          <p:cNvSpPr txBox="1"/>
          <p:nvPr/>
        </p:nvSpPr>
        <p:spPr>
          <a:xfrm>
            <a:off x="6830568" y="2279332"/>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Consolas"/>
              </a:rPr>
              <a:t>A1</a:t>
            </a:r>
          </a:p>
        </p:txBody>
      </p:sp>
      <p:sp>
        <p:nvSpPr>
          <p:cNvPr id="16" name="TextBox 15"/>
          <p:cNvSpPr txBox="1"/>
          <p:nvPr/>
        </p:nvSpPr>
        <p:spPr>
          <a:xfrm>
            <a:off x="7360920" y="2279332"/>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Every engine number, reconciled</a:t>
            </a:r>
          </a:p>
        </p:txBody>
      </p:sp>
      <p:sp>
        <p:nvSpPr>
          <p:cNvPr id="17" name="TextBox 16"/>
          <p:cNvSpPr txBox="1"/>
          <p:nvPr/>
        </p:nvSpPr>
        <p:spPr>
          <a:xfrm>
            <a:off x="6830568" y="2738437"/>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Consolas"/>
              </a:rPr>
              <a:t>A2</a:t>
            </a:r>
          </a:p>
        </p:txBody>
      </p:sp>
      <p:sp>
        <p:nvSpPr>
          <p:cNvPr id="18" name="TextBox 17"/>
          <p:cNvSpPr txBox="1"/>
          <p:nvPr/>
        </p:nvSpPr>
        <p:spPr>
          <a:xfrm>
            <a:off x="7360920" y="2738437"/>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The three rejected routes</a:t>
            </a:r>
          </a:p>
        </p:txBody>
      </p:sp>
      <p:sp>
        <p:nvSpPr>
          <p:cNvPr id="19" name="TextBox 18"/>
          <p:cNvSpPr txBox="1"/>
          <p:nvPr/>
        </p:nvSpPr>
        <p:spPr>
          <a:xfrm>
            <a:off x="6830568" y="3197542"/>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Consolas"/>
              </a:rPr>
              <a:t>A3</a:t>
            </a:r>
          </a:p>
        </p:txBody>
      </p:sp>
      <p:sp>
        <p:nvSpPr>
          <p:cNvPr id="20" name="TextBox 19"/>
          <p:cNvSpPr txBox="1"/>
          <p:nvPr/>
        </p:nvSpPr>
        <p:spPr>
          <a:xfrm>
            <a:off x="7360920" y="3197542"/>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opt5 · the overlap code</a:t>
            </a:r>
          </a:p>
        </p:txBody>
      </p:sp>
      <p:sp>
        <p:nvSpPr>
          <p:cNvPr id="21" name="TextBox 20"/>
          <p:cNvSpPr txBox="1"/>
          <p:nvPr/>
        </p:nvSpPr>
        <p:spPr>
          <a:xfrm>
            <a:off x="6830568" y="3656647"/>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Consolas"/>
              </a:rPr>
              <a:t>A4</a:t>
            </a:r>
          </a:p>
        </p:txBody>
      </p:sp>
      <p:sp>
        <p:nvSpPr>
          <p:cNvPr id="22" name="TextBox 21"/>
          <p:cNvSpPr txBox="1"/>
          <p:nvPr/>
        </p:nvSpPr>
        <p:spPr>
          <a:xfrm>
            <a:off x="7360920" y="3656647"/>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The fault model, tested</a:t>
            </a:r>
          </a:p>
        </p:txBody>
      </p:sp>
      <p:sp>
        <p:nvSpPr>
          <p:cNvPr id="23" name="TextBox 22"/>
          <p:cNvSpPr txBox="1"/>
          <p:nvPr/>
        </p:nvSpPr>
        <p:spPr>
          <a:xfrm>
            <a:off x="6830568" y="4115752"/>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Consolas"/>
              </a:rPr>
              <a:t>A5</a:t>
            </a:r>
          </a:p>
        </p:txBody>
      </p:sp>
      <p:sp>
        <p:nvSpPr>
          <p:cNvPr id="24" name="TextBox 23"/>
          <p:cNvSpPr txBox="1"/>
          <p:nvPr/>
        </p:nvSpPr>
        <p:spPr>
          <a:xfrm>
            <a:off x="7360920" y="4115752"/>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The variance rewrite in full</a:t>
            </a:r>
          </a:p>
        </p:txBody>
      </p:sp>
      <p:sp>
        <p:nvSpPr>
          <p:cNvPr id="25" name="TextBox 24"/>
          <p:cNvSpPr txBox="1"/>
          <p:nvPr/>
        </p:nvSpPr>
        <p:spPr>
          <a:xfrm>
            <a:off x="6830568" y="4574857"/>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Consolas"/>
              </a:rPr>
              <a:t>A6</a:t>
            </a:r>
          </a:p>
        </p:txBody>
      </p:sp>
      <p:sp>
        <p:nvSpPr>
          <p:cNvPr id="26" name="TextBox 25"/>
          <p:cNvSpPr txBox="1"/>
          <p:nvPr/>
        </p:nvSpPr>
        <p:spPr>
          <a:xfrm>
            <a:off x="7360920" y="4574857"/>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The three benchmark artefacts</a:t>
            </a:r>
          </a:p>
        </p:txBody>
      </p:sp>
      <p:sp>
        <p:nvSpPr>
          <p:cNvPr id="27" name="TextBox 26"/>
          <p:cNvSpPr txBox="1"/>
          <p:nvPr/>
        </p:nvSpPr>
        <p:spPr>
          <a:xfrm>
            <a:off x="6830568" y="5033962"/>
            <a:ext cx="548640" cy="274320"/>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Consolas"/>
              </a:rPr>
              <a:t>A7</a:t>
            </a:r>
          </a:p>
        </p:txBody>
      </p:sp>
      <p:sp>
        <p:nvSpPr>
          <p:cNvPr id="28" name="TextBox 27"/>
          <p:cNvSpPr txBox="1"/>
          <p:nvPr/>
        </p:nvSpPr>
        <p:spPr>
          <a:xfrm>
            <a:off x="7360920" y="5033962"/>
            <a:ext cx="4434840" cy="274320"/>
          </a:xfrm>
          <a:prstGeom prst="rect">
            <a:avLst/>
          </a:prstGeom>
          <a:noFill/>
        </p:spPr>
        <p:txBody>
          <a:bodyPr wrap="square" lIns="0" rIns="0" tIns="0" bIns="0" anchor="t">
            <a:spAutoFit/>
          </a:bodyPr>
          <a:lstStyle/>
          <a:p>
            <a:pPr>
              <a:lnSpc>
                <a:spcPct val="122000"/>
              </a:lnSpc>
              <a:spcBef>
                <a:spcPts val="0"/>
              </a:spcBef>
              <a:spcAft>
                <a:spcPts val="0"/>
              </a:spcAft>
            </a:pPr>
            <a:r>
              <a:rPr sz="1500" b="0" i="0">
                <a:solidFill>
                  <a:srgbClr val="E7EDF4"/>
                </a:solidFill>
                <a:latin typeface="Segoe UI"/>
              </a:rPr>
              <a:t>Which test causes the CPU/CPU gap</a:t>
            </a:r>
          </a:p>
        </p:txBody>
      </p:sp>
      <p:sp>
        <p:nvSpPr>
          <p:cNvPr id="29" name="Rectangle 28"/>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942446"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27693"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91294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98187"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83434"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368681"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A1</a:t>
            </a:r>
          </a:p>
        </p:txBody>
      </p:sp>
      <p:sp>
        <p:nvSpPr>
          <p:cNvPr id="4" name="TextBox 3"/>
          <p:cNvSpPr txBox="1"/>
          <p:nvPr/>
        </p:nvSpPr>
        <p:spPr>
          <a:xfrm>
            <a:off x="1143000" y="457200"/>
            <a:ext cx="95554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MEASUREMENT CONVENTION · EXPANDS SLIDE 21</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Uncontended, or as the pipeline runs it</a:t>
            </a:r>
          </a:p>
        </p:txBody>
      </p:sp>
      <p:sp>
        <p:nvSpPr>
          <p:cNvPr id="6" name="Rectangle 5"/>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942446"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27693"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12940"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98187"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83434"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68681"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63656"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A1</a:t>
            </a:r>
          </a:p>
        </p:txBody>
      </p:sp>
      <p:sp>
        <p:nvSpPr>
          <p:cNvPr id="14" name="TextBox 13"/>
          <p:cNvSpPr txBox="1"/>
          <p:nvPr/>
        </p:nvSpPr>
        <p:spPr>
          <a:xfrm>
            <a:off x="457200" y="1664208"/>
            <a:ext cx="1133856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Every engine time in this deck is tagged </a:t>
            </a:r>
            <a:r>
              <a:rPr sz="1500" b="1" i="0">
                <a:solidFill>
                  <a:srgbClr val="E7EDF4"/>
                </a:solidFill>
                <a:latin typeface="Segoe UI"/>
              </a:rPr>
              <a:t>[build · s1|s4]</a:t>
            </a:r>
            <a:r>
              <a:rPr sz="1500" b="0" i="0">
                <a:solidFill>
                  <a:srgbClr val="A5B2C4"/>
                </a:solidFill>
                <a:latin typeface="Segoe UI"/>
              </a:rPr>
              <a:t>. </a:t>
            </a:r>
            <a:r>
              <a:rPr sz="1500" b="1" i="0">
                <a:solidFill>
                  <a:srgbClr val="E7EDF4"/>
                </a:solidFill>
                <a:latin typeface="Segoe UI"/>
              </a:rPr>
              <a:t>s1</a:t>
            </a:r>
            <a:r>
              <a:rPr sz="1500" b="0" i="0">
                <a:solidFill>
                  <a:srgbClr val="A5B2C4"/>
                </a:solidFill>
                <a:latin typeface="Segoe UI"/>
              </a:rPr>
              <a:t> is one stream with nothing else running: what an engine does </a:t>
            </a:r>
            <a:r>
              <a:rPr sz="1500" b="1" i="0">
                <a:solidFill>
                  <a:srgbClr val="E7EDF4"/>
                </a:solidFill>
                <a:latin typeface="Segoe UI"/>
              </a:rPr>
              <a:t>on its own</a:t>
            </a:r>
            <a:r>
              <a:rPr sz="1500" b="0" i="0">
                <a:solidFill>
                  <a:srgbClr val="A5B2C4"/>
                </a:solidFill>
                <a:latin typeface="Segoe UI"/>
              </a:rPr>
              <a:t>, which is the right number for a capability claim and for the headroom that remains. </a:t>
            </a:r>
            <a:r>
              <a:rPr sz="1500" b="1" i="0">
                <a:solidFill>
                  <a:srgbClr val="E7EDF4"/>
                </a:solidFill>
                <a:latin typeface="Segoe UI"/>
              </a:rPr>
              <a:t>s4</a:t>
            </a:r>
            <a:r>
              <a:rPr sz="1500" b="0" i="0">
                <a:solidFill>
                  <a:srgbClr val="A5B2C4"/>
                </a:solidFill>
                <a:latin typeface="Segoe UI"/>
              </a:rPr>
              <a:t> is the shipped four-stream pipeline: each engine's </a:t>
            </a:r>
            <a:r>
              <a:rPr sz="1500" b="1" i="0">
                <a:solidFill>
                  <a:srgbClr val="E7EDF4"/>
                </a:solidFill>
                <a:latin typeface="Segoe UI"/>
              </a:rPr>
              <a:t>busy time per frame</a:t>
            </a:r>
            <a:r>
              <a:rPr sz="1500" b="0" i="0">
                <a:solidFill>
                  <a:srgbClr val="A5B2C4"/>
                </a:solidFill>
                <a:latin typeface="Segoe UI"/>
              </a:rPr>
              <a:t>, the union of its intervals, the only number that can set a floor.</a:t>
            </a:r>
          </a:p>
        </p:txBody>
      </p:sp>
      <p:sp>
        <p:nvSpPr>
          <p:cNvPr id="15" name="Rectangle 14"/>
          <p:cNvSpPr/>
          <p:nvPr/>
        </p:nvSpPr>
        <p:spPr>
          <a:xfrm>
            <a:off x="457200" y="2807208"/>
            <a:ext cx="5477256"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 y="2880360"/>
            <a:ext cx="5477256"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3×3 · µS/FRAME</a:t>
            </a:r>
          </a:p>
        </p:txBody>
      </p:sp>
      <p:sp>
        <p:nvSpPr>
          <p:cNvPr id="17" name="TextBox 16"/>
          <p:cNvSpPr txBox="1"/>
          <p:nvPr/>
        </p:nvSpPr>
        <p:spPr>
          <a:xfrm>
            <a:off x="2137135" y="2880360"/>
            <a:ext cx="5477256"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S1 F64</a:t>
            </a:r>
          </a:p>
        </p:txBody>
      </p:sp>
      <p:sp>
        <p:nvSpPr>
          <p:cNvPr id="18" name="TextBox 17"/>
          <p:cNvSpPr txBox="1"/>
          <p:nvPr/>
        </p:nvSpPr>
        <p:spPr>
          <a:xfrm>
            <a:off x="3123041" y="2880360"/>
            <a:ext cx="5477256"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S1 F32</a:t>
            </a:r>
          </a:p>
        </p:txBody>
      </p:sp>
      <p:sp>
        <p:nvSpPr>
          <p:cNvPr id="19" name="TextBox 18"/>
          <p:cNvSpPr txBox="1"/>
          <p:nvPr/>
        </p:nvSpPr>
        <p:spPr>
          <a:xfrm>
            <a:off x="4108947" y="2880360"/>
            <a:ext cx="5477256"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S4 F64</a:t>
            </a:r>
          </a:p>
        </p:txBody>
      </p:sp>
      <p:sp>
        <p:nvSpPr>
          <p:cNvPr id="20" name="TextBox 19"/>
          <p:cNvSpPr txBox="1"/>
          <p:nvPr/>
        </p:nvSpPr>
        <p:spPr>
          <a:xfrm>
            <a:off x="5094853" y="2880360"/>
            <a:ext cx="5477256"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S4 F32</a:t>
            </a:r>
          </a:p>
        </p:txBody>
      </p:sp>
      <p:sp>
        <p:nvSpPr>
          <p:cNvPr id="21" name="Rectangle 20"/>
          <p:cNvSpPr/>
          <p:nvPr/>
        </p:nvSpPr>
        <p:spPr>
          <a:xfrm>
            <a:off x="457200" y="3154679"/>
            <a:ext cx="5477256"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 y="3246120"/>
            <a:ext cx="1314175"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H2D</a:t>
            </a:r>
          </a:p>
        </p:txBody>
      </p:sp>
      <p:sp>
        <p:nvSpPr>
          <p:cNvPr id="23" name="TextBox 22"/>
          <p:cNvSpPr txBox="1"/>
          <p:nvPr/>
        </p:nvSpPr>
        <p:spPr>
          <a:xfrm>
            <a:off x="2137135" y="3246120"/>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13.14</a:t>
            </a:r>
          </a:p>
        </p:txBody>
      </p:sp>
      <p:sp>
        <p:nvSpPr>
          <p:cNvPr id="24" name="TextBox 23"/>
          <p:cNvSpPr txBox="1"/>
          <p:nvPr/>
        </p:nvSpPr>
        <p:spPr>
          <a:xfrm>
            <a:off x="3123041" y="3246120"/>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13.15</a:t>
            </a:r>
          </a:p>
        </p:txBody>
      </p:sp>
      <p:sp>
        <p:nvSpPr>
          <p:cNvPr id="25" name="TextBox 24"/>
          <p:cNvSpPr txBox="1"/>
          <p:nvPr/>
        </p:nvSpPr>
        <p:spPr>
          <a:xfrm>
            <a:off x="4108947" y="3246120"/>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16.17</a:t>
            </a:r>
          </a:p>
        </p:txBody>
      </p:sp>
      <p:sp>
        <p:nvSpPr>
          <p:cNvPr id="26" name="TextBox 25"/>
          <p:cNvSpPr txBox="1"/>
          <p:nvPr/>
        </p:nvSpPr>
        <p:spPr>
          <a:xfrm>
            <a:off x="5094853" y="3246120"/>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16.63</a:t>
            </a:r>
          </a:p>
        </p:txBody>
      </p:sp>
      <p:sp>
        <p:nvSpPr>
          <p:cNvPr id="27" name="TextBox 26"/>
          <p:cNvSpPr txBox="1"/>
          <p:nvPr/>
        </p:nvSpPr>
        <p:spPr>
          <a:xfrm>
            <a:off x="603504" y="3685031"/>
            <a:ext cx="1314175"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kernel</a:t>
            </a:r>
          </a:p>
        </p:txBody>
      </p:sp>
      <p:sp>
        <p:nvSpPr>
          <p:cNvPr id="28" name="TextBox 27"/>
          <p:cNvSpPr txBox="1"/>
          <p:nvPr/>
        </p:nvSpPr>
        <p:spPr>
          <a:xfrm>
            <a:off x="2137135" y="3685031"/>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14.72</a:t>
            </a:r>
          </a:p>
        </p:txBody>
      </p:sp>
      <p:sp>
        <p:nvSpPr>
          <p:cNvPr id="29" name="TextBox 28"/>
          <p:cNvSpPr txBox="1"/>
          <p:nvPr/>
        </p:nvSpPr>
        <p:spPr>
          <a:xfrm>
            <a:off x="3123041" y="3685031"/>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4.32</a:t>
            </a:r>
          </a:p>
        </p:txBody>
      </p:sp>
      <p:sp>
        <p:nvSpPr>
          <p:cNvPr id="30" name="TextBox 29"/>
          <p:cNvSpPr txBox="1"/>
          <p:nvPr/>
        </p:nvSpPr>
        <p:spPr>
          <a:xfrm>
            <a:off x="4108947" y="3685031"/>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15.17</a:t>
            </a:r>
          </a:p>
        </p:txBody>
      </p:sp>
      <p:sp>
        <p:nvSpPr>
          <p:cNvPr id="31" name="TextBox 30"/>
          <p:cNvSpPr txBox="1"/>
          <p:nvPr/>
        </p:nvSpPr>
        <p:spPr>
          <a:xfrm>
            <a:off x="5094853" y="3685031"/>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5.53</a:t>
            </a:r>
          </a:p>
        </p:txBody>
      </p:sp>
      <p:sp>
        <p:nvSpPr>
          <p:cNvPr id="32" name="Rectangle 31"/>
          <p:cNvSpPr/>
          <p:nvPr/>
        </p:nvSpPr>
        <p:spPr>
          <a:xfrm>
            <a:off x="457200" y="4032504"/>
            <a:ext cx="5477256"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504" y="4123944"/>
            <a:ext cx="1314175"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D2H</a:t>
            </a:r>
          </a:p>
        </p:txBody>
      </p:sp>
      <p:sp>
        <p:nvSpPr>
          <p:cNvPr id="34" name="TextBox 33"/>
          <p:cNvSpPr txBox="1"/>
          <p:nvPr/>
        </p:nvSpPr>
        <p:spPr>
          <a:xfrm>
            <a:off x="2137135" y="4123944"/>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5.31</a:t>
            </a:r>
          </a:p>
        </p:txBody>
      </p:sp>
      <p:sp>
        <p:nvSpPr>
          <p:cNvPr id="35" name="TextBox 34"/>
          <p:cNvSpPr txBox="1"/>
          <p:nvPr/>
        </p:nvSpPr>
        <p:spPr>
          <a:xfrm>
            <a:off x="3123041" y="4123944"/>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5.27</a:t>
            </a:r>
          </a:p>
        </p:txBody>
      </p:sp>
      <p:sp>
        <p:nvSpPr>
          <p:cNvPr id="36" name="TextBox 35"/>
          <p:cNvSpPr txBox="1"/>
          <p:nvPr/>
        </p:nvSpPr>
        <p:spPr>
          <a:xfrm>
            <a:off x="4108947" y="4123944"/>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7.69</a:t>
            </a:r>
          </a:p>
        </p:txBody>
      </p:sp>
      <p:sp>
        <p:nvSpPr>
          <p:cNvPr id="37" name="TextBox 36"/>
          <p:cNvSpPr txBox="1"/>
          <p:nvPr/>
        </p:nvSpPr>
        <p:spPr>
          <a:xfrm>
            <a:off x="5094853" y="4123944"/>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7.57</a:t>
            </a:r>
          </a:p>
        </p:txBody>
      </p:sp>
      <p:sp>
        <p:nvSpPr>
          <p:cNvPr id="38" name="TextBox 37"/>
          <p:cNvSpPr txBox="1"/>
          <p:nvPr/>
        </p:nvSpPr>
        <p:spPr>
          <a:xfrm>
            <a:off x="603504" y="4562856"/>
            <a:ext cx="1314175"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engine max [s4]</a:t>
            </a:r>
          </a:p>
        </p:txBody>
      </p:sp>
      <p:sp>
        <p:nvSpPr>
          <p:cNvPr id="39" name="TextBox 38"/>
          <p:cNvSpPr txBox="1"/>
          <p:nvPr/>
        </p:nvSpPr>
        <p:spPr>
          <a:xfrm>
            <a:off x="2137135" y="4562856"/>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a:t>
            </a:r>
          </a:p>
        </p:txBody>
      </p:sp>
      <p:sp>
        <p:nvSpPr>
          <p:cNvPr id="40" name="TextBox 39"/>
          <p:cNvSpPr txBox="1"/>
          <p:nvPr/>
        </p:nvSpPr>
        <p:spPr>
          <a:xfrm>
            <a:off x="3123041" y="4562856"/>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a:t>
            </a:r>
          </a:p>
        </p:txBody>
      </p:sp>
      <p:sp>
        <p:nvSpPr>
          <p:cNvPr id="41" name="TextBox 40"/>
          <p:cNvSpPr txBox="1"/>
          <p:nvPr/>
        </p:nvSpPr>
        <p:spPr>
          <a:xfrm>
            <a:off x="4108947" y="4562856"/>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16.17</a:t>
            </a:r>
          </a:p>
        </p:txBody>
      </p:sp>
      <p:sp>
        <p:nvSpPr>
          <p:cNvPr id="42" name="TextBox 41"/>
          <p:cNvSpPr txBox="1"/>
          <p:nvPr/>
        </p:nvSpPr>
        <p:spPr>
          <a:xfrm>
            <a:off x="5094853" y="4562856"/>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16.63</a:t>
            </a:r>
          </a:p>
        </p:txBody>
      </p:sp>
      <p:sp>
        <p:nvSpPr>
          <p:cNvPr id="43" name="Rectangle 42"/>
          <p:cNvSpPr/>
          <p:nvPr/>
        </p:nvSpPr>
        <p:spPr>
          <a:xfrm>
            <a:off x="457200" y="4910328"/>
            <a:ext cx="5477256"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3504" y="5001768"/>
            <a:ext cx="1314175"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FLOOR = lower of max, sustained</a:t>
            </a:r>
          </a:p>
        </p:txBody>
      </p:sp>
      <p:sp>
        <p:nvSpPr>
          <p:cNvPr id="45" name="TextBox 44"/>
          <p:cNvSpPr txBox="1"/>
          <p:nvPr/>
        </p:nvSpPr>
        <p:spPr>
          <a:xfrm>
            <a:off x="2137135" y="5001768"/>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a:t>
            </a:r>
          </a:p>
        </p:txBody>
      </p:sp>
      <p:sp>
        <p:nvSpPr>
          <p:cNvPr id="46" name="TextBox 45"/>
          <p:cNvSpPr txBox="1"/>
          <p:nvPr/>
        </p:nvSpPr>
        <p:spPr>
          <a:xfrm>
            <a:off x="3123041" y="5001768"/>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a:t>
            </a:r>
          </a:p>
        </p:txBody>
      </p:sp>
      <p:sp>
        <p:nvSpPr>
          <p:cNvPr id="47" name="TextBox 46"/>
          <p:cNvSpPr txBox="1"/>
          <p:nvPr/>
        </p:nvSpPr>
        <p:spPr>
          <a:xfrm>
            <a:off x="4108947" y="5001768"/>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16.17</a:t>
            </a:r>
          </a:p>
        </p:txBody>
      </p:sp>
      <p:sp>
        <p:nvSpPr>
          <p:cNvPr id="48" name="TextBox 47"/>
          <p:cNvSpPr txBox="1"/>
          <p:nvPr/>
        </p:nvSpPr>
        <p:spPr>
          <a:xfrm>
            <a:off x="5094853" y="5001768"/>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16.31</a:t>
            </a:r>
          </a:p>
        </p:txBody>
      </p:sp>
      <p:sp>
        <p:nvSpPr>
          <p:cNvPr id="49" name="Rectangle 48"/>
          <p:cNvSpPr/>
          <p:nvPr/>
        </p:nvSpPr>
        <p:spPr>
          <a:xfrm>
            <a:off x="6409944" y="2807208"/>
            <a:ext cx="5477256"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56248" y="2880360"/>
            <a:ext cx="5477256"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9×9 · CAP 1700</a:t>
            </a:r>
          </a:p>
        </p:txBody>
      </p:sp>
      <p:sp>
        <p:nvSpPr>
          <p:cNvPr id="51" name="TextBox 50"/>
          <p:cNvSpPr txBox="1"/>
          <p:nvPr/>
        </p:nvSpPr>
        <p:spPr>
          <a:xfrm>
            <a:off x="8089879" y="2880360"/>
            <a:ext cx="5477256"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S1 F64</a:t>
            </a:r>
          </a:p>
        </p:txBody>
      </p:sp>
      <p:sp>
        <p:nvSpPr>
          <p:cNvPr id="52" name="TextBox 51"/>
          <p:cNvSpPr txBox="1"/>
          <p:nvPr/>
        </p:nvSpPr>
        <p:spPr>
          <a:xfrm>
            <a:off x="9075785" y="2880360"/>
            <a:ext cx="5477256"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S1 F32</a:t>
            </a:r>
          </a:p>
        </p:txBody>
      </p:sp>
      <p:sp>
        <p:nvSpPr>
          <p:cNvPr id="53" name="TextBox 52"/>
          <p:cNvSpPr txBox="1"/>
          <p:nvPr/>
        </p:nvSpPr>
        <p:spPr>
          <a:xfrm>
            <a:off x="10061691" y="2880360"/>
            <a:ext cx="5477256"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S4 F64</a:t>
            </a:r>
          </a:p>
        </p:txBody>
      </p:sp>
      <p:sp>
        <p:nvSpPr>
          <p:cNvPr id="54" name="TextBox 53"/>
          <p:cNvSpPr txBox="1"/>
          <p:nvPr/>
        </p:nvSpPr>
        <p:spPr>
          <a:xfrm>
            <a:off x="11047597" y="2880360"/>
            <a:ext cx="5477256"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S4 F32</a:t>
            </a:r>
          </a:p>
        </p:txBody>
      </p:sp>
      <p:sp>
        <p:nvSpPr>
          <p:cNvPr id="55" name="Rectangle 54"/>
          <p:cNvSpPr/>
          <p:nvPr/>
        </p:nvSpPr>
        <p:spPr>
          <a:xfrm>
            <a:off x="6409944" y="3154679"/>
            <a:ext cx="5477256"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56248" y="3246120"/>
            <a:ext cx="1314175"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H2D</a:t>
            </a:r>
          </a:p>
        </p:txBody>
      </p:sp>
      <p:sp>
        <p:nvSpPr>
          <p:cNvPr id="57" name="TextBox 56"/>
          <p:cNvSpPr txBox="1"/>
          <p:nvPr/>
        </p:nvSpPr>
        <p:spPr>
          <a:xfrm>
            <a:off x="8089879" y="3246120"/>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13.20</a:t>
            </a:r>
          </a:p>
        </p:txBody>
      </p:sp>
      <p:sp>
        <p:nvSpPr>
          <p:cNvPr id="58" name="TextBox 57"/>
          <p:cNvSpPr txBox="1"/>
          <p:nvPr/>
        </p:nvSpPr>
        <p:spPr>
          <a:xfrm>
            <a:off x="9075785" y="3246120"/>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13.22</a:t>
            </a:r>
          </a:p>
        </p:txBody>
      </p:sp>
      <p:sp>
        <p:nvSpPr>
          <p:cNvPr id="59" name="TextBox 58"/>
          <p:cNvSpPr txBox="1"/>
          <p:nvPr/>
        </p:nvSpPr>
        <p:spPr>
          <a:xfrm>
            <a:off x="10061691" y="3246120"/>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20.77</a:t>
            </a:r>
          </a:p>
        </p:txBody>
      </p:sp>
      <p:sp>
        <p:nvSpPr>
          <p:cNvPr id="60" name="TextBox 59"/>
          <p:cNvSpPr txBox="1"/>
          <p:nvPr/>
        </p:nvSpPr>
        <p:spPr>
          <a:xfrm>
            <a:off x="11047597" y="3246120"/>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20.54</a:t>
            </a:r>
          </a:p>
        </p:txBody>
      </p:sp>
      <p:sp>
        <p:nvSpPr>
          <p:cNvPr id="61" name="TextBox 60"/>
          <p:cNvSpPr txBox="1"/>
          <p:nvPr/>
        </p:nvSpPr>
        <p:spPr>
          <a:xfrm>
            <a:off x="6556248" y="3685031"/>
            <a:ext cx="1314175"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kernel</a:t>
            </a:r>
          </a:p>
        </p:txBody>
      </p:sp>
      <p:sp>
        <p:nvSpPr>
          <p:cNvPr id="62" name="TextBox 61"/>
          <p:cNvSpPr txBox="1"/>
          <p:nvPr/>
        </p:nvSpPr>
        <p:spPr>
          <a:xfrm>
            <a:off x="8089879" y="3685031"/>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39.86</a:t>
            </a:r>
          </a:p>
        </p:txBody>
      </p:sp>
      <p:sp>
        <p:nvSpPr>
          <p:cNvPr id="63" name="TextBox 62"/>
          <p:cNvSpPr txBox="1"/>
          <p:nvPr/>
        </p:nvSpPr>
        <p:spPr>
          <a:xfrm>
            <a:off x="9075785" y="3685031"/>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23.70</a:t>
            </a:r>
          </a:p>
        </p:txBody>
      </p:sp>
      <p:sp>
        <p:nvSpPr>
          <p:cNvPr id="64" name="TextBox 63"/>
          <p:cNvSpPr txBox="1"/>
          <p:nvPr/>
        </p:nvSpPr>
        <p:spPr>
          <a:xfrm>
            <a:off x="10061691" y="3685031"/>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32.66</a:t>
            </a:r>
          </a:p>
        </p:txBody>
      </p:sp>
      <p:sp>
        <p:nvSpPr>
          <p:cNvPr id="65" name="TextBox 64"/>
          <p:cNvSpPr txBox="1"/>
          <p:nvPr/>
        </p:nvSpPr>
        <p:spPr>
          <a:xfrm>
            <a:off x="11047597" y="3685031"/>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23.94</a:t>
            </a:r>
          </a:p>
        </p:txBody>
      </p:sp>
      <p:sp>
        <p:nvSpPr>
          <p:cNvPr id="66" name="Rectangle 65"/>
          <p:cNvSpPr/>
          <p:nvPr/>
        </p:nvSpPr>
        <p:spPr>
          <a:xfrm>
            <a:off x="6409944" y="4032504"/>
            <a:ext cx="5477256"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556248" y="4123944"/>
            <a:ext cx="1314175"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D2H</a:t>
            </a:r>
          </a:p>
        </p:txBody>
      </p:sp>
      <p:sp>
        <p:nvSpPr>
          <p:cNvPr id="68" name="TextBox 67"/>
          <p:cNvSpPr txBox="1"/>
          <p:nvPr/>
        </p:nvSpPr>
        <p:spPr>
          <a:xfrm>
            <a:off x="8089879" y="4123944"/>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21.97</a:t>
            </a:r>
          </a:p>
        </p:txBody>
      </p:sp>
      <p:sp>
        <p:nvSpPr>
          <p:cNvPr id="69" name="TextBox 68"/>
          <p:cNvSpPr txBox="1"/>
          <p:nvPr/>
        </p:nvSpPr>
        <p:spPr>
          <a:xfrm>
            <a:off x="9075785" y="4123944"/>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21.95</a:t>
            </a:r>
          </a:p>
        </p:txBody>
      </p:sp>
      <p:sp>
        <p:nvSpPr>
          <p:cNvPr id="70" name="TextBox 69"/>
          <p:cNvSpPr txBox="1"/>
          <p:nvPr/>
        </p:nvSpPr>
        <p:spPr>
          <a:xfrm>
            <a:off x="10061691" y="4123944"/>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25.25</a:t>
            </a:r>
          </a:p>
        </p:txBody>
      </p:sp>
      <p:sp>
        <p:nvSpPr>
          <p:cNvPr id="71" name="TextBox 70"/>
          <p:cNvSpPr txBox="1"/>
          <p:nvPr/>
        </p:nvSpPr>
        <p:spPr>
          <a:xfrm>
            <a:off x="11047597" y="4123944"/>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25.24</a:t>
            </a:r>
          </a:p>
        </p:txBody>
      </p:sp>
      <p:sp>
        <p:nvSpPr>
          <p:cNvPr id="72" name="TextBox 71"/>
          <p:cNvSpPr txBox="1"/>
          <p:nvPr/>
        </p:nvSpPr>
        <p:spPr>
          <a:xfrm>
            <a:off x="6556248" y="4562856"/>
            <a:ext cx="1314175"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engine max [s4]</a:t>
            </a:r>
          </a:p>
        </p:txBody>
      </p:sp>
      <p:sp>
        <p:nvSpPr>
          <p:cNvPr id="73" name="TextBox 72"/>
          <p:cNvSpPr txBox="1"/>
          <p:nvPr/>
        </p:nvSpPr>
        <p:spPr>
          <a:xfrm>
            <a:off x="8089879" y="4562856"/>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a:t>
            </a:r>
          </a:p>
        </p:txBody>
      </p:sp>
      <p:sp>
        <p:nvSpPr>
          <p:cNvPr id="74" name="TextBox 73"/>
          <p:cNvSpPr txBox="1"/>
          <p:nvPr/>
        </p:nvSpPr>
        <p:spPr>
          <a:xfrm>
            <a:off x="9075785" y="4562856"/>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a:t>
            </a:r>
          </a:p>
        </p:txBody>
      </p:sp>
      <p:sp>
        <p:nvSpPr>
          <p:cNvPr id="75" name="TextBox 74"/>
          <p:cNvSpPr txBox="1"/>
          <p:nvPr/>
        </p:nvSpPr>
        <p:spPr>
          <a:xfrm>
            <a:off x="10061691" y="4562856"/>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32.66</a:t>
            </a:r>
          </a:p>
        </p:txBody>
      </p:sp>
      <p:sp>
        <p:nvSpPr>
          <p:cNvPr id="76" name="TextBox 75"/>
          <p:cNvSpPr txBox="1"/>
          <p:nvPr/>
        </p:nvSpPr>
        <p:spPr>
          <a:xfrm>
            <a:off x="11047597" y="4562856"/>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25.24</a:t>
            </a:r>
          </a:p>
        </p:txBody>
      </p:sp>
      <p:sp>
        <p:nvSpPr>
          <p:cNvPr id="77" name="Rectangle 76"/>
          <p:cNvSpPr/>
          <p:nvPr/>
        </p:nvSpPr>
        <p:spPr>
          <a:xfrm>
            <a:off x="6409944" y="4910328"/>
            <a:ext cx="5477256"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556248" y="5001768"/>
            <a:ext cx="1314175"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FLOOR = lower of max, sustained</a:t>
            </a:r>
          </a:p>
        </p:txBody>
      </p:sp>
      <p:sp>
        <p:nvSpPr>
          <p:cNvPr id="79" name="TextBox 78"/>
          <p:cNvSpPr txBox="1"/>
          <p:nvPr/>
        </p:nvSpPr>
        <p:spPr>
          <a:xfrm>
            <a:off x="8089879" y="5001768"/>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a:t>
            </a:r>
          </a:p>
        </p:txBody>
      </p:sp>
      <p:sp>
        <p:nvSpPr>
          <p:cNvPr id="80" name="TextBox 79"/>
          <p:cNvSpPr txBox="1"/>
          <p:nvPr/>
        </p:nvSpPr>
        <p:spPr>
          <a:xfrm>
            <a:off x="9075785" y="5001768"/>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a:t>
            </a:r>
          </a:p>
        </p:txBody>
      </p:sp>
      <p:sp>
        <p:nvSpPr>
          <p:cNvPr id="81" name="TextBox 80"/>
          <p:cNvSpPr txBox="1"/>
          <p:nvPr/>
        </p:nvSpPr>
        <p:spPr>
          <a:xfrm>
            <a:off x="10061691" y="5001768"/>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30.01</a:t>
            </a:r>
          </a:p>
        </p:txBody>
      </p:sp>
      <p:sp>
        <p:nvSpPr>
          <p:cNvPr id="82" name="TextBox 81"/>
          <p:cNvSpPr txBox="1"/>
          <p:nvPr/>
        </p:nvSpPr>
        <p:spPr>
          <a:xfrm>
            <a:off x="11047597" y="5001768"/>
            <a:ext cx="766450" cy="402336"/>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25.14</a:t>
            </a:r>
          </a:p>
        </p:txBody>
      </p:sp>
      <p:sp>
        <p:nvSpPr>
          <p:cNvPr id="83" name="Rectangle 82"/>
          <p:cNvSpPr/>
          <p:nvPr/>
        </p:nvSpPr>
        <p:spPr>
          <a:xfrm>
            <a:off x="498348" y="5486400"/>
            <a:ext cx="11297412" cy="84124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57200" y="5486400"/>
            <a:ext cx="41148" cy="8412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13232" y="5577840"/>
            <a:ext cx="10881360" cy="658368"/>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Two traps.</a:t>
            </a:r>
            <a:r>
              <a:rPr sz="1300" b="0" i="0">
                <a:solidFill>
                  <a:srgbClr val="A5B2C4"/>
                </a:solidFill>
                <a:latin typeface="Segoe UI"/>
              </a:rPr>
              <a:t> (1) s4 is engine *occupancy*, not duration — the 9×9 kernel row </a:t>
            </a:r>
            <a:r>
              <a:rPr sz="1300" b="1" i="0">
                <a:solidFill>
                  <a:srgbClr val="E7EDF4"/>
                </a:solidFill>
                <a:latin typeface="Segoe UI"/>
              </a:rPr>
              <a:t>falls</a:t>
            </a:r>
            <a:r>
              <a:rPr sz="1300" b="0" i="0">
                <a:solidFill>
                  <a:srgbClr val="A5B2C4"/>
                </a:solidFill>
                <a:latin typeface="Segoe UI"/>
              </a:rPr>
              <a:t> under load. (2) the </a:t>
            </a:r>
            <a:r>
              <a:rPr sz="1300" b="1" i="0">
                <a:solidFill>
                  <a:srgbClr val="E7EDF4"/>
                </a:solidFill>
                <a:latin typeface="Segoe UI"/>
              </a:rPr>
              <a:t>floor is not the engine max</a:t>
            </a:r>
            <a:r>
              <a:rPr sz="1300" b="0" i="0">
                <a:solidFill>
                  <a:srgbClr val="A5B2C4"/>
                </a:solidFill>
                <a:latin typeface="Segoe UI"/>
              </a:rPr>
              <a:t>: the max is profiled and runs 2–8 % high.</a:t>
            </a:r>
          </a:p>
        </p:txBody>
      </p:sp>
      <p:sp>
        <p:nvSpPr>
          <p:cNvPr id="86" name="TextBox 85"/>
          <p:cNvSpPr txBox="1"/>
          <p:nvPr/>
        </p:nvSpPr>
        <p:spPr>
          <a:xfrm>
            <a:off x="457200" y="6400800"/>
            <a:ext cx="1133856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The D2H shift is an s4 phenomenon: at s1 the kernel binds in both arms. Which engine binds must be read from the s4 columns.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143000" y="457200"/>
            <a:ext cx="95554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EXPANDS SLIDE 11 · 1 OF 3</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Graphs, a sound idea that the next act overtook</a:t>
            </a:r>
          </a:p>
        </p:txBody>
      </p:sp>
      <p:sp>
        <p:nvSpPr>
          <p:cNvPr id="6" name="Rectangle 5"/>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942446"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27693"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12940"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98187"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83434"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68681"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63656"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1/3</a:t>
            </a:r>
          </a:p>
        </p:txBody>
      </p:sp>
      <p:sp>
        <p:nvSpPr>
          <p:cNvPr id="14" name="TextBox 13"/>
          <p:cNvSpPr txBox="1"/>
          <p:nvPr/>
        </p:nvSpPr>
        <p:spPr>
          <a:xfrm>
            <a:off x="457200" y="1783080"/>
            <a:ext cx="1133856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Every cudaMemcpyAsync / kernel launch costs the </a:t>
            </a:r>
            <a:r>
              <a:rPr sz="1500" b="1" i="0">
                <a:solidFill>
                  <a:srgbClr val="E7EDF4"/>
                </a:solidFill>
                <a:latin typeface="Segoe UI"/>
              </a:rPr>
              <a:t>CPU</a:t>
            </a:r>
            <a:r>
              <a:rPr sz="1500" b="0" i="0">
                <a:solidFill>
                  <a:srgbClr val="A5B2C4"/>
                </a:solidFill>
                <a:latin typeface="Segoe UI"/>
              </a:rPr>
              <a:t> a few microseconds of driver work, per frame and per operation. After opt4 that looked like the budget.</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A </a:t>
            </a:r>
            <a:r>
              <a:rPr sz="1500" b="1" i="0">
                <a:solidFill>
                  <a:srgbClr val="E7EDF4"/>
                </a:solidFill>
                <a:latin typeface="Segoe UI"/>
              </a:rPr>
              <a:t>CUDA Graph</a:t>
            </a:r>
            <a:r>
              <a:rPr sz="1500" b="0" i="0">
                <a:solidFill>
                  <a:srgbClr val="A5B2C4"/>
                </a:solidFill>
                <a:latin typeface="Segoe UI"/>
              </a:rPr>
              <a:t> captures the whole dependency DAG once. Replaying it is a </a:t>
            </a:r>
            <a:r>
              <a:rPr sz="1500" b="1" i="0">
                <a:solidFill>
                  <a:srgbClr val="E7EDF4"/>
                </a:solidFill>
                <a:latin typeface="Segoe UI"/>
              </a:rPr>
              <a:t>single</a:t>
            </a:r>
            <a:r>
              <a:rPr sz="1500" b="0" i="0">
                <a:solidFill>
                  <a:srgbClr val="A5B2C4"/>
                </a:solidFill>
                <a:latin typeface="Segoe UI"/>
              </a:rPr>
              <a:t> cudaGraphLaunch: the driver already knows every node and edge.</a:t>
            </a:r>
          </a:p>
        </p:txBody>
      </p:sp>
      <p:pic>
        <p:nvPicPr>
          <p:cNvPr id="15" name="Picture 14" descr="fig_graphs.png"/>
          <p:cNvPicPr>
            <a:picLocks noChangeAspect="1"/>
          </p:cNvPicPr>
          <p:nvPr/>
        </p:nvPicPr>
        <p:blipFill>
          <a:blip r:embed="rId2"/>
          <a:stretch>
            <a:fillRect/>
          </a:stretch>
        </p:blipFill>
        <p:spPr>
          <a:xfrm>
            <a:off x="457200" y="2880360"/>
            <a:ext cx="7178040" cy="2277033"/>
          </a:xfrm>
          <a:prstGeom prst="rect">
            <a:avLst/>
          </a:prstGeom>
        </p:spPr>
      </p:pic>
      <p:sp>
        <p:nvSpPr>
          <p:cNvPr id="16" name="Rounded Rectangle 15"/>
          <p:cNvSpPr/>
          <p:nvPr/>
        </p:nvSpPr>
        <p:spPr>
          <a:xfrm>
            <a:off x="7827264" y="2880360"/>
            <a:ext cx="3877056" cy="1890613"/>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91856" y="2990088"/>
            <a:ext cx="3547872"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ClusterFinderCUDA_graph.hpp</a:t>
            </a:r>
          </a:p>
        </p:txBody>
      </p:sp>
      <p:sp>
        <p:nvSpPr>
          <p:cNvPr id="18" name="TextBox 17"/>
          <p:cNvSpPr txBox="1"/>
          <p:nvPr/>
        </p:nvSpPr>
        <p:spPr>
          <a:xfrm>
            <a:off x="7991856" y="3209544"/>
            <a:ext cx="3547872" cy="1671157"/>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7C8A9E"/>
                </a:solidFill>
                <a:latin typeface="Consolas"/>
              </a:rPr>
              <a:t>// record once, at setup</a:t>
            </a:r>
          </a:p>
          <a:p>
            <a:pPr>
              <a:lnSpc>
                <a:spcPct val="112000"/>
              </a:lnSpc>
              <a:spcBef>
                <a:spcPts val="0"/>
              </a:spcBef>
              <a:spcAft>
                <a:spcPts val="0"/>
              </a:spcAft>
            </a:pPr>
            <a:r>
              <a:rPr sz="1050" b="0" i="0">
                <a:solidFill>
                  <a:srgbClr val="A5B2C4"/>
                </a:solidFill>
                <a:latin typeface="Consolas"/>
              </a:rPr>
              <a:t>cudaStreamBeginCapture(sc.stream, ...);</a:t>
            </a:r>
          </a:p>
          <a:p>
            <a:pPr>
              <a:lnSpc>
                <a:spcPct val="112000"/>
              </a:lnSpc>
              <a:spcBef>
                <a:spcPts val="0"/>
              </a:spcBef>
              <a:spcAft>
                <a:spcPts val="0"/>
              </a:spcAft>
            </a:pPr>
            <a:r>
              <a:rPr sz="1050" b="0" i="0">
                <a:solidFill>
                  <a:srgbClr val="A5B2C4"/>
                </a:solidFill>
                <a:latin typeface="Consolas"/>
              </a:rPr>
              <a:t>   submit_h2d_kernel_d2h(sc);</a:t>
            </a:r>
          </a:p>
          <a:p>
            <a:pPr>
              <a:lnSpc>
                <a:spcPct val="112000"/>
              </a:lnSpc>
              <a:spcBef>
                <a:spcPts val="0"/>
              </a:spcBef>
              <a:spcAft>
                <a:spcPts val="0"/>
              </a:spcAft>
            </a:pPr>
            <a:r>
              <a:rPr sz="1050" b="0" i="0">
                <a:solidFill>
                  <a:srgbClr val="A5B2C4"/>
                </a:solidFill>
                <a:latin typeface="Consolas"/>
              </a:rPr>
              <a:t>cudaStreamEndCapture(sc.stream, &amp;sc.graph);</a:t>
            </a:r>
          </a:p>
          <a:p>
            <a:pPr>
              <a:lnSpc>
                <a:spcPct val="112000"/>
              </a:lnSpc>
              <a:spcBef>
                <a:spcPts val="0"/>
              </a:spcBef>
              <a:spcAft>
                <a:spcPts val="0"/>
              </a:spcAft>
            </a:pPr>
            <a:r>
              <a:rPr sz="1050" b="1" i="0">
                <a:solidFill>
                  <a:srgbClr val="1E90C2"/>
                </a:solidFill>
                <a:latin typeface="Consolas"/>
              </a:rPr>
              <a:t>cudaGraphInstantiate</a:t>
            </a:r>
            <a:r>
              <a:rPr sz="1050" b="0" i="0">
                <a:solidFill>
                  <a:srgbClr val="A5B2C4"/>
                </a:solidFill>
                <a:latin typeface="Consolas"/>
              </a:rPr>
              <a:t>(&amp;sc.graphExec, ...);</a:t>
            </a:r>
          </a:p>
          <a:p>
            <a:pPr>
              <a:lnSpc>
                <a:spcPct val="112000"/>
              </a:lnSpc>
              <a:spcBef>
                <a:spcPts val="0"/>
              </a:spcBef>
              <a:spcAft>
                <a:spcPts val="0"/>
              </a:spcAft>
            </a:pPr>
          </a:p>
          <a:p>
            <a:pPr>
              <a:lnSpc>
                <a:spcPct val="112000"/>
              </a:lnSpc>
              <a:spcBef>
                <a:spcPts val="0"/>
              </a:spcBef>
              <a:spcAft>
                <a:spcPts val="0"/>
              </a:spcAft>
            </a:pPr>
            <a:r>
              <a:rPr sz="1050" b="0" i="0">
                <a:solidFill>
                  <a:srgbClr val="7C8A9E"/>
                </a:solidFill>
                <a:latin typeface="Consolas"/>
              </a:rPr>
              <a:t>// per batch: one call</a:t>
            </a:r>
          </a:p>
          <a:p>
            <a:pPr>
              <a:lnSpc>
                <a:spcPct val="112000"/>
              </a:lnSpc>
              <a:spcBef>
                <a:spcPts val="0"/>
              </a:spcBef>
              <a:spcAft>
                <a:spcPts val="0"/>
              </a:spcAft>
            </a:pPr>
            <a:r>
              <a:rPr sz="1050" b="1" i="0">
                <a:solidFill>
                  <a:srgbClr val="1E90C2"/>
                </a:solidFill>
                <a:latin typeface="Consolas"/>
              </a:rPr>
              <a:t>cudaGraphLaunch</a:t>
            </a:r>
            <a:r>
              <a:rPr sz="1050" b="0" i="0">
                <a:solidFill>
                  <a:srgbClr val="A5B2C4"/>
                </a:solidFill>
                <a:latin typeface="Consolas"/>
              </a:rPr>
              <a:t>(sc.graphExec, sc.stream);</a:t>
            </a:r>
          </a:p>
        </p:txBody>
      </p:sp>
      <p:sp>
        <p:nvSpPr>
          <p:cNvPr id="19" name="Rectangle 18"/>
          <p:cNvSpPr/>
          <p:nvPr/>
        </p:nvSpPr>
        <p:spPr>
          <a:xfrm>
            <a:off x="7868412" y="4626864"/>
            <a:ext cx="3835908"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27264" y="4626864"/>
            <a:ext cx="41148" cy="100584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4718303"/>
            <a:ext cx="3419856" cy="822960"/>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REJECTED</a:t>
            </a:r>
            <a:r>
              <a:rPr sz="1300" b="0" i="0">
                <a:solidFill>
                  <a:srgbClr val="A5B2C4"/>
                </a:solidFill>
                <a:latin typeface="Segoe UI"/>
              </a:rPr>
              <a:t>
3×3: 39 752 FPS, inside noise of opt4.
9×9: </a:t>
            </a:r>
            <a:r>
              <a:rPr sz="1300" b="1" i="0">
                <a:solidFill>
                  <a:srgbClr val="E7EDF4"/>
                </a:solidFill>
                <a:latin typeface="Segoe UI"/>
              </a:rPr>
              <a:t>11 072 FPS, 12 % slower</a:t>
            </a:r>
            <a:r>
              <a:rPr sz="1300" b="0" i="0">
                <a:solidFill>
                  <a:srgbClr val="A5B2C4"/>
                </a:solidFill>
                <a:latin typeface="Segoe UI"/>
              </a:rPr>
              <a:t>.</a:t>
            </a:r>
          </a:p>
        </p:txBody>
      </p:sp>
      <p:sp>
        <p:nvSpPr>
          <p:cNvPr id="22" name="TextBox 21"/>
          <p:cNvSpPr txBox="1"/>
          <p:nvPr/>
        </p:nvSpPr>
        <p:spPr>
          <a:xfrm>
            <a:off x="457200" y="6053328"/>
            <a:ext cx="1133856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The 3×3 edge was never established: the instrumentation tax (2.8 µs) islarger than the gap (0.8 µs). Detail in the notes.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143000" y="457200"/>
            <a:ext cx="95554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2 OF 3</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What a CUDA Graph actually saves, in microseconds</a:t>
            </a:r>
          </a:p>
        </p:txBody>
      </p:sp>
      <p:sp>
        <p:nvSpPr>
          <p:cNvPr id="6" name="Rectangle 5"/>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942446"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27693"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12940"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98187"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83434"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68681"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63656"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2/3</a:t>
            </a:r>
          </a:p>
        </p:txBody>
      </p:sp>
      <p:sp>
        <p:nvSpPr>
          <p:cNvPr id="14" name="TextBox 13"/>
          <p:cNvSpPr txBox="1"/>
          <p:nvPr/>
        </p:nvSpPr>
        <p:spPr>
          <a:xfrm>
            <a:off x="457200" y="1737360"/>
            <a:ext cx="7461504"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The stream path issues </a:t>
            </a:r>
            <a:r>
              <a:rPr sz="1500" b="1" i="0">
                <a:solidFill>
                  <a:srgbClr val="E7EDF4"/>
                </a:solidFill>
                <a:latin typeface="Segoe UI"/>
              </a:rPr>
              <a:t>four runtime calls per frame</a:t>
            </a:r>
            <a:r>
              <a:rPr sz="1500" b="0" i="0">
                <a:solidFill>
                  <a:srgbClr val="A5B2C4"/>
                </a:solidFill>
                <a:latin typeface="Segoe UI"/>
              </a:rPr>
              <a:t> — memset, H2D, launch, D2H — and a graph replaces all four with </a:t>
            </a:r>
            <a:r>
              <a:rPr sz="1500" b="1" i="0">
                <a:solidFill>
                  <a:srgbClr val="E7EDF4"/>
                </a:solidFill>
                <a:latin typeface="Segoe UI"/>
              </a:rPr>
              <a:t>one</a:t>
            </a:r>
            <a:r>
              <a:rPr sz="1500" b="0" i="0">
                <a:solidFill>
                  <a:srgbClr val="A5B2C4"/>
                </a:solidFill>
                <a:latin typeface="Segoe UI"/>
              </a:rPr>
              <a:t> cudaGraphLaunch.</a:t>
            </a:r>
          </a:p>
        </p:txBody>
      </p:sp>
      <p:sp>
        <p:nvSpPr>
          <p:cNvPr id="15" name="Rectangle 14"/>
          <p:cNvSpPr/>
          <p:nvPr/>
        </p:nvSpPr>
        <p:spPr>
          <a:xfrm>
            <a:off x="457200" y="2560320"/>
            <a:ext cx="7461504"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 y="2633472"/>
            <a:ext cx="7461504"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CALL</a:t>
            </a:r>
          </a:p>
        </p:txBody>
      </p:sp>
      <p:sp>
        <p:nvSpPr>
          <p:cNvPr id="17" name="TextBox 16"/>
          <p:cNvSpPr txBox="1"/>
          <p:nvPr/>
        </p:nvSpPr>
        <p:spPr>
          <a:xfrm>
            <a:off x="3588105" y="2633472"/>
            <a:ext cx="7461504"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PER FRAME</a:t>
            </a:r>
          </a:p>
        </p:txBody>
      </p:sp>
      <p:sp>
        <p:nvSpPr>
          <p:cNvPr id="18" name="TextBox 17"/>
          <p:cNvSpPr txBox="1"/>
          <p:nvPr/>
        </p:nvSpPr>
        <p:spPr>
          <a:xfrm>
            <a:off x="4931176" y="2633472"/>
            <a:ext cx="7461504"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HOST COST</a:t>
            </a:r>
          </a:p>
        </p:txBody>
      </p:sp>
      <p:sp>
        <p:nvSpPr>
          <p:cNvPr id="19" name="TextBox 18"/>
          <p:cNvSpPr txBox="1"/>
          <p:nvPr/>
        </p:nvSpPr>
        <p:spPr>
          <a:xfrm>
            <a:off x="6572707" y="2633472"/>
            <a:ext cx="7461504"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µS/FRAME</a:t>
            </a:r>
          </a:p>
        </p:txBody>
      </p:sp>
      <p:sp>
        <p:nvSpPr>
          <p:cNvPr id="20" name="Rectangle 19"/>
          <p:cNvSpPr/>
          <p:nvPr/>
        </p:nvSpPr>
        <p:spPr>
          <a:xfrm>
            <a:off x="457200" y="2907791"/>
            <a:ext cx="7461504"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3504" y="2999232"/>
            <a:ext cx="2765145"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cudaMemcpyAsync</a:t>
            </a:r>
          </a:p>
        </p:txBody>
      </p:sp>
      <p:sp>
        <p:nvSpPr>
          <p:cNvPr id="22" name="TextBox 21"/>
          <p:cNvSpPr txBox="1"/>
          <p:nvPr/>
        </p:nvSpPr>
        <p:spPr>
          <a:xfrm>
            <a:off x="3588105" y="2999232"/>
            <a:ext cx="1123614"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2</a:t>
            </a:r>
          </a:p>
        </p:txBody>
      </p:sp>
      <p:sp>
        <p:nvSpPr>
          <p:cNvPr id="23" name="TextBox 22"/>
          <p:cNvSpPr txBox="1"/>
          <p:nvPr/>
        </p:nvSpPr>
        <p:spPr>
          <a:xfrm>
            <a:off x="4931176" y="2999232"/>
            <a:ext cx="1422074"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1.98 µs</a:t>
            </a:r>
          </a:p>
        </p:txBody>
      </p:sp>
      <p:sp>
        <p:nvSpPr>
          <p:cNvPr id="24" name="TextBox 23"/>
          <p:cNvSpPr txBox="1"/>
          <p:nvPr/>
        </p:nvSpPr>
        <p:spPr>
          <a:xfrm>
            <a:off x="6572707" y="2999232"/>
            <a:ext cx="1272844"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3.97</a:t>
            </a:r>
          </a:p>
        </p:txBody>
      </p:sp>
      <p:sp>
        <p:nvSpPr>
          <p:cNvPr id="25" name="TextBox 24"/>
          <p:cNvSpPr txBox="1"/>
          <p:nvPr/>
        </p:nvSpPr>
        <p:spPr>
          <a:xfrm>
            <a:off x="603504" y="3438144"/>
            <a:ext cx="2765145"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cudaLaunchKernel</a:t>
            </a:r>
          </a:p>
        </p:txBody>
      </p:sp>
      <p:sp>
        <p:nvSpPr>
          <p:cNvPr id="26" name="TextBox 25"/>
          <p:cNvSpPr txBox="1"/>
          <p:nvPr/>
        </p:nvSpPr>
        <p:spPr>
          <a:xfrm>
            <a:off x="3588105" y="3438144"/>
            <a:ext cx="1123614"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a:t>
            </a:r>
          </a:p>
        </p:txBody>
      </p:sp>
      <p:sp>
        <p:nvSpPr>
          <p:cNvPr id="27" name="TextBox 26"/>
          <p:cNvSpPr txBox="1"/>
          <p:nvPr/>
        </p:nvSpPr>
        <p:spPr>
          <a:xfrm>
            <a:off x="4931176" y="3438144"/>
            <a:ext cx="1422074"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2.13 µs</a:t>
            </a:r>
          </a:p>
        </p:txBody>
      </p:sp>
      <p:sp>
        <p:nvSpPr>
          <p:cNvPr id="28" name="TextBox 27"/>
          <p:cNvSpPr txBox="1"/>
          <p:nvPr/>
        </p:nvSpPr>
        <p:spPr>
          <a:xfrm>
            <a:off x="6572707" y="3438144"/>
            <a:ext cx="1272844"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2.13</a:t>
            </a:r>
          </a:p>
        </p:txBody>
      </p:sp>
      <p:sp>
        <p:nvSpPr>
          <p:cNvPr id="29" name="Rectangle 28"/>
          <p:cNvSpPr/>
          <p:nvPr/>
        </p:nvSpPr>
        <p:spPr>
          <a:xfrm>
            <a:off x="457200" y="3785615"/>
            <a:ext cx="7461504"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3504" y="3877055"/>
            <a:ext cx="2765145"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cudaMemsetAsync</a:t>
            </a:r>
          </a:p>
        </p:txBody>
      </p:sp>
      <p:sp>
        <p:nvSpPr>
          <p:cNvPr id="31" name="TextBox 30"/>
          <p:cNvSpPr txBox="1"/>
          <p:nvPr/>
        </p:nvSpPr>
        <p:spPr>
          <a:xfrm>
            <a:off x="3588105" y="3877055"/>
            <a:ext cx="1123614"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a:t>
            </a:r>
          </a:p>
        </p:txBody>
      </p:sp>
      <p:sp>
        <p:nvSpPr>
          <p:cNvPr id="32" name="TextBox 31"/>
          <p:cNvSpPr txBox="1"/>
          <p:nvPr/>
        </p:nvSpPr>
        <p:spPr>
          <a:xfrm>
            <a:off x="4931176" y="3877055"/>
            <a:ext cx="1422074"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1.57 µs</a:t>
            </a:r>
          </a:p>
        </p:txBody>
      </p:sp>
      <p:sp>
        <p:nvSpPr>
          <p:cNvPr id="33" name="TextBox 32"/>
          <p:cNvSpPr txBox="1"/>
          <p:nvPr/>
        </p:nvSpPr>
        <p:spPr>
          <a:xfrm>
            <a:off x="6572707" y="3877055"/>
            <a:ext cx="1272844" cy="402336"/>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1.57</a:t>
            </a:r>
          </a:p>
        </p:txBody>
      </p:sp>
      <p:sp>
        <p:nvSpPr>
          <p:cNvPr id="34" name="TextBox 33"/>
          <p:cNvSpPr txBox="1"/>
          <p:nvPr/>
        </p:nvSpPr>
        <p:spPr>
          <a:xfrm>
            <a:off x="603504" y="4315967"/>
            <a:ext cx="2765145" cy="402336"/>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submission total</a:t>
            </a:r>
          </a:p>
        </p:txBody>
      </p:sp>
      <p:sp>
        <p:nvSpPr>
          <p:cNvPr id="35" name="TextBox 34"/>
          <p:cNvSpPr txBox="1"/>
          <p:nvPr/>
        </p:nvSpPr>
        <p:spPr>
          <a:xfrm>
            <a:off x="3588105" y="4315967"/>
            <a:ext cx="1123614" cy="402336"/>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4</a:t>
            </a:r>
          </a:p>
        </p:txBody>
      </p:sp>
      <p:sp>
        <p:nvSpPr>
          <p:cNvPr id="36" name="TextBox 35"/>
          <p:cNvSpPr txBox="1"/>
          <p:nvPr/>
        </p:nvSpPr>
        <p:spPr>
          <a:xfrm>
            <a:off x="4931176" y="4315967"/>
            <a:ext cx="1422074" cy="402336"/>
          </a:xfrm>
          <a:prstGeom prst="rect">
            <a:avLst/>
          </a:prstGeom>
          <a:noFill/>
        </p:spPr>
        <p:txBody>
          <a:bodyPr wrap="square" lIns="0" rIns="0" tIns="0" bIns="0" anchor="t">
            <a:spAutoFit/>
          </a:bodyPr>
          <a:lstStyle/>
          <a:p>
            <a:pPr>
              <a:lnSpc>
                <a:spcPct val="120000"/>
              </a:lnSpc>
              <a:spcBef>
                <a:spcPts val="0"/>
              </a:spcBef>
              <a:spcAft>
                <a:spcPts val="0"/>
              </a:spcAft>
            </a:pPr>
          </a:p>
        </p:txBody>
      </p:sp>
      <p:sp>
        <p:nvSpPr>
          <p:cNvPr id="37" name="TextBox 36"/>
          <p:cNvSpPr txBox="1"/>
          <p:nvPr/>
        </p:nvSpPr>
        <p:spPr>
          <a:xfrm>
            <a:off x="6572707" y="4315967"/>
            <a:ext cx="1272844" cy="402336"/>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7.67</a:t>
            </a:r>
          </a:p>
        </p:txBody>
      </p:sp>
      <p:sp>
        <p:nvSpPr>
          <p:cNvPr id="38" name="Rounded Rectangle 37"/>
          <p:cNvSpPr/>
          <p:nvPr/>
        </p:nvSpPr>
        <p:spPr>
          <a:xfrm>
            <a:off x="457200" y="4937760"/>
            <a:ext cx="7461504" cy="80183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 y="5047488"/>
            <a:ext cx="7132320"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THE ARITHMETIC</a:t>
            </a:r>
          </a:p>
        </p:txBody>
      </p:sp>
      <p:sp>
        <p:nvSpPr>
          <p:cNvPr id="40" name="TextBox 39"/>
          <p:cNvSpPr txBox="1"/>
          <p:nvPr/>
        </p:nvSpPr>
        <p:spPr>
          <a:xfrm>
            <a:off x="621792" y="5266944"/>
            <a:ext cx="7132320" cy="582381"/>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A5B2C4"/>
                </a:solidFill>
                <a:latin typeface="Consolas"/>
              </a:rPr>
              <a:t>7.67 us/frame x 3/4  = 5.75 us/frame   eliminated, AS MEASURED (under nsys)</a:t>
            </a:r>
          </a:p>
          <a:p>
            <a:pPr>
              <a:lnSpc>
                <a:spcPct val="112000"/>
              </a:lnSpc>
              <a:spcBef>
                <a:spcPts val="0"/>
              </a:spcBef>
              <a:spcAft>
                <a:spcPts val="0"/>
              </a:spcAft>
            </a:pPr>
            <a:r>
              <a:rPr sz="1050" b="0" i="0">
                <a:solidFill>
                  <a:srgbClr val="A5B2C4"/>
                </a:solidFill>
                <a:latin typeface="Consolas"/>
              </a:rPr>
              <a:t>5.75 / 4 (see A5)    ~ 1.4 us/frame    eliminated, unprofiled estimate</a:t>
            </a:r>
          </a:p>
        </p:txBody>
      </p:sp>
      <p:sp>
        <p:nvSpPr>
          <p:cNvPr id="41" name="Rectangle 40"/>
          <p:cNvSpPr/>
          <p:nvPr/>
        </p:nvSpPr>
        <p:spPr>
          <a:xfrm>
            <a:off x="498348" y="5833872"/>
            <a:ext cx="7420356"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5833872"/>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3232" y="5925312"/>
            <a:ext cx="7004304" cy="548640"/>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~1.4 µs against a 16.17 µs floor = 8.7 %</a:t>
            </a:r>
            <a:r>
              <a:rPr sz="1300" b="0" i="0">
                <a:solidFill>
                  <a:srgbClr val="A5B2C4"/>
                </a:solidFill>
                <a:latin typeface="Segoe UI"/>
              </a:rPr>
              <a:t>, real while the host is the critical path, and </a:t>
            </a:r>
            <a:r>
              <a:rPr sz="1300" b="1" i="0">
                <a:solidFill>
                  <a:srgbClr val="E7EDF4"/>
                </a:solidFill>
                <a:latin typeface="Segoe UI"/>
              </a:rPr>
              <a:t>worth nothing after opt5</a:t>
            </a:r>
            <a:r>
              <a:rPr sz="1300" b="0" i="0">
                <a:solidFill>
                  <a:srgbClr val="A5B2C4"/>
                </a:solidFill>
                <a:latin typeface="Segoe UI"/>
              </a:rPr>
              <a:t>, which hides host work under the GPU entirely.</a:t>
            </a:r>
          </a:p>
        </p:txBody>
      </p:sp>
      <p:sp>
        <p:nvSpPr>
          <p:cNvPr id="44" name="Rectangle 43"/>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85632" y="182880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ROUTE A · MEASURED VERDICT</a:t>
            </a:r>
          </a:p>
        </p:txBody>
      </p:sp>
      <p:sp>
        <p:nvSpPr>
          <p:cNvPr id="46" name="TextBox 45"/>
          <p:cNvSpPr txBox="1"/>
          <p:nvPr/>
        </p:nvSpPr>
        <p:spPr>
          <a:xfrm>
            <a:off x="8485632" y="2212848"/>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3×3 VS OPT4</a:t>
            </a:r>
          </a:p>
        </p:txBody>
      </p:sp>
      <p:sp>
        <p:nvSpPr>
          <p:cNvPr id="47" name="TextBox 46"/>
          <p:cNvSpPr txBox="1"/>
          <p:nvPr/>
        </p:nvSpPr>
        <p:spPr>
          <a:xfrm>
            <a:off x="8485632" y="2432304"/>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A5B2C4"/>
                </a:solidFill>
                <a:latin typeface="Segoe UI"/>
              </a:rPr>
              <a:t>×1.03</a:t>
            </a:r>
          </a:p>
        </p:txBody>
      </p:sp>
      <p:sp>
        <p:nvSpPr>
          <p:cNvPr id="48" name="TextBox 47"/>
          <p:cNvSpPr txBox="1"/>
          <p:nvPr/>
        </p:nvSpPr>
        <p:spPr>
          <a:xfrm>
            <a:off x="8485632" y="314553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9×9 VS OPT4</a:t>
            </a:r>
          </a:p>
        </p:txBody>
      </p:sp>
      <p:sp>
        <p:nvSpPr>
          <p:cNvPr id="49" name="TextBox 48"/>
          <p:cNvSpPr txBox="1"/>
          <p:nvPr/>
        </p:nvSpPr>
        <p:spPr>
          <a:xfrm>
            <a:off x="8485632" y="3364991"/>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×0.88</a:t>
            </a:r>
          </a:p>
        </p:txBody>
      </p:sp>
      <p:sp>
        <p:nvSpPr>
          <p:cNvPr id="50" name="TextBox 49"/>
          <p:cNvSpPr txBox="1"/>
          <p:nvPr/>
        </p:nvSpPr>
        <p:spPr>
          <a:xfrm>
            <a:off x="8485632" y="4123944"/>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VS OPT5 AT 9×9</a:t>
            </a:r>
          </a:p>
        </p:txBody>
      </p:sp>
      <p:sp>
        <p:nvSpPr>
          <p:cNvPr id="51" name="TextBox 50"/>
          <p:cNvSpPr txBox="1"/>
          <p:nvPr/>
        </p:nvSpPr>
        <p:spPr>
          <a:xfrm>
            <a:off x="8485632" y="4343400"/>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36 % behind</a:t>
            </a:r>
          </a:p>
        </p:txBody>
      </p:sp>
      <p:sp>
        <p:nvSpPr>
          <p:cNvPr id="52" name="TextBox 51"/>
          <p:cNvSpPr txBox="1"/>
          <p:nvPr/>
        </p:nvSpPr>
        <p:spPr>
          <a:xfrm>
            <a:off x="8485632" y="4965192"/>
            <a:ext cx="3310128" cy="82296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A5B2C4"/>
                </a:solidFill>
                <a:latin typeface="Segoe UI"/>
              </a:rPr>
              <a:t>Read from CUPTI_..._RUNTIME, the host table, so this is the one order-of-magnitude number in the deck, ±50 %. It is enough to show graphs cannot pay against a 16 µs floor, and not enough to quote to two figures.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143000" y="457200"/>
            <a:ext cx="95554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ROUTES · THE RESULT COPY · EXPANDS SLIDE 21 · 3 OF 3</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copy is allocation-bound, not bandwidth-bound</a:t>
            </a:r>
          </a:p>
        </p:txBody>
      </p:sp>
      <p:sp>
        <p:nvSpPr>
          <p:cNvPr id="6" name="Rectangle 5"/>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942446"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27693"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12940"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98187"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83434"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68681"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63656"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3/3</a:t>
            </a:r>
          </a:p>
        </p:txBody>
      </p:sp>
      <p:sp>
        <p:nvSpPr>
          <p:cNvPr id="14" name="Rectangle 13"/>
          <p:cNvSpPr/>
          <p:nvPr/>
        </p:nvSpPr>
        <p:spPr>
          <a:xfrm>
            <a:off x="457200" y="2560320"/>
            <a:ext cx="1124712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2560320"/>
            <a:ext cx="36576"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761488"/>
            <a:ext cx="941832"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17" name="TextBox 16"/>
          <p:cNvSpPr txBox="1"/>
          <p:nvPr/>
        </p:nvSpPr>
        <p:spPr>
          <a:xfrm>
            <a:off x="1682496" y="2743200"/>
            <a:ext cx="566928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One allocation per chunk</a:t>
            </a:r>
          </a:p>
        </p:txBody>
      </p:sp>
      <p:sp>
        <p:nvSpPr>
          <p:cNvPr id="18" name="TextBox 17"/>
          <p:cNvSpPr txBox="1"/>
          <p:nvPr/>
        </p:nvSpPr>
        <p:spPr>
          <a:xfrm>
            <a:off x="1682496" y="3035808"/>
            <a:ext cx="566928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collect_packed()</a:t>
            </a:r>
          </a:p>
        </p:txBody>
      </p:sp>
      <p:sp>
        <p:nvSpPr>
          <p:cNvPr id="19" name="TextBox 18"/>
          <p:cNvSpPr txBox="1"/>
          <p:nvPr/>
        </p:nvSpPr>
        <p:spPr>
          <a:xfrm>
            <a:off x="1682496" y="3383279"/>
            <a:ext cx="9637776"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Removes the per-frame malloc but keeps the copy, and the copy is ~80% of the cost. Worse, the replacement allocation is 1.17 GB, far above glibc's mmap threshold, so it is mmap'd and munmap'd every chunk: 606 566 faults, ~21 µs/frame.</a:t>
            </a:r>
          </a:p>
        </p:txBody>
      </p:sp>
      <p:sp>
        <p:nvSpPr>
          <p:cNvPr id="20" name="TextBox 19"/>
          <p:cNvSpPr txBox="1"/>
          <p:nvPr/>
        </p:nvSpPr>
        <p:spPr>
          <a:xfrm>
            <a:off x="1682496" y="4096511"/>
            <a:ext cx="9637776"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69.3 µs  ·  deleted from the API</a:t>
            </a:r>
          </a:p>
        </p:txBody>
      </p:sp>
      <p:sp>
        <p:nvSpPr>
          <p:cNvPr id="21" name="Rectangle 20"/>
          <p:cNvSpPr/>
          <p:nvPr/>
        </p:nvSpPr>
        <p:spPr>
          <a:xfrm>
            <a:off x="457200" y="4617720"/>
            <a:ext cx="1124712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617720"/>
            <a:ext cx="36576"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 y="4818888"/>
            <a:ext cx="941832"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24" name="TextBox 23"/>
          <p:cNvSpPr txBox="1"/>
          <p:nvPr/>
        </p:nvSpPr>
        <p:spPr>
          <a:xfrm>
            <a:off x="1682496" y="4800600"/>
            <a:ext cx="566928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Parallel materialisation</a:t>
            </a:r>
          </a:p>
        </p:txBody>
      </p:sp>
      <p:sp>
        <p:nvSpPr>
          <p:cNvPr id="25" name="TextBox 24"/>
          <p:cNvSpPr txBox="1"/>
          <p:nvPr/>
        </p:nvSpPr>
        <p:spPr>
          <a:xfrm>
            <a:off x="1682496" y="5093208"/>
            <a:ext cx="566928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8-thread copy pool</a:t>
            </a:r>
          </a:p>
        </p:txBody>
      </p:sp>
      <p:sp>
        <p:nvSpPr>
          <p:cNvPr id="26" name="TextBox 25"/>
          <p:cNvSpPr txBox="1"/>
          <p:nvPr/>
        </p:nvSpPr>
        <p:spPr>
          <a:xfrm>
            <a:off x="1682496" y="5440680"/>
            <a:ext cx="9637776"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worker gets its own glibc arena, which destroys the cross-run heap reuse that makes the single-threaded path cheap. Faults went 9 700 → 2 270 000; MALLOC_ARENA_MAX=1 collapsed them back to 138 k, which is the proof.</a:t>
            </a:r>
          </a:p>
        </p:txBody>
      </p:sp>
      <p:sp>
        <p:nvSpPr>
          <p:cNvPr id="27" name="TextBox 26"/>
          <p:cNvSpPr txBox="1"/>
          <p:nvPr/>
        </p:nvSpPr>
        <p:spPr>
          <a:xfrm>
            <a:off x="1682496" y="6153912"/>
            <a:ext cx="9637776"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 at best, −33% when results are freed promptly</a:t>
            </a:r>
          </a:p>
        </p:txBody>
      </p:sp>
      <p:sp>
        <p:nvSpPr>
          <p:cNvPr id="28" name="Rectangle 27"/>
          <p:cNvSpPr/>
          <p:nvPr/>
        </p:nvSpPr>
        <p:spPr>
          <a:xfrm>
            <a:off x="498348" y="1664208"/>
            <a:ext cx="1120597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1664208"/>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1755648"/>
            <a:ext cx="10789920" cy="548640"/>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Copying faster does not help when the cost is the OS populating pages.</a:t>
            </a:r>
            <a:r>
              <a:rPr sz="1300" b="0" i="0">
                <a:solidFill>
                  <a:srgbClr val="A5B2C4"/>
                </a:solidFill>
                <a:latin typeface="Segoe UI"/>
              </a:rPr>
              <a:t> The only winning move is not to allocate, which is exactly what opt6 does. materialize_slot() is deliberately single-threaded and carries a comment saying so, to stop the experiment being repeated.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A3</a:t>
            </a:r>
          </a:p>
        </p:txBody>
      </p:sp>
      <p:sp>
        <p:nvSpPr>
          <p:cNvPr id="4" name="TextBox 3"/>
          <p:cNvSpPr txBox="1"/>
          <p:nvPr/>
        </p:nvSpPr>
        <p:spPr>
          <a:xfrm>
            <a:off x="1143000" y="457200"/>
            <a:ext cx="95554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OPT5 · THE OVERLAP CODE · EXPANDS SLIDE 20</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overlap, in six lines, and why you never write them</a:t>
            </a:r>
          </a:p>
        </p:txBody>
      </p:sp>
      <p:sp>
        <p:nvSpPr>
          <p:cNvPr id="6" name="Rectangle 5"/>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942446"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27693"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12940"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98187"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83434"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68681"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63656"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A3</a:t>
            </a:r>
          </a:p>
        </p:txBody>
      </p:sp>
      <p:sp>
        <p:nvSpPr>
          <p:cNvPr id="14" name="Rounded Rectangle 13"/>
          <p:cNvSpPr/>
          <p:nvPr/>
        </p:nvSpPr>
        <p:spPr>
          <a:xfrm>
            <a:off x="457200" y="1664208"/>
            <a:ext cx="6757416" cy="1527688"/>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1773936"/>
            <a:ext cx="6428231"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THE WHOLE OF OPT5</a:t>
            </a:r>
          </a:p>
        </p:txBody>
      </p:sp>
      <p:sp>
        <p:nvSpPr>
          <p:cNvPr id="16" name="TextBox 15"/>
          <p:cNvSpPr txBox="1"/>
          <p:nvPr/>
        </p:nvSpPr>
        <p:spPr>
          <a:xfrm>
            <a:off x="621792" y="1993391"/>
            <a:ext cx="6428231" cy="1308232"/>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A5B2C4"/>
                </a:solidFill>
                <a:latin typeface="Consolas"/>
              </a:rPr>
              <a:t>tok = cf.</a:t>
            </a:r>
            <a:r>
              <a:rPr sz="1050" b="1" i="0">
                <a:solidFill>
                  <a:srgbClr val="1E90C2"/>
                </a:solidFill>
                <a:latin typeface="Consolas"/>
              </a:rPr>
              <a:t>submit_batch</a:t>
            </a:r>
            <a:r>
              <a:rPr sz="1050" b="0" i="0">
                <a:solidFill>
                  <a:srgbClr val="A5B2C4"/>
                </a:solidFill>
                <a:latin typeface="Consolas"/>
              </a:rPr>
              <a:t>(data[a0:b0], first_frame=a0)</a:t>
            </a:r>
          </a:p>
          <a:p>
            <a:pPr>
              <a:lnSpc>
                <a:spcPct val="112000"/>
              </a:lnSpc>
              <a:spcBef>
                <a:spcPts val="0"/>
              </a:spcBef>
              <a:spcAft>
                <a:spcPts val="0"/>
              </a:spcAft>
            </a:pPr>
            <a:r>
              <a:rPr sz="1050" b="0" i="0">
                <a:solidFill>
                  <a:srgbClr val="A5B2C4"/>
                </a:solidFill>
                <a:latin typeface="Consolas"/>
              </a:rPr>
              <a:t>for a, b in bounds[1:]:</a:t>
            </a:r>
          </a:p>
          <a:p>
            <a:pPr>
              <a:lnSpc>
                <a:spcPct val="112000"/>
              </a:lnSpc>
              <a:spcBef>
                <a:spcPts val="0"/>
              </a:spcBef>
              <a:spcAft>
                <a:spcPts val="0"/>
              </a:spcAft>
            </a:pPr>
            <a:r>
              <a:rPr sz="1050" b="0" i="0">
                <a:solidFill>
                  <a:srgbClr val="A5B2C4"/>
                </a:solidFill>
                <a:latin typeface="Consolas"/>
              </a:rPr>
              <a:t>    nxt = cf.</a:t>
            </a:r>
            <a:r>
              <a:rPr sz="1050" b="1" i="0">
                <a:solidFill>
                  <a:srgbClr val="1E90C2"/>
                </a:solidFill>
                <a:latin typeface="Consolas"/>
              </a:rPr>
              <a:t>submit_batch</a:t>
            </a:r>
            <a:r>
              <a:rPr sz="1050" b="0" i="0">
                <a:solidFill>
                  <a:srgbClr val="A5B2C4"/>
                </a:solidFill>
                <a:latin typeface="Consolas"/>
              </a:rPr>
              <a:t>(data[a:b], first_frame=a)   # GPU starts N+1 …</a:t>
            </a:r>
          </a:p>
          <a:p>
            <a:pPr>
              <a:lnSpc>
                <a:spcPct val="112000"/>
              </a:lnSpc>
              <a:spcBef>
                <a:spcPts val="0"/>
              </a:spcBef>
              <a:spcAft>
                <a:spcPts val="0"/>
              </a:spcAft>
            </a:pPr>
            <a:r>
              <a:rPr sz="1050" b="0" i="0">
                <a:solidFill>
                  <a:srgbClr val="A5B2C4"/>
                </a:solidFill>
                <a:latin typeface="Consolas"/>
              </a:rPr>
              <a:t>    results.extend(cf.</a:t>
            </a:r>
            <a:r>
              <a:rPr sz="1050" b="1" i="0">
                <a:solidFill>
                  <a:srgbClr val="1E90C2"/>
                </a:solidFill>
                <a:latin typeface="Consolas"/>
              </a:rPr>
              <a:t>collect</a:t>
            </a:r>
            <a:r>
              <a:rPr sz="1050" b="0" i="0">
                <a:solidFill>
                  <a:srgbClr val="A5B2C4"/>
                </a:solidFill>
                <a:latin typeface="Consolas"/>
              </a:rPr>
              <a:t>(tok))                   # … host unpacks N</a:t>
            </a:r>
          </a:p>
          <a:p>
            <a:pPr>
              <a:lnSpc>
                <a:spcPct val="112000"/>
              </a:lnSpc>
              <a:spcBef>
                <a:spcPts val="0"/>
              </a:spcBef>
              <a:spcAft>
                <a:spcPts val="0"/>
              </a:spcAft>
            </a:pPr>
            <a:r>
              <a:rPr sz="1050" b="0" i="0">
                <a:solidFill>
                  <a:srgbClr val="A5B2C4"/>
                </a:solidFill>
                <a:latin typeface="Consolas"/>
              </a:rPr>
              <a:t>    tok = nxt</a:t>
            </a:r>
          </a:p>
          <a:p>
            <a:pPr>
              <a:lnSpc>
                <a:spcPct val="112000"/>
              </a:lnSpc>
              <a:spcBef>
                <a:spcPts val="0"/>
              </a:spcBef>
              <a:spcAft>
                <a:spcPts val="0"/>
              </a:spcAft>
            </a:pPr>
            <a:r>
              <a:rPr sz="1050" b="0" i="0">
                <a:solidFill>
                  <a:srgbClr val="A5B2C4"/>
                </a:solidFill>
                <a:latin typeface="Consolas"/>
              </a:rPr>
              <a:t>results.extend(cf.</a:t>
            </a:r>
            <a:r>
              <a:rPr sz="1050" b="1" i="0">
                <a:solidFill>
                  <a:srgbClr val="1E90C2"/>
                </a:solidFill>
                <a:latin typeface="Consolas"/>
              </a:rPr>
              <a:t>collect</a:t>
            </a:r>
            <a:r>
              <a:rPr sz="1050" b="0" i="0">
                <a:solidFill>
                  <a:srgbClr val="A5B2C4"/>
                </a:solidFill>
                <a:latin typeface="Consolas"/>
              </a:rPr>
              <a:t>(tok))                       # drain the last one</a:t>
            </a:r>
          </a:p>
        </p:txBody>
      </p:sp>
      <p:sp>
        <p:nvSpPr>
          <p:cNvPr id="17" name="TextBox 16"/>
          <p:cNvSpPr txBox="1"/>
          <p:nvPr/>
        </p:nvSpPr>
        <p:spPr>
          <a:xfrm>
            <a:off x="457200" y="3328416"/>
            <a:ext cx="6757416"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1" i="0">
                <a:solidFill>
                  <a:srgbClr val="E7EDF4"/>
                </a:solidFill>
                <a:latin typeface="Segoe UI"/>
              </a:rPr>
              <a:t>You do not write this.</a:t>
            </a:r>
            <a:r>
              <a:rPr sz="1500" b="0" i="0">
                <a:solidFill>
                  <a:srgbClr val="A5B2C4"/>
                </a:solidFill>
                <a:latin typeface="Segoe UI"/>
              </a:rPr>
              <a:t> It is inside find_clusters_batched(), so opt5 arrived as a </a:t>
            </a:r>
            <a:r>
              <a:rPr sz="1500" b="1" i="0">
                <a:solidFill>
                  <a:srgbClr val="E7EDF4"/>
                </a:solidFill>
                <a:latin typeface="Segoe UI"/>
              </a:rPr>
              <a:t>speedup, not an API change</a:t>
            </a:r>
            <a:r>
              <a:rPr sz="1500" b="0" i="0">
                <a:solidFill>
                  <a:srgbClr val="A5B2C4"/>
                </a:solidFill>
                <a:latin typeface="Segoe UI"/>
              </a:rPr>
              <a:t>.</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submit_batch() and collect() stay public for streaming from a detector, or interleaving other work between chunks.</a:t>
            </a:r>
          </a:p>
        </p:txBody>
      </p:sp>
      <p:sp>
        <p:nvSpPr>
          <p:cNvPr id="18" name="Rectangle 17"/>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85632" y="182880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CHUNK SIZING · THE TWO CONSTRAINTS</a:t>
            </a:r>
          </a:p>
        </p:txBody>
      </p:sp>
      <p:sp>
        <p:nvSpPr>
          <p:cNvPr id="20" name="TextBox 19"/>
          <p:cNvSpPr txBox="1"/>
          <p:nvPr/>
        </p:nvSpPr>
        <p:spPr>
          <a:xfrm>
            <a:off x="8485632" y="223113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MULTIPLE OF</a:t>
            </a:r>
          </a:p>
        </p:txBody>
      </p:sp>
      <p:sp>
        <p:nvSpPr>
          <p:cNvPr id="21" name="TextBox 20"/>
          <p:cNvSpPr txBox="1"/>
          <p:nvPr/>
        </p:nvSpPr>
        <p:spPr>
          <a:xfrm>
            <a:off x="8485632" y="2450591"/>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n_streams</a:t>
            </a:r>
          </a:p>
        </p:txBody>
      </p:sp>
      <p:sp>
        <p:nvSpPr>
          <p:cNvPr id="22" name="TextBox 21"/>
          <p:cNvSpPr txBox="1"/>
          <p:nvPr/>
        </p:nvSpPr>
        <p:spPr>
          <a:xfrm>
            <a:off x="8485632" y="2889504"/>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CAPPED AT</a:t>
            </a:r>
          </a:p>
        </p:txBody>
      </p:sp>
      <p:sp>
        <p:nvSpPr>
          <p:cNvPr id="23" name="TextBox 22"/>
          <p:cNvSpPr txBox="1"/>
          <p:nvPr/>
        </p:nvSpPr>
        <p:spPr>
          <a:xfrm>
            <a:off x="8485632" y="3108960"/>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MAX_SLOT_BYTES</a:t>
            </a:r>
          </a:p>
        </p:txBody>
      </p:sp>
      <p:sp>
        <p:nvSpPr>
          <p:cNvPr id="24" name="TextBox 23"/>
          <p:cNvSpPr txBox="1"/>
          <p:nvPr/>
        </p:nvSpPr>
        <p:spPr>
          <a:xfrm>
            <a:off x="8485632" y="3694176"/>
            <a:ext cx="3310128" cy="82296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A5B2C4"/>
                </a:solidFill>
                <a:latin typeface="Segoe UI"/>
              </a:rPr>
              <a:t>A multiple of n_streams, because the device pedestal is per-stream: an uneven chunk leaves the four pedestals at different ages and the finder stops being reproducible.</a:t>
            </a:r>
          </a:p>
        </p:txBody>
      </p:sp>
      <p:sp>
        <p:nvSpPr>
          <p:cNvPr id="25" name="TextBox 24"/>
          <p:cNvSpPr txBox="1"/>
          <p:nvPr/>
        </p:nvSpPr>
        <p:spPr>
          <a:xfrm>
            <a:off x="8485632" y="5056632"/>
            <a:ext cx="3310128" cy="82296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A5B2C4"/>
                </a:solidFill>
                <a:latin typeface="Segoe UI"/>
              </a:rPr>
              <a:t>Capped so the two pinned slots stay bounded — 544.5 kB per frame at 9×9, cap 1 700. chunk_size_for(n) applies both rules.</a:t>
            </a:r>
          </a:p>
        </p:txBody>
      </p:sp>
      <p:sp>
        <p:nvSpPr>
          <p:cNvPr id="26" name="Rectangle 25"/>
          <p:cNvSpPr/>
          <p:nvPr/>
        </p:nvSpPr>
        <p:spPr>
          <a:xfrm>
            <a:off x="498348" y="4590288"/>
            <a:ext cx="6716268"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459028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4681727"/>
            <a:ext cx="6300216" cy="475488"/>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Two chunks in flight is enough. A third adds pinned memory and no overlap: the host is already busy for the whole time the GPU is.</a:t>
            </a:r>
          </a:p>
        </p:txBody>
      </p:sp>
      <p:sp>
        <p:nvSpPr>
          <p:cNvPr id="29" name="TextBox 28"/>
          <p:cNvSpPr txBox="1"/>
          <p:nvPr/>
        </p:nvSpPr>
        <p:spPr>
          <a:xfrm>
            <a:off x="457200" y="5468112"/>
            <a:ext cx="6757416"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The saving is min(GPU, host) per chunk, so opt5 pays most when the two terms are comparable, ×1.31 at 3×3, and least when one dominates, ×1.20 at 9×9, where the host term is roughly twice the GPU term. That gap is the diagnosis that motivates opt6 (report §8.2).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A4</a:t>
            </a:r>
          </a:p>
        </p:txBody>
      </p:sp>
      <p:sp>
        <p:nvSpPr>
          <p:cNvPr id="4" name="TextBox 3"/>
          <p:cNvSpPr txBox="1"/>
          <p:nvPr/>
        </p:nvSpPr>
        <p:spPr>
          <a:xfrm>
            <a:off x="1143000" y="457200"/>
            <a:ext cx="95554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FAULT MODEL · EXPANDS SLIDE 24</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fault model, tested against every step</a:t>
            </a:r>
          </a:p>
        </p:txBody>
      </p:sp>
      <p:sp>
        <p:nvSpPr>
          <p:cNvPr id="6" name="Rectangle 5"/>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942446"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27693"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1294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98187"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83434"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68681"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63656"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A4</a:t>
            </a:r>
          </a:p>
        </p:txBody>
      </p:sp>
      <p:sp>
        <p:nvSpPr>
          <p:cNvPr id="14" name="TextBox 13"/>
          <p:cNvSpPr txBox="1"/>
          <p:nvPr/>
        </p:nvSpPr>
        <p:spPr>
          <a:xfrm>
            <a:off x="457200" y="1664208"/>
            <a:ext cx="1133856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The </a:t>
            </a:r>
            <a:r>
              <a:rPr sz="1500" b="1" i="0">
                <a:solidFill>
                  <a:srgbClr val="E7EDF4"/>
                </a:solidFill>
                <a:latin typeface="Segoe UI"/>
              </a:rPr>
              <a:t>0.68 µs per fault</a:t>
            </a:r>
            <a:r>
              <a:rPr sz="1500" b="0" i="0">
                <a:solidFill>
                  <a:srgbClr val="A5B2C4"/>
                </a:solidFill>
                <a:latin typeface="Segoe UI"/>
              </a:rPr>
              <a:t> rate is fitted on the </a:t>
            </a:r>
            <a:r>
              <a:rPr sz="1500" b="1" i="0">
                <a:solidFill>
                  <a:srgbClr val="E7EDF4"/>
                </a:solidFill>
                <a:latin typeface="Segoe UI"/>
              </a:rPr>
              <a:t>3×3 f32</a:t>
            </a:r>
            <a:r>
              <a:rPr sz="1500" b="0" i="0">
                <a:solidFill>
                  <a:srgbClr val="A5B2C4"/>
                </a:solidFill>
                <a:latin typeface="Segoe UI"/>
              </a:rPr>
              <a:t> ladder. Every row below is </a:t>
            </a:r>
            <a:r>
              <a:rPr sz="1500" b="1" i="0">
                <a:solidFill>
                  <a:srgbClr val="E7EDF4"/>
                </a:solidFill>
                <a:latin typeface="Segoe UI"/>
              </a:rPr>
              <a:t>9×9, f64 vs f32</a:t>
            </a:r>
            <a:r>
              <a:rPr sz="1500" b="0" i="0">
                <a:solidFill>
                  <a:srgbClr val="A5B2C4"/>
                </a:solidFill>
                <a:latin typeface="Segoe UI"/>
              </a:rPr>
              <a:t>, so the rate is applied </a:t>
            </a:r>
            <a:r>
              <a:rPr sz="1500" b="1" i="0">
                <a:solidFill>
                  <a:srgbClr val="E7EDF4"/>
                </a:solidFill>
                <a:latin typeface="Segoe UI"/>
              </a:rPr>
              <a:t>out of sample</a:t>
            </a:r>
            <a:r>
              <a:rPr sz="1500" b="0" i="0">
                <a:solidFill>
                  <a:srgbClr val="A5B2C4"/>
                </a:solidFill>
                <a:latin typeface="Segoe UI"/>
              </a:rPr>
              <a:t>, never refitted.</a:t>
            </a:r>
          </a:p>
        </p:txBody>
      </p:sp>
      <p:sp>
        <p:nvSpPr>
          <p:cNvPr id="15" name="Rectangle 14"/>
          <p:cNvSpPr/>
          <p:nvPr/>
        </p:nvSpPr>
        <p:spPr>
          <a:xfrm>
            <a:off x="457200" y="2331720"/>
            <a:ext cx="1133856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 y="2404872"/>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STEP</a:t>
            </a:r>
          </a:p>
        </p:txBody>
      </p:sp>
      <p:sp>
        <p:nvSpPr>
          <p:cNvPr id="17" name="TextBox 16"/>
          <p:cNvSpPr txBox="1"/>
          <p:nvPr/>
        </p:nvSpPr>
        <p:spPr>
          <a:xfrm>
            <a:off x="1510588" y="2404872"/>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F64 WARM (FAULTS)</a:t>
            </a:r>
          </a:p>
        </p:txBody>
      </p:sp>
      <p:sp>
        <p:nvSpPr>
          <p:cNvPr id="18" name="TextBox 17"/>
          <p:cNvSpPr txBox="1"/>
          <p:nvPr/>
        </p:nvSpPr>
        <p:spPr>
          <a:xfrm>
            <a:off x="3551529" y="2404872"/>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F32 WARM (FAULTS)</a:t>
            </a:r>
          </a:p>
        </p:txBody>
      </p:sp>
      <p:sp>
        <p:nvSpPr>
          <p:cNvPr id="19" name="TextBox 18"/>
          <p:cNvSpPr txBox="1"/>
          <p:nvPr/>
        </p:nvSpPr>
        <p:spPr>
          <a:xfrm>
            <a:off x="5592470" y="2404872"/>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Δ WALL</a:t>
            </a:r>
          </a:p>
        </p:txBody>
      </p:sp>
      <p:sp>
        <p:nvSpPr>
          <p:cNvPr id="20" name="TextBox 19"/>
          <p:cNvSpPr txBox="1"/>
          <p:nvPr/>
        </p:nvSpPr>
        <p:spPr>
          <a:xfrm>
            <a:off x="6726326" y="2404872"/>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Δ FAULTS</a:t>
            </a:r>
          </a:p>
        </p:txBody>
      </p:sp>
      <p:sp>
        <p:nvSpPr>
          <p:cNvPr id="21" name="TextBox 20"/>
          <p:cNvSpPr txBox="1"/>
          <p:nvPr/>
        </p:nvSpPr>
        <p:spPr>
          <a:xfrm>
            <a:off x="7860182" y="2404872"/>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PREDICTED</a:t>
            </a:r>
          </a:p>
        </p:txBody>
      </p:sp>
      <p:sp>
        <p:nvSpPr>
          <p:cNvPr id="22" name="TextBox 21"/>
          <p:cNvSpPr txBox="1"/>
          <p:nvPr/>
        </p:nvSpPr>
        <p:spPr>
          <a:xfrm>
            <a:off x="9334195" y="2404872"/>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VERDICT</a:t>
            </a:r>
          </a:p>
        </p:txBody>
      </p:sp>
      <p:sp>
        <p:nvSpPr>
          <p:cNvPr id="23" name="Rectangle 22"/>
          <p:cNvSpPr/>
          <p:nvPr/>
        </p:nvSpPr>
        <p:spPr>
          <a:xfrm>
            <a:off x="457200" y="2679191"/>
            <a:ext cx="1133856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504" y="2770632"/>
            <a:ext cx="687628"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opt3</a:t>
            </a:r>
          </a:p>
        </p:txBody>
      </p:sp>
      <p:sp>
        <p:nvSpPr>
          <p:cNvPr id="25" name="TextBox 24"/>
          <p:cNvSpPr txBox="1"/>
          <p:nvPr/>
        </p:nvSpPr>
        <p:spPr>
          <a:xfrm>
            <a:off x="1510588" y="2770632"/>
            <a:ext cx="1821484"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82.44 µs  (128 k)</a:t>
            </a:r>
          </a:p>
        </p:txBody>
      </p:sp>
      <p:sp>
        <p:nvSpPr>
          <p:cNvPr id="26" name="TextBox 25"/>
          <p:cNvSpPr txBox="1"/>
          <p:nvPr/>
        </p:nvSpPr>
        <p:spPr>
          <a:xfrm>
            <a:off x="3551529" y="2770632"/>
            <a:ext cx="1821484"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95.66 µs  (521 k)</a:t>
            </a:r>
          </a:p>
        </p:txBody>
      </p:sp>
      <p:sp>
        <p:nvSpPr>
          <p:cNvPr id="27" name="TextBox 26"/>
          <p:cNvSpPr txBox="1"/>
          <p:nvPr/>
        </p:nvSpPr>
        <p:spPr>
          <a:xfrm>
            <a:off x="5592470" y="2770632"/>
            <a:ext cx="914400" cy="457200"/>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+13.22</a:t>
            </a:r>
          </a:p>
        </p:txBody>
      </p:sp>
      <p:sp>
        <p:nvSpPr>
          <p:cNvPr id="28" name="TextBox 27"/>
          <p:cNvSpPr txBox="1"/>
          <p:nvPr/>
        </p:nvSpPr>
        <p:spPr>
          <a:xfrm>
            <a:off x="6726326" y="2770632"/>
            <a:ext cx="914400"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+393 k</a:t>
            </a:r>
          </a:p>
        </p:txBody>
      </p:sp>
      <p:sp>
        <p:nvSpPr>
          <p:cNvPr id="29" name="TextBox 28"/>
          <p:cNvSpPr txBox="1"/>
          <p:nvPr/>
        </p:nvSpPr>
        <p:spPr>
          <a:xfrm>
            <a:off x="7860182" y="2770632"/>
            <a:ext cx="1254556" cy="457200"/>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+13.37</a:t>
            </a:r>
          </a:p>
        </p:txBody>
      </p:sp>
      <p:sp>
        <p:nvSpPr>
          <p:cNvPr id="30" name="TextBox 29"/>
          <p:cNvSpPr txBox="1"/>
          <p:nvPr/>
        </p:nvSpPr>
        <p:spPr>
          <a:xfrm>
            <a:off x="9334195" y="2770632"/>
            <a:ext cx="2388412" cy="457200"/>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the allocator</a:t>
            </a:r>
          </a:p>
        </p:txBody>
      </p:sp>
      <p:sp>
        <p:nvSpPr>
          <p:cNvPr id="31" name="TextBox 30"/>
          <p:cNvSpPr txBox="1"/>
          <p:nvPr/>
        </p:nvSpPr>
        <p:spPr>
          <a:xfrm>
            <a:off x="603504" y="3264408"/>
            <a:ext cx="687628"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opt4</a:t>
            </a:r>
          </a:p>
        </p:txBody>
      </p:sp>
      <p:sp>
        <p:nvSpPr>
          <p:cNvPr id="32" name="TextBox 31"/>
          <p:cNvSpPr txBox="1"/>
          <p:nvPr/>
        </p:nvSpPr>
        <p:spPr>
          <a:xfrm>
            <a:off x="1510588" y="3264408"/>
            <a:ext cx="1821484"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79.83 µs  (128 k)</a:t>
            </a:r>
          </a:p>
        </p:txBody>
      </p:sp>
      <p:sp>
        <p:nvSpPr>
          <p:cNvPr id="33" name="TextBox 32"/>
          <p:cNvSpPr txBox="1"/>
          <p:nvPr/>
        </p:nvSpPr>
        <p:spPr>
          <a:xfrm>
            <a:off x="3551529" y="3264408"/>
            <a:ext cx="1821484"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75.20 µs  (127 k)</a:t>
            </a:r>
          </a:p>
        </p:txBody>
      </p:sp>
      <p:sp>
        <p:nvSpPr>
          <p:cNvPr id="34" name="TextBox 33"/>
          <p:cNvSpPr txBox="1"/>
          <p:nvPr/>
        </p:nvSpPr>
        <p:spPr>
          <a:xfrm>
            <a:off x="5592470" y="3264408"/>
            <a:ext cx="914400"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−4.63</a:t>
            </a:r>
          </a:p>
        </p:txBody>
      </p:sp>
      <p:sp>
        <p:nvSpPr>
          <p:cNvPr id="35" name="TextBox 34"/>
          <p:cNvSpPr txBox="1"/>
          <p:nvPr/>
        </p:nvSpPr>
        <p:spPr>
          <a:xfrm>
            <a:off x="6726326" y="3264408"/>
            <a:ext cx="914400"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−0.5 k</a:t>
            </a:r>
          </a:p>
        </p:txBody>
      </p:sp>
      <p:sp>
        <p:nvSpPr>
          <p:cNvPr id="36" name="TextBox 35"/>
          <p:cNvSpPr txBox="1"/>
          <p:nvPr/>
        </p:nvSpPr>
        <p:spPr>
          <a:xfrm>
            <a:off x="7860182" y="3264408"/>
            <a:ext cx="1254556"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−0.02</a:t>
            </a:r>
          </a:p>
        </p:txBody>
      </p:sp>
      <p:sp>
        <p:nvSpPr>
          <p:cNvPr id="37" name="TextBox 36"/>
          <p:cNvSpPr txBox="1"/>
          <p:nvPr/>
        </p:nvSpPr>
        <p:spPr>
          <a:xfrm>
            <a:off x="9334195" y="3264408"/>
            <a:ext cx="2388412"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clean</a:t>
            </a:r>
          </a:p>
        </p:txBody>
      </p:sp>
      <p:sp>
        <p:nvSpPr>
          <p:cNvPr id="38" name="Rectangle 37"/>
          <p:cNvSpPr/>
          <p:nvPr/>
        </p:nvSpPr>
        <p:spPr>
          <a:xfrm>
            <a:off x="457200" y="3666744"/>
            <a:ext cx="1133856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3504" y="3758183"/>
            <a:ext cx="687628"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opt5</a:t>
            </a:r>
          </a:p>
        </p:txBody>
      </p:sp>
      <p:sp>
        <p:nvSpPr>
          <p:cNvPr id="40" name="TextBox 39"/>
          <p:cNvSpPr txBox="1"/>
          <p:nvPr/>
        </p:nvSpPr>
        <p:spPr>
          <a:xfrm>
            <a:off x="1510588" y="3758183"/>
            <a:ext cx="1821484"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66.39 µs  (152 k)</a:t>
            </a:r>
          </a:p>
        </p:txBody>
      </p:sp>
      <p:sp>
        <p:nvSpPr>
          <p:cNvPr id="41" name="TextBox 40"/>
          <p:cNvSpPr txBox="1"/>
          <p:nvPr/>
        </p:nvSpPr>
        <p:spPr>
          <a:xfrm>
            <a:off x="3551529" y="3758183"/>
            <a:ext cx="1821484"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61.85 µs  (10 k)</a:t>
            </a:r>
          </a:p>
        </p:txBody>
      </p:sp>
      <p:sp>
        <p:nvSpPr>
          <p:cNvPr id="42" name="TextBox 41"/>
          <p:cNvSpPr txBox="1"/>
          <p:nvPr/>
        </p:nvSpPr>
        <p:spPr>
          <a:xfrm>
            <a:off x="5592470" y="3758183"/>
            <a:ext cx="914400"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−4.54</a:t>
            </a:r>
          </a:p>
        </p:txBody>
      </p:sp>
      <p:sp>
        <p:nvSpPr>
          <p:cNvPr id="43" name="TextBox 42"/>
          <p:cNvSpPr txBox="1"/>
          <p:nvPr/>
        </p:nvSpPr>
        <p:spPr>
          <a:xfrm>
            <a:off x="6726326" y="3758183"/>
            <a:ext cx="914400"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−141 k</a:t>
            </a:r>
          </a:p>
        </p:txBody>
      </p:sp>
      <p:sp>
        <p:nvSpPr>
          <p:cNvPr id="44" name="TextBox 43"/>
          <p:cNvSpPr txBox="1"/>
          <p:nvPr/>
        </p:nvSpPr>
        <p:spPr>
          <a:xfrm>
            <a:off x="7860182" y="3758183"/>
            <a:ext cx="1254556" cy="457200"/>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−4.81</a:t>
            </a:r>
          </a:p>
        </p:txBody>
      </p:sp>
      <p:sp>
        <p:nvSpPr>
          <p:cNvPr id="45" name="TextBox 44"/>
          <p:cNvSpPr txBox="1"/>
          <p:nvPr/>
        </p:nvSpPr>
        <p:spPr>
          <a:xfrm>
            <a:off x="9334195" y="3758183"/>
            <a:ext cx="2388412" cy="457200"/>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not separable</a:t>
            </a:r>
          </a:p>
        </p:txBody>
      </p:sp>
      <p:sp>
        <p:nvSpPr>
          <p:cNvPr id="46" name="TextBox 45"/>
          <p:cNvSpPr txBox="1"/>
          <p:nvPr/>
        </p:nvSpPr>
        <p:spPr>
          <a:xfrm>
            <a:off x="603504" y="4251959"/>
            <a:ext cx="687628"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opt6</a:t>
            </a:r>
          </a:p>
        </p:txBody>
      </p:sp>
      <p:sp>
        <p:nvSpPr>
          <p:cNvPr id="47" name="TextBox 46"/>
          <p:cNvSpPr txBox="1"/>
          <p:nvPr/>
        </p:nvSpPr>
        <p:spPr>
          <a:xfrm>
            <a:off x="1510588" y="4251959"/>
            <a:ext cx="1821484"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30.01 µs  (0)</a:t>
            </a:r>
          </a:p>
        </p:txBody>
      </p:sp>
      <p:sp>
        <p:nvSpPr>
          <p:cNvPr id="48" name="TextBox 47"/>
          <p:cNvSpPr txBox="1"/>
          <p:nvPr/>
        </p:nvSpPr>
        <p:spPr>
          <a:xfrm>
            <a:off x="3551529" y="4251959"/>
            <a:ext cx="1821484"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25.14 µs  (0)</a:t>
            </a:r>
          </a:p>
        </p:txBody>
      </p:sp>
      <p:sp>
        <p:nvSpPr>
          <p:cNvPr id="49" name="TextBox 48"/>
          <p:cNvSpPr txBox="1"/>
          <p:nvPr/>
        </p:nvSpPr>
        <p:spPr>
          <a:xfrm>
            <a:off x="5592470" y="4251959"/>
            <a:ext cx="914400"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−4.87</a:t>
            </a:r>
          </a:p>
        </p:txBody>
      </p:sp>
      <p:sp>
        <p:nvSpPr>
          <p:cNvPr id="50" name="TextBox 49"/>
          <p:cNvSpPr txBox="1"/>
          <p:nvPr/>
        </p:nvSpPr>
        <p:spPr>
          <a:xfrm>
            <a:off x="6726326" y="4251959"/>
            <a:ext cx="914400"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0</a:t>
            </a:r>
          </a:p>
        </p:txBody>
      </p:sp>
      <p:sp>
        <p:nvSpPr>
          <p:cNvPr id="51" name="TextBox 50"/>
          <p:cNvSpPr txBox="1"/>
          <p:nvPr/>
        </p:nvSpPr>
        <p:spPr>
          <a:xfrm>
            <a:off x="7860182" y="4251959"/>
            <a:ext cx="1254556"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0.00</a:t>
            </a:r>
          </a:p>
        </p:txBody>
      </p:sp>
      <p:sp>
        <p:nvSpPr>
          <p:cNvPr id="52" name="TextBox 51"/>
          <p:cNvSpPr txBox="1"/>
          <p:nvPr/>
        </p:nvSpPr>
        <p:spPr>
          <a:xfrm>
            <a:off x="9334195" y="4251959"/>
            <a:ext cx="2388412"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clean</a:t>
            </a:r>
          </a:p>
        </p:txBody>
      </p:sp>
      <p:sp>
        <p:nvSpPr>
          <p:cNvPr id="53" name="Rectangle 52"/>
          <p:cNvSpPr/>
          <p:nvPr/>
        </p:nvSpPr>
        <p:spPr>
          <a:xfrm>
            <a:off x="498348" y="4791456"/>
            <a:ext cx="11297412" cy="8229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4791456"/>
            <a:ext cx="41148" cy="8229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3232" y="4882896"/>
            <a:ext cx="10881360" cy="640080"/>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opt3 is the whole argument in one row.</a:t>
            </a:r>
            <a:r>
              <a:rPr sz="1300" b="0" i="0">
                <a:solidFill>
                  <a:srgbClr val="A5B2C4"/>
                </a:solidFill>
                <a:latin typeface="Segoe UI"/>
              </a:rPr>
              <a:t> A 393 k fault gap predicts </a:t>
            </a:r>
            <a:r>
              <a:rPr sz="1300" b="1" i="0">
                <a:solidFill>
                  <a:srgbClr val="E7EDF4"/>
                </a:solidFill>
                <a:latin typeface="Segoe UI"/>
              </a:rPr>
              <a:t>+13.37 µs</a:t>
            </a:r>
            <a:r>
              <a:rPr sz="1300" b="0" i="0">
                <a:solidFill>
                  <a:srgbClr val="A5B2C4"/>
                </a:solidFill>
                <a:latin typeface="Segoe UI"/>
              </a:rPr>
              <a:t>; </a:t>
            </a:r>
            <a:r>
              <a:rPr sz="1300" b="1" i="0">
                <a:solidFill>
                  <a:srgbClr val="E7EDF4"/>
                </a:solidFill>
                <a:latin typeface="Segoe UI"/>
              </a:rPr>
              <a:t>+13.22</a:t>
            </a:r>
            <a:r>
              <a:rPr sz="1300" b="0" i="0">
                <a:solidFill>
                  <a:srgbClr val="A5B2C4"/>
                </a:solidFill>
                <a:latin typeface="Segoe UI"/>
              </a:rPr>
              <a:t> was observed. The −40 % kernel is in there, invisible under 13 µs of the OS zeroing pages.</a:t>
            </a:r>
          </a:p>
        </p:txBody>
      </p:sp>
      <p:sp>
        <p:nvSpPr>
          <p:cNvPr id="56" name="TextBox 55"/>
          <p:cNvSpPr txBox="1"/>
          <p:nvPr/>
        </p:nvSpPr>
        <p:spPr>
          <a:xfrm>
            <a:off x="457200" y="5751576"/>
            <a:ext cx="1133856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9×9 · cap 1 700 · warm = best of reps 1–4. The 0.68 µs/fault rate is carried in unchanged from the 3×3 fit: nothing here is tuned to make the columns agree.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A5</a:t>
            </a:r>
          </a:p>
        </p:txBody>
      </p:sp>
      <p:sp>
        <p:nvSpPr>
          <p:cNvPr id="4" name="TextBox 3"/>
          <p:cNvSpPr txBox="1"/>
          <p:nvPr/>
        </p:nvSpPr>
        <p:spPr>
          <a:xfrm>
            <a:off x="1143000" y="457200"/>
            <a:ext cx="95554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VARIANCE REWRITE · EXPANDS SLIDE 23</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rewrite in full, and which pixels the error reached</a:t>
            </a:r>
          </a:p>
        </p:txBody>
      </p:sp>
      <p:sp>
        <p:nvSpPr>
          <p:cNvPr id="6" name="Rectangle 5"/>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942446"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27693"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1294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98187"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83434"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68681"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63656"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A5</a:t>
            </a:r>
          </a:p>
        </p:txBody>
      </p:sp>
      <p:sp>
        <p:nvSpPr>
          <p:cNvPr id="14" name="TextBox 13"/>
          <p:cNvSpPr txBox="1"/>
          <p:nvPr/>
        </p:nvSpPr>
        <p:spPr>
          <a:xfrm>
            <a:off x="457200" y="1664208"/>
            <a:ext cx="699516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Freeze </a:t>
            </a:r>
            <a:r>
              <a:rPr sz="1500" b="1" i="0">
                <a:solidFill>
                  <a:srgbClr val="E7EDF4"/>
                </a:solidFill>
                <a:latin typeface="Segoe UI"/>
              </a:rPr>
              <a:t>X₀ = round(mean)</a:t>
            </a:r>
            <a:r>
              <a:rPr sz="1500" b="0" i="0">
                <a:solidFill>
                  <a:srgbClr val="A5B2C4"/>
                </a:solidFill>
                <a:latin typeface="Segoe UI"/>
              </a:rPr>
              <a:t> once, at the end of pedestal training, and never move it.</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Accumulate the </a:t>
            </a:r>
            <a:r>
              <a:rPr sz="1500" b="1" i="0">
                <a:solidFill>
                  <a:srgbClr val="E7EDF4"/>
                </a:solidFill>
                <a:latin typeface="Segoe UI"/>
              </a:rPr>
              <a:t>centred</a:t>
            </a:r>
            <a:r>
              <a:rPr sz="1500" b="0" i="0">
                <a:solidFill>
                  <a:srgbClr val="A5B2C4"/>
                </a:solidFill>
                <a:latin typeface="Segoe UI"/>
              </a:rPr>
              <a:t> Y = X − X₀; report </a:t>
            </a:r>
            <a:r>
              <a:rPr sz="1500" b="1" i="0">
                <a:solidFill>
                  <a:srgbClr val="E7EDF4"/>
                </a:solidFill>
                <a:latin typeface="Segoe UI"/>
              </a:rPr>
              <a:t>X₀ + sum/n</a:t>
            </a:r>
            <a:r>
              <a:rPr sz="1500" b="0" i="0">
                <a:solidFill>
                  <a:srgbClr val="A5B2C4"/>
                </a:solidFill>
                <a:latin typeface="Segoe UI"/>
              </a:rPr>
              <a:t>. Both operands are now </a:t>
            </a:r>
            <a:r>
              <a:rPr sz="1500" b="1" i="0">
                <a:solidFill>
                  <a:srgbClr val="E7EDF4"/>
                </a:solidFill>
                <a:latin typeface="Segoe UI"/>
              </a:rPr>
              <a:t>O(rms)-sized</a:t>
            </a:r>
            <a:r>
              <a:rPr sz="1500" b="0" i="0">
                <a:solidFill>
                  <a:srgbClr val="A5B2C4"/>
                </a:solidFill>
                <a:latin typeface="Segoe UI"/>
              </a:rPr>
              <a:t>.</a:t>
            </a:r>
          </a:p>
        </p:txBody>
      </p:sp>
      <p:sp>
        <p:nvSpPr>
          <p:cNvPr id="15" name="Rounded Rectangle 14"/>
          <p:cNvSpPr/>
          <p:nvPr/>
        </p:nvSpPr>
        <p:spPr>
          <a:xfrm>
            <a:off x="457200" y="2926080"/>
            <a:ext cx="6995160" cy="1527688"/>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035808"/>
            <a:ext cx="6665976"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clusterfinder_kernel.cuh</a:t>
            </a:r>
          </a:p>
        </p:txBody>
      </p:sp>
      <p:sp>
        <p:nvSpPr>
          <p:cNvPr id="17" name="TextBox 16"/>
          <p:cNvSpPr txBox="1"/>
          <p:nvPr/>
        </p:nvSpPr>
        <p:spPr>
          <a:xfrm>
            <a:off x="621792" y="3255264"/>
            <a:ext cx="6665976" cy="1308232"/>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7C8A9E"/>
                </a:solidFill>
                <a:latin typeface="Consolas"/>
              </a:rPr>
              <a:t>// before: both terms ~2.17e7, answer ~2000</a:t>
            </a:r>
          </a:p>
          <a:p>
            <a:pPr>
              <a:lnSpc>
                <a:spcPct val="112000"/>
              </a:lnSpc>
              <a:spcBef>
                <a:spcPts val="0"/>
              </a:spcBef>
              <a:spcAft>
                <a:spcPts val="0"/>
              </a:spcAft>
            </a:pPr>
            <a:r>
              <a:rPr sz="1050" b="0" i="0">
                <a:solidFill>
                  <a:srgbClr val="A5B2C4"/>
                </a:solidFill>
                <a:latin typeface="Consolas"/>
              </a:rPr>
              <a:t>var = sum2/n - mean*mean;</a:t>
            </a:r>
          </a:p>
          <a:p>
            <a:pPr>
              <a:lnSpc>
                <a:spcPct val="112000"/>
              </a:lnSpc>
              <a:spcBef>
                <a:spcPts val="0"/>
              </a:spcBef>
              <a:spcAft>
                <a:spcPts val="0"/>
              </a:spcAft>
            </a:pPr>
          </a:p>
          <a:p>
            <a:pPr>
              <a:lnSpc>
                <a:spcPct val="112000"/>
              </a:lnSpc>
              <a:spcBef>
                <a:spcPts val="0"/>
              </a:spcBef>
              <a:spcAft>
                <a:spcPts val="0"/>
              </a:spcAft>
            </a:pPr>
            <a:r>
              <a:rPr sz="1050" b="0" i="0">
                <a:solidFill>
                  <a:srgbClr val="7C8A9E"/>
                </a:solidFill>
                <a:latin typeface="Consolas"/>
              </a:rPr>
              <a:t>// after: centred on a frozen per-pixel offset X0</a:t>
            </a:r>
          </a:p>
          <a:p>
            <a:pPr>
              <a:lnSpc>
                <a:spcPct val="112000"/>
              </a:lnSpc>
              <a:spcBef>
                <a:spcPts val="0"/>
              </a:spcBef>
              <a:spcAft>
                <a:spcPts val="0"/>
              </a:spcAft>
            </a:pPr>
            <a:r>
              <a:rPr sz="1050" b="0" i="0">
                <a:solidFill>
                  <a:srgbClr val="A5B2C4"/>
                </a:solidFill>
                <a:latin typeface="Consolas"/>
              </a:rPr>
              <a:t>DEVICE_PED_TYPE resid  = mean - </a:t>
            </a:r>
            <a:r>
              <a:rPr sz="1050" b="1" i="0">
                <a:solidFill>
                  <a:srgbClr val="1E90C2"/>
                </a:solidFill>
                <a:latin typeface="Consolas"/>
              </a:rPr>
              <a:t>d_pd_off</a:t>
            </a:r>
            <a:r>
              <a:rPr sz="1050" b="0" i="0">
                <a:solidFill>
                  <a:srgbClr val="A5B2C4"/>
                </a:solidFill>
                <a:latin typeface="Consolas"/>
              </a:rPr>
              <a:t>[i];      // ~O(1)</a:t>
            </a:r>
          </a:p>
          <a:p>
            <a:pPr>
              <a:lnSpc>
                <a:spcPct val="112000"/>
              </a:lnSpc>
              <a:spcBef>
                <a:spcPts val="0"/>
              </a:spcBef>
              <a:spcAft>
                <a:spcPts val="0"/>
              </a:spcAft>
            </a:pPr>
            <a:r>
              <a:rPr sz="1050" b="0" i="0">
                <a:solidFill>
                  <a:srgbClr val="A5B2C4"/>
                </a:solidFill>
                <a:latin typeface="Consolas"/>
              </a:rPr>
              <a:t>DEVICE_PED_TYPE var_px = sum2[i]/n - resid*resid;  // no cancellation</a:t>
            </a:r>
          </a:p>
        </p:txBody>
      </p:sp>
      <p:sp>
        <p:nvSpPr>
          <p:cNvPr id="18" name="Rectangle 17"/>
          <p:cNvSpPr/>
          <p:nvPr/>
        </p:nvSpPr>
        <p:spPr>
          <a:xfrm>
            <a:off x="498348" y="4590288"/>
            <a:ext cx="69540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59028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681727"/>
            <a:ext cx="6537960" cy="475488"/>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Result: the 100 % FP32 build matches the FP64 build to </a:t>
            </a:r>
            <a:r>
              <a:rPr sz="1300" b="1" i="0">
                <a:solidFill>
                  <a:srgbClr val="E7EDF4"/>
                </a:solidFill>
                <a:latin typeface="Segoe UI"/>
              </a:rPr>
              <a:t>3 × 10⁻⁷</a:t>
            </a:r>
            <a:r>
              <a:rPr sz="1300" b="0" i="0">
                <a:solidFill>
                  <a:srgbClr val="A5B2C4"/>
                </a:solidFill>
                <a:latin typeface="Segoe UI"/>
              </a:rPr>
              <a:t>, 70 clusters out of 233 million.</a:t>
            </a:r>
          </a:p>
        </p:txBody>
      </p:sp>
      <p:sp>
        <p:nvSpPr>
          <p:cNvPr id="21" name="Rectangle 20"/>
          <p:cNvSpPr/>
          <p:nvPr/>
        </p:nvSpPr>
        <p:spPr>
          <a:xfrm>
            <a:off x="498348" y="5376672"/>
            <a:ext cx="69540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5376672"/>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468112"/>
            <a:ext cx="6537960" cy="603503"/>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X₀ must never be updated</a:t>
            </a:r>
            <a:r>
              <a:rPr sz="1300" b="0" i="0">
                <a:solidFill>
                  <a:srgbClr val="A5B2C4"/>
                </a:solidFill>
                <a:latin typeface="Segoe UI"/>
              </a:rPr>
              <a:t> — the accumulators are defined relative to it. Welford's is the other correct answer; this one is two lines and costs nothing.</a:t>
            </a:r>
          </a:p>
        </p:txBody>
      </p:sp>
      <p:pic>
        <p:nvPicPr>
          <p:cNvPr id="24" name="Picture 23" descr="fig_varfloor.png"/>
          <p:cNvPicPr>
            <a:picLocks noChangeAspect="1"/>
          </p:cNvPicPr>
          <p:nvPr/>
        </p:nvPicPr>
        <p:blipFill>
          <a:blip r:embed="rId2"/>
          <a:stretch>
            <a:fillRect/>
          </a:stretch>
        </p:blipFill>
        <p:spPr>
          <a:xfrm>
            <a:off x="7635240" y="1664208"/>
            <a:ext cx="4078224" cy="2937166"/>
          </a:xfrm>
          <a:prstGeom prst="rect">
            <a:avLst/>
          </a:prstGeom>
        </p:spPr>
      </p:pic>
      <p:sp>
        <p:nvSpPr>
          <p:cNvPr id="25" name="TextBox 24"/>
          <p:cNvSpPr txBox="1"/>
          <p:nvPr/>
        </p:nvSpPr>
        <p:spPr>
          <a:xfrm>
            <a:off x="7635240" y="4765966"/>
            <a:ext cx="4078224"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Which pixels the ±3 ADU² floor actually reaches: the quiet ones, whose true variance is smallest.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143000" y="457200"/>
            <a:ext cx="95554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28 · 1 OF 4</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ways a GPU benchmark lies</a:t>
            </a:r>
          </a:p>
        </p:txBody>
      </p:sp>
      <p:sp>
        <p:nvSpPr>
          <p:cNvPr id="6" name="Rectangle 5"/>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942446"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27693"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1294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98187"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83434"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68681"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63656"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1/4</a:t>
            </a:r>
          </a:p>
        </p:txBody>
      </p:sp>
      <p:sp>
        <p:nvSpPr>
          <p:cNvPr id="14" name="Rectangle 13"/>
          <p:cNvSpPr/>
          <p:nvPr/>
        </p:nvSpPr>
        <p:spPr>
          <a:xfrm>
            <a:off x="457200" y="1828800"/>
            <a:ext cx="3621024"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1828800"/>
            <a:ext cx="3621024"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 y="2084831"/>
            <a:ext cx="3118104"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First-touch page faults</a:t>
            </a:r>
          </a:p>
        </p:txBody>
      </p:sp>
      <p:sp>
        <p:nvSpPr>
          <p:cNvPr id="17" name="TextBox 16"/>
          <p:cNvSpPr txBox="1"/>
          <p:nvPr/>
        </p:nvSpPr>
        <p:spPr>
          <a:xfrm>
            <a:off x="694944" y="2761488"/>
            <a:ext cx="3118104"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run materialises ~10 GB of clusters. The first pass faults in ~2.6 M pages at 0.7 µs each, up to 4 s of pure OS work inside the timer.</a:t>
            </a:r>
          </a:p>
        </p:txBody>
      </p:sp>
      <p:sp>
        <p:nvSpPr>
          <p:cNvPr id="18" name="TextBox 17"/>
          <p:cNvSpPr txBox="1"/>
          <p:nvPr/>
        </p:nvSpPr>
        <p:spPr>
          <a:xfrm>
            <a:off x="694944" y="4041648"/>
            <a:ext cx="3118104"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re-run until getrusage() minor faults plateau (&lt; 200 k).</a:t>
            </a:r>
          </a:p>
        </p:txBody>
      </p:sp>
      <p:sp>
        <p:nvSpPr>
          <p:cNvPr id="19" name="Rectangle 18"/>
          <p:cNvSpPr/>
          <p:nvPr/>
        </p:nvSpPr>
        <p:spPr>
          <a:xfrm>
            <a:off x="4261104" y="1828800"/>
            <a:ext cx="3621024"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61104" y="1828800"/>
            <a:ext cx="3621024"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8" y="2084831"/>
            <a:ext cx="3118104"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CUDA-event kernel timing</a:t>
            </a:r>
          </a:p>
        </p:txBody>
      </p:sp>
      <p:sp>
        <p:nvSpPr>
          <p:cNvPr id="22" name="TextBox 21"/>
          <p:cNvSpPr txBox="1"/>
          <p:nvPr/>
        </p:nvSpPr>
        <p:spPr>
          <a:xfrm>
            <a:off x="4498848" y="2761488"/>
            <a:ext cx="3118104"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avg_kernel_time_ms() measures elapsed time on a stream, including waiting for other streams. Under 8-stream load it over-reads by up to 3.5×.</a:t>
            </a:r>
          </a:p>
        </p:txBody>
      </p:sp>
      <p:sp>
        <p:nvSpPr>
          <p:cNvPr id="23" name="TextBox 22"/>
          <p:cNvSpPr txBox="1"/>
          <p:nvPr/>
        </p:nvSpPr>
        <p:spPr>
          <a:xfrm>
            <a:off x="4498848" y="4041648"/>
            <a:ext cx="3118104"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Nsight Systems per-instance times; 1 stream for exclusive numbers.</a:t>
            </a:r>
          </a:p>
        </p:txBody>
      </p:sp>
      <p:sp>
        <p:nvSpPr>
          <p:cNvPr id="24" name="Rectangle 23"/>
          <p:cNvSpPr/>
          <p:nvPr/>
        </p:nvSpPr>
        <p:spPr>
          <a:xfrm>
            <a:off x="8065008" y="1828800"/>
            <a:ext cx="3621024"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65008" y="1828800"/>
            <a:ext cx="3621024"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02752" y="2084831"/>
            <a:ext cx="3118104"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The profiler itself</a:t>
            </a:r>
          </a:p>
        </p:txBody>
      </p:sp>
      <p:sp>
        <p:nvSpPr>
          <p:cNvPr id="27" name="TextBox 26"/>
          <p:cNvSpPr txBox="1"/>
          <p:nvPr/>
        </p:nvSpPr>
        <p:spPr>
          <a:xfrm>
            <a:off x="8302752" y="2761488"/>
            <a:ext cx="3118104"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Under nsys, wall time per frame inflates ~4× from API tracing.</a:t>
            </a:r>
          </a:p>
        </p:txBody>
      </p:sp>
      <p:sp>
        <p:nvSpPr>
          <p:cNvPr id="28" name="TextBox 27"/>
          <p:cNvSpPr txBox="1"/>
          <p:nvPr/>
        </p:nvSpPr>
        <p:spPr>
          <a:xfrm>
            <a:off x="8302752" y="4041648"/>
            <a:ext cx="3118104"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GPU op times from nsys, wall times from unprofiled runs.</a:t>
            </a:r>
          </a:p>
        </p:txBody>
      </p:sp>
      <p:sp>
        <p:nvSpPr>
          <p:cNvPr id="29" name="Rounded Rectangle 28"/>
          <p:cNvSpPr/>
          <p:nvPr/>
        </p:nvSpPr>
        <p:spPr>
          <a:xfrm>
            <a:off x="457200" y="4864608"/>
            <a:ext cx="11247120" cy="116476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4974336"/>
            <a:ext cx="10917936"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THE FAULT PROTOCOL · BRACKET EVERY TIMED CELL</a:t>
            </a:r>
          </a:p>
        </p:txBody>
      </p:sp>
      <p:sp>
        <p:nvSpPr>
          <p:cNvPr id="31" name="TextBox 30"/>
          <p:cNvSpPr txBox="1"/>
          <p:nvPr/>
        </p:nvSpPr>
        <p:spPr>
          <a:xfrm>
            <a:off x="621792" y="5193792"/>
            <a:ext cx="10917936" cy="945306"/>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7C8A9E"/>
                </a:solidFill>
                <a:latin typeface="Consolas"/>
              </a:rPr>
              <a:t># bracket every timed cell:</a:t>
            </a:r>
          </a:p>
          <a:p>
            <a:pPr>
              <a:lnSpc>
                <a:spcPct val="112000"/>
              </a:lnSpc>
              <a:spcBef>
                <a:spcPts val="0"/>
              </a:spcBef>
              <a:spcAft>
                <a:spcPts val="0"/>
              </a:spcAft>
            </a:pPr>
            <a:r>
              <a:rPr sz="1050" b="0" i="0">
                <a:solidFill>
                  <a:srgbClr val="A5B2C4"/>
                </a:solidFill>
                <a:latin typeface="Consolas"/>
              </a:rPr>
              <a:t>mf0 = resource.getrusage(resource.RUSAGE_SELF).ru_minflt</a:t>
            </a:r>
          </a:p>
          <a:p>
            <a:pPr>
              <a:lnSpc>
                <a:spcPct val="112000"/>
              </a:lnSpc>
              <a:spcBef>
                <a:spcPts val="0"/>
              </a:spcBef>
              <a:spcAft>
                <a:spcPts val="0"/>
              </a:spcAft>
            </a:pPr>
            <a:r>
              <a:rPr sz="1050" b="0" i="0">
                <a:solidFill>
                  <a:srgbClr val="A5B2C4"/>
                </a:solidFill>
                <a:latin typeface="Consolas"/>
              </a:rPr>
              <a:t>...   t = time.perf_counter() - t0   ...</a:t>
            </a:r>
          </a:p>
          <a:p>
            <a:pPr>
              <a:lnSpc>
                <a:spcPct val="112000"/>
              </a:lnSpc>
              <a:spcBef>
                <a:spcPts val="0"/>
              </a:spcBef>
              <a:spcAft>
                <a:spcPts val="0"/>
              </a:spcAft>
            </a:pPr>
            <a:r>
              <a:rPr sz="1050" b="0" i="0">
                <a:solidFill>
                  <a:srgbClr val="A5B2C4"/>
                </a:solidFill>
                <a:latin typeface="Consolas"/>
              </a:rPr>
              <a:t>print(f'minor faults: {mf1-mf0:,}')   # quote the run where this plateaus</a:t>
            </a:r>
          </a:p>
        </p:txBody>
      </p:sp>
      <p:sp>
        <p:nvSpPr>
          <p:cNvPr id="32" name="Rectangle 31"/>
          <p:cNvSpPr/>
          <p:nvPr/>
        </p:nvSpPr>
        <p:spPr>
          <a:xfrm>
            <a:off x="498348" y="6071616"/>
            <a:ext cx="1120597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6071616"/>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6163055"/>
            <a:ext cx="10789920" cy="384048"/>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Validated: </a:t>
            </a:r>
            <a:r>
              <a:rPr sz="1300" b="1" i="0">
                <a:solidFill>
                  <a:srgbClr val="E7EDF4"/>
                </a:solidFill>
                <a:latin typeface="Segoe UI"/>
              </a:rPr>
              <a:t>wall = steady-state + faults × 0.68 µs</a:t>
            </a:r>
            <a:r>
              <a:rPr sz="1300" b="0" i="0">
                <a:solidFill>
                  <a:srgbClr val="A5B2C4"/>
                </a:solidFill>
                <a:latin typeface="Segoe UI"/>
              </a:rPr>
              <a:t> reproduced a 6.110 s run to within </a:t>
            </a:r>
            <a:r>
              <a:rPr sz="1300" b="1" i="0">
                <a:solidFill>
                  <a:srgbClr val="E7EDF4"/>
                </a:solidFill>
                <a:latin typeface="Segoe UI"/>
              </a:rPr>
              <a:t>1 ms</a:t>
            </a:r>
            <a:r>
              <a:rPr sz="1300" b="0" i="0">
                <a:solidFill>
                  <a:srgbClr val="A5B2C4"/>
                </a:solidFill>
                <a:latin typeface="Segoe UI"/>
              </a:rPr>
              <a:t>. Kernel time stayed constant throughout; the GPU was never the variable.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143000" y="457200"/>
            <a:ext cx="95554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28 · 2 OF 4</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First-touch page faults: two sources, one counter</a:t>
            </a:r>
          </a:p>
        </p:txBody>
      </p:sp>
      <p:sp>
        <p:nvSpPr>
          <p:cNvPr id="6" name="Rectangle 5"/>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942446"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27693"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1294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98187"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83434"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68681"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63656"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2/4</a:t>
            </a:r>
          </a:p>
        </p:txBody>
      </p:sp>
      <p:sp>
        <p:nvSpPr>
          <p:cNvPr id="14" name="TextBox 13"/>
          <p:cNvSpPr txBox="1"/>
          <p:nvPr/>
        </p:nvSpPr>
        <p:spPr>
          <a:xfrm>
            <a:off x="457200" y="1737360"/>
            <a:ext cx="1133856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A page exists in the address space but has no physical frame yet. First touch makes the kernel find one, </a:t>
            </a:r>
            <a:r>
              <a:rPr sz="1500" b="1" i="0">
                <a:solidFill>
                  <a:srgbClr val="E7EDF4"/>
                </a:solidFill>
                <a:latin typeface="Segoe UI"/>
              </a:rPr>
              <a:t>zero it</a:t>
            </a:r>
            <a:r>
              <a:rPr sz="1500" b="0" i="0">
                <a:solidFill>
                  <a:srgbClr val="A5B2C4"/>
                </a:solidFill>
                <a:latin typeface="Segoe UI"/>
              </a:rPr>
              <a:t> (mandatory), and map it. No disk: ru_majflt stays 0 all campaign. At 4 kB/page, </a:t>
            </a:r>
            <a:r>
              <a:rPr sz="1500" b="1" i="0">
                <a:solidFill>
                  <a:srgbClr val="E7EDF4"/>
                </a:solidFill>
                <a:latin typeface="Segoe UI"/>
              </a:rPr>
              <a:t>1 GB = 262 144 faults</a:t>
            </a:r>
            <a:r>
              <a:rPr sz="1500" b="0" i="0">
                <a:solidFill>
                  <a:srgbClr val="A5B2C4"/>
                </a:solidFill>
                <a:latin typeface="Segoe UI"/>
              </a:rPr>
              <a:t>.</a:t>
            </a:r>
          </a:p>
        </p:txBody>
      </p:sp>
      <p:sp>
        <p:nvSpPr>
          <p:cNvPr id="15" name="Rectangle 14"/>
          <p:cNvSpPr/>
          <p:nvPr/>
        </p:nvSpPr>
        <p:spPr>
          <a:xfrm>
            <a:off x="457200" y="2395728"/>
            <a:ext cx="1133856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 y="2468880"/>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
            </a:r>
          </a:p>
        </p:txBody>
      </p:sp>
      <p:sp>
        <p:nvSpPr>
          <p:cNvPr id="17" name="TextBox 16"/>
          <p:cNvSpPr txBox="1"/>
          <p:nvPr/>
        </p:nvSpPr>
        <p:spPr>
          <a:xfrm>
            <a:off x="2190902" y="2468880"/>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(A) RESULT HEAP</a:t>
            </a:r>
          </a:p>
        </p:txBody>
      </p:sp>
      <p:sp>
        <p:nvSpPr>
          <p:cNvPr id="18" name="TextBox 17"/>
          <p:cNvSpPr txBox="1"/>
          <p:nvPr/>
        </p:nvSpPr>
        <p:spPr>
          <a:xfrm>
            <a:off x="7066483" y="2468880"/>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(B) PINNED D2H SLOTS</a:t>
            </a:r>
          </a:p>
        </p:txBody>
      </p:sp>
      <p:sp>
        <p:nvSpPr>
          <p:cNvPr id="19" name="Rectangle 18"/>
          <p:cNvSpPr/>
          <p:nvPr/>
        </p:nvSpPr>
        <p:spPr>
          <a:xfrm>
            <a:off x="457200" y="2743200"/>
            <a:ext cx="1133856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 y="2834640"/>
            <a:ext cx="1367942"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allocator</a:t>
            </a:r>
          </a:p>
        </p:txBody>
      </p:sp>
      <p:sp>
        <p:nvSpPr>
          <p:cNvPr id="21" name="TextBox 20"/>
          <p:cNvSpPr txBox="1"/>
          <p:nvPr/>
        </p:nvSpPr>
        <p:spPr>
          <a:xfrm>
            <a:off x="2190902" y="2834640"/>
            <a:ext cx="4656124"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malloc → mmap, one ClusterVector per frame</a:t>
            </a:r>
          </a:p>
        </p:txBody>
      </p:sp>
      <p:sp>
        <p:nvSpPr>
          <p:cNvPr id="22" name="TextBox 21"/>
          <p:cNvSpPr txBox="1"/>
          <p:nvPr/>
        </p:nvSpPr>
        <p:spPr>
          <a:xfrm>
            <a:off x="7066483" y="2834640"/>
            <a:ext cx="4656124"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cudaMallocHost, in submit_batch</a:t>
            </a:r>
          </a:p>
        </p:txBody>
      </p:sp>
      <p:sp>
        <p:nvSpPr>
          <p:cNvPr id="23" name="TextBox 22"/>
          <p:cNvSpPr txBox="1"/>
          <p:nvPr/>
        </p:nvSpPr>
        <p:spPr>
          <a:xfrm>
            <a:off x="603504" y="3328416"/>
            <a:ext cx="1367942"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cost / page</a:t>
            </a:r>
          </a:p>
        </p:txBody>
      </p:sp>
      <p:sp>
        <p:nvSpPr>
          <p:cNvPr id="24" name="TextBox 23"/>
          <p:cNvSpPr txBox="1"/>
          <p:nvPr/>
        </p:nvSpPr>
        <p:spPr>
          <a:xfrm>
            <a:off x="2190902" y="3328416"/>
            <a:ext cx="4656124" cy="457200"/>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0.7 µs</a:t>
            </a:r>
          </a:p>
        </p:txBody>
      </p:sp>
      <p:sp>
        <p:nvSpPr>
          <p:cNvPr id="25" name="TextBox 24"/>
          <p:cNvSpPr txBox="1"/>
          <p:nvPr/>
        </p:nvSpPr>
        <p:spPr>
          <a:xfrm>
            <a:off x="7066483" y="3328416"/>
            <a:ext cx="4656124" cy="457200"/>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1.0 µs</a:t>
            </a:r>
            <a:r>
              <a:rPr sz="1150" b="0" i="0">
                <a:solidFill>
                  <a:srgbClr val="A5B2C4"/>
                </a:solidFill>
                <a:latin typeface="Segoe UI"/>
              </a:rPr>
              <a:t>: same fault + pin + DMA map</a:t>
            </a:r>
          </a:p>
        </p:txBody>
      </p:sp>
      <p:sp>
        <p:nvSpPr>
          <p:cNvPr id="26" name="Rectangle 25"/>
          <p:cNvSpPr/>
          <p:nvPr/>
        </p:nvSpPr>
        <p:spPr>
          <a:xfrm>
            <a:off x="457200" y="3730752"/>
            <a:ext cx="1133856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3504" y="3822191"/>
            <a:ext cx="1367942"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recurs?</a:t>
            </a:r>
          </a:p>
        </p:txBody>
      </p:sp>
      <p:sp>
        <p:nvSpPr>
          <p:cNvPr id="28" name="TextBox 27"/>
          <p:cNvSpPr txBox="1"/>
          <p:nvPr/>
        </p:nvSpPr>
        <p:spPr>
          <a:xfrm>
            <a:off x="2190902" y="3822191"/>
            <a:ext cx="4656124" cy="457200"/>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yes</a:t>
            </a:r>
            <a:r>
              <a:rPr sz="1150" b="0" i="0">
                <a:solidFill>
                  <a:srgbClr val="A5B2C4"/>
                </a:solidFill>
                <a:latin typeface="Segoe UI"/>
              </a:rPr>
              <a:t>, every alloc/free cycle above the mmap threshold</a:t>
            </a:r>
          </a:p>
        </p:txBody>
      </p:sp>
      <p:sp>
        <p:nvSpPr>
          <p:cNvPr id="29" name="TextBox 28"/>
          <p:cNvSpPr txBox="1"/>
          <p:nvPr/>
        </p:nvSpPr>
        <p:spPr>
          <a:xfrm>
            <a:off x="7066483" y="3822191"/>
            <a:ext cx="4656124" cy="457200"/>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no</a:t>
            </a:r>
            <a:r>
              <a:rPr sz="1150" b="0" i="0">
                <a:solidFill>
                  <a:srgbClr val="A5B2C4"/>
                </a:solidFill>
                <a:latin typeface="Segoe UI"/>
              </a:rPr>
              <a:t>: once per buffer, for its lifetime</a:t>
            </a:r>
          </a:p>
        </p:txBody>
      </p:sp>
      <p:sp>
        <p:nvSpPr>
          <p:cNvPr id="30" name="TextBox 29"/>
          <p:cNvSpPr txBox="1"/>
          <p:nvPr/>
        </p:nvSpPr>
        <p:spPr>
          <a:xfrm>
            <a:off x="603504" y="4315968"/>
            <a:ext cx="1367942"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removed by</a:t>
            </a:r>
          </a:p>
        </p:txBody>
      </p:sp>
      <p:sp>
        <p:nvSpPr>
          <p:cNvPr id="31" name="TextBox 30"/>
          <p:cNvSpPr txBox="1"/>
          <p:nvPr/>
        </p:nvSpPr>
        <p:spPr>
          <a:xfrm>
            <a:off x="2190902" y="4315968"/>
            <a:ext cx="4656124" cy="457200"/>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collect_view()</a:t>
            </a:r>
            <a:r>
              <a:rPr sz="1150" b="0" i="0">
                <a:solidFill>
                  <a:srgbClr val="A5B2C4"/>
                </a:solidFill>
                <a:latin typeface="Segoe UI"/>
              </a:rPr>
              <a:t>: it allocates nothing</a:t>
            </a:r>
          </a:p>
        </p:txBody>
      </p:sp>
      <p:sp>
        <p:nvSpPr>
          <p:cNvPr id="32" name="TextBox 31"/>
          <p:cNvSpPr txBox="1"/>
          <p:nvPr/>
        </p:nvSpPr>
        <p:spPr>
          <a:xfrm>
            <a:off x="7066483" y="4315968"/>
            <a:ext cx="4656124" cy="457200"/>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nothing; reserve_output_slots() only moves it out of the timer</a:t>
            </a:r>
          </a:p>
        </p:txBody>
      </p:sp>
      <p:sp>
        <p:nvSpPr>
          <p:cNvPr id="33" name="Rectangle 32"/>
          <p:cNvSpPr/>
          <p:nvPr/>
        </p:nvSpPr>
        <p:spPr>
          <a:xfrm>
            <a:off x="498348" y="4846320"/>
            <a:ext cx="5481828"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4846320"/>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4937759"/>
            <a:ext cx="5065776" cy="475488"/>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The two are exactly additive.</a:t>
            </a:r>
            <a:r>
              <a:rPr sz="1300" b="0" i="0">
                <a:solidFill>
                  <a:srgbClr val="A5B2C4"/>
                </a:solidFill>
                <a:latin typeface="Segoe UI"/>
              </a:rPr>
              <a:t> Reserving subtracts precisely the pre-pin count from run 0 and changes nothing else.</a:t>
            </a:r>
          </a:p>
        </p:txBody>
      </p:sp>
      <p:sp>
        <p:nvSpPr>
          <p:cNvPr id="36" name="Rounded Rectangle 35"/>
          <p:cNvSpPr/>
          <p:nvPr/>
        </p:nvSpPr>
        <p:spPr>
          <a:xfrm>
            <a:off x="6172200" y="4846320"/>
            <a:ext cx="5522976" cy="983300"/>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36792" y="4956048"/>
            <a:ext cx="5193792"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NOT A CORRELATION, AN IDENTITY</a:t>
            </a:r>
          </a:p>
        </p:txBody>
      </p:sp>
      <p:sp>
        <p:nvSpPr>
          <p:cNvPr id="38" name="TextBox 37"/>
          <p:cNvSpPr txBox="1"/>
          <p:nvPr/>
        </p:nvSpPr>
        <p:spPr>
          <a:xfrm>
            <a:off x="6336792" y="5175504"/>
            <a:ext cx="5193792" cy="763844"/>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A5B2C4"/>
                </a:solidFill>
                <a:latin typeface="Consolas"/>
              </a:rPr>
              <a:t>3x3:   572 292 - 455 129 = 117 163   vs 117 192 pre-pin</a:t>
            </a:r>
          </a:p>
          <a:p>
            <a:pPr>
              <a:lnSpc>
                <a:spcPct val="112000"/>
              </a:lnSpc>
              <a:spcBef>
                <a:spcPts val="0"/>
              </a:spcBef>
              <a:spcAft>
                <a:spcPts val="0"/>
              </a:spcAft>
            </a:pPr>
            <a:r>
              <a:rPr sz="1050" b="0" i="0">
                <a:solidFill>
                  <a:srgbClr val="A5B2C4"/>
                </a:solidFill>
                <a:latin typeface="Consolas"/>
              </a:rPr>
              <a:t>9x9: 2 759 037 - 2 278 567 = 480 470   vs 480 474</a:t>
            </a:r>
          </a:p>
          <a:p>
            <a:pPr>
              <a:lnSpc>
                <a:spcPct val="112000"/>
              </a:lnSpc>
              <a:spcBef>
                <a:spcPts val="0"/>
              </a:spcBef>
              <a:spcAft>
                <a:spcPts val="0"/>
              </a:spcAft>
            </a:pPr>
            <a:r>
              <a:rPr sz="1050" b="0" i="0">
                <a:solidFill>
                  <a:srgbClr val="A5B2C4"/>
                </a:solidFill>
                <a:latin typeface="Consolas"/>
              </a:rPr>
              <a:t>closed form: 2 slots x 2000 x 120 004 B / 4 kB = 117 191</a:t>
            </a:r>
          </a:p>
        </p:txBody>
      </p:sp>
      <p:sp>
        <p:nvSpPr>
          <p:cNvPr id="39" name="Rectangle 38"/>
          <p:cNvSpPr/>
          <p:nvPr/>
        </p:nvSpPr>
        <p:spPr>
          <a:xfrm>
            <a:off x="498348" y="5943600"/>
            <a:ext cx="1120597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7200" y="594360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 y="6035040"/>
            <a:ext cx="10789920" cy="475488"/>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At 9×9 the heap never plateaus.</a:t>
            </a:r>
            <a:r>
              <a:rPr sz="1300" b="0" i="0">
                <a:solidFill>
                  <a:srgbClr val="A5B2C4"/>
                </a:solidFill>
                <a:latin typeface="Segoe UI"/>
              </a:rPr>
              <a:t> ~9.3 GB per pass exceeds glibc's mmap threshold, so it is re-faulted every pass: </a:t>
            </a:r>
            <a:r>
              <a:rPr sz="1300" b="1" i="0">
                <a:solidFill>
                  <a:srgbClr val="E7EDF4"/>
                </a:solidFill>
                <a:latin typeface="Segoe UI"/>
              </a:rPr>
              <a:t>~10 µs/frame, permanently</a:t>
            </a:r>
            <a:r>
              <a:rPr sz="1300" b="0" i="0">
                <a:solidFill>
                  <a:srgbClr val="A5B2C4"/>
                </a:solidFill>
                <a:latin typeface="Segoe UI"/>
              </a:rPr>
              <a: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143000" y="457200"/>
            <a:ext cx="95554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3 OF 4</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events measure the stream, not the kernel</a:t>
            </a:r>
          </a:p>
        </p:txBody>
      </p:sp>
      <p:sp>
        <p:nvSpPr>
          <p:cNvPr id="6" name="Rectangle 5"/>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942446"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27693"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1294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98187"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83434"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68681"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63656"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3/4</a:t>
            </a:r>
          </a:p>
        </p:txBody>
      </p:sp>
      <p:sp>
        <p:nvSpPr>
          <p:cNvPr id="14" name="TextBox 13"/>
          <p:cNvSpPr txBox="1"/>
          <p:nvPr/>
        </p:nvSpPr>
        <p:spPr>
          <a:xfrm>
            <a:off x="457200" y="1737360"/>
            <a:ext cx="7461504"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avg_kernel_time_ms() brackets the launch with </a:t>
            </a:r>
            <a:r>
              <a:rPr sz="1500" b="1" i="0">
                <a:solidFill>
                  <a:srgbClr val="E7EDF4"/>
                </a:solidFill>
                <a:latin typeface="Segoe UI"/>
              </a:rPr>
              <a:t>cudaEventRecord on the kernel's own stream</a:t>
            </a:r>
            <a:r>
              <a:rPr sz="1500" b="0" i="0">
                <a:solidFill>
                  <a:srgbClr val="A5B2C4"/>
                </a:solidFill>
                <a:latin typeface="Segoe UI"/>
              </a:rPr>
              <a:t>, so it returns time on </a:t>
            </a:r>
            <a:r>
              <a:rPr sz="1500" b="1" i="0">
                <a:solidFill>
                  <a:srgbClr val="E7EDF4"/>
                </a:solidFill>
                <a:latin typeface="Segoe UI"/>
              </a:rPr>
              <a:t>that stream's timeline</a:t>
            </a:r>
            <a:r>
              <a:rPr sz="1500" b="0" i="0">
                <a:solidFill>
                  <a:srgbClr val="A5B2C4"/>
                </a:solidFill>
                <a:latin typeface="Segoe UI"/>
              </a:rPr>
              <a:t> — including time queued behind other streams.</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Honest at 1 stream, inflated up to </a:t>
            </a:r>
            <a:r>
              <a:rPr sz="1500" b="1" i="0">
                <a:solidFill>
                  <a:srgbClr val="E7EDF4"/>
                </a:solidFill>
                <a:latin typeface="Segoe UI"/>
              </a:rPr>
              <a:t>3.5×</a:t>
            </a:r>
            <a:r>
              <a:rPr sz="1500" b="0" i="0">
                <a:solidFill>
                  <a:srgbClr val="A5B2C4"/>
                </a:solidFill>
                <a:latin typeface="Segoe UI"/>
              </a:rPr>
              <a:t> at 8. The tell: *PCIe + overhead* = wall/N − kernel_ms </a:t>
            </a:r>
            <a:r>
              <a:rPr sz="1500" b="1" i="0">
                <a:solidFill>
                  <a:srgbClr val="E7EDF4"/>
                </a:solidFill>
                <a:latin typeface="Segoe UI"/>
              </a:rPr>
              <a:t>goes negative</a:t>
            </a:r>
            <a:r>
              <a:rPr sz="1500" b="0" i="0">
                <a:solidFill>
                  <a:srgbClr val="A5B2C4"/>
                </a:solidFill>
                <a:latin typeface="Segoe UI"/>
              </a:rPr>
              <a:t>.</a:t>
            </a:r>
          </a:p>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It is not free either: </a:t>
            </a:r>
            <a:r>
              <a:rPr sz="1500" b="1" i="0">
                <a:solidFill>
                  <a:srgbClr val="E7EDF4"/>
                </a:solidFill>
                <a:latin typeface="Segoe UI"/>
              </a:rPr>
              <a:t>~3.6 µs/frame</a:t>
            </a:r>
            <a:r>
              <a:rPr sz="1500" b="0" i="0">
                <a:solidFill>
                  <a:srgbClr val="A5B2C4"/>
                </a:solidFill>
                <a:latin typeface="Segoe UI"/>
              </a:rPr>
              <a:t>, 10–15 % of throughput at 3×3.</a:t>
            </a:r>
          </a:p>
        </p:txBody>
      </p:sp>
      <p:sp>
        <p:nvSpPr>
          <p:cNvPr id="15" name="Rounded Rectangle 14"/>
          <p:cNvSpPr/>
          <p:nvPr/>
        </p:nvSpPr>
        <p:spPr>
          <a:xfrm>
            <a:off x="457200" y="4343400"/>
            <a:ext cx="7461504" cy="1346225"/>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4453128"/>
            <a:ext cx="7132320"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ClusterFinderCUDA.hpp</a:t>
            </a:r>
          </a:p>
        </p:txBody>
      </p:sp>
      <p:sp>
        <p:nvSpPr>
          <p:cNvPr id="17" name="TextBox 16"/>
          <p:cNvSpPr txBox="1"/>
          <p:nvPr/>
        </p:nvSpPr>
        <p:spPr>
          <a:xfrm>
            <a:off x="621792" y="4672584"/>
            <a:ext cx="7132320" cy="1126769"/>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A5B2C4"/>
                </a:solidFill>
                <a:latin typeface="Consolas"/>
              </a:rPr>
              <a:t>if (m_time_kernels)                       // OFF by default, all 3 finders</a:t>
            </a:r>
          </a:p>
          <a:p>
            <a:pPr>
              <a:lnSpc>
                <a:spcPct val="112000"/>
              </a:lnSpc>
              <a:spcBef>
                <a:spcPts val="0"/>
              </a:spcBef>
              <a:spcAft>
                <a:spcPts val="0"/>
              </a:spcAft>
            </a:pPr>
            <a:r>
              <a:rPr sz="1050" b="0" i="0">
                <a:solidFill>
                  <a:srgbClr val="A5B2C4"/>
                </a:solidFill>
                <a:latin typeface="Consolas"/>
              </a:rPr>
              <a:t>    cudaEventRecord(start[slot][i], sc.stream);</a:t>
            </a:r>
          </a:p>
          <a:p>
            <a:pPr>
              <a:lnSpc>
                <a:spcPct val="112000"/>
              </a:lnSpc>
              <a:spcBef>
                <a:spcPts val="0"/>
              </a:spcBef>
              <a:spcAft>
                <a:spcPts val="0"/>
              </a:spcAft>
            </a:pPr>
            <a:r>
              <a:rPr sz="1050" b="0" i="0">
                <a:solidFill>
                  <a:srgbClr val="A5B2C4"/>
                </a:solidFill>
                <a:latin typeface="Consolas"/>
              </a:rPr>
              <a:t>find_clusters_in_single_frame&lt;&lt;&lt;grid, block, shmem, </a:t>
            </a:r>
            <a:r>
              <a:rPr sz="1050" b="1" i="0">
                <a:solidFill>
                  <a:srgbClr val="1E90C2"/>
                </a:solidFill>
                <a:latin typeface="Consolas"/>
              </a:rPr>
              <a:t>sc.stream</a:t>
            </a:r>
            <a:r>
              <a:rPr sz="1050" b="0" i="0">
                <a:solidFill>
                  <a:srgbClr val="A5B2C4"/>
                </a:solidFill>
                <a:latin typeface="Consolas"/>
              </a:rPr>
              <a:t>&gt;&gt;&gt;(...);</a:t>
            </a:r>
          </a:p>
          <a:p>
            <a:pPr>
              <a:lnSpc>
                <a:spcPct val="112000"/>
              </a:lnSpc>
              <a:spcBef>
                <a:spcPts val="0"/>
              </a:spcBef>
              <a:spcAft>
                <a:spcPts val="0"/>
              </a:spcAft>
            </a:pPr>
            <a:r>
              <a:rPr sz="1050" b="0" i="0">
                <a:solidFill>
                  <a:srgbClr val="A5B2C4"/>
                </a:solidFill>
                <a:latin typeface="Consolas"/>
              </a:rPr>
              <a:t>if (m_time_kernels)</a:t>
            </a:r>
          </a:p>
          <a:p>
            <a:pPr>
              <a:lnSpc>
                <a:spcPct val="112000"/>
              </a:lnSpc>
              <a:spcBef>
                <a:spcPts val="0"/>
              </a:spcBef>
              <a:spcAft>
                <a:spcPts val="0"/>
              </a:spcAft>
            </a:pPr>
            <a:r>
              <a:rPr sz="1050" b="0" i="0">
                <a:solidFill>
                  <a:srgbClr val="A5B2C4"/>
                </a:solidFill>
                <a:latin typeface="Consolas"/>
              </a:rPr>
              <a:t>    cudaEventRecord(stop[slot][i], sc.stream);   // &lt;- queue-wait lands here</a:t>
            </a:r>
          </a:p>
        </p:txBody>
      </p:sp>
      <p:sp>
        <p:nvSpPr>
          <p:cNvPr id="18" name="Rectangle 17"/>
          <p:cNvSpPr/>
          <p:nvPr/>
        </p:nvSpPr>
        <p:spPr>
          <a:xfrm>
            <a:off x="498348" y="5650992"/>
            <a:ext cx="7420356"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5650992"/>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5742431"/>
            <a:ext cx="7004304" cy="475488"/>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The flag exists for </a:t>
            </a:r>
            <a:r>
              <a:rPr sz="1300" b="1" i="0">
                <a:solidFill>
                  <a:srgbClr val="E7EDF4"/>
                </a:solidFill>
                <a:latin typeface="Segoe UI"/>
              </a:rPr>
              <a:t>comparability</a:t>
            </a:r>
            <a:r>
              <a:rPr sz="1300" b="0" i="0">
                <a:solidFill>
                  <a:srgbClr val="A5B2C4"/>
                </a:solidFill>
                <a:latin typeface="Segoe UI"/>
              </a:rPr>
              <a:t>, not preference: with events on for one finder and off for another, the step between them absorbs the tax.</a:t>
            </a:r>
          </a:p>
        </p:txBody>
      </p:sp>
      <p:sp>
        <p:nvSpPr>
          <p:cNvPr id="21" name="Rectangle 20"/>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85632" y="182880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9×9 KERNEL · F64 · NSYS</a:t>
            </a:r>
          </a:p>
        </p:txBody>
      </p:sp>
      <p:sp>
        <p:nvSpPr>
          <p:cNvPr id="23" name="TextBox 22"/>
          <p:cNvSpPr txBox="1"/>
          <p:nvPr/>
        </p:nvSpPr>
        <p:spPr>
          <a:xfrm>
            <a:off x="8485632" y="2212848"/>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S1 · DURATION</a:t>
            </a:r>
          </a:p>
        </p:txBody>
      </p:sp>
      <p:sp>
        <p:nvSpPr>
          <p:cNvPr id="24" name="TextBox 23"/>
          <p:cNvSpPr txBox="1"/>
          <p:nvPr/>
        </p:nvSpPr>
        <p:spPr>
          <a:xfrm>
            <a:off x="8485632" y="2432304"/>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39.86 µs</a:t>
            </a:r>
          </a:p>
        </p:txBody>
      </p:sp>
      <p:sp>
        <p:nvSpPr>
          <p:cNvPr id="25" name="TextBox 24"/>
          <p:cNvSpPr txBox="1"/>
          <p:nvPr/>
        </p:nvSpPr>
        <p:spPr>
          <a:xfrm>
            <a:off x="8485632" y="314553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S4 · OCCUPANCY</a:t>
            </a:r>
          </a:p>
        </p:txBody>
      </p:sp>
      <p:sp>
        <p:nvSpPr>
          <p:cNvPr id="26" name="TextBox 25"/>
          <p:cNvSpPr txBox="1"/>
          <p:nvPr/>
        </p:nvSpPr>
        <p:spPr>
          <a:xfrm>
            <a:off x="8485632" y="3364991"/>
            <a:ext cx="3310128"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32.66 µs</a:t>
            </a:r>
          </a:p>
        </p:txBody>
      </p:sp>
      <p:sp>
        <p:nvSpPr>
          <p:cNvPr id="27" name="TextBox 26"/>
          <p:cNvSpPr txBox="1"/>
          <p:nvPr/>
        </p:nvSpPr>
        <p:spPr>
          <a:xfrm>
            <a:off x="8485632" y="4123944"/>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OVERLAP FACTOR</a:t>
            </a:r>
          </a:p>
        </p:txBody>
      </p:sp>
      <p:sp>
        <p:nvSpPr>
          <p:cNvPr id="28" name="TextBox 27"/>
          <p:cNvSpPr txBox="1"/>
          <p:nvPr/>
        </p:nvSpPr>
        <p:spPr>
          <a:xfrm>
            <a:off x="8485632" y="4343400"/>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1.32×</a:t>
            </a:r>
          </a:p>
        </p:txBody>
      </p:sp>
      <p:sp>
        <p:nvSpPr>
          <p:cNvPr id="29" name="TextBox 28"/>
          <p:cNvSpPr txBox="1"/>
          <p:nvPr/>
        </p:nvSpPr>
        <p:spPr>
          <a:xfrm>
            <a:off x="8485632" y="4965192"/>
            <a:ext cx="3310128" cy="82296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A5B2C4"/>
                </a:solidFill>
                <a:latin typeface="Segoe UI"/>
              </a:rPr>
              <a:t>Same kernel. The s4 column is the union of kernel intervals per frame, not how long one kernel takes. Quote s1 for duration; s4 feeds the floor, subject to the sustained-rate rule on slide 21. Full grid: A1.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143000" y="457200"/>
            <a:ext cx="95554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4 OF 4</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Where nsys is sound, and where it is not</a:t>
            </a:r>
          </a:p>
        </p:txBody>
      </p:sp>
      <p:sp>
        <p:nvSpPr>
          <p:cNvPr id="6" name="Rectangle 5"/>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942446"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27693"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1294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98187"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83434"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68681" y="6656832"/>
            <a:ext cx="13367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63656"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4/4</a:t>
            </a:r>
          </a:p>
        </p:txBody>
      </p:sp>
      <p:sp>
        <p:nvSpPr>
          <p:cNvPr id="14" name="TextBox 13"/>
          <p:cNvSpPr txBox="1"/>
          <p:nvPr/>
        </p:nvSpPr>
        <p:spPr>
          <a:xfrm>
            <a:off x="457200" y="1664208"/>
            <a:ext cx="1133856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Tracing a </a:t>
            </a:r>
            <a:r>
              <a:rPr sz="1500" b="1" i="0">
                <a:solidFill>
                  <a:srgbClr val="E7EDF4"/>
                </a:solidFill>
                <a:latin typeface="Segoe UI"/>
              </a:rPr>
              <a:t>host</a:t>
            </a:r>
            <a:r>
              <a:rPr sz="1500" b="0" i="0">
                <a:solidFill>
                  <a:srgbClr val="A5B2C4"/>
                </a:solidFill>
                <a:latin typeface="Segoe UI"/>
              </a:rPr>
              <a:t> call runs a callback on entry and exit, </a:t>
            </a:r>
            <a:r>
              <a:rPr sz="1500" b="1" i="0">
                <a:solidFill>
                  <a:srgbClr val="E7EDF4"/>
                </a:solidFill>
                <a:latin typeface="Segoe UI"/>
              </a:rPr>
              <a:t>inside the interval being measured</a:t>
            </a:r>
            <a:r>
              <a:rPr sz="1500" b="0" i="0">
                <a:solidFill>
                  <a:srgbClr val="A5B2C4"/>
                </a:solidFill>
                <a:latin typeface="Segoe UI"/>
              </a:rPr>
              <a:t>. GPU work is stamped by the hardware and read back </a:t>
            </a:r>
            <a:r>
              <a:rPr sz="1500" b="1" i="0">
                <a:solidFill>
                  <a:srgbClr val="E7EDF4"/>
                </a:solidFill>
                <a:latin typeface="Segoe UI"/>
              </a:rPr>
              <a:t>afterwards</a:t>
            </a:r>
            <a:r>
              <a:rPr sz="1500" b="0" i="0">
                <a:solidFill>
                  <a:srgbClr val="A5B2C4"/>
                </a:solidFill>
                <a:latin typeface="Segoe UI"/>
              </a:rPr>
              <a:t>, so nothing is injected into the execution path.</a:t>
            </a:r>
          </a:p>
        </p:txBody>
      </p:sp>
      <p:sp>
        <p:nvSpPr>
          <p:cNvPr id="15" name="Rectangle 14"/>
          <p:cNvSpPr/>
          <p:nvPr/>
        </p:nvSpPr>
        <p:spPr>
          <a:xfrm>
            <a:off x="457200" y="2331720"/>
            <a:ext cx="1133856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 y="2404872"/>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MEASUREMENT</a:t>
            </a:r>
          </a:p>
        </p:txBody>
      </p:sp>
      <p:sp>
        <p:nvSpPr>
          <p:cNvPr id="17" name="TextBox 16"/>
          <p:cNvSpPr txBox="1"/>
          <p:nvPr/>
        </p:nvSpPr>
        <p:spPr>
          <a:xfrm>
            <a:off x="4685385" y="2404872"/>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SQLITE TABLE</a:t>
            </a:r>
          </a:p>
        </p:txBody>
      </p:sp>
      <p:sp>
        <p:nvSpPr>
          <p:cNvPr id="18" name="TextBox 17"/>
          <p:cNvSpPr txBox="1"/>
          <p:nvPr/>
        </p:nvSpPr>
        <p:spPr>
          <a:xfrm>
            <a:off x="7406640" y="2404872"/>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9×9 [F64 · S1 · CAP 1500]</a:t>
            </a:r>
          </a:p>
        </p:txBody>
      </p:sp>
      <p:sp>
        <p:nvSpPr>
          <p:cNvPr id="19" name="TextBox 18"/>
          <p:cNvSpPr txBox="1"/>
          <p:nvPr/>
        </p:nvSpPr>
        <p:spPr>
          <a:xfrm>
            <a:off x="9901123" y="2404872"/>
            <a:ext cx="11338560" cy="219456"/>
          </a:xfrm>
          <a:prstGeom prst="rect">
            <a:avLst/>
          </a:prstGeom>
          <a:noFill/>
        </p:spPr>
        <p:txBody>
          <a:bodyPr wrap="square" lIns="0" rIns="0" tIns="0" bIns="0" anchor="t">
            <a:spAutoFit/>
          </a:bodyPr>
          <a:lstStyle/>
          <a:p>
            <a:pPr>
              <a:spcBef>
                <a:spcPts val="0"/>
              </a:spcBef>
              <a:spcAft>
                <a:spcPts val="0"/>
              </a:spcAft>
            </a:pPr>
            <a:r>
              <a:rPr sz="950" b="1" i="0" spc="120">
                <a:solidFill>
                  <a:srgbClr val="6B7A90"/>
                </a:solidFill>
                <a:latin typeface="Segoe UI"/>
              </a:rPr>
              <a:t>VERDICT</a:t>
            </a:r>
          </a:p>
        </p:txBody>
      </p:sp>
      <p:sp>
        <p:nvSpPr>
          <p:cNvPr id="20" name="Rectangle 19"/>
          <p:cNvSpPr/>
          <p:nvPr/>
        </p:nvSpPr>
        <p:spPr>
          <a:xfrm>
            <a:off x="457200" y="2679191"/>
            <a:ext cx="1133856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3504" y="2770632"/>
            <a:ext cx="3862425"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cudaLaunchKernel: the host call</a:t>
            </a:r>
          </a:p>
        </p:txBody>
      </p:sp>
      <p:sp>
        <p:nvSpPr>
          <p:cNvPr id="22" name="TextBox 21"/>
          <p:cNvSpPr txBox="1"/>
          <p:nvPr/>
        </p:nvSpPr>
        <p:spPr>
          <a:xfrm>
            <a:off x="4685385" y="2770632"/>
            <a:ext cx="2501798"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CUPTI_..._RUNTIME</a:t>
            </a:r>
          </a:p>
        </p:txBody>
      </p:sp>
      <p:sp>
        <p:nvSpPr>
          <p:cNvPr id="23" name="TextBox 22"/>
          <p:cNvSpPr txBox="1"/>
          <p:nvPr/>
        </p:nvSpPr>
        <p:spPr>
          <a:xfrm>
            <a:off x="7406640" y="2770632"/>
            <a:ext cx="2275027"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1.85 µs</a:t>
            </a:r>
          </a:p>
        </p:txBody>
      </p:sp>
      <p:sp>
        <p:nvSpPr>
          <p:cNvPr id="24" name="TextBox 23"/>
          <p:cNvSpPr txBox="1"/>
          <p:nvPr/>
        </p:nvSpPr>
        <p:spPr>
          <a:xfrm>
            <a:off x="9901123" y="2770632"/>
            <a:ext cx="1821484" cy="475488"/>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inflated ~4×</a:t>
            </a:r>
          </a:p>
        </p:txBody>
      </p:sp>
      <p:sp>
        <p:nvSpPr>
          <p:cNvPr id="25" name="TextBox 24"/>
          <p:cNvSpPr txBox="1"/>
          <p:nvPr/>
        </p:nvSpPr>
        <p:spPr>
          <a:xfrm>
            <a:off x="603504" y="3282696"/>
            <a:ext cx="3862425"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the kernel executing</a:t>
            </a:r>
          </a:p>
        </p:txBody>
      </p:sp>
      <p:sp>
        <p:nvSpPr>
          <p:cNvPr id="26" name="TextBox 25"/>
          <p:cNvSpPr txBox="1"/>
          <p:nvPr/>
        </p:nvSpPr>
        <p:spPr>
          <a:xfrm>
            <a:off x="4685385" y="3282696"/>
            <a:ext cx="2501798"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CUPTI_..._KERNEL</a:t>
            </a:r>
          </a:p>
        </p:txBody>
      </p:sp>
      <p:sp>
        <p:nvSpPr>
          <p:cNvPr id="27" name="TextBox 26"/>
          <p:cNvSpPr txBox="1"/>
          <p:nvPr/>
        </p:nvSpPr>
        <p:spPr>
          <a:xfrm>
            <a:off x="7406640" y="3282696"/>
            <a:ext cx="2275027"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39.93 µs</a:t>
            </a:r>
          </a:p>
        </p:txBody>
      </p:sp>
      <p:sp>
        <p:nvSpPr>
          <p:cNvPr id="28" name="TextBox 27"/>
          <p:cNvSpPr txBox="1"/>
          <p:nvPr/>
        </p:nvSpPr>
        <p:spPr>
          <a:xfrm>
            <a:off x="9901123" y="3282696"/>
            <a:ext cx="1821484"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sound to ~2 %</a:t>
            </a:r>
          </a:p>
        </p:txBody>
      </p:sp>
      <p:sp>
        <p:nvSpPr>
          <p:cNvPr id="29" name="Rectangle 28"/>
          <p:cNvSpPr/>
          <p:nvPr/>
        </p:nvSpPr>
        <p:spPr>
          <a:xfrm>
            <a:off x="457200" y="3703320"/>
            <a:ext cx="1133856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3504" y="3794759"/>
            <a:ext cx="3862425"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cudaMemcpyAsync: the host call</a:t>
            </a:r>
          </a:p>
        </p:txBody>
      </p:sp>
      <p:sp>
        <p:nvSpPr>
          <p:cNvPr id="31" name="TextBox 30"/>
          <p:cNvSpPr txBox="1"/>
          <p:nvPr/>
        </p:nvSpPr>
        <p:spPr>
          <a:xfrm>
            <a:off x="4685385" y="3794759"/>
            <a:ext cx="2501798"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CUPTI_..._RUNTIME</a:t>
            </a:r>
          </a:p>
        </p:txBody>
      </p:sp>
      <p:sp>
        <p:nvSpPr>
          <p:cNvPr id="32" name="TextBox 31"/>
          <p:cNvSpPr txBox="1"/>
          <p:nvPr/>
        </p:nvSpPr>
        <p:spPr>
          <a:xfrm>
            <a:off x="7406640" y="3794759"/>
            <a:ext cx="2275027"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1.65 µs</a:t>
            </a:r>
          </a:p>
        </p:txBody>
      </p:sp>
      <p:sp>
        <p:nvSpPr>
          <p:cNvPr id="33" name="TextBox 32"/>
          <p:cNvSpPr txBox="1"/>
          <p:nvPr/>
        </p:nvSpPr>
        <p:spPr>
          <a:xfrm>
            <a:off x="9901123" y="3794759"/>
            <a:ext cx="1821484" cy="475488"/>
          </a:xfrm>
          <a:prstGeom prst="rect">
            <a:avLst/>
          </a:prstGeom>
          <a:noFill/>
        </p:spPr>
        <p:txBody>
          <a:bodyPr wrap="square" lIns="0" rIns="0" tIns="0" bIns="0" anchor="t">
            <a:spAutoFit/>
          </a:bodyPr>
          <a:lstStyle/>
          <a:p>
            <a:pPr>
              <a:lnSpc>
                <a:spcPct val="120000"/>
              </a:lnSpc>
              <a:spcBef>
                <a:spcPts val="0"/>
              </a:spcBef>
              <a:spcAft>
                <a:spcPts val="0"/>
              </a:spcAft>
            </a:pPr>
            <a:r>
              <a:rPr sz="1150" b="1" i="0">
                <a:solidFill>
                  <a:srgbClr val="E8B25C"/>
                </a:solidFill>
                <a:latin typeface="Segoe UI"/>
              </a:rPr>
              <a:t>inflated ~4×</a:t>
            </a:r>
          </a:p>
        </p:txBody>
      </p:sp>
      <p:sp>
        <p:nvSpPr>
          <p:cNvPr id="34" name="TextBox 33"/>
          <p:cNvSpPr txBox="1"/>
          <p:nvPr/>
        </p:nvSpPr>
        <p:spPr>
          <a:xfrm>
            <a:off x="603504" y="4306823"/>
            <a:ext cx="3862425"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E7EDF4"/>
                </a:solidFill>
                <a:latin typeface="Segoe UI"/>
              </a:rPr>
              <a:t>the H2D / D2H transfer</a:t>
            </a:r>
          </a:p>
        </p:txBody>
      </p:sp>
      <p:sp>
        <p:nvSpPr>
          <p:cNvPr id="35" name="TextBox 34"/>
          <p:cNvSpPr txBox="1"/>
          <p:nvPr/>
        </p:nvSpPr>
        <p:spPr>
          <a:xfrm>
            <a:off x="4685385" y="4306823"/>
            <a:ext cx="2501798"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CUPTI_..._MEMCPY</a:t>
            </a:r>
          </a:p>
        </p:txBody>
      </p:sp>
      <p:sp>
        <p:nvSpPr>
          <p:cNvPr id="36" name="TextBox 35"/>
          <p:cNvSpPr txBox="1"/>
          <p:nvPr/>
        </p:nvSpPr>
        <p:spPr>
          <a:xfrm>
            <a:off x="7406640" y="4306823"/>
            <a:ext cx="2275027"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13.25 / 19.44 µs</a:t>
            </a:r>
          </a:p>
        </p:txBody>
      </p:sp>
      <p:sp>
        <p:nvSpPr>
          <p:cNvPr id="37" name="TextBox 36"/>
          <p:cNvSpPr txBox="1"/>
          <p:nvPr/>
        </p:nvSpPr>
        <p:spPr>
          <a:xfrm>
            <a:off x="9901123" y="4306823"/>
            <a:ext cx="1821484" cy="475488"/>
          </a:xfrm>
          <a:prstGeom prst="rect">
            <a:avLst/>
          </a:prstGeom>
          <a:noFill/>
        </p:spPr>
        <p:txBody>
          <a:bodyPr wrap="square" lIns="0" rIns="0" tIns="0" bIns="0" anchor="t">
            <a:spAutoFit/>
          </a:bodyPr>
          <a:lstStyle/>
          <a:p>
            <a:pPr>
              <a:lnSpc>
                <a:spcPct val="120000"/>
              </a:lnSpc>
              <a:spcBef>
                <a:spcPts val="0"/>
              </a:spcBef>
              <a:spcAft>
                <a:spcPts val="0"/>
              </a:spcAft>
            </a:pPr>
            <a:r>
              <a:rPr sz="1150" b="0" i="0">
                <a:solidFill>
                  <a:srgbClr val="A5B2C4"/>
                </a:solidFill>
                <a:latin typeface="Segoe UI"/>
              </a:rPr>
              <a:t>sound to ~2 %</a:t>
            </a:r>
          </a:p>
        </p:txBody>
      </p:sp>
      <p:sp>
        <p:nvSpPr>
          <p:cNvPr id="38" name="Rectangle 37"/>
          <p:cNvSpPr/>
          <p:nvPr/>
        </p:nvSpPr>
        <p:spPr>
          <a:xfrm>
            <a:off x="498348" y="4864608"/>
            <a:ext cx="1120597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 y="4864608"/>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956048"/>
            <a:ext cx="10789920" cy="603503"/>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Same cudaMemcpyAsync, two numbers: 1.65 µs to ask for the copy, 13.25 µs for the copy to happen.</a:t>
            </a:r>
            <a:r>
              <a:rPr sz="1300" b="0" i="0">
                <a:solidFill>
                  <a:srgbClr val="A5B2C4"/>
                </a:solidFill>
                <a:latin typeface="Segoe UI"/>
              </a:rPr>
              <a:t> A profiler that must be present to measure,distorts; one that reads a record later does not.</a:t>
            </a:r>
          </a:p>
        </p:txBody>
      </p:sp>
      <p:sp>
        <p:nvSpPr>
          <p:cNvPr id="41" name="TextBox 40"/>
          <p:cNvSpPr txBox="1"/>
          <p:nvPr/>
        </p:nvSpPr>
        <p:spPr>
          <a:xfrm>
            <a:off x="457200" y="5788152"/>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Every engine number in this deck comes from GPU-side timestamps. Proof they are sound: opt7 sustains 25.14 µs unprofiled against a 25.24 µsprofiled estimate, 0.4 % apart.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A7</a:t>
            </a:r>
          </a:p>
        </p:txBody>
      </p:sp>
      <p:sp>
        <p:nvSpPr>
          <p:cNvPr id="4" name="TextBox 3"/>
          <p:cNvSpPr txBox="1"/>
          <p:nvPr/>
        </p:nvSpPr>
        <p:spPr>
          <a:xfrm>
            <a:off x="1143000" y="457200"/>
            <a:ext cx="95554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THREE TESTS · COMPLETES SLIDE 4 · 1 OF 2</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There is a third test</a:t>
            </a:r>
          </a:p>
        </p:txBody>
      </p:sp>
      <p:sp>
        <p:nvSpPr>
          <p:cNvPr id="6" name="Rectangle 5"/>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942446"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27693"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1294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98187"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83434"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68681"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63656"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A7 · 1/2</a:t>
            </a:r>
          </a:p>
        </p:txBody>
      </p:sp>
      <p:sp>
        <p:nvSpPr>
          <p:cNvPr id="14" name="TextBox 13"/>
          <p:cNvSpPr txBox="1"/>
          <p:nvPr/>
        </p:nvSpPr>
        <p:spPr>
          <a:xfrm>
            <a:off x="457200" y="1645920"/>
            <a:ext cx="1124712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0" i="0">
                <a:solidFill>
                  <a:srgbClr val="A5B2C4"/>
                </a:solidFill>
                <a:latin typeface="Segoe UI"/>
              </a:rPr>
              <a:t>Slide 4 showed the decision with </a:t>
            </a:r>
            <a:r>
              <a:rPr sz="1500" b="1" i="0">
                <a:solidFill>
                  <a:srgbClr val="E7EDF4"/>
                </a:solidFill>
                <a:latin typeface="Segoe UI"/>
              </a:rPr>
              <a:t>two</a:t>
            </a:r>
            <a:r>
              <a:rPr sz="1500" b="0" i="0">
                <a:solidFill>
                  <a:srgbClr val="A5B2C4"/>
                </a:solidFill>
                <a:latin typeface="Segoe UI"/>
              </a:rPr>
              <a:t> tests, which is the right simplification for the arc. The finder has </a:t>
            </a:r>
            <a:r>
              <a:rPr sz="1500" b="1" i="0">
                <a:solidFill>
                  <a:srgbClr val="E7EDF4"/>
                </a:solidFill>
                <a:latin typeface="Segoe UI"/>
              </a:rPr>
              <a:t>three</a:t>
            </a:r>
            <a:r>
              <a:rPr sz="1500" b="0" i="0">
                <a:solidFill>
                  <a:srgbClr val="A5B2C4"/>
                </a:solidFill>
                <a:latin typeface="Segoe UI"/>
              </a:rPr>
              <a:t>, and the missing one is what the next slide is about.</a:t>
            </a:r>
          </a:p>
        </p:txBody>
      </p:sp>
      <p:sp>
        <p:nvSpPr>
          <p:cNvPr id="15" name="Rounded Rectangle 14"/>
          <p:cNvSpPr/>
          <p:nvPr/>
        </p:nvSpPr>
        <p:spPr>
          <a:xfrm>
            <a:off x="457200" y="2267712"/>
            <a:ext cx="6894576" cy="2253538"/>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377440"/>
            <a:ext cx="6565392" cy="182880"/>
          </a:xfrm>
          <a:prstGeom prst="rect">
            <a:avLst/>
          </a:prstGeom>
          <a:noFill/>
        </p:spPr>
        <p:txBody>
          <a:bodyPr wrap="square" lIns="0" rIns="0" tIns="0" bIns="0" anchor="t">
            <a:spAutoFit/>
          </a:bodyPr>
          <a:lstStyle/>
          <a:p>
            <a:pPr>
              <a:spcBef>
                <a:spcPts val="0"/>
              </a:spcBef>
              <a:spcAft>
                <a:spcPts val="0"/>
              </a:spcAft>
            </a:pPr>
            <a:r>
              <a:rPr sz="950" b="1" i="0" spc="120">
                <a:solidFill>
                  <a:srgbClr val="7C8A9E"/>
                </a:solidFill>
                <a:latin typeface="Segoe UI"/>
              </a:rPr>
              <a:t>ClusterFinder.hpp:104-142 · all three branches</a:t>
            </a:r>
          </a:p>
        </p:txBody>
      </p:sp>
      <p:sp>
        <p:nvSpPr>
          <p:cNvPr id="17" name="TextBox 16"/>
          <p:cNvSpPr txBox="1"/>
          <p:nvPr/>
        </p:nvSpPr>
        <p:spPr>
          <a:xfrm>
            <a:off x="621792" y="2596896"/>
            <a:ext cx="6565392" cy="2034082"/>
          </a:xfrm>
          <a:prstGeom prst="rect">
            <a:avLst/>
          </a:prstGeom>
          <a:noFill/>
        </p:spPr>
        <p:txBody>
          <a:bodyPr wrap="square" lIns="0" rIns="0" tIns="0" bIns="0" anchor="t">
            <a:spAutoFit/>
          </a:bodyPr>
          <a:lstStyle/>
          <a:p>
            <a:pPr>
              <a:lnSpc>
                <a:spcPct val="112000"/>
              </a:lnSpc>
              <a:spcBef>
                <a:spcPts val="0"/>
              </a:spcBef>
              <a:spcAft>
                <a:spcPts val="0"/>
              </a:spcAft>
            </a:pPr>
            <a:r>
              <a:rPr sz="1050" b="0" i="0">
                <a:solidFill>
                  <a:srgbClr val="A5B2C4"/>
                </a:solidFill>
                <a:latin typeface="Consolas"/>
              </a:rPr>
              <a:t>v = frame[i] - ped_mean[i];   rms = ped_rms[i]</a:t>
            </a:r>
          </a:p>
          <a:p>
            <a:pPr>
              <a:lnSpc>
                <a:spcPct val="112000"/>
              </a:lnSpc>
              <a:spcBef>
                <a:spcPts val="0"/>
              </a:spcBef>
              <a:spcAft>
                <a:spcPts val="0"/>
              </a:spcAft>
            </a:pPr>
            <a:r>
              <a:rPr sz="1050" b="0" i="0">
                <a:solidFill>
                  <a:srgbClr val="A5B2C4"/>
                </a:solidFill>
                <a:latin typeface="Consolas"/>
              </a:rPr>
              <a:t>if (v &lt; -nSigma*rms)           -&gt; skip, no update</a:t>
            </a:r>
          </a:p>
          <a:p>
            <a:pPr>
              <a:lnSpc>
                <a:spcPct val="112000"/>
              </a:lnSpc>
              <a:spcBef>
                <a:spcPts val="0"/>
              </a:spcBef>
              <a:spcAft>
                <a:spcPts val="0"/>
              </a:spcAft>
            </a:pPr>
            <a:r>
              <a:rPr sz="1050" b="0" i="0">
                <a:solidFill>
                  <a:srgbClr val="A5B2C4"/>
                </a:solidFill>
                <a:latin typeface="Consolas"/>
              </a:rPr>
              <a:t>m     = </a:t>
            </a:r>
            <a:r>
              <a:rPr sz="1050" b="1" i="0">
                <a:solidFill>
                  <a:srgbClr val="1E90C2"/>
                </a:solidFill>
                <a:latin typeface="Consolas"/>
              </a:rPr>
              <a:t>max</a:t>
            </a:r>
            <a:r>
              <a:rPr sz="1050" b="0" i="0">
                <a:solidFill>
                  <a:srgbClr val="A5B2C4"/>
                </a:solidFill>
                <a:latin typeface="Consolas"/>
              </a:rPr>
              <a:t> over the 3x3 window</a:t>
            </a:r>
          </a:p>
          <a:p>
            <a:pPr>
              <a:lnSpc>
                <a:spcPct val="112000"/>
              </a:lnSpc>
              <a:spcBef>
                <a:spcPts val="0"/>
              </a:spcBef>
              <a:spcAft>
                <a:spcPts val="0"/>
              </a:spcAft>
            </a:pPr>
            <a:r>
              <a:rPr sz="1050" b="0" i="0">
                <a:solidFill>
                  <a:srgbClr val="A5B2C4"/>
                </a:solidFill>
                <a:latin typeface="Consolas"/>
              </a:rPr>
              <a:t>total = </a:t>
            </a:r>
            <a:r>
              <a:rPr sz="1050" b="1" i="0">
                <a:solidFill>
                  <a:srgbClr val="1E90C2"/>
                </a:solidFill>
                <a:latin typeface="Consolas"/>
              </a:rPr>
              <a:t>sum</a:t>
            </a:r>
            <a:r>
              <a:rPr sz="1050" b="0" i="0">
                <a:solidFill>
                  <a:srgbClr val="A5B2C4"/>
                </a:solidFill>
                <a:latin typeface="Consolas"/>
              </a:rPr>
              <a:t> over the 3x3 window</a:t>
            </a:r>
          </a:p>
          <a:p>
            <a:pPr>
              <a:lnSpc>
                <a:spcPct val="112000"/>
              </a:lnSpc>
              <a:spcBef>
                <a:spcPts val="0"/>
              </a:spcBef>
              <a:spcAft>
                <a:spcPts val="0"/>
              </a:spcAft>
            </a:pPr>
            <a:r>
              <a:rPr sz="1050" b="0" i="0">
                <a:solidFill>
                  <a:srgbClr val="A5B2C4"/>
                </a:solidFill>
                <a:latin typeface="Consolas"/>
              </a:rPr>
              <a:t>if (m &gt; </a:t>
            </a:r>
            <a:r>
              <a:rPr sz="1050" b="1" i="0">
                <a:solidFill>
                  <a:srgbClr val="1E90C2"/>
                </a:solidFill>
                <a:latin typeface="Consolas"/>
              </a:rPr>
              <a:t>nSigma</a:t>
            </a:r>
            <a:r>
              <a:rPr sz="1050" b="0" i="0">
                <a:solidFill>
                  <a:srgbClr val="A5B2C4"/>
                </a:solidFill>
                <a:latin typeface="Consolas"/>
              </a:rPr>
              <a:t>*rms)              // TEST 1</a:t>
            </a:r>
          </a:p>
          <a:p>
            <a:pPr>
              <a:lnSpc>
                <a:spcPct val="112000"/>
              </a:lnSpc>
              <a:spcBef>
                <a:spcPts val="0"/>
              </a:spcBef>
              <a:spcAft>
                <a:spcPts val="0"/>
              </a:spcAft>
            </a:pPr>
            <a:r>
              <a:rPr sz="1050" b="0" i="0">
                <a:solidFill>
                  <a:srgbClr val="A5B2C4"/>
                </a:solidFill>
                <a:latin typeface="Consolas"/>
              </a:rPr>
              <a:t>    if (v == m) -&gt; emit cluster  //   local-max gate</a:t>
            </a:r>
          </a:p>
          <a:p>
            <a:pPr>
              <a:lnSpc>
                <a:spcPct val="112000"/>
              </a:lnSpc>
              <a:spcBef>
                <a:spcPts val="0"/>
              </a:spcBef>
              <a:spcAft>
                <a:spcPts val="0"/>
              </a:spcAft>
            </a:pPr>
            <a:r>
              <a:rPr sz="1050" b="0" i="0">
                <a:solidFill>
                  <a:srgbClr val="A5B2C4"/>
                </a:solidFill>
                <a:latin typeface="Consolas"/>
              </a:rPr>
              <a:t>    else        -&gt; shadow, no update</a:t>
            </a:r>
          </a:p>
          <a:p>
            <a:pPr>
              <a:lnSpc>
                <a:spcPct val="112000"/>
              </a:lnSpc>
              <a:spcBef>
                <a:spcPts val="0"/>
              </a:spcBef>
              <a:spcAft>
                <a:spcPts val="0"/>
              </a:spcAft>
            </a:pPr>
            <a:r>
              <a:rPr sz="1050" b="0" i="0">
                <a:solidFill>
                  <a:srgbClr val="A5B2C4"/>
                </a:solidFill>
                <a:latin typeface="Consolas"/>
              </a:rPr>
              <a:t>else if (total &gt; </a:t>
            </a:r>
            <a:r>
              <a:rPr sz="1050" b="1" i="0">
                <a:solidFill>
                  <a:srgbClr val="1E90C2"/>
                </a:solidFill>
                <a:latin typeface="Consolas"/>
              </a:rPr>
              <a:t>c3*nSigma</a:t>
            </a:r>
            <a:r>
              <a:rPr sz="1050" b="0" i="0">
                <a:solidFill>
                  <a:srgbClr val="A5B2C4"/>
                </a:solidFill>
                <a:latin typeface="Consolas"/>
              </a:rPr>
              <a:t>*rms)   // TEST 3</a:t>
            </a:r>
          </a:p>
          <a:p>
            <a:pPr>
              <a:lnSpc>
                <a:spcPct val="112000"/>
              </a:lnSpc>
              <a:spcBef>
                <a:spcPts val="0"/>
              </a:spcBef>
              <a:spcAft>
                <a:spcPts val="0"/>
              </a:spcAft>
            </a:pPr>
            <a:r>
              <a:rPr sz="1050" b="0" i="0">
                <a:solidFill>
                  <a:srgbClr val="A5B2C4"/>
                </a:solidFill>
                <a:latin typeface="Consolas"/>
              </a:rPr>
              <a:t>    if (v == m) -&gt; emit cluster</a:t>
            </a:r>
          </a:p>
          <a:p>
            <a:pPr>
              <a:lnSpc>
                <a:spcPct val="112000"/>
              </a:lnSpc>
              <a:spcBef>
                <a:spcPts val="0"/>
              </a:spcBef>
              <a:spcAft>
                <a:spcPts val="0"/>
              </a:spcAft>
            </a:pPr>
            <a:r>
              <a:rPr sz="1050" b="0" i="0">
                <a:solidFill>
                  <a:srgbClr val="A5B2C4"/>
                </a:solidFill>
                <a:latin typeface="Consolas"/>
              </a:rPr>
              <a:t>else            -&gt; update pedestal</a:t>
            </a:r>
          </a:p>
        </p:txBody>
      </p:sp>
      <p:sp>
        <p:nvSpPr>
          <p:cNvPr id="18" name="Rectangle 17"/>
          <p:cNvSpPr/>
          <p:nvPr/>
        </p:nvSpPr>
        <p:spPr>
          <a:xfrm>
            <a:off x="8257031"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85632" y="1965960"/>
            <a:ext cx="3310128" cy="237744"/>
          </a:xfrm>
          <a:prstGeom prst="rect">
            <a:avLst/>
          </a:prstGeom>
          <a:noFill/>
        </p:spPr>
        <p:txBody>
          <a:bodyPr wrap="square" lIns="0" rIns="0" tIns="0" bIns="0" anchor="t">
            <a:spAutoFit/>
          </a:bodyPr>
          <a:lstStyle/>
          <a:p>
            <a:pPr>
              <a:spcBef>
                <a:spcPts val="0"/>
              </a:spcBef>
              <a:spcAft>
                <a:spcPts val="0"/>
              </a:spcAft>
            </a:pPr>
            <a:r>
              <a:rPr sz="950" b="1" i="0" spc="140">
                <a:solidFill>
                  <a:srgbClr val="6B7A90"/>
                </a:solidFill>
                <a:latin typeface="Segoe UI"/>
              </a:rPr>
              <a:t>WHAT EACH TEST ASKS</a:t>
            </a:r>
          </a:p>
        </p:txBody>
      </p:sp>
      <p:sp>
        <p:nvSpPr>
          <p:cNvPr id="20" name="TextBox 19"/>
          <p:cNvSpPr txBox="1"/>
          <p:nvPr/>
        </p:nvSpPr>
        <p:spPr>
          <a:xfrm>
            <a:off x="8485632" y="2368296"/>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TEST 1  ·  NSIGMA · RMS</a:t>
            </a:r>
          </a:p>
        </p:txBody>
      </p:sp>
      <p:sp>
        <p:nvSpPr>
          <p:cNvPr id="21" name="TextBox 20"/>
          <p:cNvSpPr txBox="1"/>
          <p:nvPr/>
        </p:nvSpPr>
        <p:spPr>
          <a:xfrm>
            <a:off x="8485632" y="2587752"/>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is any ONE pixel bright?</a:t>
            </a:r>
          </a:p>
        </p:txBody>
      </p:sp>
      <p:sp>
        <p:nvSpPr>
          <p:cNvPr id="22" name="TextBox 21"/>
          <p:cNvSpPr txBox="1"/>
          <p:nvPr/>
        </p:nvSpPr>
        <p:spPr>
          <a:xfrm>
            <a:off x="8485632" y="3136391"/>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TEST 3  ·  C3 · NSIGMA · RMS</a:t>
            </a:r>
          </a:p>
        </p:txBody>
      </p:sp>
      <p:sp>
        <p:nvSpPr>
          <p:cNvPr id="23" name="TextBox 22"/>
          <p:cNvSpPr txBox="1"/>
          <p:nvPr/>
        </p:nvSpPr>
        <p:spPr>
          <a:xfrm>
            <a:off x="8485632" y="3355848"/>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is the WINDOW bright?</a:t>
            </a:r>
          </a:p>
        </p:txBody>
      </p:sp>
      <p:sp>
        <p:nvSpPr>
          <p:cNvPr id="24" name="TextBox 23"/>
          <p:cNvSpPr txBox="1"/>
          <p:nvPr/>
        </p:nvSpPr>
        <p:spPr>
          <a:xfrm>
            <a:off x="8485632" y="3904487"/>
            <a:ext cx="3310128" cy="219456"/>
          </a:xfrm>
          <a:prstGeom prst="rect">
            <a:avLst/>
          </a:prstGeom>
          <a:noFill/>
        </p:spPr>
        <p:txBody>
          <a:bodyPr wrap="square" lIns="0" rIns="0" tIns="0" bIns="0" anchor="t">
            <a:spAutoFit/>
          </a:bodyPr>
          <a:lstStyle/>
          <a:p>
            <a:pPr>
              <a:spcBef>
                <a:spcPts val="0"/>
              </a:spcBef>
              <a:spcAft>
                <a:spcPts val="0"/>
              </a:spcAft>
            </a:pPr>
            <a:r>
              <a:rPr sz="950" b="0" i="0" spc="120">
                <a:solidFill>
                  <a:srgbClr val="6B7A90"/>
                </a:solidFill>
                <a:latin typeface="Segoe UI"/>
              </a:rPr>
              <a:t>LOCAL-MAX GATE</a:t>
            </a:r>
          </a:p>
        </p:txBody>
      </p:sp>
      <p:sp>
        <p:nvSpPr>
          <p:cNvPr id="25" name="TextBox 24"/>
          <p:cNvSpPr txBox="1"/>
          <p:nvPr/>
        </p:nvSpPr>
        <p:spPr>
          <a:xfrm>
            <a:off x="8485632" y="4123944"/>
            <a:ext cx="3310128" cy="292608"/>
          </a:xfrm>
          <a:prstGeom prst="rect">
            <a:avLst/>
          </a:prstGeom>
          <a:noFill/>
        </p:spPr>
        <p:txBody>
          <a:bodyPr wrap="square" lIns="0" rIns="0" tIns="0" bIns="0" anchor="t">
            <a:spAutoFit/>
          </a:bodyPr>
          <a:lstStyle/>
          <a:p>
            <a:pPr>
              <a:spcBef>
                <a:spcPts val="0"/>
              </a:spcBef>
              <a:spcAft>
                <a:spcPts val="0"/>
              </a:spcAft>
            </a:pPr>
            <a:r>
              <a:rPr sz="1300" b="1" i="0">
                <a:solidFill>
                  <a:srgbClr val="E7EDF4"/>
                </a:solidFill>
                <a:latin typeface="Segoe UI"/>
              </a:rPr>
              <a:t>is this pixel the peak?</a:t>
            </a:r>
          </a:p>
        </p:txBody>
      </p:sp>
      <p:sp>
        <p:nvSpPr>
          <p:cNvPr id="26" name="TextBox 25"/>
          <p:cNvSpPr txBox="1"/>
          <p:nvPr/>
        </p:nvSpPr>
        <p:spPr>
          <a:xfrm>
            <a:off x="8485632" y="4727447"/>
            <a:ext cx="3310128" cy="82296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A5B2C4"/>
                </a:solidFill>
                <a:latin typeface="Segoe UI"/>
              </a:rPr>
              <a:t>Test 1 reads the MAX of the window; Test 3 reads its SUM. That one difference is the whole of the next slide.</a:t>
            </a:r>
          </a:p>
        </p:txBody>
      </p:sp>
      <p:sp>
        <p:nvSpPr>
          <p:cNvPr id="27" name="Rectangle 26"/>
          <p:cNvSpPr/>
          <p:nvPr/>
        </p:nvSpPr>
        <p:spPr>
          <a:xfrm>
            <a:off x="498348" y="5358384"/>
            <a:ext cx="11205972"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358384"/>
            <a:ext cx="41148" cy="10058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5449824"/>
            <a:ext cx="10789920" cy="822960"/>
          </a:xfrm>
          <a:prstGeom prst="rect">
            <a:avLst/>
          </a:prstGeom>
          <a:noFill/>
        </p:spPr>
        <p:txBody>
          <a:bodyPr wrap="square" lIns="0" rIns="0" tIns="0" bIns="0" anchor="ctr">
            <a:spAutoFit/>
          </a:bodyPr>
          <a:lstStyle/>
          <a:p>
            <a:pPr>
              <a:lnSpc>
                <a:spcPct val="120000"/>
              </a:lnSpc>
              <a:spcBef>
                <a:spcPts val="0"/>
              </a:spcBef>
              <a:spcAft>
                <a:spcPts val="0"/>
              </a:spcAft>
            </a:pPr>
            <a:r>
              <a:rPr sz="1300" b="1" i="0">
                <a:solidFill>
                  <a:srgbClr val="E7EDF4"/>
                </a:solidFill>
                <a:latin typeface="Segoe UI"/>
              </a:rPr>
              <a:t>c3 = √(3×3) = 3 falls out of variance addition.</a:t>
            </a:r>
            <a:r>
              <a:rPr sz="1300" b="0" i="0">
                <a:solidFill>
                  <a:srgbClr val="A5B2C4"/>
                </a:solidFill>
                <a:latin typeface="Segoe UI"/>
              </a:rPr>
              <a:t> Variances add, standard deviations do not: nine pixels of noise σ give </a:t>
            </a:r>
            <a:r>
              <a:rPr sz="1300" b="1" i="0">
                <a:solidFill>
                  <a:srgbClr val="E7EDF4"/>
                </a:solidFill>
                <a:latin typeface="Segoe UI"/>
              </a:rPr>
              <a:t>Var(Σ v) = 9σ²</a:t>
            </a:r>
            <a:r>
              <a:rPr sz="1300" b="0" i="0">
                <a:solidFill>
                  <a:srgbClr val="A5B2C4"/>
                </a:solidFill>
                <a:latin typeface="Segoe UI"/>
              </a:rPr>
              <a:t>, so the sum's noise is </a:t>
            </a:r>
            <a:r>
              <a:rPr sz="1300" b="1" i="0">
                <a:solidFill>
                  <a:srgbClr val="E7EDF4"/>
                </a:solidFill>
                <a:latin typeface="Segoe UI"/>
              </a:rPr>
              <a:t>3σ</a:t>
            </a:r>
            <a:r>
              <a:rPr sz="1300" b="0" i="0">
                <a:solidFill>
                  <a:srgbClr val="A5B2C4"/>
                </a:solidFill>
                <a:latin typeface="Segoe UI"/>
              </a:rPr>
              <a:t>. </a:t>
            </a:r>
            <a:r>
              <a:rPr sz="1300" b="1" i="0">
                <a:solidFill>
                  <a:srgbClr val="E7EDF4"/>
                </a:solidFill>
                <a:latin typeface="Segoe UI"/>
              </a:rPr>
              <a:t>c3·nSigma·rms</a:t>
            </a:r>
            <a:r>
              <a:rPr sz="1300" b="0" i="0">
                <a:solidFill>
                  <a:srgbClr val="A5B2C4"/>
                </a:solidFill>
                <a:latin typeface="Segoe UI"/>
              </a:rPr>
              <a:t> is therefore the*same 5σ criterion as Test 1*, asked of the window instead of the pixel.</a:t>
            </a:r>
          </a:p>
        </p:txBody>
      </p:sp>
      <p:sp>
        <p:nvSpPr>
          <p:cNvPr id="30" name="TextBox 29"/>
          <p:cNvSpPr txBox="1"/>
          <p:nvPr/>
        </p:nvSpPr>
        <p:spPr>
          <a:xfrm>
            <a:off x="457200" y="6419088"/>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Roughly 80 % of pixels reach the last branch and push the pedestal; ~1.5 % are peaks and ~18 % sit in a peak's shadow.</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A7</a:t>
            </a:r>
          </a:p>
        </p:txBody>
      </p:sp>
      <p:sp>
        <p:nvSpPr>
          <p:cNvPr id="4" name="TextBox 3"/>
          <p:cNvSpPr txBox="1"/>
          <p:nvPr/>
        </p:nvSpPr>
        <p:spPr>
          <a:xfrm>
            <a:off x="1143000" y="457200"/>
            <a:ext cx="955548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WHICH TEST CAUSES THE CPU/CPU GAP · EXPANDS SLIDE 31 · 2 OF 2</a:t>
            </a:r>
          </a:p>
        </p:txBody>
      </p:sp>
      <p:sp>
        <p:nvSpPr>
          <p:cNvPr id="5" name="TextBox 4"/>
          <p:cNvSpPr txBox="1"/>
          <p:nvPr/>
        </p:nvSpPr>
        <p:spPr>
          <a:xfrm>
            <a:off x="457200" y="786384"/>
            <a:ext cx="11237976" cy="914400"/>
          </a:xfrm>
          <a:prstGeom prst="rect">
            <a:avLst/>
          </a:prstGeom>
          <a:noFill/>
        </p:spPr>
        <p:txBody>
          <a:bodyPr wrap="square" lIns="0" rIns="0" tIns="0" bIns="0" anchor="t">
            <a:spAutoFit/>
          </a:bodyPr>
          <a:lstStyle/>
          <a:p>
            <a:pPr>
              <a:lnSpc>
                <a:spcPct val="105000"/>
              </a:lnSpc>
              <a:spcBef>
                <a:spcPts val="0"/>
              </a:spcBef>
              <a:spcAft>
                <a:spcPts val="0"/>
              </a:spcAft>
            </a:pPr>
            <a:r>
              <a:rPr sz="1300" b="1" i="0">
                <a:solidFill>
                  <a:srgbClr val="E7EDF4"/>
                </a:solidFill>
                <a:latin typeface="Segoe UI"/>
              </a:rPr>
              <a:t>Test3 makes the clusters; Test1 only moves the pedestal</a:t>
            </a:r>
          </a:p>
        </p:txBody>
      </p:sp>
      <p:sp>
        <p:nvSpPr>
          <p:cNvPr id="6" name="Rectangle 5"/>
          <p:cNvSpPr/>
          <p:nvPr/>
        </p:nvSpPr>
        <p:spPr>
          <a:xfrm>
            <a:off x="45720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942446"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27693"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12940"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98187"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83434"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68681" y="6656832"/>
            <a:ext cx="13367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63656"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A7 · 2/2</a:t>
            </a:r>
          </a:p>
        </p:txBody>
      </p:sp>
      <p:sp>
        <p:nvSpPr>
          <p:cNvPr id="14" name="TextBox 13"/>
          <p:cNvSpPr txBox="1"/>
          <p:nvPr/>
        </p:nvSpPr>
        <p:spPr>
          <a:xfrm>
            <a:off x="457200" y="1609344"/>
            <a:ext cx="11247120" cy="274320"/>
          </a:xfrm>
          <a:prstGeom prst="rect">
            <a:avLst/>
          </a:prstGeom>
          <a:noFill/>
        </p:spPr>
        <p:txBody>
          <a:bodyPr wrap="square" lIns="0" rIns="0" tIns="0" bIns="0" anchor="t">
            <a:spAutoFit/>
          </a:bodyPr>
          <a:lstStyle/>
          <a:p>
            <a:pPr>
              <a:lnSpc>
                <a:spcPct val="125000"/>
              </a:lnSpc>
              <a:spcBef>
                <a:spcPts val="0"/>
              </a:spcBef>
              <a:spcAft>
                <a:spcPts val="900"/>
              </a:spcAft>
            </a:pPr>
            <a:r>
              <a:rPr sz="1500" b="0" i="0">
                <a:solidFill>
                  <a:srgbClr val="6B7A90"/>
                </a:solidFill>
                <a:latin typeface="Segoe UI"/>
              </a:rPr>
              <a:t>•  </a:t>
            </a:r>
            <a:r>
              <a:rPr sz="1500" b="1" i="0">
                <a:solidFill>
                  <a:srgbClr val="E7EDF4"/>
                </a:solidFill>
                <a:latin typeface="Segoe UI"/>
              </a:rPr>
              <a:t>push_fast</a:t>
            </a:r>
            <a:r>
              <a:rPr sz="1500" b="0" i="0">
                <a:solidFill>
                  <a:srgbClr val="A5B2C4"/>
                </a:solidFill>
                <a:latin typeface="Segoe UI"/>
              </a:rPr>
              <a:t> touches only the pixel's </a:t>
            </a:r>
            <a:r>
              <a:rPr sz="1500" b="1" i="0">
                <a:solidFill>
                  <a:srgbClr val="E7EDF4"/>
                </a:solidFill>
                <a:latin typeface="Segoe UI"/>
              </a:rPr>
              <a:t>own</a:t>
            </a:r>
            <a:r>
              <a:rPr sz="1500" b="0" i="0">
                <a:solidFill>
                  <a:srgbClr val="A5B2C4"/>
                </a:solidFill>
                <a:latin typeface="Segoe UI"/>
              </a:rPr>
              <a:t> accumulators and never reads the stencil, so the update is </a:t>
            </a:r>
            <a:r>
              <a:rPr sz="1500" b="1" i="0">
                <a:solidFill>
                  <a:srgbClr val="E7EDF4"/>
                </a:solidFill>
                <a:latin typeface="Segoe UI"/>
              </a:rPr>
              <a:t>order-independent</a:t>
            </a:r>
            <a:r>
              <a:rPr sz="1500" b="0" i="0">
                <a:solidFill>
                  <a:srgbClr val="A5B2C4"/>
                </a:solidFill>
                <a:latin typeface="Segoe UI"/>
              </a:rPr>
              <a:t>: same set of updated pixels, bit-identical pedestal. Only a differing </a:t>
            </a:r>
            <a:r>
              <a:rPr sz="1500" b="1" i="0">
                <a:solidFill>
                  <a:srgbClr val="E7EDF4"/>
                </a:solidFill>
                <a:latin typeface="Segoe UI"/>
              </a:rPr>
              <a:t>decision</a:t>
            </a:r>
            <a:r>
              <a:rPr sz="1500" b="0" i="0">
                <a:solidFill>
                  <a:srgbClr val="A5B2C4"/>
                </a:solidFill>
                <a:latin typeface="Segoe UI"/>
              </a:rPr>
              <a:t> can diverge.</a:t>
            </a:r>
          </a:p>
        </p:txBody>
      </p:sp>
      <p:pic>
        <p:nvPicPr>
          <p:cNvPr id="15" name="Picture 14" descr="fig_test3.png"/>
          <p:cNvPicPr>
            <a:picLocks noChangeAspect="1"/>
          </p:cNvPicPr>
          <p:nvPr/>
        </p:nvPicPr>
        <p:blipFill>
          <a:blip r:embed="rId2"/>
          <a:stretch>
            <a:fillRect/>
          </a:stretch>
        </p:blipFill>
        <p:spPr>
          <a:xfrm>
            <a:off x="1115568" y="2276856"/>
            <a:ext cx="9875520" cy="3301336"/>
          </a:xfrm>
          <a:prstGeom prst="rect">
            <a:avLst/>
          </a:prstGeom>
        </p:spPr>
      </p:pic>
      <p:sp>
        <p:nvSpPr>
          <p:cNvPr id="16" name="Rectangle 15"/>
          <p:cNvSpPr/>
          <p:nvPr/>
        </p:nvSpPr>
        <p:spPr>
          <a:xfrm>
            <a:off x="498348" y="5605272"/>
            <a:ext cx="1120597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5605272"/>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5696712"/>
            <a:ext cx="10789920" cy="475488"/>
          </a:xfrm>
          <a:prstGeom prst="rect">
            <a:avLst/>
          </a:prstGeom>
          <a:noFill/>
        </p:spPr>
        <p:txBody>
          <a:bodyPr wrap="square" lIns="0" rIns="0" tIns="0" bIns="0" anchor="ctr">
            <a:spAutoFit/>
          </a:bodyPr>
          <a:lstStyle/>
          <a:p>
            <a:pPr>
              <a:lnSpc>
                <a:spcPct val="120000"/>
              </a:lnSpc>
              <a:spcBef>
                <a:spcPts val="0"/>
              </a:spcBef>
              <a:spcAft>
                <a:spcPts val="0"/>
              </a:spcAft>
            </a:pPr>
            <a:r>
              <a:rPr sz="1300" b="0" i="0">
                <a:solidFill>
                  <a:srgbClr val="A5B2C4"/>
                </a:solidFill>
                <a:latin typeface="Segoe UI"/>
              </a:rPr>
              <a:t>Measured two ways. </a:t>
            </a:r>
            <a:r>
              <a:rPr sz="1300" b="1" i="0">
                <a:solidFill>
                  <a:srgbClr val="E7EDF4"/>
                </a:solidFill>
                <a:latin typeface="Segoe UI"/>
              </a:rPr>
              <a:t>Instrumented</a:t>
            </a:r>
            <a:r>
              <a:rPr sz="1300" b="0" i="0">
                <a:solidFill>
                  <a:srgbClr val="A5B2C4"/>
                </a:solidFill>
                <a:latin typeface="Segoe UI"/>
              </a:rPr>
              <a:t>: of the 19 disagreeing clusters, the </a:t>
            </a:r>
            <a:r>
              <a:rPr sz="1300" b="1" i="0">
                <a:solidFill>
                  <a:srgbClr val="E7EDF4"/>
                </a:solidFill>
                <a:latin typeface="Segoe UI"/>
              </a:rPr>
              <a:t>11 that only frozen finds are all Test 3</a:t>
            </a:r>
            <a:r>
              <a:rPr sz="1300" b="0" i="0">
                <a:solidFill>
                  <a:srgbClr val="A5B2C4"/>
                </a:solidFill>
                <a:latin typeface="Segoe UI"/>
              </a:rPr>
              <a:t>; the 8 only serial finds are all the local-max gate. </a:t>
            </a:r>
            <a:r>
              <a:rPr sz="1300" b="1" i="0">
                <a:solidFill>
                  <a:srgbClr val="E7EDF4"/>
                </a:solidFill>
                <a:latin typeface="Segoe UI"/>
              </a:rPr>
              <a:t>Ablated</a:t>
            </a:r>
            <a:r>
              <a:rPr sz="1300" b="0" i="0">
                <a:solidFill>
                  <a:srgbClr val="A5B2C4"/>
                </a:solidFill>
                <a:latin typeface="Segoe UI"/>
              </a:rPr>
              <a:t>: compile Test 3 out and the 11 go to </a:t>
            </a:r>
            <a:r>
              <a:rPr sz="1300" b="1" i="0">
                <a:solidFill>
                  <a:srgbClr val="E7EDF4"/>
                </a:solidFill>
                <a:latin typeface="Segoe UI"/>
              </a:rPr>
              <a:t>zero</a:t>
            </a:r>
            <a:r>
              <a:rPr sz="1300" b="0" i="0">
                <a:solidFill>
                  <a:srgbClr val="A5B2C4"/>
                </a:solidFill>
                <a:latin typeface="Segoe UI"/>
              </a:rPr>
              <a:t>.</a:t>
            </a:r>
          </a:p>
        </p:txBody>
      </p:sp>
      <p:sp>
        <p:nvSpPr>
          <p:cNvPr id="19" name="TextBox 18"/>
          <p:cNvSpPr txBox="1"/>
          <p:nvPr/>
        </p:nvSpPr>
        <p:spPr>
          <a:xfrm>
            <a:off x="457200" y="6446520"/>
            <a:ext cx="11247120" cy="274320"/>
          </a:xfrm>
          <a:prstGeom prst="rect">
            <a:avLst/>
          </a:prstGeom>
          <a:noFill/>
        </p:spPr>
        <p:txBody>
          <a:bodyPr wrap="square" lIns="0" rIns="0" tIns="0" bIns="0" anchor="t">
            <a:spAutoFit/>
          </a:bodyPr>
          <a:lstStyle/>
          <a:p>
            <a:pPr>
              <a:lnSpc>
                <a:spcPct val="125000"/>
              </a:lnSpc>
              <a:spcBef>
                <a:spcPts val="0"/>
              </a:spcBef>
              <a:spcAft>
                <a:spcPts val="0"/>
              </a:spcAft>
            </a:pPr>
            <a:r>
              <a:rPr sz="1100" b="0" i="0">
                <a:solidFill>
                  <a:srgbClr val="6B7A90"/>
                </a:solidFill>
                <a:latin typeface="Segoe UI"/>
              </a:rPr>
              <a:t>3×3 · 10 000 frames · 23 244 605 clusters · per-pixel branch codes diffed frame by frame, then re-run with Test 3 compiled 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7416</TotalTime>
  <Application>LibreOffice/6.4.7.2$Linux_X86_64 LibreOffice_project/40$Build-2</Application>
  <Words>2114</Words>
  <Paragraphs>269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2024-09-04T15:23:23Z</dcterms:created>
  <dc:creator/>
  <dc:description>erstellt durch Vorlagenbauer.ch</dc:description>
  <dc:language>fr-FR</dc:language>
  <cp:lastModifiedBy/>
  <dcterms:modified xsi:type="dcterms:W3CDTF">2026-08-11T16:08:57Z</dcterms:modified>
  <cp:revision>651</cp:revision>
  <dc:subject/>
  <dc:title>Checkliste PPT-Vorlagen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ntentTypeId">
    <vt:lpwstr>0x0101000E594130A2AF244FBF3F304D904ED593</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MediaServiceImageTags">
    <vt:lpwstr/>
  </property>
  <property fmtid="{D5CDD505-2E9C-101B-9397-08002B2CF9AE}" pid="9" name="Notes">
    <vt:i4>9</vt:i4>
  </property>
  <property fmtid="{D5CDD505-2E9C-101B-9397-08002B2CF9AE}" pid="10" name="PresentationFormat">
    <vt:lpwstr>Grand écran</vt:lpwstr>
  </property>
  <property fmtid="{D5CDD505-2E9C-101B-9397-08002B2CF9AE}" pid="11" name="ScaleCrop">
    <vt:bool>0</vt:bool>
  </property>
  <property fmtid="{D5CDD505-2E9C-101B-9397-08002B2CF9AE}" pid="12" name="ShareDoc">
    <vt:bool>0</vt:bool>
  </property>
  <property fmtid="{D5CDD505-2E9C-101B-9397-08002B2CF9AE}" pid="13" name="Slides">
    <vt:i4>11</vt:i4>
  </property>
</Properties>
</file>