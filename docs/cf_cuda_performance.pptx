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</p:sldIdLst>
  <p:sldSz cx="12191695" cy="6858000"/>
  <p:notesSz cx="7772400" cy="10058400"/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slide" Target="slides/slide57.xml"/><Relationship Id="rId62" Type="http://schemas.openxmlformats.org/officeDocument/2006/relationships/slide" Target="slides/slide58.xml"/><Relationship Id="rId63" Type="http://schemas.openxmlformats.org/officeDocument/2006/relationships/slide" Target="slides/slide59.xml"/><Relationship Id="rId64" Type="http://schemas.openxmlformats.org/officeDocument/2006/relationships/slide" Target="slides/slide6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8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pPr algn="r"/>
            <a:fld id="{E0663A34-A066-44A6-AE62-DBA7095D00F0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SAY THIS -- 52 words, about 20 s.</a:t>
            </a:r>
          </a:p>
          <a:p/>
          <a:p>
            <a:r>
              <a:t>- Good morning. I am Khalil, and this is about making the cluster finder in aare</a:t>
            </a:r>
          </a:p>
          <a:p>
            <a:r>
              <a:t>  run on a GPU.</a:t>
            </a:r>
          </a:p>
          <a:p/>
          <a:p>
            <a:r>
              <a:t>- It is a performance talk, so there are numbers, but the story is simple: I</a:t>
            </a:r>
          </a:p>
          <a:p>
            <a:r>
              <a:t>  expected to spend my time on the maths, and I spent it on moving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SAY THIS -- 92 words, about 35 s.</a:t>
            </a:r>
          </a:p>
          <a:p/>
          <a:p>
            <a:r>
              <a:t>- The title is the finding, and it surprised me. I expected to spend my time on</a:t>
            </a:r>
          </a:p>
          <a:p>
            <a:r>
              <a:t>  the kernel. The kernel was fast almost immediately.</a:t>
            </a:r>
          </a:p>
          <a:p/>
          <a:p>
            <a:r>
              <a:t>- At the small cluster size the maths takes 5 microseconds per frame, and just</a:t>
            </a:r>
          </a:p>
          <a:p>
            <a:r>
              <a:t>  getting that frame across the PCIe wire takes 16. So six of my seven steps are</a:t>
            </a:r>
          </a:p>
          <a:p>
            <a:r>
              <a:t>  not about computing. They are about feeding, and about getting results back.</a:t>
            </a:r>
          </a:p>
          <a:p/>
          <a:p>
            <a:r>
              <a:t>- Where we end up: nine times faster than 24 CPU threads, 61 thousand frames per</a:t>
            </a:r>
          </a:p>
          <a:p>
            <a:r>
              <a:t>  second, and the answers are the same to about one cluster in a million.</a:t>
            </a:r>
          </a:p>
          <a:p/>
          <a:p>
            <a:r>
              <a:t>DETAILS: WHERE THE ~1 IN A MILLION COMES FROM, IF ASKED.</a:t>
            </a:r>
          </a:p>
          <a:p/>
          <a:p>
            <a:r>
              <a:t>It is a bound, and a provable one, not a measurement. Three comparisons, all at</a:t>
            </a:r>
          </a:p>
          <a:p>
            <a:r>
              <a:t>3x3 over 10 000 frames and 23 244 605 clusters:</a:t>
            </a:r>
          </a:p>
          <a:p/>
          <a:p>
            <a:r>
              <a:t>    serial CPU  vs  frozen CPU        8 / 11 = 19   pedestal update timing</a:t>
            </a:r>
          </a:p>
          <a:p>
            <a:r>
              <a:t>    frozen CPU  vs  CUDA [f64 ped]     0 /  0 =  0   the port, on its own</a:t>
            </a:r>
          </a:p>
          <a:p>
            <a:r>
              <a:t>    frozen CPU  vs  CUDA [f32 ped]     0 /  6 =  6   float32 ULP ties</a:t>
            </a:r>
          </a:p>
          <a:p/>
          <a:p>
            <a:r>
              <a:t>The shipped build is CUDA [f32], and the finder a user would otherwise reach for</a:t>
            </a:r>
          </a:p>
          <a:p>
            <a:r>
              <a:t>is the serial CPU one. That pair is never compared directly, but symmetric</a:t>
            </a:r>
          </a:p>
          <a:p>
            <a:r>
              <a:t>difference obeys the triangle inequality, so it is at most 19 + 6 = 25. Two</a:t>
            </a:r>
          </a:p>
          <a:p>
            <a:r>
              <a:t>independent causes, neither of them the GPU port: slide 29 has the first, slide</a:t>
            </a:r>
          </a:p>
          <a:p>
            <a:r>
              <a:t>28 the second, and slide 26 shows the port itself contributes exactly zero.</a:t>
            </a:r>
          </a:p>
          <a:p/>
          <a:p>
            <a:r>
              <a:t>25 / 23 244 605 = 1.08 per million. Say "about one in a million"; do NOT say</a:t>
            </a:r>
          </a:p>
          <a:p>
            <a:r>
              <a:t>"below one in a million", which the bound does not support.</a:t>
            </a:r>
          </a:p>
          <a:p/>
          <a:p>
            <a:r>
              <a:t>THE PARAGRAPH THAT USED TO BE ON THIS SLIDE is now only spoken: at 3x3 the</a:t>
            </a:r>
          </a:p>
          <a:p>
            <a:r>
              <a:t>kernel needs 5.5 us per frame while getting that frame across PCIe costs 16.6,</a:t>
            </a:r>
          </a:p>
          <a:p>
            <a:r>
              <a:t>or 13.2 uncontended. Both numbers return at full size on slide 19 and in A7.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SAY THIS -- 56 words, about 20 s.</a:t>
            </a:r>
          </a:p>
          <a:p/>
          <a:p>
            <a:r>
              <a:t>- First, some context. What the algorithm does, what the two machines look</a:t>
            </a:r>
          </a:p>
          <a:p>
            <a:r>
              <a:t>  like, and what we ask the GPU to do.</a:t>
            </a:r>
          </a:p>
          <a:p/>
          <a:p>
            <a:r>
              <a:t>- No speed numbers in this part. We only set up the problem.</a:t>
            </a:r>
          </a:p>
          <a:p/>
          <a:p>
            <a:r>
              <a:t>- One thing to keep in mind all the way through: every frame has 160 000</a:t>
            </a:r>
          </a:p>
          <a:p>
            <a:r>
              <a:t>  pixels, and the work on each pixel is independent of the others.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SAY THIS -- 118 words, about 45 s.</a:t>
            </a:r>
          </a:p>
          <a:p/>
          <a:p>
            <a:r>
              <a:t>- A photon does not land on one pixel. Its charge spreads over the pixels next</a:t>
            </a:r>
          </a:p>
          <a:p>
            <a:r>
              <a:t>  to it. So to get its energy, you have to add up a small patch -- three by</a:t>
            </a:r>
          </a:p>
          <a:p>
            <a:r>
              <a:t>  three around the brightest pixel. That patch is what we call a cluster.</a:t>
            </a:r>
          </a:p>
          <a:p/>
          <a:p>
            <a:r>
              <a:t>- The histogram on the right is the real measurement. Where the peak sits gives</a:t>
            </a:r>
          </a:p>
          <a:p>
            <a:r>
              <a:t>  the gain, how wide it is gives the energy resolution. Finding clusters is</a:t>
            </a:r>
          </a:p>
          <a:p>
            <a:r>
              <a:t>  what makes that plot possible.</a:t>
            </a:r>
          </a:p>
          <a:p/>
          <a:p>
            <a:r>
              <a:t>- The detector is MOENCH: 400 by 400 pixels, 1 300 frames per second today, up</a:t>
            </a:r>
          </a:p>
          <a:p>
            <a:r>
              <a:t>  to 6 000 with better readout boards. About 2 300 photons per frame -- so only</a:t>
            </a:r>
          </a:p>
          <a:p>
            <a:r>
              <a:t>  one and a half percent of the pixels have a photon.</a:t>
            </a:r>
          </a:p>
          <a:p/>
          <a:p>
            <a:r>
              <a:t>DETAILS: The detector, and why its frame rate is the yardstick.</a:t>
            </a:r>
          </a:p>
          <a:p/>
          <a:p>
            <a:r>
              <a:t>MOENCH03 is a hybrid silicon pixel detector: charge integration with analog</a:t>
            </a:r>
          </a:p>
          <a:p>
            <a:r>
              <a:t>readout, 25 x 25 um^2 pitch, 400 x 400 pixels over a 10 x 10 mm^2 active area.</a:t>
            </a:r>
          </a:p>
          <a:p>
            <a:r>
              <a:t>Its standard frame rate is 1.3 kHz; with optimised readout boards the design</a:t>
            </a:r>
          </a:p>
          <a:p>
            <a:r>
              <a:t>reaches 3-6 kHz depending on configuration.</a:t>
            </a:r>
          </a:p>
          <a:p/>
          <a:p>
            <a:r>
              <a:t>That is the number to hold on to. 400 x 400 = 160 000 pixels is 312.5 KiB per</a:t>
            </a:r>
          </a:p>
          <a:p>
            <a:r>
              <a:t>frame at 16 bit, so 1.3 kHz is ~0.4 GB/s off the detector and 6 kHz is ~1.9</a:t>
            </a:r>
          </a:p>
          <a:p>
            <a:r>
              <a:t>GB/s. The 24-thread CPU finder does 6 762 FPS at 3x3, so it already keeps up</a:t>
            </a:r>
          </a:p>
          <a:p>
            <a:r>
              <a:t>with the standard mode and roughly matches the optimised ceiling -- with nothing</a:t>
            </a:r>
          </a:p>
          <a:p>
            <a:r>
              <a:t>left over for anything else on the machine, and nothing left at 9x9, where it</a:t>
            </a:r>
          </a:p>
          <a:p>
            <a:r>
              <a:t>manages 1 503 FPS. Slide 33 closes this loop.</a:t>
            </a:r>
          </a:p>
          <a:p/>
          <a:p>
            <a:r>
              <a:t>Pixels above 5 sigma are ~5 700, about 3.6 % of the frame and 2.4 per photon;</a:t>
            </a:r>
          </a:p>
          <a:p>
            <a:r>
              <a:t>that is the number that sets how much of the frame the 3x3 windows cover.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SAY THIS -- 127 words, about 46 s.</a:t>
            </a:r>
          </a:p>
          <a:p/>
          <a:p>
            <a:r>
              <a:t>- This is the whole algorithm, for one pixel. First subtract the pedestal --</a:t>
            </a:r>
          </a:p>
          <a:p>
            <a:r>
              <a:t>  that is the dark baseline, what the pixel reads with no light. Then look at</a:t>
            </a:r>
          </a:p>
          <a:p>
            <a:r>
              <a:t>  the three by three window around you.</a:t>
            </a:r>
          </a:p>
          <a:p/>
          <a:p>
            <a:r>
              <a:t>- Now three outcomes, not two. If the brightest value in that window is above</a:t>
            </a:r>
          </a:p>
          <a:p>
            <a:r>
              <a:t>  the threshold and it is ME, I write out a cluster. If it is a neighbour, I do</a:t>
            </a:r>
          </a:p>
          <a:p>
            <a:r>
              <a:t>  nothing -- I am in its shadow. And if nothing is above the threshold, then I</a:t>
            </a:r>
          </a:p>
          <a:p>
            <a:r>
              <a:t>  saw only noise, so I add my value to the pedestal. That last case is about</a:t>
            </a:r>
          </a:p>
          <a:p>
            <a:r>
              <a:t>  80 % of pixels, every frame.</a:t>
            </a:r>
          </a:p>
          <a:p/>
          <a:p>
            <a:r>
              <a:t>- So: 160 000 pixels, about five operations each, and no pixel needs to talk to</a:t>
            </a:r>
          </a:p>
          <a:p>
            <a:r>
              <a:t>  another. That shape is why a GPU should work here.</a:t>
            </a:r>
          </a:p>
          <a:p/>
          <a:p>
            <a:r>
              <a:t>DETAILS: Why order does not matter, and the one place it does.</a:t>
            </a:r>
          </a:p>
          <a:p/>
          <a:p>
            <a:r>
              <a:t>A pixel reads what its neighbours MEASURED, never what they decided. With the</a:t>
            </a:r>
          </a:p>
          <a:p>
            <a:r>
              <a:t>pedestal held at its frame-start value, order cannot matter, and that is what</a:t>
            </a:r>
          </a:p>
          <a:p>
            <a:r>
              <a:t>licenses one thread per pixel.</a:t>
            </a:r>
          </a:p>
          <a:p/>
          <a:p>
            <a:r>
              <a:t>The serial CPU finder updates the pedestal mid-scan and so gives that property</a:t>
            </a:r>
          </a:p>
          <a:p>
            <a:r>
              <a:t>up: a pixel scanned late sees a pedestal that earlier pixels have already moved.</a:t>
            </a:r>
          </a:p>
          <a:p>
            <a:r>
              <a:t>Slides 30-31 measure what that costs -- it is the channel behind 11 of the 19</a:t>
            </a:r>
          </a:p>
          <a:p>
            <a:r>
              <a:t>cluster differences between the serial CPU and the frozen-pedestal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SAY THIS -- 124 words, about 45 s.</a:t>
            </a:r>
          </a:p>
          <a:p/>
          <a:p>
            <a:r>
              <a:t>- This is the machine we start from. Look at what the chip is spent on: six</a:t>
            </a:r>
          </a:p>
          <a:p>
            <a:r>
              <a:t>  fetch and decode units, an instruction selector, two levels of private cache.</a:t>
            </a:r>
          </a:p>
          <a:p>
            <a:r>
              <a:t>  All of that keeps just two instruction streams running fast.</a:t>
            </a:r>
          </a:p>
          <a:p/>
          <a:p>
            <a:r>
              <a:t>- The yellow boxes, the parts that actually compute, are the small ones. Most</a:t>
            </a:r>
          </a:p>
          <a:p>
            <a:r>
              <a:t>  of the chip is there to FIND independent work inside one program, and to hide</a:t>
            </a:r>
          </a:p>
          <a:p>
            <a:r>
              <a:t>  slow memory behind a cache. That is the right design when you have a few</a:t>
            </a:r>
          </a:p>
          <a:p>
            <a:r>
              <a:t>  threads and each one must finish quickly.</a:t>
            </a:r>
          </a:p>
          <a:p/>
          <a:p>
            <a:r>
              <a:t>- Our problem is the opposite. The independent work is handed to us: 160 000</a:t>
            </a:r>
          </a:p>
          <a:p>
            <a:r>
              <a:t>  pixels. The bar to beat is here: 24 threads, 148 microseconds per frame,</a:t>
            </a:r>
          </a:p>
          <a:p>
            <a:r>
              <a:t>  6 762 frames per second.</a:t>
            </a:r>
          </a:p>
          <a:p/>
          <a:p>
            <a:r>
              <a:t>DETAILS: The CPU slide. The point is not that CPUs are bad -- it is what the</a:t>
            </a:r>
          </a:p>
          <a:p>
            <a:r>
              <a:t>silicon is SPENT on.</a:t>
            </a:r>
          </a:p>
          <a:p/>
          <a:p>
            <a:r>
              <a:t>On the diagram: Intel Skylake is shown, one core, schematically. The Zen 4 core</a:t>
            </a:r>
          </a:p>
          <a:p>
            <a:r>
              <a:t>in this machine differs in detail -- 4 FP pipes rather than 3, AVX-512</a:t>
            </a:r>
          </a:p>
          <a:p>
            <a:r>
              <a:t>double-pumped on 256-bit datapaths -- but not in kind: ~6-wide front end, 4</a:t>
            </a:r>
          </a:p>
          <a:p>
            <a:r>
              <a:t>scalar ALUs, 2 SMT contexts, private L1 + L2. Load/store units are not drawn.</a:t>
            </a:r>
          </a:p>
          <a:p/>
          <a:p>
            <a:r>
              <a:t>DO NOT ADD THE BOXES UP INTO A LANE COUNT. Counting the picture gives 3 x 8-wide</a:t>
            </a:r>
          </a:p>
          <a:p>
            <a:r>
              <a:t>vector + 4 scalar = 28 ALU boxes, and 28 is not a number to say next to the GPU's</a:t>
            </a:r>
          </a:p>
          <a:p>
            <a:r>
              <a:t>16 384. Three reasons:</a:t>
            </a:r>
          </a:p>
          <a:p/>
          <a:p>
            <a:r>
              <a:t>  1. They are not separate hardware. The drawing gives the scalar ALUs and the</a:t>
            </a:r>
          </a:p>
          <a:p>
            <a:r>
              <a:t>     vector ALUs their own boxes, but on Skylake they sit on the SAME issue</a:t>
            </a:r>
          </a:p>
          <a:p>
            <a:r>
              <a:t>     ports (0, 1, 5). Adding 24 + 4 counts the same execution resources twice.</a:t>
            </a:r>
          </a:p>
          <a:p>
            <a:r>
              <a:t>  2. Only two of the three vector units multiply -- read the red labels: "MUL or</a:t>
            </a:r>
          </a:p>
          <a:p>
            <a:r>
              <a:t>     ADD", "MUL or ADD", and then "ADD" alone. FLOPs need FMA-capable width, so</a:t>
            </a:r>
          </a:p>
          <a:p>
            <a:r>
              <a:t>     it is 2 x 8, not 3 x 8.</a:t>
            </a:r>
          </a:p>
          <a:p>
            <a:r>
              <a:t>  3. "8-wide" is 8 x 32 bit = 256 bit = AVX2, so those ARE fp32 lanes. That part</a:t>
            </a:r>
          </a:p>
          <a:p>
            <a:r>
              <a:t>     of the reading is right.</a:t>
            </a:r>
          </a:p>
          <a:p/>
          <a:p>
            <a:r>
              <a:t>The number to quote is 16 FP32 FMA lanes per core: on Skylake client, 2 FMA units</a:t>
            </a:r>
          </a:p>
          <a:p>
            <a:r>
              <a:t>x 256 bit. And on the Zen 4 in this machine, also 16 -- 4 FP pipes of which 2 are</a:t>
            </a:r>
          </a:p>
          <a:p>
            <a:r>
              <a:t>FMA-capable, 256 bit wide. 16 cores x 16 = 256, which is the figure on slide 6's</a:t>
            </a:r>
          </a:p>
          <a:p>
            <a:r>
              <a:t>rail. Say it comes from the Zen 4, NOT from this Skylake picture: the two</a:t>
            </a:r>
          </a:p>
          <a:p>
            <a:r>
              <a:t>microarchitectures landing on the same 16 is a coincidence, not a derivation.</a:t>
            </a:r>
          </a:p>
          <a:p/>
          <a:p>
            <a:r>
              <a:t>Same shape of caveat as the V100 diagram on slide 6, and the same answer if the</a:t>
            </a:r>
          </a:p>
          <a:p>
            <a:r>
              <a:t>count is challenged: the picture is there for the RATIO of control silicon to</a:t>
            </a:r>
          </a:p>
          <a:p>
            <a:r>
              <a:t>arithmetic -- 6 fetch/decode, an instruction selector, two private caches, all</a:t>
            </a:r>
          </a:p>
          <a:p>
            <a:r>
              <a:t>feeding 2 execution contexts -- not for its lane count.</a:t>
            </a:r>
          </a:p>
          <a:p/>
          <a:p>
            <a:r>
              <a:t>On the die photo: Comet Lake, a 10-core Core i9, at the same scale of argument</a:t>
            </a:r>
          </a:p>
          <a:p>
            <a:r>
              <a:t>as the AD102 die on the next slide. Ten cores, and they do not fill the die --</a:t>
            </a:r>
          </a:p>
          <a:p>
            <a:r>
              <a:t>the orange slab on the right is L3 and the block on the left is I/O and the</a:t>
            </a:r>
          </a:p>
          <a:p>
            <a:r>
              <a:t>memory controller. If someone asks why a 16-core Ryzen is not simply 16x a</a:t>
            </a:r>
          </a:p>
          <a:p>
            <a:r>
              <a:t>1-core Ryzen, that picture is the answer.</a:t>
            </a:r>
          </a:p>
          <a:p/>
          <a:p>
            <a:r>
              <a:t>Six fetch/decode units, an instruction selector, L1 + L2 private cache: all of</a:t>
            </a:r>
          </a:p>
          <a:p>
            <a:r>
              <a:t>that machinery exists to find independent work INSIDE one instruction stream,</a:t>
            </a:r>
          </a:p>
          <a:p>
            <a:r>
              <a:t>and to hide memory latency behind a cache. It is the right design when you have</a:t>
            </a:r>
          </a:p>
          <a:p>
            <a:r>
              <a:t>a few threads that must each finish fast.</a:t>
            </a:r>
          </a:p>
          <a:p/>
          <a:p>
            <a:r>
              <a:t>WHAT THE DIAGRAM DOES *NOT* SHOW, if asked. It draws exactly four things:</a:t>
            </a:r>
          </a:p>
          <a:p>
            <a:r>
              <a:t>superscalar issue (6 fetch/decode + several ALUs + one "instruction selection"</a:t>
            </a:r>
          </a:p>
          <a:p>
            <a:r>
              <a:t>box), SIMD (3 x 8-wide vector ALUs), 2-way SMT (the two Execution Contexts), and</a:t>
            </a:r>
          </a:p>
          <a:p>
            <a:r>
              <a:t>a private L1/L2. There is NO out-of-order hardware on it -- no reorder buffer,</a:t>
            </a:r>
          </a:p>
          <a:p>
            <a:r>
              <a:t>no reservation stations, no register renaming, no load/store queue, no branch</a:t>
            </a:r>
          </a:p>
          <a:p>
            <a:r>
              <a:t>predictor, no retirement unit. The single "instruction selection" box is the only</a:t>
            </a:r>
          </a:p>
          <a:p>
            <a:r>
              <a:t>nod to issue logic, and its label does not say out-of-order; on a diagram whose</a:t>
            </a:r>
          </a:p>
          <a:p>
            <a:r>
              <a:t>subject is SMT it reads just as naturally as "pick which of the two threads</a:t>
            </a:r>
          </a:p>
          <a:p>
            <a:r>
              <a:t>issues this cycle".</a:t>
            </a:r>
          </a:p>
          <a:p/>
          <a:p>
            <a:r>
              <a:t>So do not point at this picture and say "out-of-order". The real Zen 4 in this</a:t>
            </a:r>
          </a:p>
          <a:p>
            <a:r>
              <a:t>machine is deeply out-of-order and that fact supports the argument -- but say it</a:t>
            </a:r>
          </a:p>
          <a:p>
            <a:r>
              <a:t>as a fact about the chip, not as a box on the slide, or someone will spend the</a:t>
            </a:r>
          </a:p>
          <a:p>
            <a:r>
              <a:t>next minute looking for the box.</a:t>
            </a:r>
          </a:p>
          <a:p/>
          <a:p>
            <a:r>
              <a:t>Our problem has the opposite shape: 160 000 work items that are already</a:t>
            </a:r>
          </a:p>
          <a:p>
            <a:r>
              <a:t>independent. We do not need a machine to FIND the parallelism -- it is handed to</a:t>
            </a:r>
          </a:p>
          <a:p>
            <a:r>
              <a:t>us. Every transistor spent looking for it is a transistor not doing arithmetic.</a:t>
            </a:r>
          </a:p>
          <a:p/>
          <a:p>
            <a:r>
              <a:t>On the thread sweep: 6 762 FPS is the best of a measured sweep (perf/cpu_threads.py),</a:t>
            </a:r>
          </a:p>
          <a:p>
            <a:r>
              <a:t>not a default. 48 threads on 16 cores is 24 % SLOWER than 24 -- worth saying out</a:t>
            </a:r>
          </a:p>
          <a:p>
            <a:r>
              <a:t>loud, because an oversubscribed baseline is the easiest way to inflate a GPU</a:t>
            </a:r>
          </a:p>
          <a:p>
            <a:r>
              <a:t>speedup without lying about anything.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SAY THIS -- 144 words, about 52 s.</a:t>
            </a:r>
          </a:p>
          <a:p/>
          <a:p>
            <a:r>
              <a:t>- Same drawing, opposite proportions. Four fetch and decode units, and 64 warp</a:t>
            </a:r>
          </a:p>
          <a:p>
            <a:r>
              <a:t>  contexts. Almost all the area is compute and registers.</a:t>
            </a:r>
          </a:p>
          <a:p/>
          <a:p>
            <a:r>
              <a:t>- The GPU hides slow memory in a different way. Not with a big cache, but by</a:t>
            </a:r>
          </a:p>
          <a:p>
            <a:r>
              <a:t>  having many other threads ready to run. When one group waits, another runs.</a:t>
            </a:r>
          </a:p>
          <a:p/>
          <a:p>
            <a:r>
              <a:t>- The number to keep: this card can hold 196 000 threads at the same time. Our</a:t>
            </a:r>
          </a:p>
          <a:p>
            <a:r>
              <a:t>  frame needs 160 000. The whole frame fits in the machine at once.</a:t>
            </a:r>
          </a:p>
          <a:p/>
          <a:p>
            <a:r>
              <a:t>- And compare like with like: 256 float lanes on this CPU, 16 384 here. That is</a:t>
            </a:r>
          </a:p>
          <a:p>
            <a:r>
              <a:t>  64 times the width, about 32 times once you count clock speeds. We measure</a:t>
            </a:r>
          </a:p>
          <a:p>
            <a:r>
              <a:t>  nine. So we are not short of lanes -- we are short of a wire to feed them.</a:t>
            </a:r>
          </a:p>
          <a:p>
            <a:r>
              <a:t>  Device memory runs at a thousand gigabytes per second; PCIe brings us 25.</a:t>
            </a:r>
          </a:p>
          <a:p/>
          <a:p>
            <a:r>
              <a:t>DETAILS: The GPU slide, and the number to land.</a:t>
            </a:r>
          </a:p>
          <a:p/>
          <a:p>
            <a:r>
              <a:t>128 SMs x 1 536 threads = 196 608 thread slots that can be RESIDENT at the same</a:t>
            </a:r>
          </a:p>
          <a:p>
            <a:r>
              <a:t>time. Our frame is 160 000 pixels. The entire frame fits in the machine at once,</a:t>
            </a:r>
          </a:p>
          <a:p>
            <a:r>
              <a:t>one thread per pixel, with room left over -- which is why slide 7's "one thread</a:t>
            </a:r>
          </a:p>
          <a:p>
            <a:r>
              <a:t>per pixel" is not a figure of speech, and why slide 9 can talk about occupancy</a:t>
            </a:r>
          </a:p>
          <a:p>
            <a:r>
              <a:t>as a real quantity (3x3 achieves 100 %: 1 536 threads resident per SM).</a:t>
            </a:r>
          </a:p>
          <a:p/>
          <a:p>
            <a:r>
              <a:t>Latency hiding, in one sentence: the CPU hides memory latency with a cache and</a:t>
            </a:r>
          </a:p>
          <a:p>
            <a:r>
              <a:t>out-of-order execution; the GPU hides it by having 48 other warps ready to run.</a:t>
            </a:r>
          </a:p>
          <a:p>
            <a:r>
              <a:t>That is why there is no reorder buffer on this diagram and no branch predictor.</a:t>
            </a:r>
          </a:p>
          <a:p/>
          <a:p>
            <a:r>
              <a:t>Count the pink cells in the legend before moving on: FP64 units are a small</a:t>
            </a:r>
          </a:p>
          <a:p>
            <a:r>
              <a:t>minority of the SM, 8 MUL/ADD per clock against 16 for fp32 and 16 for int. On</a:t>
            </a:r>
          </a:p>
          <a:p>
            <a:r>
              <a:t>a GeForce part the ratio is far worse than this V100 diagram suggests -- 1/64.</a:t>
            </a:r>
          </a:p>
          <a:p>
            <a:r>
              <a:t>That is half of why opt7 pays, and it is worth planting here so opt7 lands as a</a:t>
            </a:r>
          </a:p>
          <a:p>
            <a:r>
              <a:t>consequence rather than a surprise.</a:t>
            </a:r>
          </a:p>
          <a:p/>
          <a:p>
            <a:r>
              <a:t>THE DIAGRAM IS A V100 AND ITS LANE COUNT DOES NOT TRANSFER. Anyone who counts</a:t>
            </a:r>
          </a:p>
          <a:p>
            <a:r>
              <a:t>squares gets 64 FP32 lanes per SM, not 128, and they are right about the picture.</a:t>
            </a:r>
          </a:p>
          <a:p>
            <a:r>
              <a:t>Per sub-core the legend reads 16 yellow "SIMD fp32" and 16 salmon "SIMD int" --</a:t>
            </a:r>
          </a:p>
          <a:p>
            <a:r>
              <a:t>on Volta those are SEPARATE units and the int ones cannot do float. Ada changed</a:t>
            </a:r>
          </a:p>
          <a:p>
            <a:r>
              <a:t>exactly that: per sub-core, 16 FP32-only lanes plus 16 that do FP32 OR INT32, so</a:t>
            </a:r>
          </a:p>
          <a:p>
            <a:r>
              <a:t>4 x 32 = 128 per SM, and 128 SMs x 128 = 16 384. Cross-check: 16 384 x 2 flop x</a:t>
            </a:r>
          </a:p>
          <a:p>
            <a:r>
              <a:t>2.52 GHz = 82.6 TFLOP/s against NVIDIA's quoted 82.58.</a:t>
            </a:r>
          </a:p>
          <a:p/>
          <a:p>
            <a:r>
              <a:t>Two more Volta-isms in the same picture: it draws 64 warp slots per SM where Ada</a:t>
            </a:r>
          </a:p>
          <a:p>
            <a:r>
              <a:t>has 48 -- slide 9 divides by 48 -- and it draws FP64 at half the FP32 rate,</a:t>
            </a:r>
          </a:p>
          <a:p>
            <a:r>
              <a:t>where a GeForce Ada part is 1/64. The caption on the slide already says a V100</a:t>
            </a:r>
          </a:p>
          <a:p>
            <a:r>
              <a:t>is shown; this is the detail behind that sentence.</a:t>
            </a:r>
          </a:p>
          <a:p/>
          <a:p>
            <a:r>
              <a:t>THE TRAP TO PRE-EMPT, AS A LIKE-FOR-LIKE RATIO. The old version of this line</a:t>
            </a:r>
          </a:p>
          <a:p>
            <a:r>
              <a:t>compared 16 384 GPU lanes against 32 CPU threads and called it 512x. That is</a:t>
            </a:r>
          </a:p>
          <a:p>
            <a:r>
              <a:t>lanes against hardware threads -- two different quantities -- and it is the kind</a:t>
            </a:r>
          </a:p>
          <a:p>
            <a:r>
              <a:t>of thing this audience catches. The defensible comparisons:</a:t>
            </a:r>
          </a:p>
          <a:p/>
          <a:p>
            <a:r>
              <a:t>    FP32 lanes     CPU 16 cores x 16 = 256     GPU 16 384         x64</a:t>
            </a:r>
          </a:p>
          <a:p>
            <a:r>
              <a:t>    peak FP32      ~2.6 TFLOP/s at ~5 GHz      82.6 TFLOP/s       x32</a:t>
            </a:r>
          </a:p>
          <a:p>
            <a:r>
              <a:t>    memory BW      ~71 GB/s measured           1 008 GB/s         x14</a:t>
            </a:r>
          </a:p>
          <a:p>
            <a:r>
              <a:t>    MEASURED       6 762 FPS                   61 312 FPS         x9.1</a:t>
            </a:r>
          </a:p>
          <a:p/>
          <a:p>
            <a:r>
              <a:t>The CPU's 16 FP32 lanes per core are 2 FMA pipes x 256 bit, and SMT adds threads,</a:t>
            </a:r>
          </a:p>
          <a:p>
            <a:r>
              <a:t>not lanes -- 32 threads share the same 256. Quote x64 or x32. Never x512.</a:t>
            </a:r>
          </a:p>
          <a:p/>
          <a:p>
            <a:r>
              <a:t>The point survives either way, and it is the last row: even 32x is not what we</a:t>
            </a:r>
          </a:p>
          <a:p>
            <a:r>
              <a:t>get, because every frame crosses a 25 GB/s wire once in each direction. At 9x9,</a:t>
            </a:r>
          </a:p>
          <a:p>
            <a:r>
              <a:t>where there is far more work per byte moved, we DO get x26.5 -- the same</a:t>
            </a:r>
          </a:p>
          <a:p>
            <a:r>
              <a:t>neighbourhood as the compute ratio. That contrast between the two cluster sizes</a:t>
            </a:r>
          </a:p>
          <a:p>
            <a:r>
              <a:t>is the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SAY THIS -- 89 words, about 30 s. Two differences from the CPU code.</a:t>
            </a:r>
          </a:p>
          <a:p/>
          <a:p>
            <a:r>
              <a:t>- WHAT ONE WORKER OWNS. CPU: one thread takes one WHOLE frame -- 24 threads on</a:t>
            </a:r>
          </a:p>
          <a:p>
            <a:r>
              <a:t>  24 frames -- and walks it pixel by pixel. GPU: one thread takes ONE PIXEL,</a:t>
            </a:r>
          </a:p>
          <a:p>
            <a:r>
              <a:t>  160 000 at once on the same frame.</a:t>
            </a:r>
          </a:p>
          <a:p/>
          <a:p>
            <a:r>
              <a:t>- WHERE THE LOOP WENT. On the CPU the loop is in the code: for y, for x. On the</a:t>
            </a:r>
          </a:p>
          <a:p>
            <a:r>
              <a:t>  GPU there is no loop -- the loop IS the launch. A 25 by 25 grid of 16 by 16</a:t>
            </a:r>
          </a:p>
          <a:p>
            <a:r>
              <a:t>  blocks, each thread finding its own pixel. And a block is 256 threads that</a:t>
            </a:r>
          </a:p>
          <a:p>
            <a:r>
              <a:t>  share one tile: the next slide.</a:t>
            </a:r>
          </a:p>
          <a:p/>
          <a:p>
            <a:r>
              <a:t>DETAILS (if asked):</a:t>
            </a:r>
          </a:p>
          <a:p>
            <a:r>
              <a:t>  - Every thread runs the same function. The kernel is written once, for one</a:t>
            </a:r>
          </a:p>
          <a:p>
            <a:r>
              <a:t>    thread; the launch runs it 160 000 times.</a:t>
            </a:r>
          </a:p>
          <a:p>
            <a:r>
              <a:t>  - "One thread per frame" is why the CPU baseline moves with thread count:</a:t>
            </a:r>
          </a:p>
          <a:p>
            <a:r>
              <a:t>    24 threads at 3x3, 32 at 9x9.</a:t>
            </a:r>
          </a:p>
          <a:p>
            <a:r>
              <a:t>  - Each CPU thread carries its own pedestal, so neighbouring frames train</a:t>
            </a:r>
          </a:p>
          <a:p>
            <a:r>
              <a:t>    separate baselines. Act IV, not here.</a:t>
            </a:r>
          </a:p>
          <a:p/>
          <a:p>
            <a:r>
              <a:t>Do NOT say "a chunk of the frame" for the CPU: ClusterFinderMT hands each thread</a:t>
            </a:r>
          </a:p>
          <a:p>
            <a:r>
              <a:t>a whole frame, and ClusterFinder walks it in raster order. Slide 30 needs that</a:t>
            </a:r>
          </a:p>
          <a:p>
            <a:r>
              <a:t>-- its whole argument is that a late pixel is judged against a pedestal this</a:t>
            </a:r>
          </a:p>
          <a:p>
            <a:r>
              <a:t>same scan already moved.</a:t>
            </a:r>
          </a:p>
          <a:p/>
          <a:p>
            <a:r>
              <a:t>DETAILS: what this slide used to carry, and where it went. The right column was a</a:t>
            </a:r>
          </a:p>
          <a:p>
            <a:r>
              <a:t>copy of slide 4's three-outcome logic -- same panel title, same ~80 % figure --</a:t>
            </a:r>
          </a:p>
          <a:p>
            <a:r>
              <a:t>so it has been replaced by the loop/launch contrast the notes above argue. The</a:t>
            </a:r>
          </a:p>
          <a:p>
            <a:r>
              <a:t>two facts that lived only here, if either comes up:</a:t>
            </a:r>
          </a:p>
          <a:p/>
          <a:p>
            <a:r>
              <a:t>  - The branch split per frame: ~80 % of threads update the pedestal, ~18 % sit</a:t>
            </a:r>
          </a:p>
          <a:p>
            <a:r>
              <a:t>    in a peak's shadow, ~1.5 % are peaks. (Also on slide 30.)</a:t>
            </a:r>
          </a:p>
          <a:p>
            <a:r>
              <a:t>  - A shadow pixel is neither recorded NOR fed back: it is not a cluster, and it</a:t>
            </a:r>
          </a:p>
          <a:p>
            <a:r>
              <a:t>    does not update the pedestal either. That is the third outcome, and it is</a:t>
            </a:r>
          </a:p>
          <a:p>
            <a:r>
              <a:t>    why the algorithm has three and not two.</a:t>
            </a:r>
          </a:p>
          <a:p/>
          <a:p>
            <a:r>
              <a:t>DETAILS: the launch line is elided on purpose. The real call passes 12 arguments</a:t>
            </a:r>
          </a:p>
          <a:p>
            <a:r>
              <a:t>(ClusterFinderCUDA.hpp:715-719); nine of them are pedestal and geometry pointers</a:t>
            </a:r>
          </a:p>
          <a:p>
            <a:r>
              <a:t>that say nothing about the execution model, and at full length they were the</a:t>
            </a:r>
          </a:p>
          <a:p>
            <a:r>
              <a:t>widest thing on the slide. The bold is on grid and block because those two are</a:t>
            </a:r>
          </a:p>
          <a:p>
            <a:r>
              <a:t>the subject; shmem is deliberately left plain -- it is slide 8's subject, one</a:t>
            </a:r>
          </a:p>
          <a:p>
            <a:r>
              <a:t>slide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SAY THIS -- 123 words, about 45 s.</a:t>
            </a:r>
          </a:p>
          <a:p/>
          <a:p>
            <a:r>
              <a:t>- Each thread needs its own 3x3 window, so it reads nine values. Which means</a:t>
            </a:r>
          </a:p>
          <a:p>
            <a:r>
              <a:t>  every pixel is read nine times, by nine different threads. At 9x9 it is</a:t>
            </a:r>
          </a:p>
          <a:p>
            <a:r>
              <a:t>  eighty-one times.</a:t>
            </a:r>
          </a:p>
          <a:p/>
          <a:p>
            <a:r>
              <a:t>- What CUDA gives you here is control over the chip's memory. Shared memory is</a:t>
            </a:r>
          </a:p>
          <a:p>
            <a:r>
              <a:t>  the same on-chip memory as L1, except you decide what goes in it.</a:t>
            </a:r>
          </a:p>
          <a:p/>
          <a:p>
            <a:r>
              <a:t>- So the block loads its tile once, plus a one-pixel halo, and after that every</a:t>
            </a:r>
          </a:p>
          <a:p>
            <a:r>
              <a:t>  thread reads from shared memory. One trip to VRAM instead of nine -- and the</a:t>
            </a:r>
          </a:p>
          <a:p>
            <a:r>
              <a:t>  pedestal subtraction happens on the way in, for free.</a:t>
            </a:r>
          </a:p>
          <a:p/>
          <a:p>
            <a:r>
              <a:t>- The cost: 1.3 kilobytes at 3x3, 2.2 at 9x9, out of 100 per SM. One to two</a:t>
            </a:r>
          </a:p>
          <a:p>
            <a:r>
              <a:t>  percent. Shared memory is never what runs out. So what does?</a:t>
            </a:r>
          </a:p>
          <a:p/>
          <a:p>
            <a:r>
              <a:t>DETAILS: shared memory is never the binding resource here. The tile is stored in</a:t>
            </a:r>
          </a:p>
          <a:p>
            <a:r>
              <a:t>COMPUTE_TYPE (float), not in the pedestal type: 1.3 KB for 3x3 and 2.3 KB for</a:t>
            </a:r>
          </a:p>
          <a:p>
            <a:r>
              <a:t>9x9, against 100 KB of shared memory per SM. Even the old double-precision tile</a:t>
            </a:r>
          </a:p>
          <a:p>
            <a:r>
              <a:t>only reached 4.5 KB. What runs out first is registers -- the next slide.</a:t>
            </a:r>
          </a:p>
          <a:p/>
          <a:p>
            <a:r>
              <a:t>DETAILS: "nine reads" is per pixel, not per thread. A thread reads 9 values (its</a:t>
            </a:r>
          </a:p>
          <a:p>
            <a:r>
              <a:t>own window); a pixel is read by 9 threads (every window it falls in). Both are</a:t>
            </a:r>
          </a:p>
          <a:p>
            <a:r>
              <a:t>nine at 3x3, which is why the sentence works either way -- but the WASTE is the</a:t>
            </a:r>
          </a:p>
          <a:p>
            <a:r>
              <a:t>second one, so say it that way.</a:t>
            </a:r>
          </a:p>
          <a:p/>
          <a:p>
            <a:r>
              <a:t>DETAILS: on Ada, shared memory and L1 are one 128 KB block of on-chip storage per</a:t>
            </a:r>
          </a:p>
          <a:p>
            <a:r>
              <a:t>SM, split at launch, up to 100 KB of it usable as shared. So "same silicon as L1,</a:t>
            </a:r>
          </a:p>
          <a:p>
            <a:r>
              <a:t>but user-managed" is literal, not an analogy.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SAY THIS -- 120 words, about 45 s.</a:t>
            </a:r>
          </a:p>
          <a:p/>
          <a:p>
            <a:r>
              <a:t>- This is the last two slides in one number. Occupancy is the warps resident</a:t>
            </a:r>
          </a:p>
          <a:p>
            <a:r>
              <a:t>  on an SM over the most it could hold. It is a latency-hiding budget: when a</a:t>
            </a:r>
          </a:p>
          <a:p>
            <a:r>
              <a:t>  warp stalls, the SM switches to another one that is already there.</a:t>
            </a:r>
          </a:p>
          <a:p/>
          <a:p>
            <a:r>
              <a:t>- At 3x3: six blocks, 48 warps, 100 percent. At 9x9: two blocks, 16 warps,</a:t>
            </a:r>
          </a:p>
          <a:p>
            <a:r>
              <a:t>  33 percent.</a:t>
            </a:r>
          </a:p>
          <a:p/>
          <a:p>
            <a:r>
              <a:t>- And 33 is not a bug to fix. Occupancy only buys latency hiding, and hiding</a:t>
            </a:r>
          </a:p>
          <a:p>
            <a:r>
              <a:t>  only pays if there is latency left unhidden. At 9x9 each thread does a lot of</a:t>
            </a:r>
          </a:p>
          <a:p>
            <a:r>
              <a:t>  work per byte it loads, so 16 warps keep the SM fed.</a:t>
            </a:r>
          </a:p>
          <a:p/>
          <a:p>
            <a:r>
              <a:t>- High occupancy is a means, not the goal -- and on this workload the kernel was</a:t>
            </a:r>
          </a:p>
          <a:p>
            <a:r>
              <a:t>  never the bottleneck anyway.</a:t>
            </a:r>
          </a:p>
          <a:p/>
          <a:p>
            <a:r>
              <a:t>CAREFUL: occupancy has nothing to do with arithmetic intensity. Intensity is</a:t>
            </a:r>
          </a:p>
          <a:p>
            <a:r>
              <a:t>FLOP per byte, a property of the ALGORITHM; occupancy cannot change it. The true</a:t>
            </a:r>
          </a:p>
          <a:p>
            <a:r>
              <a:t>statement is "more occupancy does not mean more throughput" -- a kernel with</a:t>
            </a:r>
          </a:p>
          <a:p>
            <a:r>
              <a:t>enough independent work per thread runs full speed at low occupancy. Saying</a:t>
            </a:r>
          </a:p>
          <a:p>
            <a:r>
              <a:t>"highest occupancy is not highest arithmetic intensity" invites a correction</a:t>
            </a:r>
          </a:p>
          <a:p>
            <a:r>
              <a:t>from anyone in the room who knows the roofline.</a:t>
            </a:r>
          </a:p>
          <a:p/>
          <a:p>
            <a:r>
              <a:t>DETAILS: why "33 % occupancy" is not the alarm it looks like.</a:t>
            </a:r>
          </a:p>
          <a:p/>
          <a:p>
            <a:r>
              <a:t>Occupancy only buys latency hiding, and latency hiding only matters if there is</a:t>
            </a:r>
          </a:p>
          <a:p>
            <a:r>
              <a:t>latency left unhidden. At 9x9 the kernel is long and each thread does a lot of</a:t>
            </a:r>
          </a:p>
          <a:p>
            <a:r>
              <a:t>work per byte loaded, so 16 resident warps are enough to keep the SM fed.</a:t>
            </a:r>
          </a:p>
          <a:p/>
          <a:p>
            <a:r>
              <a:t>It is also build-dependent, and that is the honest caveat. On the shipped f32</a:t>
            </a:r>
          </a:p>
          <a:p>
            <a:r>
              <a:t>build the 9x9 kernel overlaps across four streams by only 1.02x -- extra streams</a:t>
            </a:r>
          </a:p>
          <a:p>
            <a:r>
              <a:t>buy nothing in kernel concurrency. On the f64 build the kernel is 3.5x longer</a:t>
            </a:r>
          </a:p>
          <a:p>
            <a:r>
              <a:t>and DOES overlap, 1.32x, and there four streams genuinely lower the floor. So</a:t>
            </a:r>
          </a:p>
          <a:p>
            <a:r>
              <a:t>quote the overlap factor, never "occupancy is fine" on its own.</a:t>
            </a:r>
          </a:p>
          <a:p/>
          <a:p>
            <a:r>
              <a:t>Shared memory never binds here: 1.3 KB per block at 3x3, 2.3 KB at 9x9, against</a:t>
            </a:r>
          </a:p>
          <a:p>
            <a:r>
              <a:t>100 kB per SM. That is 1-2 % of the budget, which is why the strip lists it as a</a:t>
            </a:r>
          </a:p>
          <a:p>
            <a:r>
              <a:t>ceiling we never approach rather than as a number that decides anything.</a:t>
            </a:r>
          </a:p>
          <a:p/>
          <a:p>
            <a:r>
              <a:t>ON THE 100 kB, if someone who knows sm_89 asks. The SM has 128 kB of UNIFIED</a:t>
            </a:r>
          </a:p>
          <a:p>
            <a:r>
              <a:t>L1 + shared memory; 100 kB is the most of it that can be carved out as shared,</a:t>
            </a:r>
          </a:p>
          <a:p>
            <a:r>
              <a:t>and 99 kB the most a single block may request. So 100 kB is the shared-memory</a:t>
            </a:r>
          </a:p>
          <a:p>
            <a:r>
              <a:t>ceiling, not the size of the array. The three numbers on the strip are the three</a:t>
            </a:r>
          </a:p>
          <a:p>
            <a:r>
              <a:t>things that can run out -- and on this kernel it is never this one.</a:t>
            </a:r>
          </a:p>
          <a:p/>
          <a:p>
            <a:r>
              <a:t>Provenance for both hardware slides: shipped f32 build, measured not estimated.</a:t>
            </a:r>
          </a:p>
          <a:p>
            <a:r>
              <a:t>cuobjdump -res-usage for registers and spills;</a:t>
            </a:r>
          </a:p>
          <a:p>
            <a:r>
              <a:t>cudaOccupancyMaxActiveBlocksPerMultiprocessor for blocks per SM; RTX 4090</a:t>
            </a:r>
          </a:p>
          <a:p>
            <a:r>
              <a:t>(sm_89). Reproduce with python/tests/perf/kernel_resources.py.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SAY THIS -- 104 words, about 40 s.</a:t>
            </a:r>
          </a:p>
          <a:p/>
          <a:p>
            <a:r>
              <a:t>- Here is the whole talk on one page. Seven steps, grouped in three acts, and</a:t>
            </a:r>
          </a:p>
          <a:p>
            <a:r>
              <a:t>  the acts are ordered by which part was the slowest at the time.</a:t>
            </a:r>
          </a:p>
          <a:p/>
          <a:p>
            <a:r>
              <a:t>- Act one: the host cannot feed the GPU fast enough. Act two: getting the</a:t>
            </a:r>
          </a:p>
          <a:p>
            <a:r>
              <a:t>  results back is now the slow part. Act three: only now is the kernel itself</a:t>
            </a:r>
          </a:p>
          <a:p>
            <a:r>
              <a:t>  the slow part -- and that is the only step where I touched the maths.</a:t>
            </a:r>
          </a:p>
          <a:p/>
          <a:p>
            <a:r>
              <a:t>- The numbers on the right are speed-ups against the CPU. We start at two and</a:t>
            </a:r>
          </a:p>
          <a:p>
            <a:r>
              <a:t>  finish at nine, for the small cluster size. Do not read every row now; we</a:t>
            </a:r>
          </a:p>
          <a:p>
            <a:r>
              <a:t>  come back to this page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SAY THIS -- 62 words, about 22 s.</a:t>
            </a:r>
          </a:p>
          <a:p/>
          <a:p>
            <a:r>
              <a:t>- Act one. The kernel was already fast. The problem is getting the data to it.</a:t>
            </a:r>
          </a:p>
          <a:p/>
          <a:p>
            <a:r>
              <a:t>- Five slides, all at the small cluster size, because that is where the PCIe</a:t>
            </a:r>
          </a:p>
          <a:p>
            <a:r>
              <a:t>  wire is the limit.</a:t>
            </a:r>
          </a:p>
          <a:p/>
          <a:p>
            <a:r>
              <a:t>- We start from the CPU: 6 762 frames per second, about 15 seconds for a</a:t>
            </a:r>
          </a:p>
          <a:p>
            <a:r>
              <a:t>  hundred thousand frames. Everything from now on is compared to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SAY THIS -- 119 words, about 43 s.</a:t>
            </a:r>
          </a:p>
          <a:p/>
          <a:p>
            <a:r>
              <a:t>- One rule of CUDA explains the next five slides. A GPU program can only read</a:t>
            </a:r>
          </a:p>
          <a:p>
            <a:r>
              <a:t>  the GPU's own memory. It cannot touch host memory. So every frame has to be</a:t>
            </a:r>
          </a:p>
          <a:p>
            <a:r>
              <a:t>  copied IN, and every result copied back OUT. Those two copies have names:</a:t>
            </a:r>
          </a:p>
          <a:p>
            <a:r>
              <a:t>  H2D, host to device, and D2H, device to host.</a:t>
            </a:r>
          </a:p>
          <a:p/>
          <a:p>
            <a:r>
              <a:t>- Now look at the three speeds. Inside the GPU, memory runs at a thousand</a:t>
            </a:r>
          </a:p>
          <a:p>
            <a:r>
              <a:t>  gigabytes per second. Host memory runs at seventy. But the wire between them,</a:t>
            </a:r>
          </a:p>
          <a:p>
            <a:r>
              <a:t>  PCIe, gives us thirty-one.</a:t>
            </a:r>
          </a:p>
          <a:p/>
          <a:p>
            <a:r>
              <a:t>- So the GPU can eat about thirty times faster than the wire can deliver. Our</a:t>
            </a:r>
          </a:p>
          <a:p>
            <a:r>
              <a:t>  data crosses that wire once per frame, in each direction. That is the whole</a:t>
            </a:r>
          </a:p>
          <a:p>
            <a:r>
              <a:t>  problem of the next two acts.</a:t>
            </a:r>
          </a:p>
          <a:p/>
          <a:p>
            <a:r>
              <a:t>DETAILS: This slide is for the half of the room that has never written CUDA. If</a:t>
            </a:r>
          </a:p>
          <a:p>
            <a:r>
              <a:t>they are all GPU people, say the two sentences on the left and move on.</a:t>
            </a:r>
          </a:p>
          <a:p/>
          <a:p>
            <a:r>
              <a:t>The one idea: a kernel cannot dereference a host pointer. Everything it reads</a:t>
            </a:r>
          </a:p>
          <a:p>
            <a:r>
              <a:t>must already be in VRAM, and everything it produces must be copied back. That is</a:t>
            </a:r>
          </a:p>
          <a:p>
            <a:r>
              <a:t>not a performance detail, it is the programming model, and it is why six of the</a:t>
            </a:r>
          </a:p>
          <a:p>
            <a:r>
              <a:t>seven optimisations are about movement rather than arithmetic.</a:t>
            </a:r>
          </a:p>
          <a:p/>
          <a:p>
            <a:r>
              <a:t>THE THREE BANDWIDTHS, and be precise about which comparison is which. VRAM to SM</a:t>
            </a:r>
          </a:p>
          <a:p>
            <a:r>
              <a:t>is 1 008 GB/s. Host DRAM measured ~71 GB/s on pc-moench-04 (threaded copy over a</a:t>
            </a:r>
          </a:p>
          <a:p>
            <a:r>
              <a:t>1 GB array, counting 24 B per element: 8 read, 8 write, 8 read-for-ownership;</a:t>
            </a:r>
          </a:p>
          <a:p>
            <a:r>
              <a:t>dual-channel DDR5, so this is in the right family). PCIe 4.0 x16 is 31.5.</a:t>
            </a:r>
          </a:p>
          <a:p/>
          <a:p>
            <a:r>
              <a:t>So the wire is 32x below VRAM but only about 2.3x below host DRAM. The claim to</a:t>
            </a:r>
          </a:p>
          <a:p>
            <a:r>
              <a:t>make is NOT "the wire is 32x slower than memory" -- it is that the wire is the</a:t>
            </a:r>
          </a:p>
          <a:p>
            <a:r>
              <a:t>NARROWEST link in the chain, and that the GPU can consume about thirty times</a:t>
            </a:r>
          </a:p>
          <a:p>
            <a:r>
              <a:t>faster than the wire delivers. Any calculation whose input crosses that wire once</a:t>
            </a:r>
          </a:p>
          <a:p>
            <a:r>
              <a:t>per use is gated by the wire, and this one does exactly that: a frame arrives, is</a:t>
            </a:r>
          </a:p>
          <a:p>
            <a:r>
              <a:t>touched about five times, and leaves.</a:t>
            </a:r>
          </a:p>
          <a:p/>
          <a:p>
            <a:r>
              <a:t>If asked why not keep the data resident on the GPU: for this workload the frames</a:t>
            </a:r>
          </a:p>
          <a:p>
            <a:r>
              <a:t>come off a detector at 100 kHz and the results go to analysis on the host, so</a:t>
            </a:r>
          </a:p>
          <a:p>
            <a:r>
              <a:t>both ends are genuinely on the host side. Streaming is the problem, not a</a:t>
            </a:r>
          </a:p>
          <a:p>
            <a:r>
              <a:t>choice.</a:t>
            </a:r>
          </a:p>
          <a:p/>
          <a:p>
            <a:r>
              <a:t>The DMA engines are the reason the story is not simply "the wire is slow, the</a:t>
            </a:r>
          </a:p>
          <a:p>
            <a:r>
              <a:t>end". There are two, one per direction, independent of the SMs, so transfer and</a:t>
            </a:r>
          </a:p>
          <a:p>
            <a:r>
              <a:t>compute CAN overlap. Act I is getting the input arrow overlapped; Act II is the</a:t>
            </a:r>
          </a:p>
          <a:p>
            <a:r>
              <a:t>output arrow.</a:t>
            </a:r>
          </a:p>
          <a:p/>
          <a:p>
            <a:r>
              <a:t>Numbers on this slide, all from A1: H2D 13.2 us [s1] / 16.6 [s4], kernel 5.5 us</a:t>
            </a:r>
          </a:p>
          <a:p>
            <a:r>
              <a:t>at 3x3 f32, D2H payload 93 kB at 3x3.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SAY THIS -- 144 words, about 53 s.</a:t>
            </a:r>
          </a:p>
          <a:p/>
          <a:p>
            <a:r>
              <a:t>THIS PICTURE IS THE MAP FOR THE NEXT TEN SLIDES. Both ideas that drive the whole</a:t>
            </a:r>
          </a:p>
          <a:p>
            <a:r>
              <a:t>ladder are visible as empty space in it. Point at the gaps while you say bullet 2.</a:t>
            </a:r>
          </a:p>
          <a:p/>
          <a:p>
            <a:r>
              <a:t>- The first port is the simple one: copy a frame in, run the kernel, copy the</a:t>
            </a:r>
          </a:p>
          <a:p>
            <a:r>
              <a:t>  clusters out. The calls do not block, but the last line does -- the clusters</a:t>
            </a:r>
          </a:p>
          <a:p>
            <a:r>
              <a:t>  have to be copied into the caller's vector before the next frame starts. So</a:t>
            </a:r>
          </a:p>
          <a:p>
            <a:r>
              <a:t>  the host stops, once per frame.</a:t>
            </a:r>
          </a:p>
          <a:p/>
          <a:p>
            <a:r>
              <a:t>- Look at the picture: it holds the whole plan. There are two kinds of empty</a:t>
            </a:r>
          </a:p>
          <a:p>
            <a:r>
              <a:t>  space in it. First: the three GPU steps run one after another, even though</a:t>
            </a:r>
          </a:p>
          <a:p>
            <a:r>
              <a:t>  they use separate hardware and could overlap. Closing that gap is Act one.</a:t>
            </a:r>
          </a:p>
          <a:p>
            <a:r>
              <a:t>  Second: the GPU waits for the host, then the host waits for the GPU. Closing</a:t>
            </a:r>
          </a:p>
          <a:p>
            <a:r>
              <a:t>  that one is Act two.</a:t>
            </a:r>
          </a:p>
          <a:p/>
          <a:p>
            <a:r>
              <a:t>- The first gap also gives the target: if the three overlapped perfectly, a</a:t>
            </a:r>
          </a:p>
          <a:p>
            <a:r>
              <a:t>  frame would cost the longest of them, not the sum. 16 microseconds, 62 000</a:t>
            </a:r>
          </a:p>
          <a:p>
            <a:r>
              <a:t>  frames a second. We are at 26 percent of it.</a:t>
            </a:r>
          </a:p>
          <a:p/>
          <a:p>
            <a:r>
              <a:t>DETAILS: The two-idea framing, and where Act III fits.</a:t>
            </a:r>
          </a:p>
          <a:p/>
          <a:p>
            <a:r>
              <a:t>The mapping is exact, so it is safe to promise here and collect later:</a:t>
            </a:r>
          </a:p>
          <a:p/>
          <a:p>
            <a:r>
              <a:t>  ACT I   opt1-opt4   overlap the GPU with ITSELF.  H2D, kernel and D2H are</a:t>
            </a:r>
          </a:p>
          <a:p>
            <a:r>
              <a:t>                      three independent engines; streams (opt2), removing the</a:t>
            </a:r>
          </a:p>
          <a:p>
            <a:r>
              <a:t>                      barriers (opt3) and pinning (opt4) are all about getting</a:t>
            </a:r>
          </a:p>
          <a:p>
            <a:r>
              <a:t>                      those three to run at the same time.</a:t>
            </a:r>
          </a:p>
          <a:p>
            <a:r>
              <a:t>  ACT II  opt5-opt6   overlap the GPU with the HOST. Slide 18 is titled</a:t>
            </a:r>
          </a:p>
          <a:p>
            <a:r>
              <a:t>                      host-GPU overlap; opt6 removes the last host copy.</a:t>
            </a:r>
          </a:p>
          <a:p/>
          <a:p>
            <a:r>
              <a:t>Act III (opt7, the f32 kernel) is NOT a third kind of overlap, and do not</a:t>
            </a:r>
          </a:p>
          <a:p>
            <a:r>
              <a:t>promise it as one. It makes one of the three engines cheaper rather than hiding</a:t>
            </a:r>
          </a:p>
          <a:p>
            <a:r>
              <a:t>it behind another. That is also why it comes last: measured end to end it is</a:t>
            </a:r>
          </a:p>
          <a:p>
            <a:r>
              <a:t>worth 1.5 %, and only once the host is off the critical path is the same change</a:t>
            </a:r>
          </a:p>
          <a:p>
            <a:r>
              <a:t>worth 21 %. If someone asks "so what is act three?", the answer is "once nothing</a:t>
            </a:r>
          </a:p>
          <a:p>
            <a:r>
              <a:t>is waiting any more, the only thing left is to make the work itself smaller".</a:t>
            </a:r>
          </a:p>
          <a:p/>
          <a:p>
            <a:r>
              <a:t>DETAILS: Why the rail quotes [s4] on a slide about a ONE-STREAM build.</a:t>
            </a:r>
          </a:p>
          <a:p/>
          <a:p>
            <a:r>
              <a:t>The floor is a property of the machine, not of opt1, and it has to be the SAME</a:t>
            </a:r>
          </a:p>
          <a:p>
            <a:r>
              <a:t>denominator on all seven slides or "% of floor" means nothing. So every opt slide</a:t>
            </a:r>
          </a:p>
          <a:p>
            <a:r>
              <a:t>divides by the floor derived from the s4 columns of A1: at 3x3 f64 the engines</a:t>
            </a:r>
          </a:p>
          <a:p>
            <a:r>
              <a:t>are H2D 16.17, kernel 15.17, D2H 7.69 us, the max is H2D at 16.17, and</a:t>
            </a:r>
          </a:p>
          <a:p>
            <a:r>
              <a:t>1/16.17 us = 61 859 FPS. That is the 16.2 in the callout.</a:t>
            </a:r>
          </a:p>
          <a:p/>
          <a:p>
            <a:r>
              <a:t>The small [s1] line under it is opt1's own measurement -- one stream, nothing</a:t>
            </a:r>
          </a:p>
          <a:p>
            <a:r>
              <a:t>else on the link -- and it is what the timeline figure is drawn from: 13.1 + 14.7</a:t>
            </a:r>
          </a:p>
          <a:p>
            <a:r>
              <a:t>+ 5.3 = 33.2 us of serialized engine time inside a 63.3 us frame. Quote it if</a:t>
            </a:r>
          </a:p>
          <a:p>
            <a:r>
              <a:t>someone asks what a single frame costs on a quiet GPU; do not divide by it. Its</a:t>
            </a:r>
          </a:p>
          <a:p>
            <a:r>
              <a:t>max is the kernel, not H2D, and a floor built from it would move every</a:t>
            </a:r>
          </a:p>
          <a:p>
            <a:r>
              <a:t>percentage on the next six slides.</a:t>
            </a:r>
          </a:p>
          <a:p/>
          <a:p>
            <a:r>
              <a:t>Both conventions and the reconciliation are in annex A7.</a:t>
            </a:r>
          </a:p>
          <a:p/>
          <a:p>
            <a:r>
              <a:t>DETAILS: What the code panel leaves out on purpose.</a:t>
            </a:r>
          </a:p>
          <a:p/>
          <a:p>
            <a:r>
              <a:t>Two simplifications, both to avoid forward-referencing later slides. If someone</a:t>
            </a:r>
          </a:p>
          <a:p>
            <a:r>
              <a:t>who has read the header asks, these are the honest answers:</a:t>
            </a:r>
          </a:p>
          <a:p/>
          <a:p>
            <a:r>
              <a:t>  - opt1 does not DMA from the caller's array. It std::memcpy's the frame into</a:t>
            </a:r>
          </a:p>
          <a:p>
            <a:r>
              <a:t>    sc.h_frame, a pinned buffer owned by the class, and the H2D reads from</a:t>
            </a:r>
          </a:p>
          <a:p>
            <a:r>
              <a:t>    there. That extra host-side copy of 312 kB per frame is exactly what opt4</a:t>
            </a:r>
          </a:p>
          <a:p>
            <a:r>
              <a:t>    deletes by registering the caller's buffer instead -- slide 15. Explaining</a:t>
            </a:r>
          </a:p>
          <a:p>
            <a:r>
              <a:t>    pinned memory here would spend the idea four slides before it pays.</a:t>
            </a:r>
          </a:p>
          <a:p/>
          <a:p>
            <a:r>
              <a:t>  - There are TWO D2H copies per frame, not one. The kernel writes a count, the</a:t>
            </a:r>
          </a:p>
          <a:p>
            <a:r>
              <a:t>    host fetches the 4-byte count, waits, and only then can it ask for that many</a:t>
            </a:r>
          </a:p>
          <a:p>
            <a:r>
              <a:t>    clusters -- so there is a second sync as well. That round trip is annex A3's</a:t>
            </a:r>
          </a:p>
          <a:p>
            <a:r>
              <a:t>    whole subject, so this panel shows the payload copy only.</a:t>
            </a:r>
          </a:p>
          <a:p/>
          <a:p>
            <a:r>
              <a:t>Neither changes the claim on this slide: the calls are async, the host still</a:t>
            </a:r>
          </a:p>
          <a:p>
            <a:r>
              <a:t>stops once per frame, and nothing overlaps.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SAY THIS -- 116 words, about 42 s.</a:t>
            </a:r>
          </a:p>
          <a:p/>
          <a:p>
            <a:r>
              <a:t>- A stream is just a queue of GPU work. Things inside one queue run in order.</a:t>
            </a:r>
          </a:p>
          <a:p>
            <a:r>
              <a:t>  Things in DIFFERENT queues are allowed to overlap. So with four queues, a</a:t>
            </a:r>
          </a:p>
          <a:p>
            <a:r>
              <a:t>  copy in one can run while another one computes.</a:t>
            </a:r>
          </a:p>
          <a:p/>
          <a:p>
            <a:r>
              <a:t>- Each stream gets its own buffers and its own pedestal, and frames go to the</a:t>
            </a:r>
          </a:p>
          <a:p>
            <a:r>
              <a:t>  four streams in turn. We also stop sending one frame at a time: 2 000 frames</a:t>
            </a:r>
          </a:p>
          <a:p>
            <a:r>
              <a:t>  per call.</a:t>
            </a:r>
          </a:p>
          <a:p/>
          <a:p>
            <a:r>
              <a:t>- This gives 1.56 times, and takes us from 26 to 40 percent of the floor. But</a:t>
            </a:r>
          </a:p>
          <a:p>
            <a:r>
              <a:t>  be honest about what it is: it is only the scaffolding. The host still stops</a:t>
            </a:r>
          </a:p>
          <a:p>
            <a:r>
              <a:t>  and waits after every round of four. Removing that is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SAY THIS -- 122 words, about 44 s.</a:t>
            </a:r>
          </a:p>
          <a:p/>
          <a:p>
            <a:r>
              <a:t>- Three pictures, same time axis. Top: version one, one stream, one engine</a:t>
            </a:r>
          </a:p>
          <a:p>
            <a:r>
              <a:t>  working at a time. Middle: four streams, but the host says "wait for</a:t>
            </a:r>
          </a:p>
          <a:p>
            <a:r>
              <a:t>  everybody" after every round of four -- you can see the copy engine go idle</a:t>
            </a:r>
          </a:p>
          <a:p>
            <a:r>
              <a:t>  in the orange gaps. Bottom: the barrier is gone.</a:t>
            </a:r>
          </a:p>
          <a:p/>
          <a:p>
            <a:r>
              <a:t>- The fix is small in the code and large on the picture. Instead of waiting</a:t>
            </a:r>
          </a:p>
          <a:p>
            <a:r>
              <a:t>  after every round, we push all the work of the whole batch into the queues,</a:t>
            </a:r>
          </a:p>
          <a:p>
            <a:r>
              <a:t>  and wait once at the end.</a:t>
            </a:r>
          </a:p>
          <a:p/>
          <a:p>
            <a:r>
              <a:t>- 1.18 times faster, and 47 percent of the floor. The point is not the number,</a:t>
            </a:r>
          </a:p>
          <a:p>
            <a:r>
              <a:t>  it is the shape: from here on the copy engine never has to stop and wait for</a:t>
            </a:r>
          </a:p>
          <a:p>
            <a:r>
              <a:t>  the host.</a:t>
            </a:r>
          </a:p>
          <a:p/>
          <a:p>
            <a:r>
              <a:t>CAREFUL: BOTH VERSIONS CALL THE SAME FUNCTION.</a:t>
            </a:r>
          </a:p>
          <a:p/>
          <a:p>
            <a:r>
              <a:t>Do not say opt3 "replaced cudaDeviceSynchronize with cudaStreamSynchronize".</a:t>
            </a:r>
          </a:p>
          <a:p>
            <a:r>
              <a:t>cudaDeviceSynchronize is not used anywhere in aare. Both sides call</a:t>
            </a:r>
          </a:p>
          <a:p>
            <a:r>
              <a:t>cudaStreamSynchronize, once per stream. What changed is HOW OFTEN:</a:t>
            </a:r>
          </a:p>
          <a:p/>
          <a:p>
            <a:r>
              <a:t>  opt2  ClusterFinderCUDAOpt2.hpp:324-388</a:t>
            </a:r>
          </a:p>
          <a:p>
            <a:r>
              <a:t>        per round of 4: a launch loop, then a DRAIN loop that calls</a:t>
            </a:r>
          </a:p>
          <a:p>
            <a:r>
              <a:t>        cudaStreamSynchronize on each of the 4 streams. With a batch of 2 000</a:t>
            </a:r>
          </a:p>
          <a:p>
            <a:r>
              <a:t>        that is 500 rounds, so 2 000 sync calls per batch.</a:t>
            </a:r>
          </a:p>
          <a:p/>
          <a:p>
            <a:r>
              <a:t>  opt3  ClusterFinderCUDA.hpp:896-990 (kept commented, and the comment there</a:t>
            </a:r>
          </a:p>
          <a:p>
            <a:r>
              <a:t>        says these are the opt3/opt4 numbers)</a:t>
            </a:r>
          </a:p>
          <a:p>
            <a:r>
              <a:t>        one launch loop over the whole batch, then the same 4 calls ONCE.</a:t>
            </a:r>
          </a:p>
          <a:p/>
          <a:p>
            <a:r>
              <a:t>So the honest sentence is "opt2 drained the queues 500 times per batch, opt3</a:t>
            </a:r>
          </a:p>
          <a:p>
            <a:r>
              <a:t>drains them once" -- an argument about the loop boundary, not about which API</a:t>
            </a:r>
          </a:p>
          <a:p>
            <a:r>
              <a:t>was called. If someone asks why not cudaDeviceSynchronize: it would be worse</a:t>
            </a:r>
          </a:p>
          <a:p>
            <a:r>
              <a:t>here, since it waits on every stream on the device rather than the four we</a:t>
            </a:r>
          </a:p>
          <a:p>
            <a:r>
              <a:t>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SAY THIS -- 124 words, about 45 s.</a:t>
            </a:r>
          </a:p>
          <a:p/>
          <a:p>
            <a:r>
              <a:t>- Normal host memory can be moved around by the operating system. The GPU</a:t>
            </a:r>
          </a:p>
          <a:p>
            <a:r>
              <a:t>  cannot copy from memory that might move, so the driver does it in two steps:</a:t>
            </a:r>
          </a:p>
          <a:p>
            <a:r>
              <a:t>  first into a hidden safe buffer, then to the GPU. Every frame is copied twice.</a:t>
            </a:r>
          </a:p>
          <a:p/>
          <a:p>
            <a:r>
              <a:t>- Pinning tells the operating system: never move these pages. Then the GPU</a:t>
            </a:r>
          </a:p>
          <a:p>
            <a:r>
              <a:t>  reads host memory directly. One line of code, once, for the whole dataset.</a:t>
            </a:r>
          </a:p>
          <a:p/>
          <a:p>
            <a:r>
              <a:t>- And it is the biggest single step in act one: 1.32 times, 62 percent of the</a:t>
            </a:r>
          </a:p>
          <a:p>
            <a:r>
              <a:t>  floor. The copy now runs at 24 gigabytes per second, which is about 77 percent</a:t>
            </a:r>
          </a:p>
          <a:p>
            <a:r>
              <a:t>  of what the PCIe wire can do -- the two-step version managed 15. Note this</a:t>
            </a:r>
          </a:p>
          <a:p>
            <a:r>
              <a:t>  helps because the copy IN is the tallest bar here. At 9x9 it buys almost</a:t>
            </a:r>
          </a:p>
          <a:p>
            <a:r>
              <a:t>  nothing.</a:t>
            </a:r>
          </a:p>
          <a:p/>
          <a:p>
            <a:r>
              <a:t>DETAILS: Which H2D number, and why there are two.</a:t>
            </a:r>
          </a:p>
          <a:p/>
          <a:p>
            <a:r>
              <a:t>13.2 us is uncontended [s1]. In the shipped pipeline H2D reads 16.6 us [s4]; the</a:t>
            </a:r>
          </a:p>
          <a:p>
            <a:r>
              <a:t>extra 26 % is H2D&lt;-&gt;D2H contention on the link, and the full engine grid is in</a:t>
            </a:r>
          </a:p>
          <a:p>
            <a:r>
              <a:t>annex A7.</a:t>
            </a:r>
          </a:p>
          <a:p/>
          <a:p>
            <a:r>
              <a:t>The rule this slide is the first sighting of: pinning attacks H2D, which is the</a:t>
            </a:r>
          </a:p>
          <a:p>
            <a:r>
              <a:t>tallest bar at 3x3 and the shortest at 9x9. So the same change is worth x1.32 at</a:t>
            </a:r>
          </a:p>
          <a:p>
            <a:r>
              <a:t>3x3 and only x1.03 at 9x9.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SAY THIS -- 65 words, about 23 s.</a:t>
            </a:r>
          </a:p>
          <a:p/>
          <a:p>
            <a:r>
              <a:t>- Act two. Both copies now run at full wire speed, so the wire is no longer the</a:t>
            </a:r>
          </a:p>
          <a:p>
            <a:r>
              <a:t>  thing to fix.</a:t>
            </a:r>
          </a:p>
          <a:p/>
          <a:p>
            <a:r>
              <a:t>- What is slow now happens AFTER the results come back: the host copying</a:t>
            </a:r>
          </a:p>
          <a:p>
            <a:r>
              <a:t>  clusters out of our buffer into memory the caller owns. Host to host, no GPU</a:t>
            </a:r>
          </a:p>
          <a:p>
            <a:r>
              <a:t>  involved.</a:t>
            </a:r>
          </a:p>
          <a:p/>
          <a:p>
            <a:r>
              <a:t>- Three slides. It pays a little at 3x3, and a lot at 9x9.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SAY THIS -- 118 words, about 43 s.</a:t>
            </a:r>
          </a:p>
          <a:p/>
          <a:p>
            <a:r>
              <a:t>- Up to now we overlapped the GPU with itself. We never overlapped the GPU with</a:t>
            </a:r>
          </a:p>
          <a:p>
            <a:r>
              <a:t>  the HOST. The batch finished, and then the host built its result objects while</a:t>
            </a:r>
          </a:p>
          <a:p>
            <a:r>
              <a:t>  the GPU sat and did nothing.</a:t>
            </a:r>
          </a:p>
          <a:p/>
          <a:p>
            <a:r>
              <a:t>- The fix is to keep one batch running on the GPU while the host is still</a:t>
            </a:r>
          </a:p>
          <a:p>
            <a:r>
              <a:t>  unpacking the previous one. Send batch two, then unpack batch one, and repeat.</a:t>
            </a:r>
          </a:p>
          <a:p/>
          <a:p>
            <a:r>
              <a:t>- Note what is NOT here: no new CUDA call, no kernel change. Only the order of</a:t>
            </a:r>
          </a:p>
          <a:p>
            <a:r>
              <a:t>  the host loop. That is 1.31 times faster, and it takes us to 81 percent of the</a:t>
            </a:r>
          </a:p>
          <a:p>
            <a:r>
              <a:t>  floor. And the user does not even see it -- it is inside the normal function</a:t>
            </a:r>
          </a:p>
          <a:p>
            <a:r>
              <a:t>  everyone already calls.</a:t>
            </a:r>
          </a:p>
          <a:p/>
          <a:p>
            <a:r>
              <a:t>- Last line on the right, and then we move on: at the big cluster size the same</a:t>
            </a:r>
          </a:p>
          <a:p>
            <a:r>
              <a:t>  change only reaches 45 percent, not 81. That gap is the whole next slide.</a:t>
            </a:r>
          </a:p>
          <a:p/>
          <a:p>
            <a:r>
              <a:t>DETAILS: opt5 — host&lt;-&gt;GPU overlap. Code and chunk sizing are on annex A4.</a:t>
            </a:r>
          </a:p>
          <a:p/>
          <a:p>
            <a:r>
              <a:t>    tok = cf.submit_batch(data[a0:b0], first_frame=a0)</a:t>
            </a:r>
          </a:p>
          <a:p>
            <a:r>
              <a:t>    for a, b in bounds[1:]:</a:t>
            </a:r>
          </a:p>
          <a:p>
            <a:r>
              <a:t>        nxt = cf.submit_batch(data[a:b], first_frame=a)   # GPU starts N+1 ...</a:t>
            </a:r>
          </a:p>
          <a:p>
            <a:r>
              <a:t>        results.extend(cf.collect(tok))                   # ... host unpacks N</a:t>
            </a:r>
          </a:p>
          <a:p>
            <a:r>
              <a:t>        tok = nxt</a:t>
            </a:r>
          </a:p>
          <a:p>
            <a:r>
              <a:t>    results.extend(cf.collect(tok))                       # drain</a:t>
            </a:r>
          </a:p>
          <a:p/>
          <a:p>
            <a:r>
              <a:t>1. This is now INTERNAL to find_clusters_batched(), so every caller gets it for</a:t>
            </a:r>
          </a:p>
          <a:p>
            <a:r>
              <a:t>   free. submit_batch/collect stay public for anyone who wants the token by hand.</a:t>
            </a:r>
          </a:p>
          <a:p/>
          <a:p>
            <a:r>
              <a:t>2. The chunk size is rounded to a multiple of n_streams, because the device</a:t>
            </a:r>
          </a:p>
          <a:p>
            <a:r>
              <a:t>   pedestal is per-stream: an uneven chunk would advance the four stream</a:t>
            </a:r>
          </a:p>
          <a:p>
            <a:r>
              <a:t>   pedestals by different amounts and the finders would stop being comparable.</a:t>
            </a:r>
          </a:p>
          <a:p/>
          <a:p>
            <a:r>
              <a:t>Why the gain differs by cluster size: the saving is min(GPU, host) per chunk, so</a:t>
            </a:r>
          </a:p>
          <a:p>
            <a:r>
              <a:t>it is largest when the two terms are comparable. At 3x3 they nearly are (GPU</a:t>
            </a:r>
          </a:p>
          <a:p>
            <a:r>
              <a:t>16.2 us, host ~9.8) and opt5 is worth x1.31. At 9x9 the host term is roughly</a:t>
            </a:r>
          </a:p>
          <a:p>
            <a:r>
              <a:t>twice the GPU term, so overlap hides only the smaller one and opt5 is worth</a:t>
            </a:r>
          </a:p>
          <a:p>
            <a:r>
              <a:t>x1.20 - which is exactly the diagnosis that motivates opt6: you cannot overlap</a:t>
            </a:r>
          </a:p>
          <a:p>
            <a:r>
              <a:t>your way out of a host term that is simply larger. Report SS8.2.</a:t>
            </a:r>
          </a:p>
          <a:p/>
          <a:p>
            <a:r>
              <a:t>CAREFUL: THE 45 % ON THE RAIL IS NOT A STABLE NUMBER.</a:t>
            </a:r>
          </a:p>
          <a:p/>
          <a:p>
            <a:r>
              <a:t>Both rail blocks come from the same ladder table (SS8, [f64]), but they are not</a:t>
            </a:r>
          </a:p>
          <a:p>
            <a:r>
              <a:t>equally solid, and the difference is worth knowing before someone asks:</a:t>
            </a:r>
          </a:p>
          <a:p/>
          <a:p>
            <a:r>
              <a:t>    3x3   19.84 us   spread  1.2 %    clean, 30-96 k minor faults</a:t>
            </a:r>
          </a:p>
          <a:p>
            <a:r>
              <a:t>    9x9   66.39 us   spread 22.4 %    151 601 minor faults, best of five reps</a:t>
            </a:r>
          </a:p>
          <a:p/>
          <a:p>
            <a:r>
              <a:t>opt5 at 9x9 is THE ONE ROW IN THE LADDER THAT NEVER REACHES A FAULT-FREE STEADY</a:t>
            </a:r>
          </a:p>
          <a:p>
            <a:r>
              <a:t>STATE (SS8.3). 66.39 is the best rep, not a plateau. So quote 45 % as "about 45"</a:t>
            </a:r>
          </a:p>
          <a:p>
            <a:r>
              <a:t>and do not defend the second figure.</a:t>
            </a:r>
          </a:p>
          <a:p/>
          <a:p>
            <a:r>
              <a:t>This does not weaken the argument -- it strengthens it. The faults are the host</a:t>
            </a:r>
          </a:p>
          <a:p>
            <a:r>
              <a:t>allocating and first-touching a fresh ClusterVector per frame, which is exactly</a:t>
            </a:r>
          </a:p>
          <a:p>
            <a:r>
              <a:t>the cost opt6 deletes. The instability IS the symptom. opt6 at 9x9 lands on</a:t>
            </a:r>
          </a:p>
          <a:p>
            <a:r>
              <a:t>30.01 us, 100 % of the floor, with the fault count back to normal.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SAY THIS -- 121 words, about 44 s.</a:t>
            </a:r>
          </a:p>
          <a:p/>
          <a:p>
            <a:r>
              <a:t>- At the small cluster size the host work is shorter than the GPU work, so it</a:t>
            </a:r>
          </a:p>
          <a:p>
            <a:r>
              <a:t>  hides underneath it completely. At 9x9 the host work is about twice the GPU</a:t>
            </a:r>
          </a:p>
          <a:p>
            <a:r>
              <a:t>  work. Now it sticks out, and overlap can only hide the smaller of the two.</a:t>
            </a:r>
          </a:p>
          <a:p/>
          <a:p>
            <a:r>
              <a:t>- The natural idea is: use more buffers, go deeper. The lower picture is</a:t>
            </a:r>
          </a:p>
          <a:p>
            <a:r>
              <a:t>  exactly that -- three slots instead of two -- and the finish line does not</a:t>
            </a:r>
          </a:p>
          <a:p>
            <a:r>
              <a:t>  move. More buffers move the GPU's idle time somewhere else; they do not</a:t>
            </a:r>
          </a:p>
          <a:p>
            <a:r>
              <a:t>  remove it.</a:t>
            </a:r>
          </a:p>
          <a:p/>
          <a:p>
            <a:r>
              <a:t>- The reason is simple: the host lane is already busy back to back. It sets the</a:t>
            </a:r>
          </a:p>
          <a:p>
            <a:r>
              <a:t>  pace. The only way to go faster is to make the host work itself smaller. That</a:t>
            </a:r>
          </a:p>
          <a:p>
            <a:r>
              <a:t>  is the next slide.</a:t>
            </a:r>
          </a:p>
          <a:p/>
          <a:p>
            <a:r>
              <a:t>DETAILS: This slide exists because "add more slots" is the reliable guess here,</a:t>
            </a:r>
          </a:p>
          <a:p>
            <a:r>
              <a:t>and it is worth letting the room say it out loud before the second strip goes up.</a:t>
            </a:r>
          </a:p>
          <a:p/>
          <a:p>
            <a:r>
              <a:t>The queueing argument, if it is asked for: with producer period G and consumer</a:t>
            </a:r>
          </a:p>
          <a:p>
            <a:r>
              <a:t>period H, an N-buffer pipeline has steady-state period max(G, H) for every N &gt;= 2.</a:t>
            </a:r>
          </a:p>
          <a:p>
            <a:r>
              <a:t>Buffers DECOUPLE two stages; they do not speed up either. Depth beyond 2 only</a:t>
            </a:r>
          </a:p>
          <a:p>
            <a:r>
              <a:t>helps when the periods vary -- it absorbs jitter, at the cost of latency and</a:t>
            </a:r>
          </a:p>
          <a:p>
            <a:r>
              <a:t>pinned memory. Here the work per chunk is near constant, so there is no jitter to</a:t>
            </a:r>
          </a:p>
          <a:p>
            <a:r>
              <a:t>absorb.</a:t>
            </a:r>
          </a:p>
          <a:p/>
          <a:p>
            <a:r>
              <a:t>The concrete version lands better: a third slot needs somebody to fill it, and</a:t>
            </a:r>
          </a:p>
          <a:p>
            <a:r>
              <a:t>the only host thread is inside collect(). Adding slots without adding a producer</a:t>
            </a:r>
          </a:p>
          <a:p>
            <a:r>
              <a:t>thread is adding storage to a queue that is not storage-bound.</a:t>
            </a:r>
          </a:p>
          <a:p/>
          <a:p>
            <a:r>
              <a:t>"So would a producer thread help?" It would let submit and collect overlap, but</a:t>
            </a:r>
          </a:p>
          <a:p>
            <a:r>
              <a:t>the host term is dominated by malloc + first touch, which is allocator-serialised</a:t>
            </a:r>
          </a:p>
          <a:p>
            <a:r>
              <a:t>anyway. That was measured and reverted (ClusterFinderCUDA.hpp:130-136): 2.27 M</a:t>
            </a:r>
          </a:p>
          <a:p>
            <a:r>
              <a:t>faults at 8 threads against 9.7 k at 1, a 6 % gain at best and a 33 % LOSS when</a:t>
            </a:r>
          </a:p>
          <a:p>
            <a:r>
              <a:t>results are freed promptly. The comment there ends with the right conclusion --</a:t>
            </a:r>
          </a:p>
          <a:p>
            <a:r>
              <a:t>stop allocating per frame, do not copy faster. That is opt6.</a:t>
            </a:r>
          </a:p>
          <a:p/>
          <a:p>
            <a:r>
              <a:t>ON THE 62 US, if challenged. It is not measured directly; no one timed the host</a:t>
            </a:r>
          </a:p>
          <a:p>
            <a:r>
              <a:t>loop. Two independent routes agree on it. (1) Fault-correct the five f64 reps at</a:t>
            </a:r>
          </a:p>
          <a:p>
            <a:r>
              <a:t>0.68 us/fault -- the same rate fitted at 3x3 and applied out of sample -- and a</a:t>
            </a:r>
          </a:p>
          <a:p>
            <a:r>
              <a:t>22 % raw spread collapses to 4.6 %, at 61-64 us. (2) f32 rep 3 happened to run</a:t>
            </a:r>
          </a:p>
          <a:p>
            <a:r>
              <a:t>with only 10 128 faults and measured 61.85 us with no correction at all. The</a:t>
            </a:r>
          </a:p>
          <a:p>
            <a:r>
              <a:t>"~40 us" that used to be on the opt6 slide was the memcpy alone, computed at</a:t>
            </a:r>
          </a:p>
          <a:p>
            <a:r>
              <a:t>bandwidth; the loop is allocation-bound, not bandwidth-bound, so it under-counted</a:t>
            </a:r>
          </a:p>
          <a:p>
            <a:r>
              <a:t>the host term by about half.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SAY THIS -- 126 words, about 46 s.</a:t>
            </a:r>
          </a:p>
          <a:p/>
          <a:p>
            <a:r>
              <a:t>- So what IS the host doing? The results arrive in our own pinned buffer. Then,</a:t>
            </a:r>
          </a:p>
          <a:p>
            <a:r>
              <a:t>  for every frame, we allocate a new object and copy the clusters into it -- 467</a:t>
            </a:r>
          </a:p>
          <a:p>
            <a:r>
              <a:t>  kilobytes per frame at 9x9. Allocate, copy, free, sixty thousand times.</a:t>
            </a:r>
          </a:p>
          <a:p/>
          <a:p>
            <a:r>
              <a:t>- The fix is to stop copying. We hand back a view: a small object that points</a:t>
            </a:r>
          </a:p>
          <a:p>
            <a:r>
              <a:t>  INTO the buffer that already holds the data. You can read every cluster. The</a:t>
            </a:r>
          </a:p>
          <a:p>
            <a:r>
              <a:t>  only thing you do not get is ownership past the end of your chunk.</a:t>
            </a:r>
          </a:p>
          <a:p/>
          <a:p>
            <a:r>
              <a:t>- At 9x9 that is 2.2 times faster on its own, and we land exactly on the GPU</a:t>
            </a:r>
          </a:p>
          <a:p>
            <a:r>
              <a:t>  floor -- 100 percent. At 3x3 it is only 1.16, because there the copy was</a:t>
            </a:r>
          </a:p>
          <a:p>
            <a:r>
              <a:t>  already hidden. Same change, very different value.</a:t>
            </a:r>
          </a:p>
          <a:p/>
          <a:p>
            <a:r>
              <a:t>DETAILS: Where 93 kB and 467 kB come from: clusters/frame x sizeof(Cluster).</a:t>
            </a:r>
          </a:p>
          <a:p/>
          <a:p>
            <a:r>
              <a:t>sizeof — Cluster.hpp:28 is two CoordType coords then std::array&lt;T, X*Y&gt; data.</a:t>
            </a:r>
          </a:p>
          <a:p>
            <a:r>
              <a:t>CoordType=uint16, T=int32, alignof 4, so the coords pack with no padding:</a:t>
            </a:r>
          </a:p>
          <a:p>
            <a:r>
              <a:t>    3x3:  2x2 B +  9x4 B =  40 B</a:t>
            </a:r>
          </a:p>
          <a:p>
            <a:r>
              <a:t>    9x9:  2x2 B + 81x4 B = 328 B</a:t>
            </a:r>
          </a:p>
          <a:p/>
          <a:p>
            <a:r>
              <a:t>clusters/frame — report section 13, the same counts used for correctness:</a:t>
            </a:r>
          </a:p>
          <a:p>
            <a:r>
              <a:t>    3x3:  233 094 390 / 100 000 fr = 2 330.9 /fr</a:t>
            </a:r>
          </a:p>
          <a:p>
            <a:r>
              <a:t>    9x9:   28 447 962 /  20 000 fr = 1 422.4 /fr</a:t>
            </a:r>
          </a:p>
          <a:p/>
          <a:p>
            <a:r>
              <a:t>    2 330.9 x  40 B =  93.2 kB/frame</a:t>
            </a:r>
          </a:p>
          <a:p>
            <a:r>
              <a:t>    1 422.4 x 328 B = 466.5 kB/frame  -&gt;  x 20 000 fr = 9.33 GB/run</a:t>
            </a:r>
          </a:p>
          <a:p/>
          <a:p>
            <a:r>
              <a:t>NOT the D2H transfer. D2H is fixed at cap x sizeof regardless of how many clusters</a:t>
            </a:r>
          </a:p>
          <a:p>
            <a:r>
              <a:t>were found: at the 9x9 campaign cap of 1700 that is 1700 x 328 B = 558 kB every</a:t>
            </a:r>
          </a:p>
          <a:p>
            <a:r>
              <a:t>frame, i.e. the 467 kB of real clusters is an 84 % fill (section 4.2). The 467 kB</a:t>
            </a:r>
          </a:p>
          <a:p>
            <a:r>
              <a:t>is the HOST memcpy inside collect(), pinned buffer -&gt; freshly allocated</a:t>
            </a:r>
          </a:p>
          <a:p>
            <a:r>
              <a:t>ClusterVector. That is what collect_view() removes; the wire traffic is unchanged.</a:t>
            </a:r>
          </a:p>
          <a:p/>
          <a:p>
            <a:r>
              <a:t>Report: section 12 (payload table), section 9.4 (materialize_slot), section 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SAY THIS -- 64 words, about 23 s.</a:t>
            </a:r>
          </a:p>
          <a:p/>
          <a:p>
            <a:r>
              <a:t>- Act three. Only now is the kernel itself the slowest part -- and only at the</a:t>
            </a:r>
          </a:p>
          <a:p>
            <a:r>
              <a:t>  big cluster size, 9 by 9.</a:t>
            </a:r>
          </a:p>
          <a:p/>
          <a:p>
            <a:r>
              <a:t>- This is the one act where I change the maths instead of the plumbing.</a:t>
            </a:r>
          </a:p>
          <a:p/>
          <a:p>
            <a:r>
              <a:t>- First, the measurement that says the kernel is now the problem -- and what it</a:t>
            </a:r>
          </a:p>
          <a:p>
            <a:r>
              <a:t>  is spending that time on, which turns out not to be photons.</a:t>
            </a:r>
          </a:p>
          <a:p/>
          <a:p>
            <a:r>
              <a:t>- Three slides. The trap that the change brings with it -- and it is a real</a:t>
            </a:r>
          </a:p>
          <a:p>
            <a:r>
              <a:t>  one -- is annex 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SAY THIS -- 118 words, about 43 s.</a:t>
            </a:r>
          </a:p>
          <a:p/>
          <a:p>
            <a:r>
              <a:t>- Act three, and for the first time the GPU itself is the problem. Left picture:</a:t>
            </a:r>
          </a:p>
          <a:p>
            <a:r>
              <a:t>  one stream, nothing else running, the big cluster size. The kernel is 40</a:t>
            </a:r>
          </a:p>
          <a:p>
            <a:r>
              <a:t>  microseconds. The two copies are 22 and 13. The kernel is nearly twice the</a:t>
            </a:r>
          </a:p>
          <a:p>
            <a:r>
              <a:t>  next tallest bar.</a:t>
            </a:r>
          </a:p>
          <a:p/>
          <a:p>
            <a:r>
              <a:t>- So what is the kernel actually doing? Right picture: one frame, finished,</a:t>
            </a:r>
          </a:p>
          <a:p>
            <a:r>
              <a:t>  coloured by what happened to each pixel. Green is a photon we stored. The dark</a:t>
            </a:r>
          </a:p>
          <a:p>
            <a:r>
              <a:t>  cells are pixels that sit inside some photon's window. And amber -- about four</a:t>
            </a:r>
          </a:p>
          <a:p>
            <a:r>
              <a:t>  pixels in five -- is "nothing here", which means: update the pedestal.</a:t>
            </a:r>
          </a:p>
          <a:p/>
          <a:p>
            <a:r>
              <a:t>- So the kernel is mostly not finding photons. It is bookkeeping noise. That is</a:t>
            </a:r>
          </a:p>
          <a:p>
            <a:r>
              <a:t>  what act three attacks.</a:t>
            </a:r>
          </a:p>
          <a:p/>
          <a:p>
            <a:r>
              <a:t>DETAILS: the two numbers on this slide, and where they come from.</a:t>
            </a:r>
          </a:p>
          <a:p/>
          <a:p>
            <a:r>
              <a:t>The engine bars are the UNCONTENDED reading: one stream, nothing else on the</a:t>
            </a:r>
          </a:p>
          <a:p>
            <a:r>
              <a:t>device, so each bar is a true duration. 9x9, cap 1 700, f64 build:</a:t>
            </a:r>
          </a:p>
          <a:p>
            <a:r>
              <a:t>H2D 13.20, kernel 39.86, D2H 21.97 us. In the shipped four-stream pipeline the</a:t>
            </a:r>
          </a:p>
          <a:p>
            <a:r>
              <a:t>numbers move -- copies rise, the kernel falls, because four kernels overlap each</a:t>
            </a:r>
          </a:p>
          <a:p>
            <a:r>
              <a:t>other -- and that distinction is annex A7. It does not change this slide's</a:t>
            </a:r>
          </a:p>
          <a:p>
            <a:r>
              <a:t>claim: the kernel binds in BOTH readings on the f64 arm.</a:t>
            </a:r>
          </a:p>
          <a:p/>
          <a:p>
            <a:r>
              <a:t>The ~80 % is measured, not assumed: the branch map is read out of the finder</a:t>
            </a:r>
          </a:p>
          <a:p>
            <a:r>
              <a:t>after a frame completes (branch_site_dump.py). Of a 21x21 neighbourhood, ~1.5 %</a:t>
            </a:r>
          </a:p>
          <a:p>
            <a:r>
              <a:t>of pixels are stored photons, ~18 % sit in a photon's shadow -- inside some</a:t>
            </a:r>
          </a:p>
          <a:p>
            <a:r>
              <a:t>window whose max clears 5 sigma -- and ~80 % clear nothing at all and push the</a:t>
            </a:r>
          </a:p>
          <a:p>
            <a:r>
              <a:t>pedestal. The same picture returns on slide 31 to argue about Test3; here only</a:t>
            </a:r>
          </a:p>
          <a:p>
            <a:r>
              <a:t>the amber fraction matters.</a:t>
            </a:r>
          </a:p>
          <a:p/>
          <a:p>
            <a:r>
              <a:t>WHY THAT MAKES THE KERNEL BANDWIDTH-BOUND. The pedestal update is six values per</a:t>
            </a:r>
          </a:p>
          <a:p>
            <a:r>
              <a:t>pixel, read and written, and almost every pixel does it. There is very little</a:t>
            </a:r>
          </a:p>
          <a:p>
            <a:r>
              <a:t>arithmetic per byte moved. So the kernel's cost is dominated by pedestal</a:t>
            </a:r>
          </a:p>
          <a:p>
            <a:r>
              <a:t>TRAFFIC, which is what the next slide halves.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SAY THIS -- 120 words, about 44 s.</a:t>
            </a:r>
          </a:p>
          <a:p/>
          <a:p>
            <a:r>
              <a:t>- Remember that four pixels in five only update the pedestal, and that update</a:t>
            </a:r>
          </a:p>
          <a:p>
            <a:r>
              <a:t>  reads and writes six running values. Those were stored as doubles, 8 bytes</a:t>
            </a:r>
          </a:p>
          <a:p>
            <a:r>
              <a:t>  each.</a:t>
            </a:r>
          </a:p>
          <a:p/>
          <a:p>
            <a:r>
              <a:t>- Change them to floats. One typedef. 48 bytes per pixel becomes 24. The kernel</a:t>
            </a:r>
          </a:p>
          <a:p>
            <a:r>
              <a:t>  is limited by memory traffic, so half the bytes is a big win: 40 percent off</a:t>
            </a:r>
          </a:p>
          <a:p>
            <a:r>
              <a:t>  the kernel.</a:t>
            </a:r>
          </a:p>
          <a:p/>
          <a:p>
            <a:r>
              <a:t>- Left bar pair is the honest measurement of the change: one stream, nothing</a:t>
            </a:r>
          </a:p>
          <a:p>
            <a:r>
              <a:t>  else running, 39.9 down to 23.7.</a:t>
            </a:r>
          </a:p>
          <a:p/>
          <a:p>
            <a:r>
              <a:t>- The right picture is the ending. In the real pipeline the kernel drops to</a:t>
            </a:r>
          </a:p>
          <a:p>
            <a:r>
              <a:t>  23.9, and the copy back out -- 25.2, unchanged -- is now the tallest bar. We</a:t>
            </a:r>
          </a:p>
          <a:p>
            <a:r>
              <a:t>  optimised the kernel until it stopped being the problem.</a:t>
            </a:r>
          </a:p>
          <a:p/>
          <a:p>
            <a:r>
              <a:t>CAREFUL: TWO DIFFERENT PERCENTAGES, AND THEY MEASURE DIFFERENT THINGS.</a:t>
            </a:r>
          </a:p>
          <a:p/>
          <a:p>
            <a:r>
              <a:t>-40.5 % is the uncontended kernel: one stream, a true duration, and the honest</a:t>
            </a:r>
          </a:p>
          <a:p>
            <a:r>
              <a:t>headline for what the typedef does to the arithmetic. -26.7 % is the same change</a:t>
            </a:r>
          </a:p>
          <a:p>
            <a:r>
              <a:t>read in the shipped four-stream pipeline, where the kernel's per-frame busy time</a:t>
            </a:r>
          </a:p>
          <a:p>
            <a:r>
              <a:t>is already shortened by overlapping itself, so part of the win was hidden before</a:t>
            </a:r>
          </a:p>
          <a:p>
            <a:r>
              <a:t>the typedef arrived. Both are true. A7 is the rule for which to quote, and A8</a:t>
            </a:r>
          </a:p>
          <a:p>
            <a:r>
              <a:t>has the full grid including the copy engines and the 3x3 arm.</a:t>
            </a:r>
          </a:p>
          <a:p/>
          <a:p>
            <a:r>
              <a:t>THE 3x3 ARM, if asked: the same typedef is worth -70.6 % in the kernel there and</a:t>
            </a:r>
          </a:p>
          <a:p>
            <a:r>
              <a:t>4.6 % end to end, because at 3x3 the kernel was never the tallest bar -- H2D</a:t>
            </a:r>
          </a:p>
          <a:p>
            <a:r>
              <a:t>was. It also frees 9 registers, taking 3x3 from five blocks per SM to six. Neither</a:t>
            </a:r>
          </a:p>
          <a:p>
            <a:r>
              <a:t>changes anything end to end.</a:t>
            </a:r>
          </a:p>
          <a:p/>
          <a:p>
            <a:r>
              <a:t>WHY FP64 WAS SLOW FOR TWO REASONS, not one: the bytes are the main story, but on</a:t>
            </a:r>
          </a:p>
          <a:p>
            <a:r>
              <a:t>a GeForce part FP64 arithmetic also runs at 1/64 of FP32. The bytes are why it</a:t>
            </a:r>
          </a:p>
          <a:p>
            <a:r>
              <a:t>is worth 40 %; the arithmetic rate is a bonus.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SAY THIS -- 123 words, about 45 s.</a:t>
            </a:r>
          </a:p>
          <a:p/>
          <a:p>
            <a:r>
              <a:t>- One last question about act three: why is it last? Because its value depends</a:t>
            </a:r>
          </a:p>
          <a:p>
            <a:r>
              <a:t>  on everything before it.</a:t>
            </a:r>
          </a:p>
          <a:p/>
          <a:p>
            <a:r>
              <a:t>- Left picture: the whole frame time shrinking, step by step, from 80</a:t>
            </a:r>
          </a:p>
          <a:p>
            <a:r>
              <a:t>  microseconds down to 25. Right picture: what the typedef itself saves at each</a:t>
            </a:r>
          </a:p>
          <a:p>
            <a:r>
              <a:t>  of those steps. It is the same 4.7 microseconds every time. The saving never</a:t>
            </a:r>
          </a:p>
          <a:p>
            <a:r>
              <a:t>  grew. What changed is the frame around it: 4.7 out of 80 is six percent; the</a:t>
            </a:r>
          </a:p>
          <a:p>
            <a:r>
              <a:t>  same 4.7 out of 30 is sixteen.</a:t>
            </a:r>
          </a:p>
          <a:p/>
          <a:p>
            <a:r>
              <a:t>- And that is where the talk ends, because act three hands the limit away. Once</a:t>
            </a:r>
          </a:p>
          <a:p>
            <a:r>
              <a:t>  the kernel drops to 24 microseconds, the copy back out, at 25, is the tallest</a:t>
            </a:r>
          </a:p>
          <a:p>
            <a:r>
              <a:t>  bar again. There is no opt8.</a:t>
            </a:r>
          </a:p>
          <a:p/>
          <a:p>
            <a:r>
              <a:t>DETAILS: WHY opt3 IS EXCLUDED AND opt5 IS DAGGERED. Both steps' two arms sat in</a:t>
            </a:r>
          </a:p>
          <a:p>
            <a:r>
              <a:t>different allocator states, so the difference between them does not report the</a:t>
            </a:r>
          </a:p>
          <a:p>
            <a:r>
              <a:t>typedef -- it reports the heap. opt3 is dropped entirely; opt5's reading agrees</a:t>
            </a:r>
          </a:p>
          <a:p>
            <a:r>
              <a:t>with opt4 and opt6 but is not independently attributable. Annex A10 has both.</a:t>
            </a:r>
          </a:p>
          <a:p/>
          <a:p>
            <a:r>
              <a:t>WHAT THE BARS ARE. The f32 bar at opt6 is opt7, the shipped build. The f32 bars</a:t>
            </a:r>
          </a:p>
          <a:p>
            <a:r>
              <a:t>at opt4 and opt5 are the same typedef applied at earlier steps -- configurations</a:t>
            </a:r>
          </a:p>
          <a:p>
            <a:r>
              <a:t>that exist only to make this comparison controlled, and that nobody ships.</a:t>
            </a:r>
          </a:p>
          <a:p/>
          <a:p>
            <a:r>
              <a:t>WHY opt4 AND opt6 ARE THE PAIR TO QUOTE. They are the two readings whose fault</a:t>
            </a:r>
          </a:p>
          <a:p>
            <a:r>
              <a:t>counts match, so the difference between their arms is the typedef and nothing</a:t>
            </a:r>
          </a:p>
          <a:p>
            <a:r>
              <a:t>else. That is the whole reason the saving can be called constant.</a:t>
            </a:r>
          </a:p>
          <a:p/>
          <a:p>
            <a:r>
              <a:t>THE HANDOVER, if asked for the numbers: [engines, slide 20 of the 33-slide</a:t>
            </a:r>
          </a:p>
          <a:p>
            <a:r>
              <a:t>draft] f64 s4 kernel 32.66 vs D2H 25.25 -&gt; kernel-bound; f32 s4 kernel 23.94 vs</a:t>
            </a:r>
          </a:p>
          <a:p>
            <a:r>
              <a:t>the same 25.25 -&gt; D2H-bound. The constraint moved from the arithmetic to the</a:t>
            </a:r>
          </a:p>
          <a:p>
            <a:r>
              <a:t>result path, which is why Act III is last and why there is no opt8.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SAY THIS -- 58 words, about 21 s.</a:t>
            </a:r>
          </a:p>
          <a:p/>
          <a:p>
            <a:r>
              <a:t>- That is all seven steps. The rest of the talk is the ladder seen as a whole:</a:t>
            </a:r>
          </a:p>
          <a:p>
            <a:r>
              <a:t>  both cluster sizes end to end, and where the time actually went.</a:t>
            </a:r>
          </a:p>
          <a:p/>
          <a:p>
            <a:r>
              <a:t>- No new optimisation from here. Only results -- and then whether they are the</a:t>
            </a:r>
          </a:p>
          <a:p>
            <a:r>
              <a:t>  RIGHT results, which is the last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SAY THIS -- 112 words, about 41 s.</a:t>
            </a:r>
          </a:p>
          <a:p/>
          <a:p>
            <a:r>
              <a:t>- The whole ladder at the small cluster size. Every bar is a step, and every</a:t>
            </a:r>
          </a:p>
          <a:p>
            <a:r>
              <a:t>  step is an improvement -- nothing had to be undone later.</a:t>
            </a:r>
          </a:p>
          <a:p/>
          <a:p>
            <a:r>
              <a:t>- Left to right: 6 762 frames per second on 24 CPU threads, and 58 495 at the</a:t>
            </a:r>
          </a:p>
          <a:p>
            <a:r>
              <a:t>  end. Nine times faster. For a hundred thousand frames that is 15 seconds down</a:t>
            </a:r>
          </a:p>
          <a:p>
            <a:r>
              <a:t>  to 1.6.</a:t>
            </a:r>
          </a:p>
          <a:p/>
          <a:p>
            <a:r>
              <a:t>- The dashed line is the hardware floor, and the last bar is sitting on it. That</a:t>
            </a:r>
          </a:p>
          <a:p>
            <a:r>
              <a:t>  is the honest way to read this: we are not fast, we are FINISHED. What is left</a:t>
            </a:r>
          </a:p>
          <a:p>
            <a:r>
              <a:t>  is the wire. And the answers stayed correct the whole way -- six clusters</a:t>
            </a:r>
          </a:p>
          <a:p>
            <a:r>
              <a:t>  different out of 23 million.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SAY THIS -- 109 words, about 40 s.</a:t>
            </a:r>
          </a:p>
          <a:p/>
          <a:p>
            <a:r>
              <a:t>- Same ladder, big cluster size. Here the numbers are much larger: 26 times</a:t>
            </a:r>
          </a:p>
          <a:p>
            <a:r>
              <a:t>  faster than 32 CPU threads.</a:t>
            </a:r>
          </a:p>
          <a:p/>
          <a:p>
            <a:r>
              <a:t>- Why bigger? Because the CPU suffers much more when clusters are 9 by 9 -- it</a:t>
            </a:r>
          </a:p>
          <a:p>
            <a:r>
              <a:t>  does 81 pixels of work where the GPU just uses more threads. The GPU work per</a:t>
            </a:r>
          </a:p>
          <a:p>
            <a:r>
              <a:t>  frame grows far less.</a:t>
            </a:r>
          </a:p>
          <a:p/>
          <a:p>
            <a:r>
              <a:t>- And this is the arm where the story ends differently. For the whole f64 part</a:t>
            </a:r>
          </a:p>
          <a:p>
            <a:r>
              <a:t>  the kernel is the tallest bar. The typedef change cuts it by 40 percent, and</a:t>
            </a:r>
          </a:p>
          <a:p>
            <a:r>
              <a:t>  then it drops BELOW the copy back out. From that point the result path is the</a:t>
            </a:r>
          </a:p>
          <a:p>
            <a:r>
              <a:t>  limit, not the maths.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SAY THIS -- 116 words, about 42 s.</a:t>
            </a:r>
          </a:p>
          <a:p/>
          <a:p>
            <a:r>
              <a:t>- This is the same story told as two colours. The coloured part is the hardware</a:t>
            </a:r>
          </a:p>
          <a:p>
            <a:r>
              <a:t>  floor -- what the GPU cannot go below. The grey part is everything the host</a:t>
            </a:r>
          </a:p>
          <a:p>
            <a:r>
              <a:t>  piles on top of it.</a:t>
            </a:r>
          </a:p>
          <a:p/>
          <a:p>
            <a:r>
              <a:t>- Look at what actually happened. In acts one and two the coloured part never</a:t>
            </a:r>
          </a:p>
          <a:p>
            <a:r>
              <a:t>  moves. It is flat: 16 microseconds at 3x3. Every step is eating grey. By the</a:t>
            </a:r>
          </a:p>
          <a:p>
            <a:r>
              <a:t>  end of act two there is no grey left.</a:t>
            </a:r>
          </a:p>
          <a:p/>
          <a:p>
            <a:r>
              <a:t>- Only act three moves the coloured part itself, and only there. That is the</a:t>
            </a:r>
          </a:p>
          <a:p>
            <a:r>
              <a:t>  reason for the order of the whole talk: you cannot see the floor, and you</a:t>
            </a:r>
          </a:p>
          <a:p>
            <a:r>
              <a:t>  certainly cannot lower it, while fifty microseconds of host work sit on top</a:t>
            </a:r>
          </a:p>
          <a:p>
            <a:r>
              <a:t>  of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SAY THIS -- 60 words, about 22 s.</a:t>
            </a:r>
          </a:p>
          <a:p/>
          <a:p>
            <a:r>
              <a:t>- Everything so far assumed one thing: that the GPU finds the same photons as</a:t>
            </a:r>
          </a:p>
          <a:p>
            <a:r>
              <a:t>  the CPU. If it does not, none of the numbers mean anything.</a:t>
            </a:r>
          </a:p>
          <a:p/>
          <a:p>
            <a:r>
              <a:t>- So the last part is correctness. How do you compare two finders fairly, what</a:t>
            </a:r>
          </a:p>
          <a:p>
            <a:r>
              <a:t>  is left over when you do, and what a user should actually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SAY THIS -- 124 words, about 45 s.</a:t>
            </a:r>
          </a:p>
          <a:p/>
          <a:p>
            <a:r>
              <a:t>- To compare two finders you have to change ONE thing at a time. Here is why</a:t>
            </a:r>
          </a:p>
          <a:p>
            <a:r>
              <a:t>  that is hard.</a:t>
            </a:r>
          </a:p>
          <a:p/>
          <a:p>
            <a:r>
              <a:t>- The CPU finder updates the pedestal as it walks the frame, pixel by pixel. So</a:t>
            </a:r>
          </a:p>
          <a:p>
            <a:r>
              <a:t>  a pixel near the end of the frame is judged against a pedestal that the</a:t>
            </a:r>
          </a:p>
          <a:p>
            <a:r>
              <a:t>  earlier pixels of the SAME frame have already moved.</a:t>
            </a:r>
          </a:p>
          <a:p/>
          <a:p>
            <a:r>
              <a:t>- The GPU cannot do that. All 160 000 threads read the pedestal at the same</a:t>
            </a:r>
          </a:p>
          <a:p>
            <a:r>
              <a:t>  moment, so the update can only be applied at the end of the frame.</a:t>
            </a:r>
          </a:p>
          <a:p/>
          <a:p>
            <a:r>
              <a:t>- So a straight CPU-against-GPU comparison changes two things at once: the</a:t>
            </a:r>
          </a:p>
          <a:p>
            <a:r>
              <a:t>  maths, and WHEN the pedestal moves. That is why I wrote a third finder --</a:t>
            </a:r>
          </a:p>
          <a:p>
            <a:r>
              <a:t>  same CPU code, but with the update moved to the frame end.</a:t>
            </a:r>
          </a:p>
          <a:p/>
          <a:p>
            <a:r>
              <a:t>DETAILS: Why this slide is here.</a:t>
            </a:r>
          </a:p>
          <a:p/>
          <a:p>
            <a:r>
              <a:t>The obvious experiment - run the CPU finder and the CUDA finder over the same</a:t>
            </a:r>
          </a:p>
          <a:p>
            <a:r>
              <a:t>frames and count the differences - cannot answer the question anyone actually</a:t>
            </a:r>
          </a:p>
          <a:p>
            <a:r>
              <a:t>asks, which is "is the port correct?" It moves two variables at once:</a:t>
            </a:r>
          </a:p>
          <a:p/>
          <a:p>
            <a:r>
              <a:t>  1. WHEN the pedestal is updated. The serial CPU finder updates per pixel,</a:t>
            </a:r>
          </a:p>
          <a:p>
            <a:r>
              <a:t>     during the raster scan, so a pixel late in the frame is judged against a</a:t>
            </a:r>
          </a:p>
          <a:p>
            <a:r>
              <a:t>     pedestal that already contains this frame's earlier pixels. That is</a:t>
            </a:r>
          </a:p>
          <a:p>
            <a:r>
              <a:t>     scan-order dependent by construction.</a:t>
            </a:r>
          </a:p>
          <a:p>
            <a:r>
              <a:t>  2. WHAT arithmetic runs. float vs double, a different local-max expression,</a:t>
            </a:r>
          </a:p>
          <a:p>
            <a:r>
              <a:t>     a different rounding point.</a:t>
            </a:r>
          </a:p>
          <a:p/>
          <a:p>
            <a:r>
              <a:t>ClusterFinderFrozen holds (2) fixed and changes only (1): it is the serial</a:t>
            </a:r>
          </a:p>
          <a:p>
            <a:r>
              <a:t>finder, same decision logic line for line, with the update deferred to the frame</a:t>
            </a:r>
          </a:p>
          <a:p>
            <a:r>
              <a:t>boundary. That is the CUDA update model, on the CPU.</a:t>
            </a:r>
          </a:p>
          <a:p/>
          <a:p>
            <a:r>
              <a:t>So the three-way comparison factorises:</a:t>
            </a:r>
          </a:p>
          <a:p>
            <a:r>
              <a:t>    cpu    vs frozen  -&gt; update timing alone      (19 of 23.2 M)</a:t>
            </a:r>
          </a:p>
          <a:p>
            <a:r>
              <a:t>    frozen vs cuda    -&gt; the port alone           (6 of 23.2 M)</a:t>
            </a:r>
          </a:p>
          <a:p/>
          <a:p>
            <a:r>
              <a:t>and the second is the number that answers the question. It is also why the</a:t>
            </a:r>
          </a:p>
          <a:p>
            <a:r>
              <a:t>headline mismatch figure in this deck is 6 / 23 M and not 25 / 23 M: the larger</a:t>
            </a:r>
          </a:p>
          <a:p>
            <a:r>
              <a:t>number is dominated by an effect that has nothing to do with CUDA.</a:t>
            </a:r>
          </a:p>
          <a:p/>
          <a:p>
            <a:r>
              <a:t>Frozen ships in the library as a diagnostic, not as the recommended finder.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SAY THIS -- 121 words, about 44 s.</a:t>
            </a:r>
          </a:p>
          <a:p/>
          <a:p>
            <a:r>
              <a:t>- Now we can change one thing at a time, and this is the headline of the whole</a:t>
            </a:r>
          </a:p>
          <a:p>
            <a:r>
              <a:t>  validation section.</a:t>
            </a:r>
          </a:p>
          <a:p/>
          <a:p>
            <a:r>
              <a:t>- The ringed row is the port on its own -- the CPU twin against CUDA, with the</a:t>
            </a:r>
          </a:p>
          <a:p>
            <a:r>
              <a:t>  update timing held identical. Zero differences. Not "small": zero, out of 23</a:t>
            </a:r>
          </a:p>
          <a:p>
            <a:r>
              <a:t>  million clusters. The port is exact.</a:t>
            </a:r>
          </a:p>
          <a:p/>
          <a:p>
            <a:r>
              <a:t>- The second row, six clusters, is the float pedestal, and that is the next</a:t>
            </a:r>
          </a:p>
          <a:p>
            <a:r>
              <a:t>  slide. Six out of 23 million, and I can show you all six.</a:t>
            </a:r>
          </a:p>
          <a:p/>
          <a:p>
            <a:r>
              <a:t>- What happens when the timing is allowed to differ is slide 29, and it is a</a:t>
            </a:r>
          </a:p>
          <a:p>
            <a:r>
              <a:t>  CPU-against-CPU story.</a:t>
            </a:r>
          </a:p>
          <a:p/>
          <a:p>
            <a:r>
              <a:t>DETAILS: WHY THE SERIAL ROWS ARE NOT ON THIS SLIDE. They carry the same 8/11 as</a:t>
            </a:r>
          </a:p>
          <a:p>
            <a:r>
              <a:t>each other, which is a separate claim of its own -- everything CUDA changes is</a:t>
            </a:r>
          </a:p>
          <a:p>
            <a:r>
              <a:t>worth zero -- and reading it off the top of a four-row table made it look like</a:t>
            </a:r>
          </a:p>
          <a:p>
            <a:r>
              <a:t>the weaker half. It has slide 29 to itself.</a:t>
            </a:r>
          </a:p>
          <a:p/>
          <a:p>
            <a:r>
              <a:t>WHICH TEST the timing moves is measured on slides 30-31, and the answer is</a:t>
            </a:r>
          </a:p>
          <a:p>
            <a:r>
              <a:t>specific:</a:t>
            </a:r>
          </a:p>
          <a:p/>
          <a:p>
            <a:r>
              <a:t>    frozen-only 11 clusters  -&gt;  ALL from Test3 (total &gt; c3*nSigma*rms)</a:t>
            </a:r>
          </a:p>
          <a:p>
            <a:r>
              <a:t>    cpu-only     8 clusters  -&gt;  ALL from the local-max gate (value == max)</a:t>
            </a:r>
          </a:p>
          <a:p>
            <a:r>
              <a:t>    Test1 threshold          -&gt;  contributes ZERO clusters</a:t>
            </a:r>
          </a:p>
          <a:p/>
          <a:p>
            <a:r>
              <a:t>Why Test3 is the exposed one: it sums all nine values, so it collects the shift</a:t>
            </a:r>
          </a:p>
          <a:p>
            <a:r>
              <a:t>of EVERY already-scanned neighbour -- three above, one left, exactly the pixels</a:t>
            </a:r>
          </a:p>
          <a:p>
            <a:r>
              <a:t>eligible for update -- where Test1 feels at most the one that happens to be the</a:t>
            </a:r>
          </a:p>
          <a:p>
            <a:r>
              <a:t>argmax.</a:t>
            </a:r>
          </a:p>
          <a:p/>
          <a:p>
            <a:r>
              <a:t>Confirmed two ways: instrumented (branch codes diffed per frame) and ablated</a:t>
            </a:r>
          </a:p>
          <a:p>
            <a:r>
              <a:t>(Test3 compiled out, at which point the 11 go to zero exactly). Slides 30-31</a:t>
            </a:r>
          </a:p>
          <a:p>
            <a:r>
              <a:t>have both.</a:t>
            </a:r>
          </a:p>
          <a:p/>
          <a:p>
            <a:r>
              <a:t>Test1 flips MORE often than Test3 -- 619 of 974 divergent pixels -- and costs</a:t>
            </a:r>
          </a:p>
          <a:p>
            <a:r>
              <a:t>nothing, because it only moves a pixel between QUIET_UPDATE and SHADOW and</a:t>
            </a:r>
          </a:p>
          <a:p>
            <a:r>
              <a:t>neither of those stores. It is not merely downstream of Test3 either: with Test3</a:t>
            </a:r>
          </a:p>
          <a:p>
            <a:r>
              <a:t>ablated the first divergence is still a Test1 flip, on a frame where the two</a:t>
            </a:r>
          </a:p>
          <a:p>
            <a:r>
              <a:t>pedestals were provably identical. Test1 initiates on its own, just ~7x slower</a:t>
            </a:r>
          </a:p>
          <a:p>
            <a:r>
              <a:t>(frame 30 vs frame 4), and can never create a cluster by itself.</a:t>
            </a:r>
          </a:p>
          <a:p/>
          <a:p>
            <a:r>
              <a:t>The f32 row is a different mechanism entirely -- EMA drift, not timing, since</a:t>
            </a:r>
          </a:p>
          <a:p>
            <a:r>
              <a:t>both finders freeze the pedestal there. That is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SAY THIS -- 116 words, about 42 s.</a:t>
            </a:r>
          </a:p>
          <a:p/>
          <a:p>
            <a:r>
              <a:t>- This is one of those six differences, drawn. Left is the CPU twin, right is</a:t>
            </a:r>
          </a:p>
          <a:p>
            <a:r>
              <a:t>  CUDA, same frame, same region.</a:t>
            </a:r>
          </a:p>
          <a:p/>
          <a:p>
            <a:r>
              <a:t>- Each picture only shows the pixels that THAT finder claimed. So where they</a:t>
            </a:r>
          </a:p>
          <a:p>
            <a:r>
              <a:t>  look the same, the two agreed pixel by pixel. And they mostly do.</a:t>
            </a:r>
          </a:p>
          <a:p/>
          <a:p>
            <a:r>
              <a:t>- The one difference is ringed: CUDA keeps a second centre directly below one</a:t>
            </a:r>
          </a:p>
          <a:p>
            <a:r>
              <a:t>  that both of them keep. Its patch is one row taller.</a:t>
            </a:r>
          </a:p>
          <a:p/>
          <a:p>
            <a:r>
              <a:t>- And this is the important part for a physicist: nothing was missed, and</a:t>
            </a:r>
          </a:p>
          <a:p>
            <a:r>
              <a:t>  nothing was invented out of noise. The charge is already counted in the</a:t>
            </a:r>
          </a:p>
          <a:p>
            <a:r>
              <a:t>  cluster next to it. The two finders are arguing about which of two touching</a:t>
            </a:r>
          </a:p>
          <a:p>
            <a:r>
              <a:t>  pixels owns the same photon.</a:t>
            </a:r>
          </a:p>
          <a:p/>
          <a:p>
            <a:r>
              <a:t>DETAILS: Frame 147, the strongest of the six residuals, shipping f32 build.</a:t>
            </a:r>
          </a:p>
          <a:p>
            <a:r>
              <a:t>Every other centre in the patch agrees, including the ordinary photon at bottom</a:t>
            </a:r>
          </a:p>
          <a:p>
            <a:r>
              <a:t>right.</a:t>
            </a:r>
          </a:p>
          <a:p/>
          <a:p>
            <a:r>
              <a:t>Each panel masks every pixel that is not inside the 3x3 footprint of one of THAT</a:t>
            </a:r>
          </a:p>
          <a:p>
            <a:r>
              <a:t>finder's own cluster centres. So a pixel is visible on the left only if frozen</a:t>
            </a:r>
          </a:p>
          <a:p>
            <a:r>
              <a:t>claimed it, and visible on the right only if cuda did. Where the panels look</a:t>
            </a:r>
          </a:p>
          <a:p>
            <a:r>
              <a:t>identical, the finders agreed pixel for pixel.</a:t>
            </a:r>
          </a:p>
          <a:p/>
          <a:p>
            <a:r>
              <a:t>The red dots are cluster centres. The amber ring is the one centre cuda keeps</a:t>
            </a:r>
          </a:p>
          <a:p>
            <a:r>
              <a:t>that frozen does not: (202, 8), directly below (202, 7) which both finders keep.</a:t>
            </a:r>
          </a:p>
          <a:p>
            <a:r>
              <a:t>Because the two 3x3 windows overlap, cuda's patch is four rows tall where</a:t>
            </a:r>
          </a:p>
          <a:p>
            <a:r>
              <a:t>frozen's is three - that visible extra row IS the disagreement.</a:t>
            </a:r>
          </a:p>
          <a:p/>
          <a:p>
            <a:r>
              <a:t>Note what is NOT happening: there is no cluster in one panel that is absent from</a:t>
            </a:r>
          </a:p>
          <a:p>
            <a:r>
              <a:t>the other's neighbourhood entirely. Nothing was missed, and nothing was invented</a:t>
            </a:r>
          </a:p>
          <a:p>
            <a:r>
              <a:t>out of noise. The two finders are arguing about which of two adjacent pixels owns</a:t>
            </a:r>
          </a:p>
          <a:p>
            <a:r>
              <a:t>a photon they both found.</a:t>
            </a:r>
          </a:p>
          <a:p/>
          <a:p>
            <a:r>
              <a:t>Same construction as helper.plot_masked_mismatch() in the notebook, so this is</a:t>
            </a:r>
          </a:p>
          <a:p>
            <a:r>
              <a:t>reproducible from ClusterFinderFrozen_vs_CUDA.ipynb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SAY THIS -- 118 words, about 43 s.</a:t>
            </a:r>
          </a:p>
          <a:p/>
          <a:p>
            <a:r>
              <a:t>- And here is why, in numbers you can read. This is the test that decides</a:t>
            </a:r>
          </a:p>
          <a:p>
            <a:r>
              <a:t>  whether a pixel is the local maximum: is my value greater than my neighbour's?</a:t>
            </a:r>
          </a:p>
          <a:p/>
          <a:p>
            <a:r>
              <a:t>- Look at the two sums printed there. They differ in the eleventh digit. In</a:t>
            </a:r>
          </a:p>
          <a:p>
            <a:r>
              <a:t>  float, with 32 bits, those two numbers are THE SAME number -- there is no bit</a:t>
            </a:r>
          </a:p>
          <a:p>
            <a:r>
              <a:t>  left to hold the difference.</a:t>
            </a:r>
          </a:p>
          <a:p/>
          <a:p>
            <a:r>
              <a:t>- So the comparison goes one way on the CPU, which uses doubles, and the other</a:t>
            </a:r>
          </a:p>
          <a:p>
            <a:r>
              <a:t>  way on the GPU, which uses floats. Both answers are defensible. Neither is a</a:t>
            </a:r>
          </a:p>
          <a:p>
            <a:r>
              <a:t>  bug.</a:t>
            </a:r>
          </a:p>
          <a:p/>
          <a:p>
            <a:r>
              <a:t>- Six clusters out of 23 million, all of this shape. If you need exactly the CPU</a:t>
            </a:r>
          </a:p>
          <a:p>
            <a:r>
              <a:t>  answer, use the double pedestal build; it is exact.</a:t>
            </a:r>
          </a:p>
          <a:p/>
          <a:p>
            <a:r>
              <a:t>DETAILS: Frame 147, centre (x=202, y=8). The full numbers.</a:t>
            </a:r>
          </a:p>
          <a:p/>
          <a:p>
            <a:r>
              <a:t>                              centre               rival      centre - rival</a:t>
            </a:r>
          </a:p>
          <a:p>
            <a:r>
              <a:t>  frozen (f64 host ped)  638.382773664       638.383019956        -0.000246291</a:t>
            </a:r>
          </a:p>
          <a:p>
            <a:r>
              <a:t>  cuda   (f32 dev  ped)  638.382812500       638.382812500         0.000000000</a:t>
            </a:r>
          </a:p>
          <a:p/>
          <a:p>
            <a:r>
              <a:t>  pedestal mean, centre:  f64 4679.617226336   f32 4679.617187500</a:t>
            </a:r>
          </a:p>
          <a:p>
            <a:r>
              <a:t>  pedestal mean, rival :  f64 4643.616980044   f32 4643.617187500</a:t>
            </a:r>
          </a:p>
          <a:p/>
          <a:p>
            <a:r>
              <a:t>  1 float32 ULP at 4679.6 ADU = 0.000488 ADU</a:t>
            </a:r>
          </a:p>
          <a:p>
            <a:r>
              <a:t>  the f64 separation between the two pixels = 0.50 ULP</a:t>
            </a:r>
          </a:p>
          <a:p/>
          <a:p>
            <a:r>
              <a:t>Read that last line slowly: the two pixels differ by HALF a float32 ULP. There is</a:t>
            </a:r>
          </a:p>
          <a:p>
            <a:r>
              <a:t>no float32 number between them, so once the pedestal is stored as float32 they</a:t>
            </a:r>
          </a:p>
          <a:p>
            <a:r>
              <a:t>round to the identical bit pattern. The local-max gate is `value &gt;= max`, which</a:t>
            </a:r>
          </a:p>
          <a:p>
            <a:r>
              <a:t>accepts on equality - so CUDA keeps the centre and frozen, which can still see</a:t>
            </a:r>
          </a:p>
          <a:p>
            <a:r>
              <a:t>the rival is 2.5e-4 ADU higher, rejects it.</a:t>
            </a:r>
          </a:p>
          <a:p/>
          <a:p>
            <a:r>
              <a:t>This is not drift in the usual sense. It is not that the f32 EMA wandered away</a:t>
            </a:r>
          </a:p>
          <a:p>
            <a:r>
              <a:t>from the f64 one over thousands of updates - look at the pedestal columns, they</a:t>
            </a:r>
          </a:p>
          <a:p>
            <a:r>
              <a:t>agree to 4e-5 and 2e-4 ADU. It is that the QUESTION being asked ("which of these</a:t>
            </a:r>
          </a:p>
          <a:p>
            <a:r>
              <a:t>two pixels is larger?") has an answer that float32 cannot represent.</a:t>
            </a:r>
          </a:p>
          <a:p/>
          <a:p>
            <a:r>
              <a:t>Consequences worth stating out loud if asked:</a:t>
            </a:r>
          </a:p>
          <a:p>
            <a:r>
              <a:t>  - All six exist only in the shipping f32 build.</a:t>
            </a:r>
          </a:p>
          <a:p>
            <a:r>
              <a:t>  - Each of the six sits ONE PIXEL from a cluster both finders found: a duplicate</a:t>
            </a:r>
          </a:p>
          <a:p>
            <a:r>
              <a:t>    neighbour, never a spurious photon and never a missed one.</a:t>
            </a:r>
          </a:p>
          <a:p>
            <a:r>
              <a:t>  - It is one-directional. cuda-only 6, frozen-only 0. A tie can only ever ADD a</a:t>
            </a:r>
          </a:p>
          <a:p>
            <a:r>
              <a:t>    centre, never remove one, because &gt;= accepts.</a:t>
            </a:r>
          </a:p>
          <a:p>
            <a:r>
              <a:t>  - All six are at Chebyshev distance 1 from a cluster both finders found: a</a:t>
            </a:r>
          </a:p>
          <a:p>
            <a:r>
              <a:t>    duplicate neighbour, never a spurious photon.</a:t>
            </a:r>
          </a:p>
          <a:p>
            <a:r>
              <a:t>  - With DEVICE_PED_TYPE = double the residual is 0 / 0 at both 3x3 and 9x9.</a:t>
            </a:r>
          </a:p>
          <a:p>
            <a:r>
              <a:t>  - Fixing it in f32 would mean a strict &gt; in the gate, which changes the CPU's</a:t>
            </a:r>
          </a:p>
          <a:p>
            <a:r>
              <a:t>    documented behaviour on genuine ties. Not worth 6 clusters in 23 million.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SAY THIS -- 112 words, about 41 s.</a:t>
            </a:r>
          </a:p>
          <a:p/>
          <a:p>
            <a:r>
              <a:t>- So what IS left? Nineteen clusters, and they come from the one thing the CPU</a:t>
            </a:r>
          </a:p>
          <a:p>
            <a:r>
              <a:t>  twin was built to hold fixed: when the pedestal is updated.</a:t>
            </a:r>
          </a:p>
          <a:p/>
          <a:p>
            <a:r>
              <a:t>- The serial finder updates as it scans. So by the time it reaches a pixel, some</a:t>
            </a:r>
          </a:p>
          <a:p>
            <a:r>
              <a:t>  of that pixel's neighbours have already pushed their values into the pedestal.</a:t>
            </a:r>
          </a:p>
          <a:p>
            <a:r>
              <a:t>  Frozen, and CUDA, keep the pedestal still for the whole frame.</a:t>
            </a:r>
          </a:p>
          <a:p/>
          <a:p>
            <a:r>
              <a:t>- Now read the two rows. Serial against frozen: 8 and 11. Serial against CUDA:</a:t>
            </a:r>
          </a:p>
          <a:p>
            <a:r>
              <a:t>  the same 8 and 11. Identical.</a:t>
            </a:r>
          </a:p>
          <a:p/>
          <a:p>
            <a:r>
              <a:t>- And remember the previous slide: frozen and CUDA agree EXACTLY at f64. So the</a:t>
            </a:r>
          </a:p>
          <a:p>
            <a:r>
              <a:t>  only variable left between the serial finder and CUDA is the one frozen was</a:t>
            </a:r>
          </a:p>
          <a:p>
            <a:r>
              <a:t>  built to isolate -- when the pedestal is updated. All nineteen clusters come</a:t>
            </a:r>
          </a:p>
          <a:p>
            <a:r>
              <a:t>  from that, and none of them from the port.</a:t>
            </a:r>
          </a:p>
          <a:p/>
          <a:p>
            <a:r>
              <a:t>- The next two slides say which test does it.</a:t>
            </a:r>
          </a:p>
          <a:p/>
          <a:p>
            <a:r>
              <a:t>DETAILS: the decomposition, in case it is asked before the next slide gets there.</a:t>
            </a:r>
          </a:p>
          <a:p/>
          <a:p>
            <a:r>
              <a:t>    frozen-only 11 clusters  -&gt;  ALL from Test3 (total &gt; c3*nSigma*rms)</a:t>
            </a:r>
          </a:p>
          <a:p>
            <a:r>
              <a:t>    cpu-only     8 clusters  -&gt;  ALL from the local-max gate (value == max)</a:t>
            </a:r>
          </a:p>
          <a:p>
            <a:r>
              <a:t>    Test1 threshold          -&gt;  contributes ZERO clusters</a:t>
            </a:r>
          </a:p>
          <a:p/>
          <a:p>
            <a:r>
              <a:t>Why Test3 is the exposed one: it sums all nine values, so it collects the shift</a:t>
            </a:r>
          </a:p>
          <a:p>
            <a:r>
              <a:t>of EVERY already-scanned neighbour -- three above, one left, exactly the pixels</a:t>
            </a:r>
          </a:p>
          <a:p>
            <a:r>
              <a:t>eligible for update -- where Test1 feels at most the one that happens to be the</a:t>
            </a:r>
          </a:p>
          <a:p>
            <a:r>
              <a:t>argmax.</a:t>
            </a:r>
          </a:p>
          <a:p/>
          <a:p>
            <a:r>
              <a:t>WHY THIS IS NOT A DEFECT IN EITHER FINDER. Neither update order is more correct;</a:t>
            </a:r>
          </a:p>
          <a:p>
            <a:r>
              <a:t>they are two defensible readings of "the pedestal at this pixel". The claim the</a:t>
            </a:r>
          </a:p>
          <a:p>
            <a:r>
              <a:t>deck makes is narrower and provable: the CUDA port reproduces the frozen model</a:t>
            </a:r>
          </a:p>
          <a:p>
            <a:r>
              <a:t>exactly, and the frozen model differs from the serial one by 19 clusters in 23</a:t>
            </a:r>
          </a:p>
          <a:p>
            <a:r>
              <a:t>million, for a reason that has nothing to do with the GPU.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SAY THIS -- 84 words, about 31 s.</a:t>
            </a:r>
          </a:p>
          <a:p/>
          <a:p>
            <a:r>
              <a:t>- Earlier I showed the decision with two tests. The finder actually has three,</a:t>
            </a:r>
          </a:p>
          <a:p>
            <a:r>
              <a:t>  and I left one out to keep that slide readable.</a:t>
            </a:r>
          </a:p>
          <a:p/>
          <a:p>
            <a:r>
              <a:t>- The third one looks at the total of the whole cluster, not just the brightest</a:t>
            </a:r>
          </a:p>
          <a:p>
            <a:r>
              <a:t>  pixel or the brightest four. So it can accept a photon that is spread out and</a:t>
            </a:r>
          </a:p>
          <a:p>
            <a:r>
              <a:t>  has no single strong pixel.</a:t>
            </a:r>
          </a:p>
          <a:p/>
          <a:p>
            <a:r>
              <a:t>- At the small cluster size it is a small correction. It matters here because it</a:t>
            </a:r>
          </a:p>
          <a:p>
            <a:r>
              <a:t>  is the test behind the CPU-versus-CPU difference.</a:t>
            </a:r>
          </a:p>
          <a:p/>
          <a:p>
            <a:r>
              <a:t>DETAILS: Why slide 4 leaves Test3 out: at 3x3 it is a small correction to the</a:t>
            </a:r>
          </a:p>
          <a:p>
            <a:r>
              <a:t>cluster count, and the arc's point there is the THREE OUTCOMES shape -- store,</a:t>
            </a:r>
          </a:p>
          <a:p>
            <a:r>
              <a:t>shadow, update -- not completeness. This slide is where completeness belongs.</a:t>
            </a:r>
          </a:p>
          <a:p/>
          <a:p>
            <a:r>
              <a:t>Read c3 out loud, it is the part people find satisfying. Test1 asks whether one</a:t>
            </a:r>
          </a:p>
          <a:p>
            <a:r>
              <a:t>pixel is 5 sigma above ITS OWN noise. Test3 asks the same question of the SUM of</a:t>
            </a:r>
          </a:p>
          <a:p>
            <a:r>
              <a:t>nine pixels -- so the only thing needed is the noise on that sum, and that is</a:t>
            </a:r>
          </a:p>
          <a:p>
            <a:r>
              <a:t>just variance addition:</a:t>
            </a:r>
          </a:p>
          <a:p/>
          <a:p>
            <a:r>
              <a:t>    Var(v1 + ... + v9) = Var(v1) + ... + Var(v9) = 9 * sigma^2     (independent)</a:t>
            </a:r>
          </a:p>
          <a:p>
            <a:r>
              <a:t>    sigma_sum = sqrt(9 * sigma^2) = 3 * sigma</a:t>
            </a:r>
          </a:p>
          <a:p/>
          <a:p>
            <a:r>
              <a:t>Standard deviations do NOT add; variances do. That is the whole content of the</a:t>
            </a:r>
          </a:p>
          <a:p>
            <a:r>
              <a:t>sqrt: nine pixels give nine times the variance but only three times the rms, so</a:t>
            </a:r>
          </a:p>
          <a:p>
            <a:r>
              <a:t>a threshold on the sum has to be 3x larger to carry the same 5-sigma meaning.</a:t>
            </a:r>
          </a:p>
          <a:p>
            <a:r>
              <a:t>It is also why summing helps at all -- the signal adds linearly (x9) while the</a:t>
            </a:r>
          </a:p>
          <a:p>
            <a:r>
              <a:t>noise adds in quadrature (x3), a net sqrt(9) = 3x gain in signal-to-noise for a</a:t>
            </a:r>
          </a:p>
          <a:p>
            <a:r>
              <a:t>photon that is genuinely spread over the window.</a:t>
            </a:r>
          </a:p>
          <a:p/>
          <a:p>
            <a:r>
              <a:t>c3 = sqrt(ClusterSizeX * ClusterSizeY) in the constructor, so it generalises: at</a:t>
            </a:r>
          </a:p>
          <a:p>
            <a:r>
              <a:t>9x9 it is sqrt(81) = 9.</a:t>
            </a:r>
          </a:p>
          <a:p/>
          <a:p>
            <a:r>
              <a:t>If someone challenges the independence assumption: it is the pedestal noise that</a:t>
            </a:r>
          </a:p>
          <a:p>
            <a:r>
              <a:t>is being added, which is per-pixel readout noise and is uncorrelated between</a:t>
            </a:r>
          </a:p>
          <a:p>
            <a:r>
              <a:t>pixels to a good approximation. Correlated noise would need covariance terms and</a:t>
            </a:r>
          </a:p>
          <a:p>
            <a:r>
              <a:t>would make c3 larger than sqrt(N).</a:t>
            </a:r>
          </a:p>
          <a:p/>
          <a:p>
            <a:r>
              <a:t>The negative-value skip at the top is a fourth branch but not a test in the same</a:t>
            </a:r>
          </a:p>
          <a:p>
            <a:r>
              <a:t>sense -- it drops pixels far BELOW pedestal, which are detector artefacts rather</a:t>
            </a:r>
          </a:p>
          <a:p>
            <a:r>
              <a:t>than photons, and it does not update either.</a:t>
            </a:r>
          </a:p>
          <a:p/>
          <a:p>
            <a:r>
              <a:t>What matters for the next slide: Test1 reads the MAX of the window, Test3 reads</a:t>
            </a:r>
          </a:p>
          <a:p>
            <a:r>
              <a:t>the SUM. That is the whole difference in sensitivity.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SAY THIS -- 92 words, about 34 s.</a:t>
            </a:r>
          </a:p>
          <a:p/>
          <a:p>
            <a:r>
              <a:t>- This is the proof that the CPU-versus-CPU difference is the third test, and it</a:t>
            </a:r>
          </a:p>
          <a:p>
            <a:r>
              <a:t>  was done two independent ways.</a:t>
            </a:r>
          </a:p>
          <a:p/>
          <a:p>
            <a:r>
              <a:t>- First, instrumented: record which branch every pixel takes, in both finders,</a:t>
            </a:r>
          </a:p>
          <a:p>
            <a:r>
              <a:t>  and compare. All eleven clusters that only the frozen twin finds come from</a:t>
            </a:r>
          </a:p>
          <a:p>
            <a:r>
              <a:t>  that one test.</a:t>
            </a:r>
          </a:p>
          <a:p/>
          <a:p>
            <a:r>
              <a:t>- Second, ablated: compile the test out of BOTH finders and re-run. The eleven</a:t>
            </a:r>
          </a:p>
          <a:p>
            <a:r>
              <a:t>  go to exactly zero.</a:t>
            </a:r>
          </a:p>
          <a:p/>
          <a:p>
            <a:r>
              <a:t>- The picture shows one such pixel. The two sums differ in the eleventh digit,</a:t>
            </a:r>
          </a:p>
          <a:p>
            <a:r>
              <a:t>  and the maximum is identical in both.</a:t>
            </a:r>
          </a:p>
          <a:p/>
          <a:p>
            <a:r>
              <a:t>DETAILS: TWO EXPERIMENTS, INDEPENDENT ROUTES.</a:t>
            </a:r>
          </a:p>
          <a:p/>
          <a:p>
            <a:r>
              <a:t>Instrumented (both finders shipped logic, branch codes recorded): 974 pixels out</a:t>
            </a:r>
          </a:p>
          <a:p>
            <a:r>
              <a:t>of 1.6e9 take a different branch. Only some change the cluster set, and those</a:t>
            </a:r>
          </a:p>
          <a:p>
            <a:r>
              <a:t>decompose onto slide 29's 8/11 with no remainder:</a:t>
            </a:r>
          </a:p>
          <a:p/>
          <a:p>
            <a:r>
              <a:t>    frozen-only 11  =  QUIET_UPDATE -&gt; TEST3_STORE      (all Test 3)</a:t>
            </a:r>
          </a:p>
          <a:p>
            <a:r>
              <a:t>    cpu-only     8  =  TEST3_STORE  -&gt; TEST3_SKIP  (5)  (local-max gate)</a:t>
            </a:r>
          </a:p>
          <a:p>
            <a:r>
              <a:t>                    +  TEST1_STORE  -&gt; SHADOW      (3)</a:t>
            </a:r>
          </a:p>
          <a:p/>
          <a:p>
            <a:r>
              <a:t>Ablated (Test 3 compiled out of BOTH finders):</a:t>
            </a:r>
          </a:p>
          <a:p/>
          <a:p>
            <a:r>
              <a:t>                        Test3 ON     Test3 OFF</a:t>
            </a:r>
          </a:p>
          <a:p>
            <a:r>
              <a:t>    clusters (cpu)    23 244 602    23 241 342</a:t>
            </a:r>
          </a:p>
          <a:p>
            <a:r>
              <a:t>    divergent pixels         974           584</a:t>
            </a:r>
          </a:p>
          <a:p>
            <a:r>
              <a:t>    first divergence   frame   4     frame  30</a:t>
            </a:r>
          </a:p>
          <a:p>
            <a:r>
              <a:t>    frozen-only               11             0</a:t>
            </a:r>
          </a:p>
          <a:p>
            <a:r>
              <a:t>    cpu-only                   8             4</a:t>
            </a:r>
          </a:p>
          <a:p/>
          <a:p>
            <a:r>
              <a:t>The 11 go to zero exactly. The cpu-only 4 are all TEST1_STORE -&gt; SHADOW, the</a:t>
            </a:r>
          </a:p>
          <a:p>
            <a:r>
              <a:t>local-max gate, which does not need Test 3 -- the count is not preserved because</a:t>
            </a:r>
          </a:p>
          <a:p>
            <a:r>
              <a:t>ablating changes which pixels push, so the pedestal follows a different path and</a:t>
            </a:r>
          </a:p>
          <a:p>
            <a:r>
              <a:t>the downstream ties are a different realisation.</a:t>
            </a:r>
          </a:p>
          <a:p/>
          <a:p>
            <a:r>
              <a:t>WHY TEST1 FLIPS MOST AND COSTS NOTHING. A Test1 flip moves a pixel between</a:t>
            </a:r>
          </a:p>
          <a:p>
            <a:r>
              <a:t>QUIET_UPDATE and SHADOW. Neither stores, so no cluster appears or disappears; it</a:t>
            </a:r>
          </a:p>
          <a:p>
            <a:r>
              <a:t>only changes whether that pixel pushed, which feeds forward.</a:t>
            </a:r>
          </a:p>
          <a:p/>
          <a:p>
            <a:r>
              <a:t>TEST1 IS NOT MERELY DOWNSTREAM. With Test3 off, the first divergence is still at</a:t>
            </a:r>
          </a:p>
          <a:p>
            <a:r>
              <a:t>frame 30, and nothing diverged before it -- so the pedestals were identical and</a:t>
            </a:r>
          </a:p>
          <a:p>
            <a:r>
              <a:t>that Test1 flip came straight from the within-frame asymmetry. Test1 initiates</a:t>
            </a:r>
          </a:p>
          <a:p>
            <a:r>
              <a:t>independently; it is just ~7x slower to do so (frame 30 vs frame 4) and cannot</a:t>
            </a:r>
          </a:p>
          <a:p>
            <a:r>
              <a:t>create a cluster on its own.</a:t>
            </a:r>
          </a:p>
          <a:p/>
          <a:p>
            <a:r>
              <a:t>THE SITE. Frame 203, pixel (125,245). Threshold c3*5*rms = 256.511. Serial sums</a:t>
            </a:r>
          </a:p>
          <a:p>
            <a:r>
              <a:t>256.489 and calls it a pedestal sample; frozen sums 256.581 and stores. The gap</a:t>
            </a:r>
          </a:p>
          <a:p>
            <a:r>
              <a:t>is 0.09 ADU, from four neighbours whose pedestals differ by 0.12 ADU in total.</a:t>
            </a:r>
          </a:p>
          <a:p>
            <a:r>
              <a:t>max is 56.473 in BOTH -- printed because it is the argument: Test1 could not</a:t>
            </a:r>
          </a:p>
          <a:p>
            <a:r>
              <a:t>have caused this.</a:t>
            </a:r>
          </a:p>
          <a:p/>
          <a:p>
            <a:r>
              <a:t>READING THE LEFT PANEL. It is the FINISHED frame, not a scan in progress -- the</a:t>
            </a:r>
          </a:p>
          <a:p>
            <a:r>
              <a:t>branch map is read once find_clusters() returns, so every one of the 441 cells</a:t>
            </a:r>
          </a:p>
          <a:p>
            <a:r>
              <a:t>carries a final decision. The arrows are raster ORDER, drawn outside the grid so</a:t>
            </a:r>
          </a:p>
          <a:p>
            <a:r>
              <a:t>they cannot be mistaken for a cursor.</a:t>
            </a:r>
          </a:p>
          <a:p/>
          <a:p>
            <a:r>
              <a:t>If asked why a photon looks 3x4 and not 3x3: it does not. The green cells are</a:t>
            </a:r>
          </a:p>
          <a:p>
            <a:r>
              <a:t>the stored clusters and they are single pixels, nine of them in this patch. The</a:t>
            </a:r>
          </a:p>
          <a:p>
            <a:r>
              <a:t>dark region around them is SHADOW, and shadow is not the photon's 3x3 -- it is</a:t>
            </a:r>
          </a:p>
          <a:p>
            <a:r>
              <a:t>every pixel whose OWN 3x3 window contains something above 5 sigma. Note the</a:t>
            </a:r>
          </a:p>
          <a:p>
            <a:r>
              <a:t>shadow pixel need not be bright itself. Three tiers, all visible here:</a:t>
            </a:r>
          </a:p>
          <a:p/>
          <a:p>
            <a:r>
              <a:t>    810.3 ADU   IS the window max          -&gt; stored</a:t>
            </a:r>
          </a:p>
          <a:p>
            <a:r>
              <a:t>    345.0 ADU   above the 85.5 bar, not the peak  -&gt; shadow</a:t>
            </a:r>
          </a:p>
          <a:p>
            <a:r>
              <a:t>     17.7 ADU   nowhere near the bar, but its 3x3 reaches the 345 -&gt; shadow</a:t>
            </a:r>
          </a:p>
          <a:p/>
          <a:p>
            <a:r>
              <a:t>Charge shared across two adjacent pixels therefore lights up the union of every</a:t>
            </a:r>
          </a:p>
          <a:p>
            <a:r>
              <a:t>window that can see either one, which here is 3x4. In the whole patch 27 pixels</a:t>
            </a:r>
          </a:p>
          <a:p>
            <a:r>
              <a:t>clear 5 sigma, 9 are local maxima, and 98 end up shadowed.</a:t>
            </a:r>
          </a:p>
          <a:p/>
          <a:p>
            <a:r>
              <a:t>The marked pixel is amber with a green ring on purpose: the panel is coloured by</a:t>
            </a:r>
          </a:p>
          <a:p>
            <a:r>
              <a:t>the SERIAL finder, and serial sampled the pedestal there. Only frozen stored. If</a:t>
            </a:r>
          </a:p>
          <a:p>
            <a:r>
              <a:t>it were painted plain green the picture would contradict the sigma lines beside</a:t>
            </a:r>
          </a:p>
          <a:p>
            <a:r>
              <a:t>it. Amber means one thing in BOTH panels -- a pixel that pushed the pedestal --</a:t>
            </a:r>
          </a:p>
          <a:p>
            <a:r>
              <a:t>which is why the frozen readings on the right are red rather than amber.</a:t>
            </a:r>
          </a:p>
          <a:p/>
          <a:p>
            <a:r>
              <a:t>WORTH POINTING AT IF THE ROOM IS ENGINEERS, four rows below the marked pixel.</a:t>
            </a:r>
          </a:p>
          <a:p>
            <a:r>
              <a:t>(129,245) is an isolated shadow cell with pedestal samples on both sides of it.</a:t>
            </a:r>
          </a:p>
          <a:p>
            <a:r>
              <a:t>The cause is the 85.150 ADU pixel at (130,244), one row down and one column</a:t>
            </a:r>
          </a:p>
          <a:p>
            <a:r>
              <a:t>left, which sits in the window of BOTH (129,245) and (129,244). Their window</a:t>
            </a:r>
          </a:p>
          <a:p>
            <a:r>
              <a:t>maxima are IDENTICAL. They take different branches anyway, because the bar is</a:t>
            </a:r>
          </a:p>
          <a:p>
            <a:r>
              <a:t>per-pixel -- the test is m &gt; nSigma * rms[centre], the noise of the pixel being</a:t>
            </a:r>
          </a:p>
          <a:p>
            <a:r>
              <a:t>tested. The branch codes alone bound the two:</a:t>
            </a:r>
          </a:p>
          <a:p/>
          <a:p>
            <a:r>
              <a:t>    rms(129,245)  &lt;  17.030  &lt;=  rms(129,244)</a:t>
            </a:r>
          </a:p>
          <a:p/>
          <a:p>
            <a:r>
              <a:t>The left neighbour is noisier, so its bar is higher, so the same 85.150 fails to</a:t>
            </a:r>
          </a:p>
          <a:p>
            <a:r>
              <a:t>clear it. And (130,244) is itself only a pedestal sample: 85.2 does not clear its</a:t>
            </a:r>
          </a:p>
          <a:p>
            <a:r>
              <a:t>OWN bar and its window sums to 119.5 against a ~256 Test3 threshold. So a pixel</a:t>
            </a:r>
          </a:p>
          <a:p>
            <a:r>
              <a:t>can silence a neighbour's pedestal update without being bright enough to be</a:t>
            </a:r>
          </a:p>
          <a:p>
            <a:r>
              <a:t>anything itself -- "bright" is not a property of a pixel, it is a relation</a:t>
            </a:r>
          </a:p>
          <a:p>
            <a:r>
              <a:t>between a value and whose noise you measure it against.</a:t>
            </a:r>
          </a:p>
          <a:p/>
          <a:p>
            <a:r>
              <a:t>Deliberately NOT marked on the figure. It is a statement about the algorithm,</a:t>
            </a:r>
          </a:p>
          <a:p>
            <a:r>
              <a:t>not about serial-vs-frozen, and a second leader line would compete with the one</a:t>
            </a:r>
          </a:p>
          <a:p>
            <a:r>
              <a:t>that carries the slide's actual argument. Full numbers in docs/deck/QA.md.</a:t>
            </a:r>
          </a:p>
          <a:p/>
          <a:p>
            <a:r>
              <a:t>The branch_map property on both finders is diagnostic scaffolding. The ablation</a:t>
            </a:r>
          </a:p>
          <a:p>
            <a:r>
              <a:t>is AARE_TEST3_ENABLED in the two headers, 1 by default.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SAY THIS -- 117 words, about 42 s.</a:t>
            </a:r>
          </a:p>
          <a:p/>
          <a:p>
            <a:r>
              <a:t>- If you take one slide away for your own code, take this one. This is the fast</a:t>
            </a:r>
          </a:p>
          <a:p>
            <a:r>
              <a:t>  path, and it is eight lines.</a:t>
            </a:r>
          </a:p>
          <a:p/>
          <a:p>
            <a:r>
              <a:t>- Two of them matter. Register the input buffer once, outside the loop -- that</a:t>
            </a:r>
          </a:p>
          <a:p>
            <a:r>
              <a:t>  is the pinning step, and you do it on the whole dataset, not per frame. And</a:t>
            </a:r>
          </a:p>
          <a:p>
            <a:r>
              <a:t>  call find_clusters_batched, which has the host-GPU overlap built in. You do</a:t>
            </a:r>
          </a:p>
          <a:p>
            <a:r>
              <a:t>  not have to think about streams at all.</a:t>
            </a:r>
          </a:p>
          <a:p/>
          <a:p>
            <a:r>
              <a:t>- The lower panel is the zero-copy version: same code, one call swapped. You get</a:t>
            </a:r>
          </a:p>
          <a:p>
            <a:r>
              <a:t>  a view instead of your own copy. Read it inside the loop, and reduce as you</a:t>
            </a:r>
          </a:p>
          <a:p>
            <a:r>
              <a:t>  go. If you keep it past the chunk, it is gone.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SAY THIS -- 113 words, about 41 s.</a:t>
            </a:r>
          </a:p>
          <a:p/>
          <a:p>
            <a:r>
              <a:t>- Five settings, and only one of them can hurt you. That is the ringed one, the</a:t>
            </a:r>
          </a:p>
          <a:p>
            <a:r>
              <a:t>  maximum clusters per frame.</a:t>
            </a:r>
          </a:p>
          <a:p/>
          <a:p>
            <a:r>
              <a:t>- It is the size of the envelope we copy back for every frame. If you set it too</a:t>
            </a:r>
          </a:p>
          <a:p>
            <a:r>
              <a:t>  low, you do not get an error. You quietly lose clusters, and every frame comes</a:t>
            </a:r>
          </a:p>
          <a:p>
            <a:r>
              <a:t>  back with the same count -- which looks like a plateau in your data, not like a</a:t>
            </a:r>
          </a:p>
          <a:p>
            <a:r>
              <a:t>  bug.</a:t>
            </a:r>
          </a:p>
          <a:p/>
          <a:p>
            <a:r>
              <a:t>- The others are easy. Four streams is right at both cluster sizes; eight buys</a:t>
            </a:r>
          </a:p>
          <a:p>
            <a:r>
              <a:t>  nothing. Batches of two thousand. Register the input buffer whenever your data</a:t>
            </a:r>
          </a:p>
          <a:p>
            <a:r>
              <a:t>  is already in memory. Those are the defaults, and they are the ones we</a:t>
            </a:r>
          </a:p>
          <a:p>
            <a:r>
              <a:t>  measured.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SAY THIS -- 126 words, about 46 s.</a:t>
            </a:r>
          </a:p>
          <a:p/>
          <a:p>
            <a:r>
              <a:t>- Where this leaves us. Nine times at 3x3, twenty-six at 9x9, and both are</a:t>
            </a:r>
          </a:p>
          <a:p>
            <a:r>
              <a:t>  sitting on their hardware floor. At the small size that is 45 times the</a:t>
            </a:r>
          </a:p>
          <a:p>
            <a:r>
              <a:t>  detector's standard frame rate, so the finder is no longer the limit.</a:t>
            </a:r>
          </a:p>
          <a:p/>
          <a:p>
            <a:r>
              <a:t>- And the pedestal is now float, safely -- 40 percent off the kernel, with six</a:t>
            </a:r>
          </a:p>
          <a:p>
            <a:r>
              <a:t>  duplicate clusters in 23 million, all of them the same tie between two</a:t>
            </a:r>
          </a:p>
          <a:p>
            <a:r>
              <a:t>  touching pixels.</a:t>
            </a:r>
          </a:p>
          <a:p/>
          <a:p>
            <a:r>
              <a:t>- What is left is not the maths. At 3x3 it is how we hand the wire its work --</a:t>
            </a:r>
          </a:p>
          <a:p>
            <a:r>
              <a:t>  two thousand separate small transfers. At 9x9 it is the copy back out, which</a:t>
            </a:r>
          </a:p>
          <a:p>
            <a:r>
              <a:t>  is now the tallest bar. Both of those are transfer problems. The bottleneck</a:t>
            </a:r>
          </a:p>
          <a:p>
            <a:r>
              <a:t>  has walked from the host, to the GPU, to the wire.</a:t>
            </a:r>
          </a:p>
          <a:p/>
          <a:p>
            <a:r>
              <a:t>DETAILS: The headroom claim, stated carefully.</a:t>
            </a:r>
          </a:p>
          <a:p/>
          <a:p>
            <a:r>
              <a:t>WHERE THE MATERIAL IS, if anyone asks for it after the talk rather than from the</a:t>
            </a:r>
          </a:p>
          <a:p>
            <a:r>
              <a:t>floor: docs/ClusterFinderCUDA_benchmark_results.md for every number and its</a:t>
            </a:r>
          </a:p>
          <a:p>
            <a:r>
              <a:t>provenance; python/tests/ClusterFinderCUDA_perf.ipynb for the timing protocol;</a:t>
            </a:r>
          </a:p>
          <a:p>
            <a:r>
              <a:t>python/tests/perf/ for the campaign; python/tests/validation_tiers.py and</a:t>
            </a:r>
          </a:p>
          <a:p>
            <a:r>
              <a:t>ClusterFinderFrozen_vs_CUDA.ipynb for the validation; python/tests/branch_trace.py</a:t>
            </a:r>
          </a:p>
          <a:p>
            <a:r>
              <a:t>and branch_site_dump.py for slides 30-31. Paths are deliberately off the slides.</a:t>
            </a:r>
          </a:p>
          <a:p/>
          <a:p>
            <a:r>
              <a:t>MOENCH03 runs at 1.3 kHz as standard and 3-6 kHz with optimised readout boards.</a:t>
            </a:r>
          </a:p>
          <a:p>
            <a:r>
              <a:t>The finder does 58 495 FPS at 3x3 and 39 775 at 9x9, so it is 45x and 31x the</a:t>
            </a:r>
          </a:p>
          <a:p>
            <a:r>
              <a:t>standard rate, and about 10x and 7x the optimised ceiling. The point is not the</a:t>
            </a:r>
          </a:p>
          <a:p>
            <a:r>
              <a:t>multiple: it is that cluster finding has stopped being the thing that decides</a:t>
            </a:r>
          </a:p>
          <a:p>
            <a:r>
              <a:t>how fast you can take data, on one GPU, at either cluster size.</a:t>
            </a:r>
          </a:p>
          <a:p/>
          <a:p>
            <a:r>
              <a:t>Two honest qualifications. First, this is throughput on frames already in host</a:t>
            </a:r>
          </a:p>
          <a:p>
            <a:r>
              <a:t>RAM -- getting them there from the detector is a separate problem and is not</a:t>
            </a:r>
          </a:p>
          <a:p>
            <a:r>
              <a:t>measured here. Second, at 9x9 the D2H slot is cap-sized, so the margin shrinks</a:t>
            </a:r>
          </a:p>
          <a:p>
            <a:r>
              <a:t>if max_clusters_per_frame has to grow for a busier beam.</a:t>
            </a:r>
          </a:p>
          <a:p/>
          <a:p>
            <a:r>
              <a:t>What the 24-thread CPU finder does, for contrast: 6 762 FPS at 3x3, which</a:t>
            </a:r>
          </a:p>
          <a:p>
            <a:r>
              <a:t>matches the standard mode with nothing to spare, and 1 503 FPS at 9x9, which</a:t>
            </a:r>
          </a:p>
          <a:p>
            <a:r>
              <a:t>does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SAY THIS -- 45 words, about 18 s. Only if you reach it.</a:t>
            </a:r>
          </a:p>
          <a:p/>
          <a:p>
            <a:r>
              <a:t>- That is the talk. What follows is backup: every engine number reconciled, the</a:t>
            </a:r>
          </a:p>
          <a:p>
            <a:r>
              <a:t>  three things I tried that did not work, and the measurement traps.</a:t>
            </a:r>
          </a:p>
          <a:p/>
          <a:p>
            <a:r>
              <a:t>- I will jump to one of these if a question needs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SAY THIS -- 117 words, about 45 s. Annex: only on a question.</a:t>
            </a:r>
          </a:p>
          <a:p/>
          <a:p>
            <a:r>
              <a:t>- Shared memory is not the limit. Two other things are: thread slots, and</a:t>
            </a:r>
          </a:p>
          <a:p>
            <a:r>
              <a:t>  registers. An SM has 1 536 thread slots and 65 536 registers, and whichever</a:t>
            </a:r>
          </a:p>
          <a:p>
            <a:r>
              <a:t>  runs out first decides how many blocks live on that SM at once.</a:t>
            </a:r>
          </a:p>
          <a:p/>
          <a:p>
            <a:r>
              <a:t>- Our block is 256 threads. At 3x3, 38 registers per thread: six blocks fit, and</a:t>
            </a:r>
          </a:p>
          <a:p>
            <a:r>
              <a:t>  it is the SLOTS that run out first -- six times 256 is exactly 1 536. The</a:t>
            </a:r>
          </a:p>
          <a:p>
            <a:r>
              <a:t>  registers still have room.</a:t>
            </a:r>
          </a:p>
          <a:p/>
          <a:p>
            <a:r>
              <a:t>- At 9x9 every thread keeps a private 9-by-9 staging array, so 128 registers.</a:t>
            </a:r>
          </a:p>
          <a:p>
            <a:r>
              <a:t>  Two blocks fill the register file exactly, and two thirds of the thread slots</a:t>
            </a:r>
          </a:p>
          <a:p>
            <a:r>
              <a:t>  sit empty.</a:t>
            </a:r>
          </a:p>
          <a:p/>
          <a:p>
            <a:r>
              <a:t>- Both numbers are read out of the built binary, and neither build spills.</a:t>
            </a:r>
          </a:p>
          <a:p/>
          <a:p>
            <a:r>
              <a:t>CAREFUL: do not say "six versus two, because of register pressure". Registers</a:t>
            </a:r>
          </a:p>
          <a:p>
            <a:r>
              <a:t>bind at 9x9 ONLY. At 3x3 the thread slots bind and the registers are at 89 %.</a:t>
            </a:r>
          </a:p>
          <a:p>
            <a:r>
              <a:t>The callout on the slide says so, so the room can check you.</a:t>
            </a:r>
          </a:p>
          <a:p/>
          <a:p>
            <a:r>
              <a:t>DETAILS: the arithmetic, and the one build-dependent caveat.</a:t>
            </a:r>
          </a:p>
          <a:p/>
          <a:p>
            <a:r>
              <a:t>One SM holds 65 536 registers and 1 536 thread slots. A 16x16 block is 256</a:t>
            </a:r>
          </a:p>
          <a:p>
            <a:r>
              <a:t>threads, so a block costs regs_per_thread x 256 registers. At 3x3 that is 9 728,</a:t>
            </a:r>
          </a:p>
          <a:p>
            <a:r>
              <a:t>six blocks fit, and the THREAD SLOTS run out first. At 9x9 it is 32 768, so two</a:t>
            </a:r>
          </a:p>
          <a:p>
            <a:r>
              <a:t>blocks exactly fill the REGISTER FILE and strand two thirds of the slots. Same</a:t>
            </a:r>
          </a:p>
          <a:p>
            <a:r>
              <a:t>kernel, same block size, opposite binding resource.</a:t>
            </a:r>
          </a:p>
          <a:p/>
          <a:p>
            <a:r>
              <a:t>Build dependence of the register count itself: the f64 pedestal costs 3x3 nine</a:t>
            </a:r>
          </a:p>
          <a:p>
            <a:r>
              <a:t>extra registers (47), which loses a block per SM. 9x9 is unmoved at 128 -- there</a:t>
            </a:r>
          </a:p>
          <a:p>
            <a:r>
              <a:t>the limiter is the clusterData[9][9] staging array, not the pedestal, which is</a:t>
            </a:r>
          </a:p>
          <a:p>
            <a:r>
              <a:t>why opt7 helps 3x3's occupancy and not 9x9's.</a:t>
            </a:r>
          </a:p>
          <a:p/>
          <a:p>
            <a:r>
              <a:t>Reproduce blocks/SM at runtime with python/tests/perf/kernel_resources.py, which</a:t>
            </a:r>
          </a:p>
          <a:p>
            <a:r>
              <a:t>calls cudaOccupancyMaxActiveBlocksPerMultiprocessor on the built kernel.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SAY THIS -- 88 words, about 32 s. Annex: only on a question.</a:t>
            </a:r>
          </a:p>
          <a:p/>
          <a:p>
            <a:r>
              <a:t>- Rejected route one: CUDA graphs. The idea is sound. Every copy and every</a:t>
            </a:r>
          </a:p>
          <a:p>
            <a:r>
              <a:t>  launch costs the CPU a few microseconds of driver work. A graph is that whole</a:t>
            </a:r>
          </a:p>
          <a:p>
            <a:r>
              <a:t>  sequence built once, and then replayed.</a:t>
            </a:r>
          </a:p>
          <a:p/>
          <a:p>
            <a:r>
              <a:t>- After step four that looked like the right target. But it did not pay: even at</a:t>
            </a:r>
          </a:p>
          <a:p>
            <a:r>
              <a:t>  3x3 the gain was inside the noise, and at 9x9 it was 12 percent SLOWER.</a:t>
            </a:r>
          </a:p>
          <a:p/>
          <a:p>
            <a:r>
              <a:t>- And then the next act made the question go away: once host work hides under</a:t>
            </a:r>
          </a:p>
          <a:p>
            <a:r>
              <a:t>  the GPU, saving host work is worth nothing.</a:t>
            </a:r>
          </a:p>
          <a:p/>
          <a:p>
            <a:r>
              <a:t>CAREFUL: OUR GRAPH IS NOT "ONE CALL PER BATCH".</a:t>
            </a:r>
          </a:p>
          <a:p/>
          <a:p>
            <a:r>
              <a:t>The textbook pitch is "four driver calls per frame become one". Our</a:t>
            </a:r>
          </a:p>
          <a:p>
            <a:r>
              <a:t>implementation does not get there, and the code on the slide now says so:</a:t>
            </a:r>
          </a:p>
          <a:p/>
          <a:p>
            <a:r>
              <a:t>  - It is built with the EXPLICIT node API, not stream capture --</a:t>
            </a:r>
          </a:p>
          <a:p>
            <a:r>
              <a:t>    cudaGraphCreate + cudaGraphAddMemsetNode / AddMemcpyNode / AddKernelNode +</a:t>
            </a:r>
          </a:p>
          <a:p>
            <a:r>
              <a:t>    cudaGraphInstantiate, all inside build_graphs(), graph.hpp 491-576.</a:t>
            </a:r>
          </a:p>
          <a:p>
            <a:r>
              <a:t>  - Every frame reads from a different place in the input array and writes to a</a:t>
            </a:r>
          </a:p>
          <a:p>
            <a:r>
              <a:t>    different output slot, so the H2D source pointer and the D2H destination</a:t>
            </a:r>
          </a:p>
          <a:p>
            <a:r>
              <a:t>    pointer have to be repointed BEFORE each launch. That is two</a:t>
            </a:r>
          </a:p>
          <a:p>
            <a:r>
              <a:t>    cudaGraphExecMemcpyNodeSetParams calls, then cudaGraphLaunch: three driver</a:t>
            </a:r>
          </a:p>
          <a:p>
            <a:r>
              <a:t>    calls per frame (graph.hpp 355-373).</a:t>
            </a:r>
          </a:p>
          <a:p/>
          <a:p>
            <a:r>
              <a:t>So the fair sentence is "four calls per frame became three, not one". If asked</a:t>
            </a:r>
          </a:p>
          <a:p>
            <a:r>
              <a:t>why it could not be one: a graph is a fixed set of nodes with fixed parameters,</a:t>
            </a:r>
          </a:p>
          <a:p>
            <a:r>
              <a:t>and a streaming workload gives every frame new addresses. Only a workload that</a:t>
            </a:r>
          </a:p>
          <a:p>
            <a:r>
              <a:t>reuses the same buffers every time gets the textbook win.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SAY THIS -- 84 words, about 31 s. Annex: only on a question.</a:t>
            </a:r>
          </a:p>
          <a:p/>
          <a:p>
            <a:r>
              <a:t>- This is the arithmetic behind that rejection, so it is not a matter of taste.</a:t>
            </a:r>
          </a:p>
          <a:p/>
          <a:p>
            <a:r>
              <a:t>- Four driver calls per frame, about 7.7 microseconds of host time in total. A</a:t>
            </a:r>
          </a:p>
          <a:p>
            <a:r>
              <a:t>  graph removes three of the four, so about 5.7 -- but that is measured under</a:t>
            </a:r>
          </a:p>
          <a:p>
            <a:r>
              <a:t>  the profiler, which inflates host calls about four times. Unprofiled, call it</a:t>
            </a:r>
          </a:p>
          <a:p>
            <a:r>
              <a:t>  1.4 microseconds.</a:t>
            </a:r>
          </a:p>
          <a:p/>
          <a:p>
            <a:r>
              <a:t>- Against a 16 microsecond floor that is under nine percent, and only while the</a:t>
            </a:r>
          </a:p>
          <a:p>
            <a:r>
              <a:t>  host is the critical path. After step five it is zero.</a:t>
            </a:r>
          </a:p>
          <a:p/>
          <a:p>
            <a:r>
              <a:t>CAREFUL: THE 3/4 IN THIS TABLE IS THE BEST CASE, NOT WHAT WE BUILT.</a:t>
            </a:r>
          </a:p>
          <a:p/>
          <a:p>
            <a:r>
              <a:t>"A graph removes three of the four calls" is the textbook ceiling. Our graph</a:t>
            </a:r>
          </a:p>
          <a:p>
            <a:r>
              <a:t>removes ONE of the four: it still makes two cudaGraphExecMemcpyNodeSetParams</a:t>
            </a:r>
          </a:p>
          <a:p>
            <a:r>
              <a:t>calls plus the launch, three per frame, because every frame needs new H2D and</a:t>
            </a:r>
          </a:p>
          <a:p>
            <a:r>
              <a:t>D2H addresses (see part 1 and its note).</a:t>
            </a:r>
          </a:p>
          <a:p/>
          <a:p>
            <a:r>
              <a:t>The 5.75 and 1.4 microsecond figures on this slide are therefore an UPPER BOUND</a:t>
            </a:r>
          </a:p>
          <a:p>
            <a:r>
              <a:t>on what route A could ever have saved, not an estimate of what it did save. Say</a:t>
            </a:r>
          </a:p>
          <a:p>
            <a:r>
              <a:t>"at best" when you quote them. The conclusion does not move -- it gets stronger,</a:t>
            </a:r>
          </a:p>
          <a:p>
            <a:r>
              <a:t>since the real saving is smaller than the bound that was already too small to</a:t>
            </a:r>
          </a:p>
          <a:p>
            <a:r>
              <a:t>matter -- but do not present the bound as the measurement. The 7.67 us and the</a:t>
            </a:r>
          </a:p>
          <a:p>
            <a:r>
              <a:t>per-call host costs in the table ARE measured; only the 3/4 is modelled.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SAY THIS -- 128 words, about 46 s. Annex: only on a question.</a:t>
            </a:r>
          </a:p>
          <a:p/>
          <a:p>
            <a:r>
              <a:t>- There was a second barrier, and it is less obvious. In the old version the</a:t>
            </a:r>
          </a:p>
          <a:p>
            <a:r>
              <a:t>  host asked the GPU "how many clusters did you find?", waited for the answer,</a:t>
            </a:r>
          </a:p>
          <a:p>
            <a:r>
              <a:t>  and only then asked for that many bytes. The size of the second copy depended</a:t>
            </a:r>
          </a:p>
          <a:p>
            <a:r>
              <a:t>  on data that had not arrived yet.</a:t>
            </a:r>
          </a:p>
          <a:p/>
          <a:p>
            <a:r>
              <a:t>- You cannot queue up a copy whose size you do not know. So the host had to</a:t>
            </a:r>
          </a:p>
          <a:p>
            <a:r>
              <a:t>  stop, twice, on every single frame.</a:t>
            </a:r>
          </a:p>
          <a:p/>
          <a:p>
            <a:r>
              <a:t>- The fix is to give every frame a fixed envelope: room for a maximum number of</a:t>
            </a:r>
          </a:p>
          <a:p>
            <a:r>
              <a:t>  clusters, decided once at the start. Now the size is known, so the copy can be</a:t>
            </a:r>
          </a:p>
          <a:p>
            <a:r>
              <a:t>  queued right behind the kernel and nobody waits. It costs about twenty percent</a:t>
            </a:r>
          </a:p>
          <a:p>
            <a:r>
              <a:t>  more bytes on an engine that had time to spare.</a:t>
            </a:r>
          </a:p>
          <a:p/>
          <a:p>
            <a:r>
              <a:t>DETAILS: The point to say out loud: this is the one step in the ladder that is</a:t>
            </a:r>
          </a:p>
          <a:p>
            <a:r>
              <a:t>not a setting. It changed the kernel signature, the buffer ownership and the</a:t>
            </a:r>
          </a:p>
          <a:p>
            <a:r>
              <a:t>collection loop, and it is why the opt1/opt2 class is frozen in a separate header</a:t>
            </a:r>
          </a:p>
          <a:p>
            <a:r>
              <a:t>(ClusterFinderCUDAOpt2.hpp) rather than being a flag on the current one.</a:t>
            </a:r>
          </a:p>
          <a:p/>
          <a:p>
            <a:r>
              <a:t>The dependency edge is the whole argument. In opt2 the second memcpy's SIZE</a:t>
            </a:r>
          </a:p>
          <a:p>
            <a:r>
              <a:t>argument is *sc.h_cluster_count -- host memory that only becomes valid after a</a:t>
            </a:r>
          </a:p>
          <a:p>
            <a:r>
              <a:t>cudaStreamSynchronize (Opt2.hpp:277-294, then :442-446). So the sequence is</a:t>
            </a:r>
          </a:p>
          <a:p>
            <a:r>
              <a:t>forced: kernel, copy 4 bytes, BLOCK, read, copy N bytes, BLOCK. Two of those six</a:t>
            </a:r>
          </a:p>
          <a:p>
            <a:r>
              <a:t>steps are the host doing nothing, every frame.</a:t>
            </a:r>
          </a:p>
          <a:p/>
          <a:p>
            <a:r>
              <a:t>opt3 fixes the size once in the constructor (m_output_bytes_per_frame =</a:t>
            </a:r>
          </a:p>
          <a:p>
            <a:r>
              <a:t>m_clusters_offset + cap * sizeof(ClusterType), ClusterFinderCUDA.hpp:440-445), so</a:t>
            </a:r>
          </a:p>
          <a:p>
            <a:r>
              <a:t>the copy is enqueued in the same loop iteration as the kernel launch (:725-728).</a:t>
            </a:r>
          </a:p>
          <a:p>
            <a:r>
              <a:t>The kernel gets two pointers into ONE allocation (:701 and :709).</a:t>
            </a:r>
          </a:p>
          <a:p/>
          <a:p>
            <a:r>
              <a:t>What it costs: 120 kB instead of 93 kB per frame at 3x3, 558 instead of 467 at</a:t>
            </a:r>
          </a:p>
          <a:p>
            <a:r>
              <a:t>9x9. Roughly 20 % more bytes on an engine that had spare time, to buy back a</a:t>
            </a:r>
          </a:p>
          <a:p>
            <a:r>
              <a:t>barrier that was stalling everything. That is also why the cap becomes a</a:t>
            </a:r>
          </a:p>
          <a:p>
            <a:r>
              <a:t>throughput knob only from opt3 onward: under opt2 it bounded an allocation, under</a:t>
            </a:r>
          </a:p>
          <a:p>
            <a:r>
              <a:t>opt3 it sets the D2H bar directly (report section 4.2).</a:t>
            </a:r>
          </a:p>
          <a:p/>
          <a:p>
            <a:r>
              <a:t>If asked why opt2 did not simply copy a cap-sized buffer and skip the sync: that</a:t>
            </a:r>
          </a:p>
          <a:p>
            <a:r>
              <a:t>IS opt3. It could not be done in opt2 because the clusters lived in their own</a:t>
            </a:r>
          </a:p>
          <a:p>
            <a:r>
              <a:t>device allocation with no count field and no fixed per-frame stride -- there was</a:t>
            </a:r>
          </a:p>
          <a:p>
            <a:r>
              <a:t>no single object to copy. Merging the two buffers is what created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SAY THIS -- 86 words, about 31 s. Annex: only on a question.</a:t>
            </a:r>
          </a:p>
          <a:p/>
          <a:p>
            <a:r>
              <a:t>- This is the whole of step five, six lines. Send the next chunk, unpack the</a:t>
            </a:r>
          </a:p>
          <a:p>
            <a:r>
              <a:t>  previous one, repeat. Send, unpack, swap.</a:t>
            </a:r>
          </a:p>
          <a:p/>
          <a:p>
            <a:r>
              <a:t>- The point is that you never write it. It is inside the normal batched call, so</a:t>
            </a:r>
          </a:p>
          <a:p>
            <a:r>
              <a:t>  everyone got the speed-up without changing a line. The two halves stay public</a:t>
            </a:r>
          </a:p>
          <a:p>
            <a:r>
              <a:t>  for people streaming from a detector.</a:t>
            </a:r>
          </a:p>
          <a:p/>
          <a:p>
            <a:r>
              <a:t>- Two rules on chunk size: a multiple of the stream count, because each stream</a:t>
            </a:r>
          </a:p>
          <a:p>
            <a:r>
              <a:t>  owns its own pedestal, and capped so the pinned buffers stay bounded.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SAY THIS -- 92 words, about 34 s. Annex: only on a question.</a:t>
            </a:r>
          </a:p>
          <a:p/>
          <a:p>
            <a:r>
              <a:t>- The obvious answer to a slow copy is "copy faster". I tried both versions of</a:t>
            </a:r>
          </a:p>
          <a:p>
            <a:r>
              <a:t>  that, and both are here because both failed.</a:t>
            </a:r>
          </a:p>
          <a:p/>
          <a:p>
            <a:r>
              <a:t>- One allocation per chunk instead of per frame: the copy itself is 80 percent</a:t>
            </a:r>
          </a:p>
          <a:p>
            <a:r>
              <a:t>  of the cost, so it barely helped -- and the big allocation went straight to</a:t>
            </a:r>
          </a:p>
          <a:p>
            <a:r>
              <a:t>  mmap, which the OS then has to zero every chunk.</a:t>
            </a:r>
          </a:p>
          <a:p/>
          <a:p>
            <a:r>
              <a:t>- Eight threads copying in parallel: worse. Each thread gets its own heap arena,</a:t>
            </a:r>
          </a:p>
          <a:p>
            <a:r>
              <a:t>  which destroys the reuse that made the single-threaded version cheap. Faults</a:t>
            </a:r>
          </a:p>
          <a:p>
            <a:r>
              <a:t>  went from ten thousand to two million.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SAY THIS -- 121 words, about 44 s. Annex: only on a question.</a:t>
            </a:r>
          </a:p>
          <a:p/>
          <a:p>
            <a:r>
              <a:t>- Fair question, and opt6 really does not answer it. The views die with their</a:t>
            </a:r>
          </a:p>
          <a:p>
            <a:r>
              <a:t>  chunk, so if you want every cluster at the end you still have to copy during</a:t>
            </a:r>
          </a:p>
          <a:p>
            <a:r>
              <a:t>  the run.</a:t>
            </a:r>
          </a:p>
          <a:p/>
          <a:p>
            <a:r>
              <a:t>- So: one big pinned buffer, the GPU writes straight into it. It works, and it</a:t>
            </a:r>
          </a:p>
          <a:p>
            <a:r>
              <a:t>  IS faster than opt5 -- opt6 removes the same host copy and lands on thirty</a:t>
            </a:r>
          </a:p>
          <a:p>
            <a:r>
              <a:t>  microseconds against opt5's sixty-six.</a:t>
            </a:r>
          </a:p>
          <a:p/>
          <a:p>
            <a:r>
              <a:t>- What stops it is memory, not speed. The input has to stay pinned as well,</a:t>
            </a:r>
          </a:p>
          <a:p>
            <a:r>
              <a:t>  because every frame is still copied from it. Together that is 878 kilobytes</a:t>
            </a:r>
          </a:p>
          <a:p>
            <a:r>
              <a:t>  of locked memory per frame, so a hundred thousand frames needs 88 gigabytes</a:t>
            </a:r>
          </a:p>
          <a:p>
            <a:r>
              <a:t>  of the 98 we have, and nothing may be swapped out.</a:t>
            </a:r>
          </a:p>
          <a:p/>
          <a:p>
            <a:r>
              <a:t>DETAILS: The arithmetic. Everything below is measured or arithmetic on measured</a:t>
            </a:r>
          </a:p>
          <a:p>
            <a:r>
              <a:t>numbers -- nothing here is an estimate.</a:t>
            </a:r>
          </a:p>
          <a:p/>
          <a:p>
            <a:r>
              <a:t>MEASURED INPUTS</a:t>
            </a:r>
          </a:p>
          <a:p>
            <a:r>
              <a:t>    frame                          400 x 400 x 2 B = 320 000 B      SS1</a:t>
            </a:r>
          </a:p>
          <a:p>
            <a:r>
              <a:t>    9x9 D2H envelope, cap 1700     544.5 KiB = 557 568 B            A8</a:t>
            </a:r>
          </a:p>
          <a:p>
            <a:r>
              <a:t>    9x9 clusters actually found    1422 x 328 B = 466 kB / frame    SS5</a:t>
            </a:r>
          </a:p>
          <a:p>
            <a:r>
              <a:t>    host RAM                       125 GiB, no swap, 98 GB free     SS1/SS5</a:t>
            </a:r>
          </a:p>
          <a:p>
            <a:r>
              <a:t>    host DRAM bandwidth            71 GB/s threaded                 SS1</a:t>
            </a:r>
          </a:p>
          <a:p>
            <a:r>
              <a:t>    opt5 9x9                       66.39 us/frame                   SS8</a:t>
            </a:r>
          </a:p>
          <a:p>
            <a:r>
              <a:t>    opt6 9x9                       30.01 us/frame, 100 % of floor   SS9</a:t>
            </a:r>
          </a:p>
          <a:p>
            <a:r>
              <a:t>    opt5 3x3 cold / warm           26.95 / 25.98 us/frame, N=100k   SS5</a:t>
            </a:r>
          </a:p>
          <a:p/>
          <a:p>
            <a:r>
              <a:t>1. SPEED. opt6 already removes exactly this host-to-host copy and measures</a:t>
            </a:r>
          </a:p>
          <a:p>
            <a:r>
              <a:t>   30.01 against opt5's 66.39, so the proposal is x2.21 at 9x9. It is faster.</a:t>
            </a:r>
          </a:p>
          <a:p>
            <a:r>
              <a:t>   The deck should say so rather than defend opt5.</a:t>
            </a:r>
          </a:p>
          <a:p/>
          <a:p>
            <a:r>
              <a:t>2. WHY REGISTRATION DOES NOT SHOW UP IN ANY OF OUR NUMBERS. It is called once,</a:t>
            </a:r>
          </a:p>
          <a:p>
            <a:r>
              <a:t>   outside the timed region, and that is provable rather than assumed: the</a:t>
            </a:r>
          </a:p>
          <a:p>
            <a:r>
              <a:t>   entire 3x3 cold-warm gap is (26.95 - 25.98) x 100 000 = 0.097 s. Covering</a:t>
            </a:r>
          </a:p>
          <a:p>
            <a:r>
              <a:t>   the 32 GB input inside it would need 320 GB/s. Measured DRAM is 71 GB/s, so</a:t>
            </a:r>
          </a:p>
          <a:p>
            <a:r>
              <a:t>   it cannot be in there. NOTE THE CONSEQUENCE: opt4's x1.32 also excludes its</a:t>
            </a:r>
          </a:p>
          <a:p>
            <a:r>
              <a:t>   own registration. Whatever accounting we accept for opt4 we must accept</a:t>
            </a:r>
          </a:p>
          <a:p>
            <a:r>
              <a:t>   here.</a:t>
            </a:r>
          </a:p>
          <a:p/>
          <a:p>
            <a:r>
              <a:t>3. WHAT ACTUALLY BINDS: BOTH BUFFERS ARE PINNED AT ONCE. The input cannot be</a:t>
            </a:r>
          </a:p>
          <a:p>
            <a:r>
              <a:t>   released until the last frame, because every H2D reads from it.</a:t>
            </a:r>
          </a:p>
          <a:p>
            <a:r>
              <a:t>       320 000 + 557 568 = 877 568 B per frame, page-locked</a:t>
            </a:r>
          </a:p>
          <a:p>
            <a:r>
              <a:t>       N =  20 000  -&gt;  17.6 GB      the size we actually measure: fine</a:t>
            </a:r>
          </a:p>
          <a:p>
            <a:r>
              <a:t>       N = 100 000  -&gt;  87.8 GB      of 98 GB free, no swap</a:t>
            </a:r>
          </a:p>
          <a:p>
            <a:r>
              <a:t>   98e9 / 877 568 = 111 700 frames is the ceiling with zero headroom. This is</a:t>
            </a:r>
          </a:p>
          <a:p>
            <a:r>
              <a:t>   why 9x9 is benchmarked at 20 000 frames and not 100 000 (SS5).</a:t>
            </a:r>
          </a:p>
          <a:p/>
          <a:p>
            <a:r>
              <a:t>4. AND IT IS 20 % MORE MEMORY THAN opt5 KEEPS. opt5's results are compacted to</a:t>
            </a:r>
          </a:p>
          <a:p>
            <a:r>
              <a:t>   what was found (466 kB/frame, 46.6 GB at 100k) and live in pageable heap.</a:t>
            </a:r>
          </a:p>
          <a:p>
            <a:r>
              <a:t>   The envelope stores the cap: 557 568 / 466 000 = 1.20.</a:t>
            </a:r>
          </a:p>
          <a:p/>
          <a:p>
            <a:r>
              <a:t>VERDICT, IF ASKED FOR ONE. For a bounded run it is the better design: faster</a:t>
            </a:r>
          </a:p>
          <a:p>
            <a:r>
              <a:t>than opt5, and it removes the lifetime limit that opt6 has. It is not a general</a:t>
            </a:r>
          </a:p>
          <a:p>
            <a:r>
              <a:t>replacement, because its footprint is O(N) in PAGE-LOCKED memory while opt5's</a:t>
            </a:r>
          </a:p>
          <a:p>
            <a:r>
              <a:t>output is O(N) in ordinary heap. Pick it when N is known and bounded; pick</a:t>
            </a:r>
          </a:p>
          <a:p>
            <a:r>
              <a:t>opt5/opt6 when it is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SAY THIS -- 120 words, about 44 s. Annex: only on a question.</a:t>
            </a:r>
          </a:p>
          <a:p/>
          <a:p>
            <a:r>
              <a:t>- One question first: why measure engines only now? Because from here on the</a:t>
            </a:r>
          </a:p>
          <a:p>
            <a:r>
              <a:t>  KERNEL is the slowest part. There is one copy engine in each direction, so a</a:t>
            </a:r>
          </a:p>
          <a:p>
            <a:r>
              <a:t>  copy bar is just how long the copy runs. But four kernels run at the same</a:t>
            </a:r>
          </a:p>
          <a:p>
            <a:r>
              <a:t>  time, so "how long the kernel takes" and "how much kernel time a frame costs"</a:t>
            </a:r>
          </a:p>
          <a:p>
            <a:r>
              <a:t>  are two different numbers, and only one of them is the limit.</a:t>
            </a:r>
          </a:p>
          <a:p/>
          <a:p>
            <a:r>
              <a:t>- From here on, every engine time has a label, and there are only two. "s1"</a:t>
            </a:r>
          </a:p>
          <a:p>
            <a:r>
              <a:t>  means: one stream, nothing else running. That tells you how long an operation</a:t>
            </a:r>
          </a:p>
          <a:p>
            <a:r>
              <a:t>  really takes. "s4" means: the real pipeline, four streams at once. That tells</a:t>
            </a:r>
          </a:p>
          <a:p>
            <a:r>
              <a:t>  you how BUSY each engine is per frame.</a:t>
            </a:r>
          </a:p>
          <a:p/>
          <a:p>
            <a:r>
              <a:t>- Why two? Because under load they are different numbers. The copies get slower,</a:t>
            </a:r>
          </a:p>
          <a:p>
            <a:r>
              <a:t>  because they share one wire. The kernel gets cheaper per frame, because four</a:t>
            </a:r>
          </a:p>
          <a:p>
            <a:r>
              <a:t>  kernels overlap each other.</a:t>
            </a:r>
          </a:p>
          <a:p/>
          <a:p>
            <a:r>
              <a:t>- And the floor is the busiest engine in the real pipeline. Not the sum of the</a:t>
            </a:r>
          </a:p>
          <a:p>
            <a:r>
              <a:t>  three -- the biggest one. If you only remember one line: s1 is how long it</a:t>
            </a:r>
          </a:p>
          <a:p>
            <a:r>
              <a:t>  takes, s4 is how busy it is, and the floor is the busiest engine.</a:t>
            </a:r>
          </a:p>
          <a:p/>
          <a:p>
            <a:r>
              <a:t>DETAILS: Say the floor out loud, in this order.</a:t>
            </a:r>
          </a:p>
          <a:p/>
          <a:p>
            <a:r>
              <a:t>1. There are three engines and they are independent: the H2D copy engine, the</a:t>
            </a:r>
          </a:p>
          <a:p>
            <a:r>
              <a:t>   SMs, and the D2H copy engine. PCIe is full duplex, so a frame's cost is</a:t>
            </a:r>
          </a:p>
          <a:p>
            <a:r>
              <a:t>   never the sum of the three -- it is the slowest of them.</a:t>
            </a:r>
          </a:p>
          <a:p/>
          <a:p>
            <a:r>
              <a:t>2. There is exactly ONE copy engine per direction. So two H2D copies can never</a:t>
            </a:r>
          </a:p>
          <a:p>
            <a:r>
              <a:t>   run at the same time; they queue. That is not a modelling assumption, it is</a:t>
            </a:r>
          </a:p>
          <a:p>
            <a:r>
              <a:t>   measured: H2D_overlap and D2H_overlap are 1.000 in every row of probes.csv.</a:t>
            </a:r>
          </a:p>
          <a:p>
            <a:r>
              <a:t>   Kernels are the only row that ever overlaps.</a:t>
            </a:r>
          </a:p>
          <a:p/>
          <a:p>
            <a:r>
              <a:t>3. That is why s4 is a UNION, not a sum. Four kernels, each 43.2 us long, but</a:t>
            </a:r>
          </a:p>
          <a:p>
            <a:r>
              <a:t>   the SMs are busy only 32.66 us per frame: overlap factor 1.32x.</a:t>
            </a:r>
          </a:p>
          <a:p/>
          <a:p>
            <a:r>
              <a:t>4. On units, because the card says "1 / the busiest engine" and the axis says</a:t>
            </a:r>
          </a:p>
          <a:p>
            <a:r>
              <a:t>   microseconds: they are the same number. The busiest engine's busy time per</a:t>
            </a:r>
          </a:p>
          <a:p>
            <a:r>
              <a:t>   frame is in us/frame; one divided by it is frames per second. 30.01 us/frame</a:t>
            </a:r>
          </a:p>
          <a:p>
            <a:r>
              <a:t>   IS 33 323 FPS. The deck quotes whichever reads better in context -- us/frame</a:t>
            </a:r>
          </a:p>
          <a:p>
            <a:r>
              <a:t>   when comparing engines, FPS when comparing against the CPU or the detector --</a:t>
            </a:r>
          </a:p>
          <a:p>
            <a:r>
              <a:t>   and "% of floor" is the same ratio either way.</a:t>
            </a:r>
          </a:p>
          <a:p/>
          <a:p>
            <a:r>
              <a:t>5. The floor is max(H2D, kernel, D2H) at s4. At 9x9 f64 that max is 32.66 us</a:t>
            </a:r>
          </a:p>
          <a:p>
            <a:r>
              <a:t>   = 30 618 FPS. But the unprofiled pipeline actually sustained 30.01 us/frame,</a:t>
            </a:r>
          </a:p>
          <a:p>
            <a:r>
              <a:t>   which is FASTER than the probe says is possible -- because under nsys</a:t>
            </a:r>
          </a:p>
          <a:p>
            <a:r>
              <a:t>   submission is sparser, kernels overlap less, and a less-overlapped interval</a:t>
            </a:r>
          </a:p>
          <a:p>
            <a:r>
              <a:t>   set has a LARGER union. A sustained rate is an existence proof; a probe is an</a:t>
            </a:r>
          </a:p>
          <a:p>
            <a:r>
              <a:t>   estimate. So the floor is the lower of the two, and the 1.32x is a lower</a:t>
            </a:r>
          </a:p>
          <a:p>
            <a:r>
              <a:t>   bound on the real overlap.</a:t>
            </a:r>
          </a:p>
          <a:p/>
          <a:p>
            <a:r>
              <a:t>If time is short, say only: "s1 is how long it takes, s4 is how busy it is, and</a:t>
            </a:r>
          </a:p>
          <a:p>
            <a:r>
              <a:t>the floor is the busiest engine." The rest is in A7.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SAY THIS -- 96 words, about 35 s. Annex: only on a question.</a:t>
            </a:r>
          </a:p>
          <a:p/>
          <a:p>
            <a:r>
              <a:t>- This is every engine number in the deck, in one grid, both cluster sizes and</a:t>
            </a:r>
          </a:p>
          <a:p>
            <a:r>
              <a:t>  both builds.</a:t>
            </a:r>
          </a:p>
          <a:p/>
          <a:p>
            <a:r>
              <a:t>- Left columns are s1, one stream, nothing else running: how long an operation</a:t>
            </a:r>
          </a:p>
          <a:p>
            <a:r>
              <a:t>  takes. Right columns are s4, the real four-stream pipeline: how busy each</a:t>
            </a:r>
          </a:p>
          <a:p>
            <a:r>
              <a:t>  engine is per frame. Under load the copies get slower and the kernel gets</a:t>
            </a:r>
          </a:p>
          <a:p>
            <a:r>
              <a:t>  cheaper.</a:t>
            </a:r>
          </a:p>
          <a:p/>
          <a:p>
            <a:r>
              <a:t>- Two traps at the bottom. The s4 kernel number is occupancy, not duration. And</a:t>
            </a:r>
          </a:p>
          <a:p>
            <a:r>
              <a:t>  the floor is not simply the biggest s4 number: the profiler runs a few percent</a:t>
            </a:r>
          </a:p>
          <a:p>
            <a:r>
              <a:t>  high, so we take the lower of the probe and the best real sustained rate.</a:t>
            </a:r>
          </a:p>
          <a:p/>
          <a:p>
            <a:r>
              <a:t>DETAILS: Neither direction is faster than the other, and the bar heights say so.</a:t>
            </a:r>
          </a:p>
          <a:p/>
          <a:p>
            <a:r>
              <a:t>At s1, H2D moves 320 000 B in 13.15 us = 24.3 GB/s; D2H moves 120 004 B in</a:t>
            </a:r>
          </a:p>
          <a:p>
            <a:r>
              <a:t>5.27 us = 22.8 GB/s; at 9x9, D2H moves 557 604 B in 21.95 us = 25.4 GB/s. All</a:t>
            </a:r>
          </a:p>
          <a:p>
            <a:r>
              <a:t>three sit at 72-81 % of PCIe 4.0 x16's 31.5 GB/s, the smallest transfer paying</a:t>
            </a:r>
          </a:p>
          <a:p>
            <a:r>
              <a:t>the most fixed cost per byte. So a taller bar in this deck always means MORE</a:t>
            </a:r>
          </a:p>
          <a:p>
            <a:r>
              <a:t>BYTES, never a slower wire -- which is exactly why raising the cap to 1 700</a:t>
            </a:r>
          </a:p>
          <a:p>
            <a:r>
              <a:t>hands the 9x9 floor to D2H: it is 544.5 kB per frame either way the arm is</a:t>
            </a:r>
          </a:p>
          <a:p>
            <a:r>
              <a:t>built, and it does not care about the typedef.</a:t>
            </a:r>
          </a:p>
          <a:p/>
          <a:p>
            <a:r>
              <a:t>On the last row: the floor is the LOWER of the s4 estimate and the best</a:t>
            </a:r>
          </a:p>
          <a:p>
            <a:r>
              <a:t>unprofiled sustained rate. 16.31 vs 16.63 at 3x3 f32; 25.14 vs 25.24 at 9x9 f32;</a:t>
            </a:r>
          </a:p>
          <a:p>
            <a:r>
              <a:t>30.01 vs 32.66 at 9x9 f64, which is the widest gap and the reason the rule</a:t>
            </a:r>
          </a:p>
          <a:p>
            <a:r>
              <a:t>exists. A probe roofline is an estimate, never a hard denominator.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SAY THIS -- 122 words, about 44 s. Annex: only on a question.</a:t>
            </a:r>
          </a:p>
          <a:p/>
          <a:p>
            <a:r>
              <a:t>- Remember that about 80 percent of pixels see only noise, and those all update</a:t>
            </a:r>
          </a:p>
          <a:p>
            <a:r>
              <a:t>  the pedestal. That update reads and writes six running values per pixel. So</a:t>
            </a:r>
          </a:p>
          <a:p>
            <a:r>
              <a:t>  most of what the kernel does is move pedestal numbers, not compute photons.</a:t>
            </a:r>
          </a:p>
          <a:p/>
          <a:p>
            <a:r>
              <a:t>- Those numbers were stored as doubles, 8 bytes each. Changing them to floats,</a:t>
            </a:r>
          </a:p>
          <a:p>
            <a:r>
              <a:t>  4 bytes, halves that traffic: 48 bytes per pixel becomes 24. One typedef.</a:t>
            </a:r>
          </a:p>
          <a:p>
            <a:r>
              <a:t>  The kernel is limited by memory traffic, so half the bytes is a big win.</a:t>
            </a:r>
          </a:p>
          <a:p/>
          <a:p>
            <a:r>
              <a:t>- 40 percent off the kernel at 9x9. Two smaller effects come for free: on a</a:t>
            </a:r>
          </a:p>
          <a:p>
            <a:r>
              <a:t>  gaming GPU double-precision maths runs at one sixty-fourth of single, and the</a:t>
            </a:r>
          </a:p>
          <a:p>
            <a:r>
              <a:t>  smaller values also free up registers. Neither is the main reason.</a:t>
            </a:r>
          </a:p>
          <a:p/>
          <a:p>
            <a:r>
              <a:t>DETAILS: Reading the two panels, and the number to quote.</a:t>
            </a:r>
          </a:p>
          <a:p/>
          <a:p>
            <a:r>
              <a:t>Left is s1: one stream, nothing else running, so those are true durations. The</a:t>
            </a:r>
          </a:p>
          <a:p>
            <a:r>
              <a:t>kernel binds in BOTH arms there -- 39.86 and 23.70 against a D2H of ~21.95 -- so</a:t>
            </a:r>
          </a:p>
          <a:p>
            <a:r>
              <a:t>s1 alone would say the kernel is the thing to optimise and stop there.</a:t>
            </a:r>
          </a:p>
          <a:p/>
          <a:p>
            <a:r>
              <a:t>Right is s4, the shipped four-stream pipeline, and it says something different:</a:t>
            </a:r>
          </a:p>
          <a:p>
            <a:r>
              <a:t>the f64 kernel's busy time falls to 32.66 (self-overlap, 1.32x) while every</a:t>
            </a:r>
          </a:p>
          <a:p>
            <a:r>
              <a:t>transfer RISES under contention, and once opt7 puts the kernel at 23.94 the D2H</a:t>
            </a:r>
          </a:p>
          <a:p>
            <a:r>
              <a:t>bar at 25.24 is above it. That is the handover slide 21 is about.</a:t>
            </a:r>
          </a:p>
          <a:p/>
          <a:p>
            <a:r>
              <a:t>So: -40.5 % is the s1 kernel claim and is the honest headline for what the</a:t>
            </a:r>
          </a:p>
          <a:p>
            <a:r>
              <a:t>typedef does to the arithmetic. -26.7 % is the same change measured at s4, where</a:t>
            </a:r>
          </a:p>
          <a:p>
            <a:r>
              <a:t>self-overlap had already hidden part of the win. Both are true, they measure</a:t>
            </a:r>
          </a:p>
          <a:p>
            <a:r>
              <a:t>different things, and A7 is the rule for which to quote.</a:t>
            </a:r>
          </a:p>
          <a:p/>
          <a:p>
            <a:r>
              <a:t>The 3x3 occupancy effect is real but not worth stage time: 47 registers -&gt; 38</a:t>
            </a:r>
          </a:p>
          <a:p>
            <a:r>
              <a:t>takes 3x3 from five blocks per SM to six, 83 % -&gt; 100 % occupancy. It changes</a:t>
            </a:r>
          </a:p>
          <a:p>
            <a:r>
              <a:t>nothing end to end, because at 3x3 H2D is the floor.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SAY THIS -- 128 words, about 47 s. Annex: only on a question.</a:t>
            </a:r>
          </a:p>
          <a:p/>
          <a:p>
            <a:r>
              <a:t>- But the naive version of that change is WRONG, and this is the most useful</a:t>
            </a:r>
          </a:p>
          <a:p>
            <a:r>
              <a:t>  slide of the talk if you ever write numerical code.</a:t>
            </a:r>
          </a:p>
          <a:p/>
          <a:p>
            <a:r>
              <a:t>- The variance was computed as the average of X squared, minus the mean</a:t>
            </a:r>
          </a:p>
          <a:p>
            <a:r>
              <a:t>  squared. Both of those are around twenty million. The answer is around two</a:t>
            </a:r>
          </a:p>
          <a:p>
            <a:r>
              <a:t>  thousand. In float, twenty million has a step size of about two, so you</a:t>
            </a:r>
          </a:p>
          <a:p>
            <a:r>
              <a:t>  subtract two huge numbers, and the small answer drowns in the rounding.</a:t>
            </a:r>
          </a:p>
          <a:p/>
          <a:p>
            <a:r>
              <a:t>- What it did: the noise estimate collapsed to zero for one or two percent of</a:t>
            </a:r>
          </a:p>
          <a:p>
            <a:r>
              <a:t>  pixels. A five-sigma threshold became a zero-sigma threshold, and we got 28</a:t>
            </a:r>
          </a:p>
          <a:p>
            <a:r>
              <a:t>  percent more clusters -- all fake.</a:t>
            </a:r>
          </a:p>
          <a:p/>
          <a:p>
            <a:r>
              <a:t>- The fix is two lines: subtract a fixed offset first, so we accumulate small</a:t>
            </a:r>
          </a:p>
          <a:p>
            <a:r>
              <a:t>  numbers. Then float is fine.</a:t>
            </a:r>
          </a:p>
          <a:p/>
          <a:p>
            <a:r>
              <a:t>DETAILS: The one sentence to leave the room with.</a:t>
            </a:r>
          </a:p>
          <a:p/>
          <a:p>
            <a:r>
              <a:t>"Precision is relative." A float resolves small numbers finely and large numbers</a:t>
            </a:r>
          </a:p>
          <a:p>
            <a:r>
              <a:t>coarsely, so a small answer must never be computed as the difference of two</a:t>
            </a:r>
          </a:p>
          <a:p>
            <a:r>
              <a:t>large numbers. That is the transferable lesson; everything else on this slide is</a:t>
            </a:r>
          </a:p>
          <a:p>
            <a:r>
              <a:t>this detector's instance of it.</a:t>
            </a:r>
          </a:p>
          <a:p/>
          <a:p>
            <a:r>
              <a:t>Why the tail matters more than the count. +28 % is a number you might argue</a:t>
            </a:r>
          </a:p>
          <a:p>
            <a:r>
              <a:t>about. A spectrum with a population sitting below the 5 sigma cut is not</a:t>
            </a:r>
          </a:p>
          <a:p>
            <a:r>
              <a:t>arguable: those clusters cannot physically be there, and any gain or resolution</a:t>
            </a:r>
          </a:p>
          <a:p>
            <a:r>
              <a:t>fit done on that spectrum is wrong.</a:t>
            </a:r>
          </a:p>
          <a:p/>
          <a:p>
            <a:r>
              <a:t>Honesty about the right-hand panel: nobody kept the broken build around to</a:t>
            </a:r>
          </a:p>
          <a:p>
            <a:r>
              <a:t>re-run, so the f32 curve is reconstructed. What is measured is the f64 curve and</a:t>
            </a:r>
          </a:p>
          <a:p>
            <a:r>
              <a:t>the +28.06 % excess (CPU 116 010 113 vs CUDA 148 559 598, SS1 of the write-up).</a:t>
            </a:r>
          </a:p>
          <a:p>
            <a:r>
              <a:t>The placement follows SS9: a correct 5 sigma gate cuts at ~225 ADU, a collapsed</a:t>
            </a:r>
          </a:p>
          <a:p>
            <a:r>
              <a:t>gate admits the whole positive side of the pixel's distribution, so the excess</a:t>
            </a:r>
          </a:p>
          <a:p>
            <a:r>
              <a:t>is smeared upward from zero. The write-up's TL;DR calls it a high-energy tail;</a:t>
            </a:r>
          </a:p>
          <a:p>
            <a:r>
              <a:t>SS9 derives it from ~0 upward. Both describe the same corrupted pixels.</a:t>
            </a:r>
          </a:p>
          <a:p/>
          <a:p>
            <a:r>
              <a:t>Welford's online variance is the other correct answer and is mentioned in the</a:t>
            </a:r>
          </a:p>
          <a:p>
            <a:r>
              <a:t>write-up. The frozen-offset form was chosen because it is two lines and does not</a:t>
            </a:r>
          </a:p>
          <a:p>
            <a:r>
              <a:t>change the update's arithmetic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SAY THIS -- 95 words, about 35 s. Annex: only on a question.</a:t>
            </a:r>
          </a:p>
          <a:p/>
          <a:p>
            <a:r>
              <a:t>- The fix in full. At the end of pedestal training we freeze one number per</a:t>
            </a:r>
          </a:p>
          <a:p>
            <a:r>
              <a:t>  pixel: the rounded mean. Call it X-zero. It never moves again.</a:t>
            </a:r>
          </a:p>
          <a:p/>
          <a:p>
            <a:r>
              <a:t>- Then we accumulate the difference from X-zero instead of the raw value. Both</a:t>
            </a:r>
          </a:p>
          <a:p>
            <a:r>
              <a:t>  sides of the subtraction are now small, about the size of the noise, so there</a:t>
            </a:r>
          </a:p>
          <a:p>
            <a:r>
              <a:t>  is nothing left to cancel. Two lines.</a:t>
            </a:r>
          </a:p>
          <a:p/>
          <a:p>
            <a:r>
              <a:t>- The result: the all-float build matches the double build to three parts in ten</a:t>
            </a:r>
          </a:p>
          <a:p>
            <a:r>
              <a:t>  million. And the plot shows who was hurt before -- the quietest pixels, the</a:t>
            </a:r>
          </a:p>
          <a:p>
            <a:r>
              <a:t>  ones with the smallest true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SAY THIS -- 94 words, about 34 s. Annex: only on a question.</a:t>
            </a:r>
          </a:p>
          <a:p/>
          <a:p>
            <a:r>
              <a:t>- This is the page-fault model tested, not asserted. The cost per fault, 0.68</a:t>
            </a:r>
          </a:p>
          <a:p>
            <a:r>
              <a:t>  microseconds, was fitted on the small cluster size. Every row here is the big</a:t>
            </a:r>
          </a:p>
          <a:p>
            <a:r>
              <a:t>  one, so the number is applied out of sample and never refitted.</a:t>
            </a:r>
          </a:p>
          <a:p/>
          <a:p>
            <a:r>
              <a:t>- Read the opt3 row. Its two arms differ by 393 thousand faults, the model</a:t>
            </a:r>
          </a:p>
          <a:p>
            <a:r>
              <a:t>  predicts 13.4 microseconds, and 13.2 was measured. So that row tells you about</a:t>
            </a:r>
          </a:p>
          <a:p>
            <a:r>
              <a:t>  the allocator, not about the typedef.</a:t>
            </a:r>
          </a:p>
          <a:p/>
          <a:p>
            <a:r>
              <a:t>- That is why opt3 is excluded from the earlier chart and opt5 is marked with a</a:t>
            </a:r>
          </a:p>
          <a:p>
            <a:r>
              <a:t>  dagger.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SAY THIS -- 125 words, about 45 s. Annex: only on a question.</a:t>
            </a:r>
          </a:p>
          <a:p/>
          <a:p>
            <a:r>
              <a:t>- A warning about measuring, and it cost me real time to find. When a run keeps</a:t>
            </a:r>
          </a:p>
          <a:p>
            <a:r>
              <a:t>  its results, it allocates new memory and writes to it for the first time.</a:t>
            </a:r>
          </a:p>
          <a:p>
            <a:r>
              <a:t>  Linux only gives you real physical memory when you first touch it, and that</a:t>
            </a:r>
          </a:p>
          <a:p>
            <a:r>
              <a:t>  work lands INSIDE your timer.</a:t>
            </a:r>
          </a:p>
          <a:p/>
          <a:p>
            <a:r>
              <a:t>- For one pass here that is 2.6 million page faults, and up to 4 seconds. That</a:t>
            </a:r>
          </a:p>
          <a:p>
            <a:r>
              <a:t>  is not the GPU. That is not even our code. It is the operating system finding</a:t>
            </a:r>
          </a:p>
          <a:p>
            <a:r>
              <a:t>  pages.</a:t>
            </a:r>
          </a:p>
          <a:p/>
          <a:p>
            <a:r>
              <a:t>- So the rule we used: count the page faults around every timed block, run it</a:t>
            </a:r>
          </a:p>
          <a:p>
            <a:r>
              <a:t>  again until that count settles, and quote that run. If you have never looked</a:t>
            </a:r>
          </a:p>
          <a:p>
            <a:r>
              <a:t>  at this, your first benchmark is probably measuring your allocator.</a:t>
            </a:r>
          </a:p>
          <a:p/>
          <a:p>
            <a:r>
              <a:t>DETAILS: THE NUMBERS ARE 3x3, opt2, 100 000 frames, one process, results</a:t>
            </a:r>
          </a:p>
          <a:p>
            <a:r>
              <a:t>retained: 2 625 948 minor faults on run 1 at 6.110 s / 16 366 FPS, falling to</a:t>
            </a:r>
          </a:p>
          <a:p>
            <a:r>
              <a:t>185 885 by run 3 at 4.452 s / 22 459 FPS. 2.6 M pages x 4 kB = ~10 GB, which is</a:t>
            </a:r>
          </a:p>
          <a:p>
            <a:r>
              <a:t>100 000 x the 93 kB 3x3 payload. Section 12 of the report has the table.</a:t>
            </a:r>
          </a:p>
          <a:p/>
          <a:p>
            <a:r>
              <a:t>THE FIT. Correlating delta-wall against delta-faults across those three runs</a:t>
            </a:r>
          </a:p>
          <a:p>
            <a:r>
              <a:t>gives 0.65, 0.77 and 0.68 us/fault. Reconstructing run 1 from run 3:</a:t>
            </a:r>
          </a:p>
          <a:p>
            <a:r>
              <a:t>4.452 s + 2 439 648 x 0.68 us = 6.111 s against 6.110 measured. Kernel time was</a:t>
            </a:r>
          </a:p>
          <a:p>
            <a:r>
              <a:t>constant (0.022 ms) across all three, so the GPU is not involved at all.</a:t>
            </a:r>
          </a:p>
          <a:p/>
          <a:p>
            <a:r>
              <a:t>WHY IT IS ZEROING, NOT LOOKUP. The kernel must hand out a frame that last</a:t>
            </a:r>
          </a:p>
          <a:p>
            <a:r>
              <a:t>belonged to some other process, so it has to clear it first. That is mandatory</a:t>
            </a:r>
          </a:p>
          <a:p>
            <a:r>
              <a:t>and it is the whole cost. At 4 kB a page, 1 GB of freshly-touched memory is</a:t>
            </a:r>
          </a:p>
          <a:p>
            <a:r>
              <a:t>262 144 faults.</a:t>
            </a:r>
          </a:p>
          <a:p/>
          <a:p>
            <a:r>
              <a:t>TWO INSTRUMENT CAVEATS, named and set aside. (1) Under nsys, host-side CUDA API</a:t>
            </a:r>
          </a:p>
          <a:p>
            <a:r>
              <a:t>calls read ~4x high and wall time inflates with them, so every wall time in this</a:t>
            </a:r>
          </a:p>
          <a:p>
            <a:r>
              <a:t>deck comes from an UNPROFILED run and only GPU-side timestamps come from nsys.</a:t>
            </a:r>
          </a:p>
          <a:p>
            <a:r>
              <a:t>(2) CUDA events measure a stream, not a kernel. Both worked through in A12.</a:t>
            </a:r>
          </a:p>
          <a:p/>
          <a:p>
            <a:r>
              <a:t>THE FAIRNESS TRAP that follows from this: freeing a ~10 GB result heap hands it</a:t>
            </a:r>
          </a:p>
          <a:p>
            <a:r>
              <a:t>back to the allocator and the next loop reuses it, so on a cold heap the first</a:t>
            </a:r>
          </a:p>
          <a:p>
            <a:r>
              <a:t>loop pays the entire tax and any printed ratio is meaningless. Both loops must</a:t>
            </a:r>
          </a:p>
          <a:p>
            <a:r>
              <a:t>be at plateau; drop stale result bindings before timing.</a:t>
            </a:r>
          </a:p>
          <a:p/>
          <a:p>
            <a:r>
              <a:t>Synthetic confirmation, same report section: allocate ~8 GB in ClusterVector-sized</a:t>
            </a:r>
          </a:p>
          <a:p>
            <a:r>
              <a:t>chunks, touch every page, free, repeat in one process -- 2.05 s / 2 046 594</a:t>
            </a:r>
          </a:p>
          <a:p>
            <a:r>
              <a:t>faults cold, then 0.07 s / ~2 000 warm. 30x faster, 1000x fewer faults, same</a:t>
            </a:r>
          </a:p>
          <a:p>
            <a:r>
              <a:t>allocations. glibc retains the arenas.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SAY THIS -- 114 words, about 42 s. Annex: only on a question.</a:t>
            </a:r>
          </a:p>
          <a:p/>
          <a:p>
            <a:r>
              <a:t>- The previous slide said "run it twice". But a real user runs it ONCE, in a</a:t>
            </a:r>
          </a:p>
          <a:p>
            <a:r>
              <a:t>  fresh process. So here is that number honestly: blue is the warm run, amber is</a:t>
            </a:r>
          </a:p>
          <a:p>
            <a:r>
              <a:t>  the very first run.</a:t>
            </a:r>
          </a:p>
          <a:p/>
          <a:p>
            <a:r>
              <a:t>- Almost every version loses about a third of its speed on the first run. That</a:t>
            </a:r>
          </a:p>
          <a:p>
            <a:r>
              <a:t>  is the same page-fault cost, and it is real: your user pays it.</a:t>
            </a:r>
          </a:p>
          <a:p/>
          <a:p>
            <a:r>
              <a:t>- Two versions escape, for opposite reasons. The first version throws every</a:t>
            </a:r>
          </a:p>
          <a:p>
            <a:r>
              <a:t>  frame away, so it never grows a heap. And the last one never copies the</a:t>
            </a:r>
          </a:p>
          <a:p>
            <a:r>
              <a:t>  results at all, so it does not either -- it reaches 98 percent of its warm</a:t>
            </a:r>
          </a:p>
          <a:p>
            <a:r>
              <a:t>  speed on a cold start. Zero-copy paid twice.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SAY THIS -- 91 words, about 33 s. Annex: only on a question.</a:t>
            </a:r>
          </a:p>
          <a:p/>
          <a:p>
            <a:r>
              <a:t>- Three ways a GPU benchmark lies, and I hit all three.</a:t>
            </a:r>
          </a:p>
          <a:p/>
          <a:p>
            <a:r>
              <a:t>- One: the operating system finding pages, inside your timer. Two: CUDA events</a:t>
            </a:r>
          </a:p>
          <a:p>
            <a:r>
              <a:t>  do not time a kernel, they time a stream -- so under load they include waiting</a:t>
            </a:r>
          </a:p>
          <a:p>
            <a:r>
              <a:t>  behind other streams, and over-read by up to three and a half times. Three:</a:t>
            </a:r>
          </a:p>
          <a:p>
            <a:r>
              <a:t>  the profiler itself makes host calls look about four times more expensive.</a:t>
            </a:r>
          </a:p>
          <a:p/>
          <a:p>
            <a:r>
              <a:t>- The rule that comes out of it: GPU times from the profiler, wall times from</a:t>
            </a:r>
          </a:p>
          <a:p>
            <a:r>
              <a:t>  runs with no profiler attached. Never mix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SAY THIS -- 90 words, about 33 s. Annex: only on a question.</a:t>
            </a:r>
          </a:p>
          <a:p/>
          <a:p>
            <a:r>
              <a:t>- The faults come from two places, and one counter sees both. The result heap,</a:t>
            </a:r>
          </a:p>
          <a:p>
            <a:r>
              <a:t>  which we allocate and free every run, and the pinned buffers, which are</a:t>
            </a:r>
          </a:p>
          <a:p>
            <a:r>
              <a:t>  faulted once and then stay.</a:t>
            </a:r>
          </a:p>
          <a:p/>
          <a:p>
            <a:r>
              <a:t>- They are exactly additive -- reserving the pinned slots removes precisely the</a:t>
            </a:r>
          </a:p>
          <a:p>
            <a:r>
              <a:t>  expected count and changes nothing else. That is an identity, not a</a:t>
            </a:r>
          </a:p>
          <a:p>
            <a:r>
              <a:t>  correlation.</a:t>
            </a:r>
          </a:p>
          <a:p/>
          <a:p>
            <a:r>
              <a:t>- One warning for the big cluster size: nine gigabytes per pass is above the</a:t>
            </a:r>
          </a:p>
          <a:p>
            <a:r>
              <a:t>  threshold where the allocator gives memory back to the OS, so it never warms</a:t>
            </a:r>
          </a:p>
          <a:p>
            <a:r>
              <a:t>  up. That cost is permanent.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SAY THIS -- 88 words, about 32 s. Annex: only on a question.</a:t>
            </a:r>
          </a:p>
          <a:p/>
          <a:p>
            <a:r>
              <a:t>- This is the trap that cost me the most. We time kernels with CUDA events. But</a:t>
            </a:r>
          </a:p>
          <a:p>
            <a:r>
              <a:t>  an event is recorded ON A STREAM, so what you measure is when the stream got</a:t>
            </a:r>
          </a:p>
          <a:p>
            <a:r>
              <a:t>  there -- including all the time the kernel sat waiting behind other streams.</a:t>
            </a:r>
          </a:p>
          <a:p/>
          <a:p>
            <a:r>
              <a:t>- With one stream it is honest. With eight it reads up to three and a half times</a:t>
            </a:r>
          </a:p>
          <a:p>
            <a:r>
              <a:t>  too high, and you can spot it: the leftover time goes negative.</a:t>
            </a:r>
          </a:p>
          <a:p/>
          <a:p>
            <a:r>
              <a:t>- It is also not free. Turning it on costs about 3.6 microseconds per frame.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SAY THIS -- 86 words, about 31 s. Annex: only on a question.</a:t>
            </a:r>
          </a:p>
          <a:p/>
          <a:p>
            <a:r>
              <a:t>- The profiler is not wrong everywhere -- it is wrong in a specific place, and</a:t>
            </a:r>
          </a:p>
          <a:p>
            <a:r>
              <a:t>  the table says which.</a:t>
            </a:r>
          </a:p>
          <a:p/>
          <a:p>
            <a:r>
              <a:t>- To trace a HOST call, the tool runs code when you enter and when you leave.</a:t>
            </a:r>
          </a:p>
          <a:p>
            <a:r>
              <a:t>  That code is inside the thing being measured, so host calls read about four</a:t>
            </a:r>
          </a:p>
          <a:p>
            <a:r>
              <a:t>  times too high. GPU work is different: the hardware writes a timestamp, and</a:t>
            </a:r>
          </a:p>
          <a:p>
            <a:r>
              <a:t>  the tool reads it later. Nothing is injected.</a:t>
            </a:r>
          </a:p>
          <a:p/>
          <a:p>
            <a:r>
              <a:t>- Same call, two numbers: 1.6 microseconds to ASK for a copy, 13 for the copy</a:t>
            </a:r>
          </a:p>
          <a:p>
            <a:r>
              <a:t>  to happen.</a:t>
            </a:r>
          </a:p>
          <a:p/>
          <a:p>
            <a:r>
              <a:t>DETAILS: Why this one slide is still cap 1500, and what not to read off it.</a:t>
            </a:r>
          </a:p>
          <a:p/>
          <a:p>
            <a:r>
              <a:t>The RUNTIME column exists only inside the trace: it is the cost of the host call</a:t>
            </a:r>
          </a:p>
          <a:p>
            <a:r>
              <a:t>itself, which does not depend on how large the output slot is. So there is</a:t>
            </a:r>
          </a:p>
          <a:p>
            <a:r>
              <a:t>nothing to re-run -- a cap-1700 trace would report the same ~1.65 and ~1.85 us</a:t>
            </a:r>
          </a:p>
          <a:p>
            <a:r>
              <a:t>for cudaMemcpyAsync and cudaLaunchKernel.</a:t>
            </a:r>
          </a:p>
          <a:p/>
          <a:p>
            <a:r>
              <a:t>What you must NOT read off this slide is the 19.44 us D2H. That is the cap-1500</a:t>
            </a:r>
          </a:p>
          <a:p>
            <a:r>
              <a:t>figure. At the shipped cap of 1 700 the same engine reads 21.95 us [s1] and</a:t>
            </a:r>
          </a:p>
          <a:p>
            <a:r>
              <a:t>25.24 us [s4], and it is the s4 value that binds the f32 build. A8 has the</a:t>
            </a:r>
          </a:p>
          <a:p>
            <a:r>
              <a:t>shipped grid.</a:t>
            </a:r>
          </a:p>
          <a:p/>
          <a:p>
            <a:r>
              <a:t>The one number in the whole deck taken from _RUNTIME is the CUDA Graph launch</a:t>
            </a:r>
          </a:p>
          <a:p>
            <a:r>
              <a:t>budget in A2, and it is quoted to a single significant figure for exactly this</a:t>
            </a:r>
          </a:p>
          <a:p>
            <a:r>
              <a:t>reason: a ~4x inflated host-call time can support "launch cost is about 2 us,</a:t>
            </a:r>
          </a:p>
          <a:p>
            <a:r>
              <a:t>against a 24 us floor", and nothing finer than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95160" y="278280"/>
            <a:ext cx="8961840" cy="807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95160" y="1376640"/>
            <a:ext cx="10798560" cy="4641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95160" y="278280"/>
            <a:ext cx="8961840" cy="807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95160" y="1376640"/>
            <a:ext cx="10798560" cy="4641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95160" y="278280"/>
            <a:ext cx="8961840" cy="807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95160" y="1376640"/>
            <a:ext cx="5269680" cy="4641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28720" y="1376640"/>
            <a:ext cx="5269680" cy="4641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95160" y="278280"/>
            <a:ext cx="8961840" cy="807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95160" y="278280"/>
            <a:ext cx="8961840" cy="3744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95160" y="278280"/>
            <a:ext cx="8961840" cy="807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95160" y="1376640"/>
            <a:ext cx="5269680" cy="221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28720" y="1376640"/>
            <a:ext cx="5269680" cy="4641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95160" y="3801240"/>
            <a:ext cx="5269680" cy="221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95160" y="278280"/>
            <a:ext cx="8961840" cy="807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95160" y="1376640"/>
            <a:ext cx="5269680" cy="4641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28720" y="1376640"/>
            <a:ext cx="5269680" cy="221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28720" y="3801240"/>
            <a:ext cx="5269680" cy="221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95160" y="278280"/>
            <a:ext cx="8961840" cy="807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95160" y="1376640"/>
            <a:ext cx="5269680" cy="221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28720" y="1376640"/>
            <a:ext cx="5269680" cy="221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95160" y="3801240"/>
            <a:ext cx="10798560" cy="221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95160" y="278280"/>
            <a:ext cx="8961840" cy="807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95160" y="1376640"/>
            <a:ext cx="10798560" cy="221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95160" y="3801240"/>
            <a:ext cx="10798560" cy="221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95160" y="278280"/>
            <a:ext cx="8961840" cy="807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95160" y="1376640"/>
            <a:ext cx="5269680" cy="221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28720" y="1376640"/>
            <a:ext cx="5269680" cy="221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95160" y="3801240"/>
            <a:ext cx="5269680" cy="221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28720" y="3801240"/>
            <a:ext cx="5269680" cy="221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95160" y="278280"/>
            <a:ext cx="8961840" cy="807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95160" y="1376640"/>
            <a:ext cx="3476880" cy="221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46280" y="1376640"/>
            <a:ext cx="3476880" cy="221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7997400" y="1376640"/>
            <a:ext cx="3476880" cy="221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95160" y="3801240"/>
            <a:ext cx="3476880" cy="221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46280" y="3801240"/>
            <a:ext cx="3476880" cy="221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7997400" y="3801240"/>
            <a:ext cx="3476880" cy="221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95160" y="278280"/>
            <a:ext cx="8961840" cy="807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695160" y="1376640"/>
            <a:ext cx="10798560" cy="4641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95160" y="278280"/>
            <a:ext cx="8961840" cy="807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95160" y="1376640"/>
            <a:ext cx="10798560" cy="4641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95160" y="278280"/>
            <a:ext cx="8961840" cy="807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695160" y="1376640"/>
            <a:ext cx="5269680" cy="4641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6228720" y="1376640"/>
            <a:ext cx="5269680" cy="4641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95160" y="278280"/>
            <a:ext cx="8961840" cy="807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ubTitle"/>
          </p:nvPr>
        </p:nvSpPr>
        <p:spPr>
          <a:xfrm>
            <a:off x="695160" y="278280"/>
            <a:ext cx="8961840" cy="3744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95160" y="278280"/>
            <a:ext cx="8961840" cy="807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695160" y="1376640"/>
            <a:ext cx="5269680" cy="221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6228720" y="1376640"/>
            <a:ext cx="5269680" cy="4641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695160" y="3801240"/>
            <a:ext cx="5269680" cy="221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95160" y="278280"/>
            <a:ext cx="8961840" cy="807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95160" y="1376640"/>
            <a:ext cx="5269680" cy="4641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6228720" y="1376640"/>
            <a:ext cx="5269680" cy="221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6228720" y="3801240"/>
            <a:ext cx="5269680" cy="221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95160" y="278280"/>
            <a:ext cx="8961840" cy="807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95160" y="1376640"/>
            <a:ext cx="5269680" cy="221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228720" y="1376640"/>
            <a:ext cx="5269680" cy="221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695160" y="3801240"/>
            <a:ext cx="10798560" cy="221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95160" y="278280"/>
            <a:ext cx="8961840" cy="807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695160" y="1376640"/>
            <a:ext cx="10798560" cy="221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695160" y="3801240"/>
            <a:ext cx="10798560" cy="221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95160" y="278280"/>
            <a:ext cx="8961840" cy="807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695160" y="1376640"/>
            <a:ext cx="5269680" cy="221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6228720" y="1376640"/>
            <a:ext cx="5269680" cy="221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95160" y="3801240"/>
            <a:ext cx="5269680" cy="221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6228720" y="3801240"/>
            <a:ext cx="5269680" cy="221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95160" y="278280"/>
            <a:ext cx="8961840" cy="807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95160" y="1376640"/>
            <a:ext cx="3476880" cy="221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4346280" y="1376640"/>
            <a:ext cx="3476880" cy="221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7997400" y="1376640"/>
            <a:ext cx="3476880" cy="221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695160" y="3801240"/>
            <a:ext cx="3476880" cy="221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body"/>
          </p:nvPr>
        </p:nvSpPr>
        <p:spPr>
          <a:xfrm>
            <a:off x="4346280" y="3801240"/>
            <a:ext cx="3476880" cy="221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 type="body"/>
          </p:nvPr>
        </p:nvSpPr>
        <p:spPr>
          <a:xfrm>
            <a:off x="7997400" y="3801240"/>
            <a:ext cx="3476880" cy="221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wmf"/><Relationship Id="rId3" Type="http://schemas.openxmlformats.org/officeDocument/2006/relationships/image" Target="../media/image2.png"/><Relationship Id="rId4" Type="http://schemas.openxmlformats.org/officeDocument/2006/relationships/image" Target="../media/image3.wmf"/><Relationship Id="rId5" Type="http://schemas.openxmlformats.org/officeDocument/2006/relationships/slideLayout" Target="../slideLayouts/slideLayout1.xml"/><Relationship Id="rId6" Type="http://schemas.openxmlformats.org/officeDocument/2006/relationships/slideLayout" Target="../slideLayouts/slideLayout2.xml"/><Relationship Id="rId7" Type="http://schemas.openxmlformats.org/officeDocument/2006/relationships/slideLayout" Target="../slideLayouts/slideLayout3.xml"/><Relationship Id="rId8" Type="http://schemas.openxmlformats.org/officeDocument/2006/relationships/slideLayout" Target="../slideLayouts/slideLayout4.xml"/><Relationship Id="rId9" Type="http://schemas.openxmlformats.org/officeDocument/2006/relationships/slideLayout" Target="../slideLayouts/slideLayout5.xml"/><Relationship Id="rId10" Type="http://schemas.openxmlformats.org/officeDocument/2006/relationships/slideLayout" Target="../slideLayouts/slideLayout6.xml"/><Relationship Id="rId11" Type="http://schemas.openxmlformats.org/officeDocument/2006/relationships/slideLayout" Target="../slideLayouts/slideLayout7.xml"/><Relationship Id="rId12" Type="http://schemas.openxmlformats.org/officeDocument/2006/relationships/slideLayout" Target="../slideLayouts/slideLayout8.xml"/><Relationship Id="rId13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1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4.wmf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rafik 19" descr=""/>
          <p:cNvPicPr/>
          <p:nvPr/>
        </p:nvPicPr>
        <p:blipFill>
          <a:blip r:embed="rId2"/>
          <a:stretch/>
        </p:blipFill>
        <p:spPr>
          <a:xfrm>
            <a:off x="10614960" y="305280"/>
            <a:ext cx="878760" cy="360000"/>
          </a:xfrm>
          <a:prstGeom prst="rect">
            <a:avLst/>
          </a:prstGeom>
          <a:ln>
            <a:noFill/>
          </a:ln>
        </p:spPr>
      </p:pic>
      <p:pic>
        <p:nvPicPr>
          <p:cNvPr id="1" name="Grafik 6" descr=""/>
          <p:cNvPicPr/>
          <p:nvPr/>
        </p:nvPicPr>
        <p:blipFill>
          <a:blip r:embed="rId3"/>
          <a:stretch/>
        </p:blipFill>
        <p:spPr>
          <a:xfrm>
            <a:off x="1440" y="1800"/>
            <a:ext cx="12187800" cy="6852960"/>
          </a:xfrm>
          <a:prstGeom prst="rect">
            <a:avLst/>
          </a:prstGeom>
          <a:ln>
            <a:noFill/>
          </a:ln>
        </p:spPr>
      </p:pic>
      <p:pic>
        <p:nvPicPr>
          <p:cNvPr id="2" name="Grafik 12" descr=""/>
          <p:cNvPicPr/>
          <p:nvPr/>
        </p:nvPicPr>
        <p:blipFill>
          <a:blip r:embed="rId4"/>
          <a:stretch/>
        </p:blipFill>
        <p:spPr>
          <a:xfrm>
            <a:off x="631080" y="358560"/>
            <a:ext cx="1770840" cy="727200"/>
          </a:xfrm>
          <a:prstGeom prst="rect">
            <a:avLst/>
          </a:prstGeom>
          <a:ln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95160" y="278280"/>
            <a:ext cx="8961840" cy="807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Cli</a:t>
            </a: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ck </a:t>
            </a: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ed</a:t>
            </a: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it </a:t>
            </a: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th</a:t>
            </a: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titl</a:t>
            </a: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te</a:t>
            </a: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xt </a:t>
            </a: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for</a:t>
            </a: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at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0" r:id="rId16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rafik 19" descr=""/>
          <p:cNvPicPr/>
          <p:nvPr/>
        </p:nvPicPr>
        <p:blipFill>
          <a:blip r:embed="rId2"/>
          <a:stretch/>
        </p:blipFill>
        <p:spPr>
          <a:xfrm>
            <a:off x="10614960" y="305280"/>
            <a:ext cx="878760" cy="360000"/>
          </a:xfrm>
          <a:prstGeom prst="rect">
            <a:avLst/>
          </a:prstGeom>
          <a:ln>
            <a:noFill/>
          </a:ln>
        </p:spPr>
      </p:pic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95160" y="278280"/>
            <a:ext cx="8961840" cy="807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95160" y="1376640"/>
            <a:ext cx="10798560" cy="4641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ftr"/>
          </p:nvPr>
        </p:nvSpPr>
        <p:spPr>
          <a:xfrm>
            <a:off x="1614600" y="6404400"/>
            <a:ext cx="8042400" cy="14112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Footer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sldNum"/>
          </p:nvPr>
        </p:nvSpPr>
        <p:spPr>
          <a:xfrm>
            <a:off x="695160" y="6404400"/>
            <a:ext cx="700560" cy="14112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33759EC6-DB03-48FD-BD56-3BCED0ACEF07}" type="slidenum">
              <a:rPr b="0" lang="en-GB" sz="1000" spc="-1" strike="noStrike">
                <a:solidFill>
                  <a:srgbClr val="000000"/>
                </a:solidFill>
                <a:latin typeface="Aptos"/>
                <a:ea typeface="DejaVu Sans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dt"/>
          </p:nvPr>
        </p:nvSpPr>
        <p:spPr>
          <a:xfrm>
            <a:off x="9875880" y="6404400"/>
            <a:ext cx="1617840" cy="14112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US" sz="2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Shape 1"/>
          <p:cNvSpPr txBox="1"/>
          <p:nvPr/>
        </p:nvSpPr>
        <p:spPr>
          <a:xfrm>
            <a:off x="695520" y="1449720"/>
            <a:ext cx="9817920" cy="2001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92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5400" spc="-1" strike="noStrike">
                <a:solidFill>
                  <a:srgbClr val="ffffff"/>
                </a:solidFill>
                <a:latin typeface="Aptos"/>
                <a:ea typeface="DejaVu Sans"/>
              </a:rPr>
              <a:t>The CUDA ClusterFinder</a:t>
            </a:r>
            <a:endParaRPr b="0" lang="fr-FR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CustomShape 2"/>
          <p:cNvSpPr/>
          <p:nvPr/>
        </p:nvSpPr>
        <p:spPr>
          <a:xfrm>
            <a:off x="692280" y="4856760"/>
            <a:ext cx="5931720" cy="666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just"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-GB" sz="3000" spc="-1" strike="noStrike">
                <a:solidFill>
                  <a:srgbClr val="ffffff"/>
                </a:solidFill>
                <a:latin typeface="Aptos"/>
                <a:ea typeface="Calibri"/>
              </a:rPr>
              <a:t>Khalil Daniel Ferjaoui</a:t>
            </a:r>
            <a:endParaRPr b="0" lang="en-US" sz="3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endParaRPr b="0" lang="en-US" sz="3000" spc="-1" strike="noStrike">
              <a:latin typeface="Arial"/>
            </a:endParaRPr>
          </a:p>
        </p:txBody>
      </p:sp>
      <p:sp>
        <p:nvSpPr>
          <p:cNvPr id="91" name="CustomShape 3"/>
          <p:cNvSpPr/>
          <p:nvPr/>
        </p:nvSpPr>
        <p:spPr>
          <a:xfrm>
            <a:off x="692280" y="6129360"/>
            <a:ext cx="5289840" cy="585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Aptos"/>
                <a:ea typeface="DejaVu Sans"/>
              </a:rPr>
              <a:t>Paul Scherrer Institut · aare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Aptos"/>
                <a:ea typeface="DejaVu Sans"/>
              </a:rPr>
              <a:t>September 2026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92" name="CustomShape 4"/>
          <p:cNvSpPr/>
          <p:nvPr/>
        </p:nvSpPr>
        <p:spPr>
          <a:xfrm>
            <a:off x="692280" y="3591720"/>
            <a:ext cx="6840000" cy="63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fr-CH" sz="1800" spc="-1" strike="noStrike">
                <a:solidFill>
                  <a:srgbClr val="f2f2f2"/>
                </a:solidFill>
                <a:latin typeface="Aptos"/>
                <a:ea typeface="DejaVu Sans"/>
              </a:rPr>
              <a:t>Kernel design · hardware limits · seven optimization steps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0664" y="777240"/>
            <a:ext cx="10396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80">
                <a:solidFill>
                  <a:srgbClr val="6B7A90"/>
                </a:solidFill>
                <a:latin typeface="Segoe UI"/>
              </a:rPr>
              <a:t>AARE · HYBRID PIXEL DETECTORS · CUDA CLUSTERFINDER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0664" y="1170432"/>
            <a:ext cx="10771632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E7EDF4"/>
                </a:solidFill>
                <a:latin typeface="Segoe UI"/>
              </a:rPr>
              <a:t>The kernel was rarely the bottleneck.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E7EDF4"/>
                </a:solidFill>
                <a:latin typeface="Segoe UI"/>
              </a:rPr>
              <a:t>Feeding it was.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" y="2560320"/>
            <a:ext cx="1077163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E90C2"/>
                </a:solidFill>
                <a:latin typeface="Segoe UI"/>
              </a:rPr>
              <a:t>One kernel, one thread per pixel, and seven steps to keep it fed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3703320"/>
            <a:ext cx="107716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 spc="140">
                <a:solidFill>
                  <a:srgbClr val="E8B25C"/>
                </a:solidFill>
                <a:latin typeface="Segoe UI"/>
              </a:rPr>
              <a:t>WHERE THIS ENDS UP · THE SHIPPED f32 BUILD AFTER ALL SEVEN STEPS · ENGINE TIMES [f32 · s4] · RECONCILED IN A7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" y="4050791"/>
            <a:ext cx="36576" cy="960120"/>
          </a:xfrm>
          <a:prstGeom prst="rect">
            <a:avLst/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4050791"/>
            <a:ext cx="235915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E7EDF4"/>
                </a:solidFill>
                <a:latin typeface="Segoe UI"/>
              </a:rPr>
              <a:t>3×3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4672584"/>
            <a:ext cx="2359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20">
                <a:solidFill>
                  <a:srgbClr val="6B7A90"/>
                </a:solidFill>
                <a:latin typeface="Segoe UI"/>
              </a:rPr>
              <a:t>CLUSTER SIZE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38144" y="4050791"/>
            <a:ext cx="36576" cy="960120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4050791"/>
            <a:ext cx="235915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E90C2"/>
                </a:solidFill>
                <a:latin typeface="Segoe UI"/>
              </a:rPr>
              <a:t>×9.1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4672584"/>
            <a:ext cx="2359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20">
                <a:solidFill>
                  <a:srgbClr val="6B7A90"/>
                </a:solidFill>
                <a:latin typeface="Segoe UI"/>
              </a:rPr>
              <a:t>VS 24-THREAD CPU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35624" y="4050791"/>
            <a:ext cx="36576" cy="960120"/>
          </a:xfrm>
          <a:prstGeom prst="rect">
            <a:avLst/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4050791"/>
            <a:ext cx="235915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E7EDF4"/>
                </a:solidFill>
                <a:latin typeface="Segoe UI"/>
              </a:rPr>
              <a:t>61,312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4672584"/>
            <a:ext cx="2359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20">
                <a:solidFill>
                  <a:srgbClr val="6B7A90"/>
                </a:solidFill>
                <a:latin typeface="Segoe UI"/>
              </a:rPr>
              <a:t>FRAMES / SECOND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33104" y="4050791"/>
            <a:ext cx="36576" cy="960120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4272" y="4050791"/>
            <a:ext cx="235915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E8B25C"/>
                </a:solidFill>
                <a:latin typeface="Segoe UI"/>
              </a:rPr>
              <a:t>~1 in 10⁶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34272" y="4672584"/>
            <a:ext cx="2359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20">
                <a:solidFill>
                  <a:srgbClr val="6B7A90"/>
                </a:solidFill>
                <a:latin typeface="Segoe UI"/>
              </a:rPr>
              <a:t>CLUSTER MISMATCH VS CPU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0664" y="5303520"/>
            <a:ext cx="10396728" cy="10972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" y="5486400"/>
            <a:ext cx="107716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A90"/>
                </a:solidFill>
                <a:latin typeface="Segoe UI"/>
              </a:rPr>
              <a:t>RTX 4090 (Ada, sm_89) · PCIe 4.0 ×16 · Mönch 400×400 uint16 · 3×3 clusters · 100 000 frames · Cu fluorescence, MAX IV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0664" y="1389888"/>
            <a:ext cx="54772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 spc="180">
                <a:solidFill>
                  <a:srgbClr val="6B7A90"/>
                </a:solidFill>
                <a:latin typeface="Segoe UI"/>
              </a:rPr>
              <a:t>CONTEXT · WHAT THE CODE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0664" y="1737360"/>
            <a:ext cx="56692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E7EDF4"/>
                </a:solidFill>
                <a:latin typeface="Segoe UI"/>
              </a:rPr>
              <a:t>The algorithm, the hardware, the limits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" y="3127248"/>
            <a:ext cx="1417320" cy="27432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3383280"/>
            <a:ext cx="538581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5B2C4"/>
                </a:solidFill>
                <a:latin typeface="Segoe UI"/>
              </a:rPr>
              <a:t>No optimizations yet, only what the hardware has to do.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56248" y="1783080"/>
            <a:ext cx="10972" cy="4023360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30568" y="2317813"/>
            <a:ext cx="47274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6B7A90"/>
                </a:solidFill>
                <a:latin typeface="Segoe UI"/>
              </a:rPr>
              <a:t>COMING 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0568" y="2738437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90C2"/>
                </a:solidFill>
                <a:latin typeface="Consolas"/>
              </a:rPr>
              <a:t>3–4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7808" y="2738437"/>
            <a:ext cx="4187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7EDF4"/>
                </a:solidFill>
                <a:latin typeface="Segoe UI"/>
              </a:rPr>
              <a:t>The algorithm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30568" y="3197542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90C2"/>
                </a:solidFill>
                <a:latin typeface="Consolas"/>
              </a:rPr>
              <a:t>5–6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3197542"/>
            <a:ext cx="4187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7EDF4"/>
                </a:solidFill>
                <a:latin typeface="Segoe UI"/>
              </a:rPr>
              <a:t>The two machines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0568" y="3656647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90C2"/>
                </a:solidFill>
                <a:latin typeface="Consolas"/>
              </a:rPr>
              <a:t>7–8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07808" y="3656647"/>
            <a:ext cx="4187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7EDF4"/>
                </a:solidFill>
                <a:latin typeface="Segoe UI"/>
              </a:rPr>
              <a:t>The CUDA kernel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0568" y="4115752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90C2"/>
                </a:solidFill>
                <a:latin typeface="Consolas"/>
              </a:rPr>
              <a:t>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07808" y="4115752"/>
            <a:ext cx="4187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7EDF4"/>
                </a:solidFill>
                <a:latin typeface="Segoe UI"/>
              </a:rPr>
              <a:t>What limits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0568" y="4574857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90C2"/>
                </a:solidFill>
                <a:latin typeface="Consolas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07808" y="4574857"/>
            <a:ext cx="4187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7EDF4"/>
                </a:solidFill>
                <a:latin typeface="Segoe UI"/>
              </a:rPr>
              <a:t>The roadmap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2986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6877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7455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680344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98613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9191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9770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90348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9275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1506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820847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26633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3241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73820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4399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349777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55564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61350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67136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72922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878708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184494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90280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96066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101852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40763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71342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01921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324997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630783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93656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24235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54814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320040" cy="32004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784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6B7A90"/>
                </a:solidFill>
                <a:latin typeface="Segoe UI"/>
              </a:rPr>
              <a:t>THE ALGORITHM · WHAT IT IS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12379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7EDF4"/>
                </a:solidFill>
                <a:latin typeface="Segoe UI"/>
              </a:rPr>
              <a:t>A photon is not a pixel: it is a cluster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98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877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4558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0344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86130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91916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97702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03488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927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1506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20847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26633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241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3820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4399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9777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55564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61350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7136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72922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78708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84494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90280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96066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01852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40763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1342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1921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324997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30783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93656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24235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54814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237976" y="652881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90"/>
                </a:solidFill>
                <a:latin typeface="Segoe UI"/>
              </a:rPr>
              <a:t>3 / 34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1664208"/>
            <a:ext cx="74615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B7A90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One photon's charge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spreads over neighbouring pixels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; summing the 3×3 patch recovers its energy.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B7A90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The histogram of those cluster energies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is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 the measurement: peak and width give gain and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energy resolution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.</a:t>
            </a:r>
          </a:p>
        </p:txBody>
      </p:sp>
      <p:pic>
        <p:nvPicPr>
          <p:cNvPr id="42" name="Picture 41" descr="fig_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0"/>
            <a:ext cx="7040880" cy="3229371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8257031" y="1828800"/>
            <a:ext cx="10972" cy="4160520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85632" y="1783080"/>
            <a:ext cx="33101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40">
                <a:solidFill>
                  <a:srgbClr val="6B7A90"/>
                </a:solidFill>
                <a:latin typeface="Segoe UI"/>
              </a:rPr>
              <a:t>WHY IT MATTERS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94192" y="2029967"/>
            <a:ext cx="3493008" cy="1669927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g_spect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2121408"/>
            <a:ext cx="3310128" cy="1487047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485632" y="3882775"/>
            <a:ext cx="3310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90"/>
                </a:solidFill>
                <a:latin typeface="Segoe UI"/>
              </a:rPr>
              <a:t>Cluster-energy spectra from an energy scan.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85632" y="4498848"/>
            <a:ext cx="33101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40">
                <a:solidFill>
                  <a:srgbClr val="6B7A90"/>
                </a:solidFill>
                <a:latin typeface="Segoe UI"/>
              </a:rPr>
              <a:t>MÖNCH03 · THE DETECTOR THIS FEEDS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85632" y="4791456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6B7A90"/>
                </a:solidFill>
                <a:latin typeface="Segoe UI"/>
              </a:rPr>
              <a:t>ARRAY · PITCH · ACTIVE AREA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85632" y="5010912"/>
            <a:ext cx="33101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5B2C4"/>
                </a:solidFill>
                <a:latin typeface="Segoe UI"/>
              </a:rPr>
              <a:t>400 × 400 · 25 µm · 10 × 10 mm²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85632" y="5449824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6B7A90"/>
                </a:solidFill>
                <a:latin typeface="Segoe UI"/>
              </a:rPr>
              <a:t>FRAMES PER SECOND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85632" y="5669280"/>
            <a:ext cx="33101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B25C"/>
                </a:solidFill>
                <a:latin typeface="Segoe UI"/>
              </a:rPr>
              <a:t>1.3 k standard, 3–6 k optimised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85632" y="6108192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6B7A90"/>
                </a:solidFill>
                <a:latin typeface="Segoe UI"/>
              </a:rPr>
              <a:t>PEAK PIXELS = PHOTONS / FRAME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85632" y="6327648"/>
            <a:ext cx="33101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90C2"/>
                </a:solidFill>
                <a:latin typeface="Segoe UI"/>
              </a:rPr>
              <a:t>~2 330   ·   1.5 %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19088"/>
            <a:ext cx="74615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90"/>
                </a:solidFill>
                <a:latin typeface="Segoe UI"/>
              </a:rPr>
              <a:t>Real MÖNCH data, Cu fluorescence, MAX IV. One cluster per local maximum, so 2 330 counts photons.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320040" cy="32004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784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6B7A90"/>
                </a:solidFill>
                <a:latin typeface="Segoe UI"/>
              </a:rPr>
              <a:t>THE ALGORITHM · PER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12379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7EDF4"/>
                </a:solidFill>
                <a:latin typeface="Segoe UI"/>
              </a:rPr>
              <a:t>Per pixel: subtract, threshold, update the pedestal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98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877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455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0344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86130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91916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97702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03488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927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1506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20847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26633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241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3820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4399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9777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55564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61350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7136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72922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78708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84494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90280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96066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01852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40763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1342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1921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324997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30783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93656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24235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54814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237976" y="652881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90"/>
                </a:solidFill>
                <a:latin typeface="Segoe UI"/>
              </a:rPr>
              <a:t>4 / 34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1664208"/>
            <a:ext cx="74615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B7A90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Per pixel: subtract a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running pedestal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, keep what clears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nσ · rms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, cut a 3×3 cluster around each local maximum.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B7A90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The pedestal is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updated by ~80 % of pixels every frame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, so arithmetic and data movement are coupled.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3072384"/>
            <a:ext cx="7461504" cy="1890613"/>
          </a:xfrm>
          <a:prstGeom prst="roundRect">
            <a:avLst>
              <a:gd name="adj" fmla="val 5500"/>
            </a:avLst>
          </a:prstGeom>
          <a:solidFill>
            <a:srgbClr val="17202E"/>
          </a:solidFill>
          <a:ln w="12700">
            <a:solidFill>
              <a:srgbClr val="3A4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" y="3182112"/>
            <a:ext cx="7132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7C8A9E"/>
                </a:solidFill>
                <a:latin typeface="Segoe UI"/>
              </a:rPr>
              <a:t>THE WHOLE ALGORITHM · THREE OUTCOMES, NOT TWO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" y="3401568"/>
            <a:ext cx="7132320" cy="16711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C8A9E"/>
                </a:solidFill>
                <a:latin typeface="Consolas"/>
              </a:rPr>
              <a:t>// the whole algorithm, per pixel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v   = frame[i] - pedestal_mean[i]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rms = pedestal rms at i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m   = max(v) over the 3x3 window at i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if (m &gt; </a:t>
            </a:r>
            <a:r>
              <a:rPr sz="1050" b="1" i="0">
                <a:solidFill>
                  <a:srgbClr val="1E90C2"/>
                </a:solidFill>
                <a:latin typeface="Consolas"/>
              </a:rPr>
              <a:t>nSigma</a:t>
            </a:r>
            <a:r>
              <a:rPr sz="1050" b="0" i="0">
                <a:solidFill>
                  <a:srgbClr val="A5B2C4"/>
                </a:solidFill>
                <a:latin typeface="Consolas"/>
              </a:rPr>
              <a:t> * rms)                  // a photon is within reach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    if (v == m) -&gt; emit cluster        //   ... and I am its peak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    else        -&gt; </a:t>
            </a:r>
            <a:r>
              <a:rPr sz="1050" b="1" i="0">
                <a:solidFill>
                  <a:srgbClr val="1E90C2"/>
                </a:solidFill>
                <a:latin typeface="Consolas"/>
              </a:rPr>
              <a:t>nothing</a:t>
            </a:r>
            <a:r>
              <a:rPr sz="1050" b="0" i="0">
                <a:solidFill>
                  <a:srgbClr val="A5B2C4"/>
                </a:solidFill>
                <a:latin typeface="Consolas"/>
              </a:rPr>
              <a:t>             //   ... I am in its shadow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else            -&gt; update pedestal     // I saw nothing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" y="5358384"/>
            <a:ext cx="7420356" cy="713232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" y="5358384"/>
            <a:ext cx="41148" cy="713232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2" y="5449824"/>
            <a:ext cx="7004304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DF4"/>
                </a:solidFill>
                <a:latin typeface="Segoe UI"/>
              </a:rPr>
              <a:t>Thesis of this talk: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 the compute was fast almost immediately. Six of the seven steps are about feeding it.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57031" y="1828800"/>
            <a:ext cx="10972" cy="4160520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85632" y="1920240"/>
            <a:ext cx="33101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40">
                <a:solidFill>
                  <a:srgbClr val="6B7A90"/>
                </a:solidFill>
                <a:latin typeface="Segoe UI"/>
              </a:rPr>
              <a:t>THE SHAPE OF THE WORK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85632" y="2395728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6B7A90"/>
                </a:solidFill>
                <a:latin typeface="Segoe UI"/>
              </a:rPr>
              <a:t>WORK ITEMS PER FRAME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85632" y="2615184"/>
            <a:ext cx="33101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7EDF4"/>
                </a:solidFill>
                <a:latin typeface="Segoe UI"/>
              </a:rPr>
              <a:t>160 000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85632" y="3419856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6B7A90"/>
                </a:solidFill>
                <a:latin typeface="Segoe UI"/>
              </a:rPr>
              <a:t>OPERATIONS ON EACH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85632" y="3639312"/>
            <a:ext cx="33101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5B2C4"/>
                </a:solidFill>
                <a:latin typeface="Segoe UI"/>
              </a:rPr>
              <a:t>~5, identical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85632" y="4242816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6B7A90"/>
                </a:solidFill>
                <a:latin typeface="Segoe UI"/>
              </a:rPr>
              <a:t>COMMUNICATION BETWEEN THEM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85632" y="4462272"/>
            <a:ext cx="33101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90C2"/>
                </a:solidFill>
                <a:latin typeface="Segoe UI"/>
              </a:rPr>
              <a:t>none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85632" y="5065775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6B7A90"/>
                </a:solidFill>
                <a:latin typeface="Segoe UI"/>
              </a:rPr>
              <a:t>ORDER THEY MAY RUN IN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85632" y="5285231"/>
            <a:ext cx="33101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90C2"/>
                </a:solidFill>
                <a:latin typeface="Segoe UI"/>
              </a:rPr>
              <a:t>any, once the pedestal is fixed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85632" y="5907023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6B7A90"/>
                </a:solidFill>
                <a:latin typeface="Segoe UI"/>
              </a:rPr>
              <a:t>BYTES PER FRAME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85632" y="6126479"/>
            <a:ext cx="33101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5B2C4"/>
                </a:solidFill>
                <a:latin typeface="Segoe UI"/>
              </a:rPr>
              <a:t>312.5 KiB · ~2 330 clusters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320040" cy="32004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784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6B7A90"/>
                </a:solidFill>
                <a:latin typeface="Segoe UI"/>
              </a:rPr>
              <a:t>THE MACHINE WE ARE STARTING FROM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12379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7EDF4"/>
                </a:solidFill>
                <a:latin typeface="Segoe UI"/>
              </a:rPr>
              <a:t>CPU: latency-oriented, built to finish one thread fast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98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877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455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0344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86130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91916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97702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03488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927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1506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20847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26633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241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3820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4399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9777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55564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61350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7136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72922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78708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84494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90280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96066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01852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40763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1342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1921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324997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30783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93656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24235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54814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237976" y="652881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90"/>
                </a:solidFill>
                <a:latin typeface="Segoe UI"/>
              </a:rPr>
              <a:t>5 / 34</a:t>
            </a:r>
          </a:p>
        </p:txBody>
      </p:sp>
      <p:pic>
        <p:nvPicPr>
          <p:cNvPr id="41" name="Picture 40" descr="img_cpu_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64208"/>
            <a:ext cx="6144768" cy="2901586"/>
          </a:xfrm>
          <a:prstGeom prst="rect">
            <a:avLst/>
          </a:prstGeom>
        </p:spPr>
      </p:pic>
      <p:pic>
        <p:nvPicPr>
          <p:cNvPr id="42" name="Picture 41" descr="img_cpu_d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608576"/>
            <a:ext cx="4297680" cy="1830684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4960620" y="4608576"/>
            <a:ext cx="2967228" cy="1225296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919472" y="4608576"/>
            <a:ext cx="41148" cy="1225296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75504" y="4700016"/>
            <a:ext cx="2551176" cy="10424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5B2C4"/>
                </a:solidFill>
                <a:latin typeface="Segoe UI"/>
              </a:rPr>
              <a:t>Count the boxes: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6 fetch/decode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 and two levels of private cache, all to keep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two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 instruction streams fed. The ALUs are the small part.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19472" y="6016752"/>
            <a:ext cx="30083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90"/>
                </a:solidFill>
                <a:latin typeface="Segoe UI"/>
              </a:rPr>
              <a:t>Both diagrams after Stanford CS149, Fall 2025.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57031" y="1828800"/>
            <a:ext cx="10972" cy="4160520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85632" y="1828800"/>
            <a:ext cx="33101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40">
                <a:solidFill>
                  <a:srgbClr val="6B7A90"/>
                </a:solidFill>
                <a:latin typeface="Segoe UI"/>
              </a:rPr>
              <a:t>PC-MOENCH-04 · AMD RYZEN 9 7950X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85632" y="2212848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6B7A90"/>
                </a:solidFill>
                <a:latin typeface="Segoe UI"/>
              </a:rPr>
              <a:t>CORES × SMT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85632" y="2432304"/>
            <a:ext cx="33101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7EDF4"/>
                </a:solidFill>
                <a:latin typeface="Segoe UI"/>
              </a:rPr>
              <a:t>16 × 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85632" y="3182112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6B7A90"/>
                </a:solidFill>
                <a:latin typeface="Segoe UI"/>
              </a:rPr>
              <a:t>CPU, 1 THREAD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85632" y="3401568"/>
            <a:ext cx="33101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6B7A90"/>
                </a:solidFill>
                <a:latin typeface="Segoe UI"/>
              </a:rPr>
              <a:t>1.75 ms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85632" y="4114800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6B7A90"/>
                </a:solidFill>
                <a:latin typeface="Segoe UI"/>
              </a:rPr>
              <a:t>CPU MT, 24 THREADS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85632" y="4334256"/>
            <a:ext cx="33101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7EDF4"/>
                </a:solidFill>
                <a:latin typeface="Segoe UI"/>
              </a:rPr>
              <a:t>148 µs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85632" y="5102351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6B7A90"/>
                </a:solidFill>
                <a:latin typeface="Segoe UI"/>
              </a:rPr>
              <a:t>THAT IS THE BAR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85632" y="5321807"/>
            <a:ext cx="33101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90C2"/>
                </a:solidFill>
                <a:latin typeface="Segoe UI"/>
              </a:rPr>
              <a:t>6 762 frames / 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85632" y="5907023"/>
            <a:ext cx="331012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5B2C4"/>
                </a:solidFill>
                <a:latin typeface="Segoe UI"/>
              </a:rPr>
              <a:t>Thread count is swept per cluster size, not assumed: 24 at 3×3, 32 at 9×9.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320040" cy="32004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784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6B7A90"/>
                </a:solidFill>
                <a:latin typeface="Segoe UI"/>
              </a:rPr>
              <a:t>THE MACHINE WE ARE MOVING 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12379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7EDF4"/>
                </a:solidFill>
                <a:latin typeface="Segoe UI"/>
              </a:rPr>
              <a:t>GPU: throughput-oriented, the whole frame at once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98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877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455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0344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8613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91916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97702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03488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927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1506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20847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26633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241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3820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4399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9777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55564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61350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7136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72922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78708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84494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90280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96066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01852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40763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1342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1921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324997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30783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93656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24235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54814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237976" y="652881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90"/>
                </a:solidFill>
                <a:latin typeface="Segoe UI"/>
              </a:rPr>
              <a:t>6 / 34</a:t>
            </a:r>
          </a:p>
        </p:txBody>
      </p:sp>
      <p:pic>
        <p:nvPicPr>
          <p:cNvPr id="41" name="Picture 40" descr="img_gpu_d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64208"/>
            <a:ext cx="2596896" cy="256195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457200" y="4718304"/>
            <a:ext cx="2596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90"/>
                </a:solidFill>
                <a:latin typeface="Segoe UI"/>
              </a:rPr>
              <a:t>AD102 · 144 blocks, 128 enabled on this card. One SM boxed.</a:t>
            </a:r>
          </a:p>
        </p:txBody>
      </p:sp>
      <p:pic>
        <p:nvPicPr>
          <p:cNvPr id="43" name="Picture 42" descr="img_gpu_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1664208"/>
            <a:ext cx="4489704" cy="3018346"/>
          </a:xfrm>
          <a:prstGeom prst="rect">
            <a:avLst/>
          </a:prstGeom>
        </p:spPr>
      </p:pic>
      <p:pic>
        <p:nvPicPr>
          <p:cNvPr id="44" name="Picture 43" descr="img_gpu_leg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4718304"/>
            <a:ext cx="4489704" cy="564802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498348" y="5358384"/>
            <a:ext cx="7420356" cy="658368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" y="5358384"/>
            <a:ext cx="41148" cy="65836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2" y="5449824"/>
            <a:ext cx="7004304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5B2C4"/>
                </a:solidFill>
                <a:latin typeface="Segoe UI"/>
              </a:rPr>
              <a:t>Same grammar, inverted proportions: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4 fetch/decode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 for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64 warp contexts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163056"/>
            <a:ext cx="74615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90"/>
                </a:solidFill>
                <a:latin typeface="Segoe UI"/>
              </a:rPr>
              <a:t>One SM: a V100 is shown; this card's is the same idea: 128 FP32 lanes, 48 warp slots, 100 kB shared memory. After Stanford CS149, Fall 2025.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57031" y="1828800"/>
            <a:ext cx="10972" cy="4160520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85632" y="1828800"/>
            <a:ext cx="33101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40">
                <a:solidFill>
                  <a:srgbClr val="6B7A90"/>
                </a:solidFill>
                <a:latin typeface="Segoe UI"/>
              </a:rPr>
              <a:t>NVIDIA GEFORCE RTX 4090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85632" y="2231136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6B7A90"/>
                </a:solidFill>
                <a:latin typeface="Segoe UI"/>
              </a:rPr>
              <a:t>FP32 LANES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85632" y="2450591"/>
            <a:ext cx="33101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7EDF4"/>
                </a:solidFill>
                <a:latin typeface="Segoe UI"/>
              </a:rPr>
              <a:t>16 384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85632" y="3163824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6B7A90"/>
                </a:solidFill>
                <a:latin typeface="Segoe UI"/>
              </a:rPr>
              <a:t>128 SMS × 128 LANES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85632" y="3383280"/>
            <a:ext cx="33101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5B2C4"/>
                </a:solidFill>
                <a:latin typeface="Segoe UI"/>
              </a:rPr>
              <a:t>vs 16 cores × 16 = 256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85632" y="3950207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6B7A90"/>
                </a:solidFill>
                <a:latin typeface="Segoe UI"/>
              </a:rPr>
              <a:t>RESIDENT THREAD SLOTS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85632" y="4169663"/>
            <a:ext cx="33101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90C2"/>
                </a:solidFill>
                <a:latin typeface="Segoe UI"/>
              </a:rPr>
              <a:t>196 608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85632" y="4882896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6B7A90"/>
                </a:solidFill>
                <a:latin typeface="Segoe UI"/>
              </a:rPr>
              <a:t>THE FRAME NEEDS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85632" y="5102352"/>
            <a:ext cx="33101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B25C"/>
                </a:solidFill>
                <a:latin typeface="Segoe UI"/>
              </a:rPr>
              <a:t>160 000  →  all at once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85632" y="5724144"/>
            <a:ext cx="331012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5B2C4"/>
                </a:solidFill>
                <a:latin typeface="Segoe UI"/>
              </a:rPr>
              <a:t>Device memory runs at 1 008 GB/s (384-bit, 21 Gbps); PCIe 4.0 ×16 peaks at 31.5 and measures 24. Two copy engines, so H2D and D2H run at the same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320040" cy="32004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784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6B7A90"/>
                </a:solidFill>
                <a:latin typeface="Segoe UI"/>
              </a:rPr>
              <a:t>THE CUDA KERNEL · EXECUTION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12379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7EDF4"/>
                </a:solidFill>
                <a:latin typeface="Segoe UI"/>
              </a:rPr>
              <a:t>One thread per pixel, one block per 16×16 tile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98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877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455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0344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8613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9191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97702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03488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927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1506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20847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26633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241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3820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4399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9777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55564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61350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7136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72922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78708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84494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90280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96066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01852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40763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1342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1921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324997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30783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93656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24235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54814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237976" y="652881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90"/>
                </a:solidFill>
                <a:latin typeface="Segoe UI"/>
              </a:rPr>
              <a:t>7 / 34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1664208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B7A90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A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16×16 block = 256 threads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; the grid tiles the frame in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625 identical blocks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B7A90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The output is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sparse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, but the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decision work is dense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: every pixel is tested,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160 000 times per frame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3017520"/>
            <a:ext cx="7086600" cy="1527688"/>
          </a:xfrm>
          <a:prstGeom prst="roundRect">
            <a:avLst>
              <a:gd name="adj" fmla="val 5500"/>
            </a:avLst>
          </a:prstGeom>
          <a:solidFill>
            <a:srgbClr val="17202E"/>
          </a:solidFill>
          <a:ln w="12700">
            <a:solidFill>
              <a:srgbClr val="3A4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" y="3127248"/>
            <a:ext cx="67574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7C8A9E"/>
                </a:solidFill>
                <a:latin typeface="Segoe UI"/>
              </a:rPr>
              <a:t>LAUNCH CONFIGURATION · ClusterFinderCUDA.hpp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" y="3346704"/>
            <a:ext cx="6757416" cy="1308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E90C2"/>
                </a:solidFill>
                <a:latin typeface="Consolas"/>
              </a:rPr>
              <a:t>block</a:t>
            </a:r>
            <a:r>
              <a:rPr sz="1050" b="0" i="0">
                <a:solidFill>
                  <a:srgbClr val="A5B2C4"/>
                </a:solidFill>
                <a:latin typeface="Consolas"/>
              </a:rPr>
              <a:t> = dim3(BLOCK_X, BLOCK_Y);           // 16 x 16 = 256 threads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E90C2"/>
                </a:solidFill>
                <a:latin typeface="Consolas"/>
              </a:rPr>
              <a:t>grid</a:t>
            </a:r>
            <a:r>
              <a:rPr sz="1050" b="0" i="0">
                <a:solidFill>
                  <a:srgbClr val="A5B2C4"/>
                </a:solidFill>
                <a:latin typeface="Consolas"/>
              </a:rPr>
              <a:t>  = dim3((ncols + BLOCK_X - 1)/BLOCK_X,  // 25 x 25 = 625 blocks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               (nrows + BLOCK_Y - 1)/BLOCK_Y);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find_clusters_in_single_frame&lt;&lt;&lt;</a:t>
            </a:r>
            <a:r>
              <a:rPr sz="1050" b="1" i="0">
                <a:solidFill>
                  <a:srgbClr val="1E90C2"/>
                </a:solidFill>
                <a:latin typeface="Consolas"/>
              </a:rPr>
              <a:t>grid</a:t>
            </a:r>
            <a:r>
              <a:rPr sz="1050" b="0" i="0">
                <a:solidFill>
                  <a:srgbClr val="A5B2C4"/>
                </a:solidFill>
                <a:latin typeface="Consolas"/>
              </a:rPr>
              <a:t>, </a:t>
            </a:r>
            <a:r>
              <a:rPr sz="1050" b="1" i="0">
                <a:solidFill>
                  <a:srgbClr val="1E90C2"/>
                </a:solidFill>
                <a:latin typeface="Consolas"/>
              </a:rPr>
              <a:t>block</a:t>
            </a:r>
            <a:r>
              <a:rPr sz="1050" b="0" i="0">
                <a:solidFill>
                  <a:srgbClr val="A5B2C4"/>
                </a:solidFill>
                <a:latin typeface="Consolas"/>
              </a:rPr>
              <a:t>, shmem, stream&gt;&gt;&gt;(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    d_frame, d_pd_mean, /* ... 9 more ... */ d_clusters);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663440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90"/>
                </a:solidFill>
                <a:latin typeface="Segoe UI"/>
              </a:rPr>
              <a:t>400×400 → a 25×25 grid of 16×16 blocks = 625 blocks per frame, over 128 SMs. Nothing in the launch depends on the cluster count.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27264" y="1664208"/>
            <a:ext cx="3877056" cy="2072076"/>
          </a:xfrm>
          <a:prstGeom prst="roundRect">
            <a:avLst>
              <a:gd name="adj" fmla="val 5500"/>
            </a:avLst>
          </a:prstGeom>
          <a:solidFill>
            <a:srgbClr val="17202E"/>
          </a:solidFill>
          <a:ln w="12700">
            <a:solidFill>
              <a:srgbClr val="3A4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91856" y="1773936"/>
            <a:ext cx="35478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7C8A9E"/>
                </a:solidFill>
                <a:latin typeface="Segoe UI"/>
              </a:rPr>
              <a:t>WHERE THE LOOP WENT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91856" y="1993391"/>
            <a:ext cx="3547872" cy="185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C8A9E"/>
                </a:solidFill>
                <a:latin typeface="Consolas"/>
              </a:rPr>
              <a:t>// CPU: one thread per FRAME, loop inside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E90C2"/>
                </a:solidFill>
                <a:latin typeface="Consolas"/>
              </a:rPr>
              <a:t>find_clusters</a:t>
            </a:r>
            <a:r>
              <a:rPr sz="1050" b="0" i="0">
                <a:solidFill>
                  <a:srgbClr val="A5B2C4"/>
                </a:solidFill>
                <a:latin typeface="Consolas"/>
              </a:rPr>
              <a:t>(frame) {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  for (int iy = 0; iy &lt; 400; iy++)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    for (int ix = 0; ix &lt; 400; ix++)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      /* test pixel (iy,ix) inline */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}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C8A9E"/>
                </a:solidFill>
                <a:latin typeface="Consolas"/>
              </a:rPr>
              <a:t>// GPU: no loop. The launch is the loop: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ix = </a:t>
            </a:r>
            <a:r>
              <a:rPr sz="1050" b="1" i="0">
                <a:solidFill>
                  <a:srgbClr val="1E90C2"/>
                </a:solidFill>
                <a:latin typeface="Consolas"/>
              </a:rPr>
              <a:t>blockIdx</a:t>
            </a:r>
            <a:r>
              <a:rPr sz="1050" b="0" i="0">
                <a:solidFill>
                  <a:srgbClr val="A5B2C4"/>
                </a:solidFill>
                <a:latin typeface="Consolas"/>
              </a:rPr>
              <a:t>.x*blockDim.x + </a:t>
            </a:r>
            <a:r>
              <a:rPr sz="1050" b="1" i="0">
                <a:solidFill>
                  <a:srgbClr val="1E90C2"/>
                </a:solidFill>
                <a:latin typeface="Consolas"/>
              </a:rPr>
              <a:t>threadIdx</a:t>
            </a:r>
            <a:r>
              <a:rPr sz="1050" b="0" i="0">
                <a:solidFill>
                  <a:srgbClr val="A5B2C4"/>
                </a:solidFill>
                <a:latin typeface="Consolas"/>
              </a:rPr>
              <a:t>.x;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iy = </a:t>
            </a:r>
            <a:r>
              <a:rPr sz="1050" b="1" i="0">
                <a:solidFill>
                  <a:srgbClr val="1E90C2"/>
                </a:solidFill>
                <a:latin typeface="Consolas"/>
              </a:rPr>
              <a:t>blockIdx</a:t>
            </a:r>
            <a:r>
              <a:rPr sz="1050" b="0" i="0">
                <a:solidFill>
                  <a:srgbClr val="A5B2C4"/>
                </a:solidFill>
                <a:latin typeface="Consolas"/>
              </a:rPr>
              <a:t>.y*blockDim.y + </a:t>
            </a:r>
            <a:r>
              <a:rPr sz="1050" b="1" i="0">
                <a:solidFill>
                  <a:srgbClr val="1E90C2"/>
                </a:solidFill>
                <a:latin typeface="Consolas"/>
              </a:rPr>
              <a:t>threadIdx</a:t>
            </a:r>
            <a:r>
              <a:rPr sz="1050" b="0" i="0">
                <a:solidFill>
                  <a:srgbClr val="A5B2C4"/>
                </a:solidFill>
                <a:latin typeface="Consolas"/>
              </a:rPr>
              <a:t>.y;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68412" y="3858768"/>
            <a:ext cx="3835908" cy="786384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827264" y="3858768"/>
            <a:ext cx="41148" cy="786384"/>
          </a:xfrm>
          <a:prstGeom prst="rect">
            <a:avLst/>
          </a:prstGeom>
          <a:solidFill>
            <a:srgbClr val="E25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83296" y="3950207"/>
            <a:ext cx="3419856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DF4"/>
                </a:solidFill>
                <a:latin typeface="Segoe UI"/>
              </a:rPr>
              <a:t>The loop is the launch.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 625 blocks × 256 threads =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160 000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, one per pixel, decided before any data is seen.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868412" y="4773168"/>
            <a:ext cx="3835908" cy="804672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827264" y="4773168"/>
            <a:ext cx="41148" cy="804672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83296" y="4864607"/>
            <a:ext cx="341985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5B2C4"/>
                </a:solidFill>
                <a:latin typeface="Segoe UI"/>
              </a:rPr>
              <a:t>A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block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 is the 256 threads that share one tile and can wait for each other. That is the next slide.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5669280"/>
            <a:ext cx="2029968" cy="566928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57200" y="5669280"/>
            <a:ext cx="27432" cy="56692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5715000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E90C2"/>
                </a:solidFill>
                <a:latin typeface="Consolas"/>
              </a:rPr>
              <a:t>1  </a:t>
            </a:r>
            <a:r>
              <a:rPr sz="1250" b="0" i="0">
                <a:solidFill>
                  <a:srgbClr val="E7EDF4"/>
                </a:solidFill>
                <a:latin typeface="Segoe UI"/>
              </a:rPr>
              <a:t>load tile + halo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487168" y="5715000"/>
            <a:ext cx="274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B7A90"/>
                </a:solidFill>
                <a:latin typeface="Segoe UI"/>
              </a:rPr>
              <a:t>›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61488" y="5669280"/>
            <a:ext cx="2029968" cy="566928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761488" y="5669280"/>
            <a:ext cx="27432" cy="56692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944368" y="5715000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E90C2"/>
                </a:solidFill>
                <a:latin typeface="Consolas"/>
              </a:rPr>
              <a:t>2  </a:t>
            </a:r>
            <a:r>
              <a:rPr sz="1250" b="0" i="0">
                <a:solidFill>
                  <a:srgbClr val="E7EDF4"/>
                </a:solidFill>
                <a:latin typeface="Segoe UI"/>
              </a:rPr>
              <a:t>__syncthreads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791456" y="5715000"/>
            <a:ext cx="274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B7A90"/>
                </a:solidFill>
                <a:latin typeface="Segoe UI"/>
              </a:rPr>
              <a:t>›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65776" y="5669280"/>
            <a:ext cx="2029968" cy="566928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065776" y="5669280"/>
            <a:ext cx="27432" cy="56692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248656" y="5715000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E90C2"/>
                </a:solidFill>
                <a:latin typeface="Consolas"/>
              </a:rPr>
              <a:t>3  </a:t>
            </a:r>
            <a:r>
              <a:rPr sz="1250" b="0" i="0">
                <a:solidFill>
                  <a:srgbClr val="E7EDF4"/>
                </a:solidFill>
                <a:latin typeface="Segoe UI"/>
              </a:rPr>
              <a:t>stencil reduction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95744" y="5715000"/>
            <a:ext cx="274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B7A90"/>
                </a:solidFill>
                <a:latin typeface="Segoe UI"/>
              </a:rPr>
              <a:t>›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370064" y="5669280"/>
            <a:ext cx="2029968" cy="566928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370064" y="5669280"/>
            <a:ext cx="27432" cy="56692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52944" y="5715000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E90C2"/>
                </a:solidFill>
                <a:latin typeface="Consolas"/>
              </a:rPr>
              <a:t>4  </a:t>
            </a:r>
            <a:r>
              <a:rPr sz="1250" b="0" i="0">
                <a:solidFill>
                  <a:srgbClr val="E7EDF4"/>
                </a:solidFill>
                <a:latin typeface="Segoe UI"/>
              </a:rPr>
              <a:t>classify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400032" y="5715000"/>
            <a:ext cx="274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B7A90"/>
                </a:solidFill>
                <a:latin typeface="Segoe UI"/>
              </a:rPr>
              <a:t>›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674352" y="5669280"/>
            <a:ext cx="2029968" cy="566928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674352" y="5669280"/>
            <a:ext cx="27432" cy="56692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857232" y="5715000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E90C2"/>
                </a:solidFill>
                <a:latin typeface="Consolas"/>
              </a:rPr>
              <a:t>5  </a:t>
            </a:r>
            <a:r>
              <a:rPr sz="1250" b="0" i="0">
                <a:solidFill>
                  <a:srgbClr val="E7EDF4"/>
                </a:solidFill>
                <a:latin typeface="Segoe UI"/>
              </a:rPr>
              <a:t>append or update pedestal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320040" cy="32004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784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6B7A90"/>
                </a:solidFill>
                <a:latin typeface="Segoe UI"/>
              </a:rPr>
              <a:t>THE CUDA KERNEL · TILING AND HALOS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12379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7EDF4"/>
                </a:solidFill>
                <a:latin typeface="Segoe UI"/>
              </a:rPr>
              <a:t>Shared memory: load the tile once, reuse it nine times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98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877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455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0344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8613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9191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9770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03488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927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1506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20847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26633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241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3820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4399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9777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55564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61350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7136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72922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78708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84494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90280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96066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01852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40763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1342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1921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324997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30783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93656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24235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54814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237976" y="652881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90"/>
                </a:solidFill>
                <a:latin typeface="Segoe UI"/>
              </a:rPr>
              <a:t>8 / 34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1664208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B7A90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Neighbouring threads need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overlapping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 windows; without shared memory each pixel is fetched up to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nine times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B7A90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Each block stages one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pedestal-subtracted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 tile plus its halo, loaded by the threads on the block edges.</a:t>
            </a:r>
          </a:p>
        </p:txBody>
      </p:sp>
      <p:pic>
        <p:nvPicPr>
          <p:cNvPr id="42" name="Picture 41" descr="fig_t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68880"/>
            <a:ext cx="7644383" cy="3740341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8247888" y="2468880"/>
            <a:ext cx="3547872" cy="1709150"/>
          </a:xfrm>
          <a:prstGeom prst="roundRect">
            <a:avLst>
              <a:gd name="adj" fmla="val 5500"/>
            </a:avLst>
          </a:prstGeom>
          <a:solidFill>
            <a:srgbClr val="17202E"/>
          </a:solidFill>
          <a:ln w="12700">
            <a:solidFill>
              <a:srgbClr val="3A4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80" y="2578608"/>
            <a:ext cx="32186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7C8A9E"/>
                </a:solidFill>
                <a:latin typeface="Segoe UI"/>
              </a:rPr>
              <a:t>clusterfinder_kernel.cuh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2798064"/>
            <a:ext cx="3218688" cy="14896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E90C2"/>
                </a:solidFill>
                <a:latin typeface="Consolas"/>
              </a:rPr>
              <a:t>extern __shared__</a:t>
            </a:r>
            <a:r>
              <a:rPr sz="1050" b="0" i="0">
                <a:solidFill>
                  <a:srgbClr val="A5B2C4"/>
                </a:solidFill>
                <a:latin typeface="Consolas"/>
              </a:rPr>
              <a:t> unsigned char smem[];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auto *sh = (COMPUTE_TYPE*)smem;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auto stride = blockDim.x + 2*col_radius;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auto tid = (threadIdx.y + row_radius)*stride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         + (threadIdx.x + col_radius);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C8A9E"/>
                </a:solidFill>
                <a:latin typeface="Consolas"/>
              </a:rPr>
              <a:t>// pedestal subtraction fused into the load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E90C2"/>
                </a:solidFill>
                <a:latin typeface="Consolas"/>
              </a:rPr>
              <a:t>sh</a:t>
            </a:r>
            <a:r>
              <a:rPr sz="1050" b="0" i="0">
                <a:solidFill>
                  <a:srgbClr val="A5B2C4"/>
                </a:solidFill>
                <a:latin typeface="Consolas"/>
              </a:rPr>
              <a:t>[tid] = d_frame[gid] - d_pd_mean[gid];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89036" y="4315968"/>
            <a:ext cx="3506724" cy="841248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247888" y="4315968"/>
            <a:ext cx="41148" cy="8412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03919" y="4407407"/>
            <a:ext cx="309067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5B2C4"/>
                </a:solidFill>
                <a:latin typeface="Segoe UI"/>
              </a:rPr>
              <a:t>Only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odd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 cluster sizes are supported, so the centre pixel is unique.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320040" cy="32004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784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6B7A90"/>
                </a:solidFill>
                <a:latin typeface="Segoe UI"/>
              </a:rPr>
              <a:t>HARDWARE · OCCUPANCY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12379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7EDF4"/>
                </a:solidFill>
                <a:latin typeface="Segoe UI"/>
              </a:rPr>
              <a:t>Occupancy is a latency-hiding budget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98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877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455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0344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8613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9191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9770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0348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927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1506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20847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26633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241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3820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4399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9777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55564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61350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7136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72922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78708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84494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90280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96066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01852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40763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1342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1921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324997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30783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93656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24235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54814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237976" y="652881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90"/>
                </a:solidFill>
                <a:latin typeface="Segoe UI"/>
              </a:rPr>
              <a:t>9 / 34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1664208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B7A90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When a warp stalls, the SM switches to another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already-resident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 warp.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Occupancy = resident warps / the maximum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: how many alternatives it has to switch to.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2331720"/>
            <a:ext cx="2088489" cy="768096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2423160"/>
            <a:ext cx="172272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6B7A90"/>
                </a:solidFill>
                <a:latin typeface="Segoe UI"/>
              </a:rPr>
              <a:t>THREADS / BLOCK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2715768"/>
            <a:ext cx="172272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E7EDF4"/>
                </a:solidFill>
                <a:latin typeface="Segoe UI"/>
              </a:rPr>
              <a:t>256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6857" y="2331720"/>
            <a:ext cx="2088489" cy="768096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2746857" y="2331720"/>
            <a:ext cx="2088489" cy="768096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E25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29737" y="2423160"/>
            <a:ext cx="172272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6B7A90"/>
                </a:solidFill>
                <a:latin typeface="Segoe UI"/>
              </a:rPr>
              <a:t>THREAD SLOTS / SM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29737" y="2715768"/>
            <a:ext cx="172272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E7EDF4"/>
                </a:solidFill>
                <a:latin typeface="Segoe UI"/>
              </a:rPr>
              <a:t>1 536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36515" y="2331720"/>
            <a:ext cx="2088489" cy="768096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19395" y="2423160"/>
            <a:ext cx="172272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6B7A90"/>
                </a:solidFill>
                <a:latin typeface="Segoe UI"/>
              </a:rPr>
              <a:t>MAX WARPS / SM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19395" y="2715768"/>
            <a:ext cx="172272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E7EDF4"/>
                </a:solidFill>
                <a:latin typeface="Segoe UI"/>
              </a:rPr>
              <a:t>48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26172" y="2331720"/>
            <a:ext cx="2088489" cy="768096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326172" y="2331720"/>
            <a:ext cx="2088489" cy="768096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E25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509052" y="2423160"/>
            <a:ext cx="172272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6B7A90"/>
                </a:solidFill>
                <a:latin typeface="Segoe UI"/>
              </a:rPr>
              <a:t>REGISTERS / SM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09052" y="2715768"/>
            <a:ext cx="172272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E7EDF4"/>
                </a:solidFill>
                <a:latin typeface="Segoe UI"/>
              </a:rPr>
              <a:t>65 536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615830" y="2331720"/>
            <a:ext cx="2088489" cy="768096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615830" y="2331720"/>
            <a:ext cx="2088489" cy="768096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E25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798710" y="2423160"/>
            <a:ext cx="172272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6B7A90"/>
                </a:solidFill>
                <a:latin typeface="Segoe UI"/>
              </a:rPr>
              <a:t>SHARED MEM / SM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98710" y="2715768"/>
            <a:ext cx="172272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E7EDF4"/>
                </a:solidFill>
                <a:latin typeface="Segoe UI"/>
              </a:rPr>
              <a:t>100 kB</a:t>
            </a:r>
          </a:p>
        </p:txBody>
      </p:sp>
      <p:pic>
        <p:nvPicPr>
          <p:cNvPr id="60" name="Picture 59" descr="fig_occupa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3145536"/>
            <a:ext cx="10012680" cy="2901401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498348" y="6053328"/>
            <a:ext cx="11205972" cy="566928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57200" y="6053328"/>
            <a:ext cx="41148" cy="56692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3232" y="614476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DF4"/>
                </a:solidFill>
                <a:latin typeface="Segoe UI"/>
              </a:rPr>
              <a:t>16×16 is the balance point.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 33 % is not a failure to fix: it is what the register budget allows (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annex A1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), and at 9×9 one kernel nearly fills the machine on its own.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320040" cy="32004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784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6B7A90"/>
                </a:solidFill>
                <a:latin typeface="Segoe U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12379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7EDF4"/>
                </a:solidFill>
                <a:latin typeface="Segoe UI"/>
              </a:rPr>
              <a:t>Three acts, ordered by which bar is tallest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98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877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455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0344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8613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9191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9770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0348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9275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1506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20847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26633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241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3820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4399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9777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55564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61350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7136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72922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78708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84494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90280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96066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01852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40763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1342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1921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324997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30783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93656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24235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54814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237976" y="652881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90"/>
                </a:solidFill>
                <a:latin typeface="Segoe UI"/>
              </a:rPr>
              <a:t>10 / 34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1911095"/>
            <a:ext cx="11247120" cy="14630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5488" y="1627632"/>
            <a:ext cx="75620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 spc="140">
                <a:solidFill>
                  <a:srgbClr val="1E90C2"/>
                </a:solidFill>
                <a:latin typeface="Segoe UI"/>
              </a:rPr>
              <a:t>ACT I  ·  FEED THE GPU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67528" y="1664208"/>
            <a:ext cx="63276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A90"/>
                </a:solidFill>
                <a:latin typeface="Segoe UI"/>
              </a:rPr>
              <a:t>the host cannot submit work fast enough   at 3×3  [f64]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2011680"/>
            <a:ext cx="11247120" cy="457200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" y="2011680"/>
            <a:ext cx="36576" cy="457200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2376" y="2103120"/>
            <a:ext cx="9418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90C2"/>
                </a:solidFill>
                <a:latin typeface="Consolas"/>
              </a:rPr>
              <a:t>opt1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28800" y="2048256"/>
            <a:ext cx="47274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7EDF4"/>
                </a:solidFill>
                <a:latin typeface="Segoe UI"/>
              </a:rPr>
              <a:t>First CUDA port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828800" y="2258568"/>
            <a:ext cx="52943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A90"/>
                </a:solidFill>
                <a:latin typeface="Segoe UI"/>
              </a:rPr>
              <a:t>1 stream, one launch per frame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77656" y="2093976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E90C2"/>
                </a:solidFill>
                <a:latin typeface="Segoe UI"/>
              </a:rPr>
              <a:t>×2.34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2514600"/>
            <a:ext cx="11247120" cy="457200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57200" y="2514600"/>
            <a:ext cx="36576" cy="457200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22376" y="2606040"/>
            <a:ext cx="9418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90C2"/>
                </a:solidFill>
                <a:latin typeface="Consolas"/>
              </a:rPr>
              <a:t>opt2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28800" y="2551176"/>
            <a:ext cx="47274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7EDF4"/>
                </a:solidFill>
                <a:latin typeface="Segoe UI"/>
              </a:rPr>
              <a:t>Streams + batching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28800" y="2761488"/>
            <a:ext cx="52943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A90"/>
                </a:solidFill>
                <a:latin typeface="Segoe UI"/>
              </a:rPr>
              <a:t>4 streams, drained every 4 frames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77656" y="2596896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E90C2"/>
                </a:solidFill>
                <a:latin typeface="Segoe UI"/>
              </a:rPr>
              <a:t>×3.66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3017520"/>
            <a:ext cx="11247120" cy="457200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57200" y="3017520"/>
            <a:ext cx="36576" cy="457200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22376" y="3108960"/>
            <a:ext cx="9418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90C2"/>
                </a:solidFill>
                <a:latin typeface="Consolas"/>
              </a:rPr>
              <a:t>opt3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828800" y="3054096"/>
            <a:ext cx="47274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7EDF4"/>
                </a:solidFill>
                <a:latin typeface="Segoe UI"/>
              </a:rPr>
              <a:t>Pipeline rework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828800" y="3264408"/>
            <a:ext cx="52943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A90"/>
                </a:solidFill>
                <a:latin typeface="Segoe UI"/>
              </a:rPr>
              <a:t>sync barriers removed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77656" y="3099815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E90C2"/>
                </a:solidFill>
                <a:latin typeface="Segoe UI"/>
              </a:rPr>
              <a:t>×4.32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3520439"/>
            <a:ext cx="11247120" cy="457200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57200" y="3520439"/>
            <a:ext cx="36576" cy="457200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22376" y="3611879"/>
            <a:ext cx="9418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90C2"/>
                </a:solidFill>
                <a:latin typeface="Consolas"/>
              </a:rPr>
              <a:t>opt4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828800" y="3557015"/>
            <a:ext cx="47274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7EDF4"/>
                </a:solidFill>
                <a:latin typeface="Segoe UI"/>
              </a:rPr>
              <a:t>Pinned memory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28800" y="3767327"/>
            <a:ext cx="52943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A90"/>
                </a:solidFill>
                <a:latin typeface="Segoe UI"/>
              </a:rPr>
              <a:t>DMA-speed host transfers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77656" y="3602735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E90C2"/>
                </a:solidFill>
                <a:latin typeface="Segoe UI"/>
              </a:rPr>
              <a:t>×5.69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4306823"/>
            <a:ext cx="11247120" cy="14630"/>
          </a:xfrm>
          <a:prstGeom prst="rect">
            <a:avLst/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75488" y="4023359"/>
            <a:ext cx="75620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 spc="140">
                <a:solidFill>
                  <a:srgbClr val="E7EDF4"/>
                </a:solidFill>
                <a:latin typeface="Segoe UI"/>
              </a:rPr>
              <a:t>ACT II  ·  GET THE RESULTS BACK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367528" y="4059935"/>
            <a:ext cx="63276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A90"/>
                </a:solidFill>
                <a:latin typeface="Segoe UI"/>
              </a:rPr>
              <a:t>the host copy is now the tallest bar   at 3×3  [f64]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" y="4407407"/>
            <a:ext cx="11247120" cy="457200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57200" y="4407407"/>
            <a:ext cx="36576" cy="457200"/>
          </a:xfrm>
          <a:prstGeom prst="rect">
            <a:avLst/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22376" y="4498847"/>
            <a:ext cx="9418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DF4"/>
                </a:solidFill>
                <a:latin typeface="Consolas"/>
              </a:rPr>
              <a:t>opt5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828800" y="4443983"/>
            <a:ext cx="47274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7EDF4"/>
                </a:solidFill>
                <a:latin typeface="Segoe UI"/>
              </a:rPr>
              <a:t>Host↔GPU overlap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828800" y="4654296"/>
            <a:ext cx="52943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A90"/>
                </a:solidFill>
                <a:latin typeface="Segoe UI"/>
              </a:rPr>
              <a:t>chunked submit / collect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677656" y="4489703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7EDF4"/>
                </a:solidFill>
                <a:latin typeface="Segoe UI"/>
              </a:rPr>
              <a:t>×7.45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4910327"/>
            <a:ext cx="11247120" cy="457200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57200" y="4910327"/>
            <a:ext cx="36576" cy="457200"/>
          </a:xfrm>
          <a:prstGeom prst="rect">
            <a:avLst/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22376" y="5001767"/>
            <a:ext cx="9418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DF4"/>
                </a:solidFill>
                <a:latin typeface="Consolas"/>
              </a:rPr>
              <a:t>opt6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828800" y="4946903"/>
            <a:ext cx="47274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7EDF4"/>
                </a:solidFill>
                <a:latin typeface="Segoe UI"/>
              </a:rPr>
              <a:t>Zero-copy collection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828800" y="5157215"/>
            <a:ext cx="52943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A90"/>
                </a:solidFill>
                <a:latin typeface="Segoe UI"/>
              </a:rPr>
              <a:t>read in place, never copy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677656" y="4992623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7EDF4"/>
                </a:solidFill>
                <a:latin typeface="Segoe UI"/>
              </a:rPr>
              <a:t>×8.65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7200" y="5696711"/>
            <a:ext cx="11247120" cy="14630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75488" y="5413247"/>
            <a:ext cx="75620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 spc="140">
                <a:solidFill>
                  <a:srgbClr val="E8B25C"/>
                </a:solidFill>
                <a:latin typeface="Segoe UI"/>
              </a:rPr>
              <a:t>ACT III  ·  THE KERNEL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367528" y="5449823"/>
            <a:ext cx="63276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A90"/>
                </a:solidFill>
                <a:latin typeface="Segoe UI"/>
              </a:rPr>
              <a:t>the kernel is the tallest bar, at 9×9   at 9×9  [f32]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57200" y="5797295"/>
            <a:ext cx="11247120" cy="457200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457200" y="5797295"/>
            <a:ext cx="36576" cy="457200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22376" y="5888735"/>
            <a:ext cx="9418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B25C"/>
                </a:solidFill>
                <a:latin typeface="Consolas"/>
              </a:rPr>
              <a:t>opt7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828800" y="5833871"/>
            <a:ext cx="47274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7EDF4"/>
                </a:solidFill>
                <a:latin typeface="Segoe UI"/>
              </a:rPr>
              <a:t>FP32 pedestal + variance rewrite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828800" y="6044183"/>
            <a:ext cx="52943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A90"/>
                </a:solidFill>
                <a:latin typeface="Segoe UI"/>
              </a:rPr>
              <a:t>the only kernel change in the deck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677656" y="5879591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8B25C"/>
                </a:solidFill>
                <a:latin typeface="Segoe UI"/>
              </a:rPr>
              <a:t>kernel −41%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57200" y="6382512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90"/>
                </a:solidFill>
                <a:latin typeface="Segoe UI"/>
              </a:rPr>
              <a:t>Speedups are 3×3 against the best CPU configuration, 24 threads.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0664" y="1389888"/>
            <a:ext cx="54772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 spc="180">
                <a:solidFill>
                  <a:srgbClr val="6B7A90"/>
                </a:solidFill>
                <a:latin typeface="Segoe UI"/>
              </a:rPr>
              <a:t>ACT I OF III · FEED THE GPU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0664" y="1737360"/>
            <a:ext cx="56692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E7EDF4"/>
                </a:solidFill>
                <a:latin typeface="Segoe UI"/>
              </a:rPr>
              <a:t>Bottleneck: host submission and PCIe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" y="3127248"/>
            <a:ext cx="1417320" cy="27432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3383280"/>
            <a:ext cx="538581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5B2C4"/>
                </a:solidFill>
                <a:latin typeface="Segoe UI"/>
              </a:rPr>
              <a:t>The kernel was fast almost immediately. This act is about the host, and it is told at 3×3, where PCIe is the floor.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" y="5074920"/>
            <a:ext cx="5385816" cy="1024128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0664" y="5074920"/>
            <a:ext cx="32004" cy="102412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5212080"/>
            <a:ext cx="49103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40">
                <a:solidFill>
                  <a:srgbClr val="6B7A90"/>
                </a:solidFill>
                <a:latin typeface="Segoe UI"/>
              </a:rPr>
              <a:t>STARTING FROM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5413248"/>
            <a:ext cx="49103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E90C2"/>
                </a:solidFill>
                <a:latin typeface="Segoe UI"/>
              </a:rPr>
              <a:t>6 762 FPS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5833872"/>
            <a:ext cx="4910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90"/>
                </a:solidFill>
                <a:latin typeface="Segoe UI"/>
              </a:rPr>
              <a:t>24-thread CPU · 14.8 s for 100 000 frames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56248" y="1783080"/>
            <a:ext cx="10972" cy="4023360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0568" y="2317813"/>
            <a:ext cx="47274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6B7A90"/>
                </a:solidFill>
                <a:latin typeface="Segoe UI"/>
              </a:rPr>
              <a:t>COMING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0568" y="2738437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90C2"/>
                </a:solidFill>
                <a:latin typeface="Consolas"/>
              </a:rP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2738437"/>
            <a:ext cx="4187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7EDF4"/>
                </a:solidFill>
                <a:latin typeface="Segoe UI"/>
              </a:rPr>
              <a:t>two memories, one wire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0568" y="3197542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90C2"/>
                </a:solidFill>
                <a:latin typeface="Consolas"/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7808" y="3197542"/>
            <a:ext cx="4187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7EDF4"/>
                </a:solidFill>
                <a:latin typeface="Segoe UI"/>
              </a:rPr>
              <a:t>opt1 · first 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0568" y="3656647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90C2"/>
                </a:solidFill>
                <a:latin typeface="Consolas"/>
              </a:rPr>
              <a:t>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7808" y="3656647"/>
            <a:ext cx="4187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7EDF4"/>
                </a:solidFill>
                <a:latin typeface="Segoe UI"/>
              </a:rPr>
              <a:t>opt2 · four streams, four deep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4115752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90C2"/>
                </a:solidFill>
                <a:latin typeface="Consolas"/>
              </a:rPr>
              <a:t>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7808" y="4115752"/>
            <a:ext cx="4187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7EDF4"/>
                </a:solidFill>
                <a:latin typeface="Segoe UI"/>
              </a:rPr>
              <a:t>opt3 · the whole batch in flight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0568" y="4574857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90C2"/>
                </a:solidFill>
                <a:latin typeface="Consolas"/>
              </a:rPr>
              <a:t>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07808" y="4574857"/>
            <a:ext cx="4187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7EDF4"/>
                </a:solidFill>
                <a:latin typeface="Segoe UI"/>
              </a:rPr>
              <a:t>opt4 · pinned memory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2986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68772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74558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680344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986130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91916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597702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903488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09275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515061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20847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26633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32419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738205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4399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349777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655564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61350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67136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72922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878708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84494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490280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796066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01852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40763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71342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01921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324997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630783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93656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24235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54814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320040" cy="32004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784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6B7A90"/>
                </a:solidFill>
                <a:latin typeface="Segoe UI"/>
              </a:rPr>
              <a:t>ACT I · THE TWO MEMORIES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12379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7EDF4"/>
                </a:solidFill>
                <a:latin typeface="Segoe UI"/>
              </a:rPr>
              <a:t>The GPU consumes 32× faster than PCIe delivers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98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877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455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0344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8613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9191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9770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0348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9275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15061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20847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26633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241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3820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4399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9777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55564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61350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7136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72922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78708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84494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90280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96066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01852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40763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1342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1921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324997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30783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93656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24235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54814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237976" y="652881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90"/>
                </a:solidFill>
                <a:latin typeface="Segoe UI"/>
              </a:rPr>
              <a:t>11 / 34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1664208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B7A90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A CUDA kernel addresses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the GPU's own memory and nothing else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. So every frame is copied in (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H2D, host to device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) and every result copied back out (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D2H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). Those two names are what the next five slides are about.</a:t>
            </a:r>
          </a:p>
        </p:txBody>
      </p:sp>
      <p:pic>
        <p:nvPicPr>
          <p:cNvPr id="42" name="Picture 41" descr="fig_gpu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578608"/>
            <a:ext cx="10241280" cy="3108505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498348" y="5852160"/>
            <a:ext cx="11205972" cy="713232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" y="5852160"/>
            <a:ext cx="41148" cy="713232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" y="594360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DF4"/>
                </a:solidFill>
                <a:latin typeface="Segoe UI"/>
              </a:rPr>
              <a:t>The asymmetry is the whole talk.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 Host DRAM runs at ~71 GB/s and VRAM at 1 008, but everything between them crawls through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31.5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90C2"/>
                </a:solidFill>
                <a:latin typeface="Segoe UI"/>
              </a:rPr>
              <a:t>OPT1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57200"/>
            <a:ext cx="9372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6B7A90"/>
                </a:solidFill>
                <a:latin typeface="Segoe UI"/>
              </a:rPr>
              <a:t>ACT I · THE FIRST CUDA 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12379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7EDF4"/>
                </a:solidFill>
                <a:latin typeface="Segoe UI"/>
              </a:rPr>
              <a:t>The first port runs at 26 % of the GPU's floor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98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877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455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0344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8613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9191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9770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0348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9275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15061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20847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26633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241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3820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4399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9777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55564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61350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7136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72922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78708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84494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90280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96066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01852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40763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1342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1921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324997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30783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93656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24235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54814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237976" y="652881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90"/>
                </a:solidFill>
                <a:latin typeface="Segoe UI"/>
              </a:rPr>
              <a:t>12 / 34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1664208"/>
            <a:ext cx="74615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B7A90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One copy in, one kernel, one copy out. The calls are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async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, but the clusters have to be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on the host and copied out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 before the next frame starts, so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nothing overlaps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2578608"/>
            <a:ext cx="7461504" cy="1527688"/>
          </a:xfrm>
          <a:prstGeom prst="roundRect">
            <a:avLst>
              <a:gd name="adj" fmla="val 5500"/>
            </a:avLst>
          </a:prstGeom>
          <a:solidFill>
            <a:srgbClr val="17202E"/>
          </a:solidFill>
          <a:ln w="12700">
            <a:solidFill>
              <a:srgbClr val="3A4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" y="2688336"/>
            <a:ext cx="7132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7C8A9E"/>
                </a:solidFill>
                <a:latin typeface="Segoe UI"/>
              </a:rPr>
              <a:t>ClusterFinderCUDAOpt2.hpp · find_clusters()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" y="2907791"/>
            <a:ext cx="7132320" cy="1308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cudaMemcpyAsync(d_frame,    h_src,      H2D, sc.stream);   // 1. frame in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find_clusters_in_single_frame&lt;&lt;&lt;..., sc.stream&gt;&gt;&gt;(...);    // 2. kernel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cudaMemcpyAsync(h_clusters, d_clusters, D2H, sc.stream);   // 3. clusters out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E90C2"/>
                </a:solidFill>
                <a:latin typeface="Consolas"/>
              </a:rPr>
              <a:t>cudaStreamSynchronize</a:t>
            </a:r>
            <a:r>
              <a:rPr sz="1050" b="0" i="0">
                <a:solidFill>
                  <a:srgbClr val="A5B2C4"/>
                </a:solidFill>
                <a:latin typeface="Consolas"/>
              </a:rPr>
              <a:t>(sc.stream);                          // 4. host stops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for (c : found) out.push_back(c);                          // 5. copy out</a:t>
            </a:r>
          </a:p>
        </p:txBody>
      </p:sp>
      <p:pic>
        <p:nvPicPr>
          <p:cNvPr id="45" name="Picture 44" descr="fig_opt1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261104"/>
            <a:ext cx="7461504" cy="1247218"/>
          </a:xfrm>
          <a:prstGeom prst="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498348" y="5632704"/>
            <a:ext cx="7420356" cy="868680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7200" y="5632704"/>
            <a:ext cx="41148" cy="868680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3232" y="5724144"/>
            <a:ext cx="7004304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DF4"/>
                </a:solidFill>
                <a:latin typeface="Segoe UI"/>
              </a:rPr>
              <a:t>PCIe is full-duplex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: H2D, kernel and D2H run on independent engines and overlap, so the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floor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 is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max(H2D, kernel, D2H)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, never the sum. At 3×3 that is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16.2 µs → 61 859 FPS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 [s4].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57031" y="1828800"/>
            <a:ext cx="10972" cy="4160520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85632" y="1828800"/>
            <a:ext cx="33101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40">
                <a:solidFill>
                  <a:srgbClr val="6B7A90"/>
                </a:solidFill>
                <a:latin typeface="Segoe UI"/>
              </a:rPr>
              <a:t>OPT1 · 3×3 · 100 K FRAMES · F64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85632" y="2212848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6B7A90"/>
                </a:solidFill>
                <a:latin typeface="Segoe UI"/>
              </a:rPr>
              <a:t>THROUGHPUT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85632" y="2432304"/>
            <a:ext cx="33101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7EDF4"/>
                </a:solidFill>
                <a:latin typeface="Segoe UI"/>
              </a:rPr>
              <a:t>15 807 FPS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85632" y="3145536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6B7A90"/>
                </a:solidFill>
                <a:latin typeface="Segoe UI"/>
              </a:rPr>
              <a:t>VS 24-THREAD CPU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85632" y="3364991"/>
            <a:ext cx="33101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90C2"/>
                </a:solidFill>
                <a:latin typeface="Segoe UI"/>
              </a:rPr>
              <a:t>×2.34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85632" y="4078224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6B7A90"/>
                </a:solidFill>
                <a:latin typeface="Segoe UI"/>
              </a:rPr>
              <a:t>PER FRAME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85632" y="4297680"/>
            <a:ext cx="33101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5B2C4"/>
                </a:solidFill>
                <a:latin typeface="Segoe UI"/>
              </a:rPr>
              <a:t>63.3 µs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85632" y="4828031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6B7A90"/>
                </a:solidFill>
                <a:latin typeface="Segoe UI"/>
              </a:rPr>
              <a:t>H2D · KERNEL · D2H  [S4]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85632" y="5047488"/>
            <a:ext cx="33101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5B2C4"/>
                </a:solidFill>
                <a:latin typeface="Segoe UI"/>
              </a:rPr>
              <a:t>16.2 · 15.2 · 7.7 µs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85632" y="5486399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6B7A90"/>
                </a:solidFill>
                <a:latin typeface="Segoe UI"/>
              </a:rPr>
              <a:t>% OF FLOOR · 61 859 FPS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85632" y="5705855"/>
            <a:ext cx="33101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B25C"/>
                </a:solidFill>
                <a:latin typeface="Segoe UI"/>
              </a:rPr>
              <a:t>26 %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85632" y="6144767"/>
            <a:ext cx="331012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5B2C4"/>
                </a:solidFill>
                <a:latin typeface="Segoe UI"/>
              </a:rPr>
              <a:t>[s1] opt1's own, uncontended: 13.1 · 14.7 · 5.3 µs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90C2"/>
                </a:solidFill>
                <a:latin typeface="Segoe UI"/>
              </a:rPr>
              <a:t>OPT2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57200"/>
            <a:ext cx="9372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6B7A90"/>
                </a:solidFill>
                <a:latin typeface="Segoe UI"/>
              </a:rPr>
              <a:t>ACT I · STREAMS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12379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7EDF4"/>
                </a:solidFill>
                <a:latin typeface="Segoe UI"/>
              </a:rPr>
              <a:t>Four streams, but only four frames deep: ×1.56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98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877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455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0344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8613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9191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9770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0348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9275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15061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20847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26633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241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3820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4399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9777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55564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61350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7136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72922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78708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84494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90280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96066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01852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40763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1342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1921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324997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30783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93656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24235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54814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237976" y="652881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90"/>
                </a:solidFill>
                <a:latin typeface="Segoe UI"/>
              </a:rPr>
              <a:t>13 / 34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1664208"/>
            <a:ext cx="74615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B7A90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A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stream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 is an ordered queue of GPU work. Work in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different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 streams may overlap, so a copy can run while another stream computes.</a:t>
            </a:r>
          </a:p>
        </p:txBody>
      </p:sp>
      <p:pic>
        <p:nvPicPr>
          <p:cNvPr id="42" name="Picture 41" descr="fig_opt2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59152"/>
            <a:ext cx="6949440" cy="147210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57200" y="4023360"/>
            <a:ext cx="74615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B7A90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Each stream owns its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own buffers and pedestal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; frames go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round-robin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4443984"/>
            <a:ext cx="7461504" cy="1527688"/>
          </a:xfrm>
          <a:prstGeom prst="roundRect">
            <a:avLst>
              <a:gd name="adj" fmla="val 5500"/>
            </a:avLst>
          </a:prstGeom>
          <a:solidFill>
            <a:srgbClr val="17202E"/>
          </a:solidFill>
          <a:ln w="12700">
            <a:solidFill>
              <a:srgbClr val="3A4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" y="4553712"/>
            <a:ext cx="7132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7C8A9E"/>
                </a:solidFill>
                <a:latin typeface="Segoe UI"/>
              </a:rPr>
              <a:t>ClusterFinderCUDAOpt2.hpp · per-stream state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" y="4773168"/>
            <a:ext cx="7132320" cy="1308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struct StreamContextOpt2 {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    cudaStream_t   stream;      FRAME_TYPE *h_frame;  // pinned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    FRAME_TYPE    *d_frame;     ClusterType *d_clusters;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    PEDESTAL_TYPE *d_pd_mean, *d_pd_sum, *d_pd_sum2;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};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auto &amp;sc_k = v_sc[k];  // round-robin: frame = round*</a:t>
            </a:r>
            <a:r>
              <a:rPr sz="1050" b="1" i="0">
                <a:solidFill>
                  <a:srgbClr val="1E90C2"/>
                </a:solidFill>
                <a:latin typeface="Consolas"/>
              </a:rPr>
              <a:t>n_streams</a:t>
            </a:r>
            <a:r>
              <a:rPr sz="1050" b="0" i="0">
                <a:solidFill>
                  <a:srgbClr val="A5B2C4"/>
                </a:solidFill>
                <a:latin typeface="Consolas"/>
              </a:rPr>
              <a:t> + 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8348" y="6089904"/>
            <a:ext cx="7420356" cy="530352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" y="6089904"/>
            <a:ext cx="41148" cy="530352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3232" y="6181344"/>
            <a:ext cx="7004304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DF4"/>
                </a:solidFill>
                <a:latin typeface="Segoe UI"/>
              </a:rPr>
              <a:t>Scaffolding, not yet the payoff.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 The streams exist, but the host still synchronises after every round: see opt3.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57031" y="1828800"/>
            <a:ext cx="10972" cy="4160520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85632" y="1828800"/>
            <a:ext cx="33101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40">
                <a:solidFill>
                  <a:srgbClr val="6B7A90"/>
                </a:solidFill>
                <a:latin typeface="Segoe UI"/>
              </a:rPr>
              <a:t>OPT2 · 3×3 · 4 STREAMS · 4 DEEP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85632" y="2212848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6B7A90"/>
                </a:solidFill>
                <a:latin typeface="Segoe UI"/>
              </a:rPr>
              <a:t>THROUGHPUT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85632" y="2432304"/>
            <a:ext cx="33101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7EDF4"/>
                </a:solidFill>
                <a:latin typeface="Segoe UI"/>
              </a:rPr>
              <a:t>24 726 FPS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85632" y="3145536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6B7A90"/>
                </a:solidFill>
                <a:latin typeface="Segoe UI"/>
              </a:rPr>
              <a:t>VS 24-THREAD CPU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85632" y="3364991"/>
            <a:ext cx="33101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90C2"/>
                </a:solidFill>
                <a:latin typeface="Segoe UI"/>
              </a:rPr>
              <a:t>×3.66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85632" y="4123944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6B7A90"/>
                </a:solidFill>
                <a:latin typeface="Segoe UI"/>
              </a:rPr>
              <a:t>PER FRAME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85632" y="4343400"/>
            <a:ext cx="33101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5B2C4"/>
                </a:solidFill>
                <a:latin typeface="Segoe UI"/>
              </a:rPr>
              <a:t>40.4 µs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85632" y="4782312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6B7A90"/>
                </a:solidFill>
                <a:latin typeface="Segoe UI"/>
              </a:rPr>
              <a:t>STEP GAIN OVER OPT1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85632" y="5001768"/>
            <a:ext cx="33101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90C2"/>
                </a:solidFill>
                <a:latin typeface="Segoe UI"/>
              </a:rPr>
              <a:t>×1.56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85632" y="5440679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6B7A90"/>
                </a:solidFill>
                <a:latin typeface="Segoe UI"/>
              </a:rPr>
              <a:t>% OF FLOOR · 61 859 FPS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85632" y="5660136"/>
            <a:ext cx="33101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B25C"/>
                </a:solidFill>
                <a:latin typeface="Segoe UI"/>
              </a:rPr>
              <a:t>40 %  (was 26)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90C2"/>
                </a:solidFill>
                <a:latin typeface="Segoe UI"/>
              </a:rPr>
              <a:t>OPT3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57200"/>
            <a:ext cx="9372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6B7A90"/>
                </a:solidFill>
                <a:latin typeface="Segoe UI"/>
              </a:rPr>
              <a:t>ACT I · REMOVE THE SYNC BARRIERS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12379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7EDF4"/>
                </a:solidFill>
                <a:latin typeface="Segoe UI"/>
              </a:rPr>
              <a:t>One sync per batch, not one per round: ×1.18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98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877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455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0344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8613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9191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9770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0348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9275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15061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20847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26633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2419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3820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4399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9777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55564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61350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7136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72922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78708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84494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90280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96066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01852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40763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1342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1921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324997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30783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93656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24235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54814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237976" y="652881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90"/>
                </a:solidFill>
                <a:latin typeface="Segoe UI"/>
              </a:rPr>
              <a:t>14 / 34</a:t>
            </a:r>
          </a:p>
        </p:txBody>
      </p:sp>
      <p:pic>
        <p:nvPicPr>
          <p:cNvPr id="41" name="Picture 40" descr="fig_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00784"/>
            <a:ext cx="7360920" cy="3206069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8046720" y="1700784"/>
            <a:ext cx="3749039" cy="2616464"/>
          </a:xfrm>
          <a:prstGeom prst="roundRect">
            <a:avLst>
              <a:gd name="adj" fmla="val 5500"/>
            </a:avLst>
          </a:prstGeom>
          <a:solidFill>
            <a:srgbClr val="17202E"/>
          </a:solidFill>
          <a:ln w="12700">
            <a:solidFill>
              <a:srgbClr val="3A4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11312" y="1810512"/>
            <a:ext cx="34198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7C8A9E"/>
                </a:solidFill>
                <a:latin typeface="Segoe UI"/>
              </a:rPr>
              <a:t>THE BARRIER, BEFORE AND AFTER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11312" y="2029967"/>
            <a:ext cx="3419856" cy="239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C8A9E"/>
                </a:solidFill>
                <a:latin typeface="Consolas"/>
              </a:rPr>
              <a:t>// opt2:  a drain after EVERY round of 4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for (round) {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   for (k : 4) submit(frame);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   for (k : 4) </a:t>
            </a:r>
            <a:r>
              <a:rPr sz="1050" b="1" i="0">
                <a:solidFill>
                  <a:srgbClr val="1E90C2"/>
                </a:solidFill>
                <a:latin typeface="Consolas"/>
              </a:rPr>
              <a:t>cudaStreamSynchronize</a:t>
            </a:r>
            <a:r>
              <a:rPr sz="1050" b="0" i="0">
                <a:solidFill>
                  <a:srgbClr val="A5B2C4"/>
                </a:solidFill>
                <a:latin typeface="Consolas"/>
              </a:rPr>
              <a:t>(sc[k]);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}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C8A9E"/>
                </a:solidFill>
                <a:latin typeface="Consolas"/>
              </a:rPr>
              <a:t>// opt3:  submit the whole batch, drain once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for (frame : batch) {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   cudaMemcpyAsync(..., sc.stream);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   kernel&lt;&lt;&lt;..., sc.stream&gt;&gt;&gt;(...);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   cudaMemcpyAsync(..., sc.stream);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}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for (k : 4) </a:t>
            </a:r>
            <a:r>
              <a:rPr sz="1050" b="1" i="0">
                <a:solidFill>
                  <a:srgbClr val="1E90C2"/>
                </a:solidFill>
                <a:latin typeface="Consolas"/>
              </a:rPr>
              <a:t>cudaStreamSynchronize</a:t>
            </a:r>
            <a:r>
              <a:rPr sz="1050" b="0" i="0">
                <a:solidFill>
                  <a:srgbClr val="A5B2C4"/>
                </a:solidFill>
                <a:latin typeface="Consolas"/>
              </a:rPr>
              <a:t>(sc[k]);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87868" y="4443984"/>
            <a:ext cx="3707891" cy="786384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046720" y="4443984"/>
            <a:ext cx="41148" cy="786384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02752" y="4535424"/>
            <a:ext cx="3291839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DF4"/>
                </a:solidFill>
                <a:latin typeface="Segoe UI"/>
              </a:rPr>
              <a:t>29 188 FPS · ×4.32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
34.3 µs/frame · 47 % of floor (was 40)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5413248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B7A90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opt2 drained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all four streams after every round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. The host then copied four frames out, with every engine idle.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B7A90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opt3 submits every frame's H2D → kernel → D2H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asynchronously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 and synchronises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once per batch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2179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90"/>
                </a:solidFill>
                <a:latin typeface="Segoe UI"/>
              </a:rPr>
              <a:t>Each lane is one stream; H2D and D2H are one FIFO engine each. The red blocks are the host: 48 % of opt1's frame, 46 % of opt2's round. opt3 removes a second, per-frame barrier as well: annex A3.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90C2"/>
                </a:solidFill>
                <a:latin typeface="Segoe UI"/>
              </a:rPr>
              <a:t>OPT4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57200"/>
            <a:ext cx="9372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6B7A90"/>
                </a:solidFill>
                <a:latin typeface="Segoe UI"/>
              </a:rPr>
              <a:t>ACT I · PINNED (PAGE-LOCKED)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12379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7EDF4"/>
                </a:solidFill>
                <a:latin typeface="Segoe UI"/>
              </a:rPr>
              <a:t>Pinning the input buys DMA-speed H2D: ×1.32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98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877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455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0344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8613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9191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9770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0348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9275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15061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20847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26633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2419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38205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4399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9777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55564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61350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7136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72922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78708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84494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90280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96066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01852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40763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1342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1921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324997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30783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93656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24235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54814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237976" y="652881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90"/>
                </a:solidFill>
                <a:latin typeface="Segoe UI"/>
              </a:rPr>
              <a:t>15 / 34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1664208"/>
            <a:ext cx="74615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B7A90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Normal host memory is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pageable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, so the driver stages every transfer through a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hidden pinned buffer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: copied twice.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B7A90"/>
                </a:solidFill>
                <a:latin typeface="Segoe UI"/>
              </a:rPr>
              <a:t>• 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Pinning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 locks the pages in RAM, so the DMA engine reads host memory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directly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.</a:t>
            </a:r>
          </a:p>
        </p:txBody>
      </p:sp>
      <p:pic>
        <p:nvPicPr>
          <p:cNvPr id="42" name="Picture 41" descr="fig_pi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072384"/>
            <a:ext cx="7406640" cy="2757247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8046720" y="3072384"/>
            <a:ext cx="3749039" cy="1709150"/>
          </a:xfrm>
          <a:prstGeom prst="roundRect">
            <a:avLst>
              <a:gd name="adj" fmla="val 5500"/>
            </a:avLst>
          </a:prstGeom>
          <a:solidFill>
            <a:srgbClr val="17202E"/>
          </a:solidFill>
          <a:ln w="12700">
            <a:solidFill>
              <a:srgbClr val="3A4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11312" y="3182112"/>
            <a:ext cx="34198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7C8A9E"/>
                </a:solidFill>
                <a:latin typeface="Segoe UI"/>
              </a:rPr>
              <a:t>ClusterFinderCUDA.hpp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11312" y="3401568"/>
            <a:ext cx="3419856" cy="14896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C8A9E"/>
                </a:solidFill>
                <a:latin typeface="Consolas"/>
              </a:rPr>
              <a:t>// pin the whole dataset once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E90C2"/>
                </a:solidFill>
                <a:latin typeface="Consolas"/>
              </a:rPr>
              <a:t>cudaHostRegister</a:t>
            </a:r>
            <a:r>
              <a:rPr sz="1050" b="0" i="0">
                <a:solidFill>
                  <a:srgbClr val="A5B2C4"/>
                </a:solidFill>
                <a:latin typeface="Consolas"/>
              </a:rPr>
              <a:t>(ptr, bytes,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                 cudaHostRegisterDefault);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C8A9E"/>
                </a:solidFill>
                <a:latin typeface="Consolas"/>
              </a:rPr>
              <a:t>// ... run the whole campaign ...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E90C2"/>
                </a:solidFill>
                <a:latin typeface="Consolas"/>
              </a:rPr>
              <a:t>cudaHostUnregister</a:t>
            </a:r>
            <a:r>
              <a:rPr sz="1050" b="0" i="0">
                <a:solidFill>
                  <a:srgbClr val="A5B2C4"/>
                </a:solidFill>
                <a:latin typeface="Consolas"/>
              </a:rPr>
              <a:t>(ptr);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87868" y="4846320"/>
            <a:ext cx="3707891" cy="914400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046720" y="4846320"/>
            <a:ext cx="41148" cy="914400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02752" y="4937759"/>
            <a:ext cx="329183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DF4"/>
                </a:solidFill>
                <a:latin typeface="Segoe UI"/>
              </a:rPr>
              <a:t>38 486 FPS · ×5.69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
26.0 µs/frame · 62 % of floor, the largest step in Act 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98348" y="5888736"/>
            <a:ext cx="11205972" cy="713232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57200" y="5888736"/>
            <a:ext cx="41148" cy="713232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3232" y="5980176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DF4"/>
                </a:solidFill>
                <a:latin typeface="Segoe UI"/>
              </a:rPr>
              <a:t>Measured H2D: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 one 312.5 KiB frame in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13.2 µs = 24.2 GB/s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, which is 77 % of PCIe 4.0 ×16: true DMA speed.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Pageable staging manages ~15 GB/s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 for the same frame, because it is copied twice.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0664" y="1389888"/>
            <a:ext cx="54772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 spc="180">
                <a:solidFill>
                  <a:srgbClr val="6B7A90"/>
                </a:solidFill>
                <a:latin typeface="Segoe UI"/>
              </a:rPr>
              <a:t>ACT II OF III · GET THE RESULTS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0664" y="1737360"/>
            <a:ext cx="56692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E7EDF4"/>
                </a:solidFill>
                <a:latin typeface="Segoe UI"/>
              </a:rPr>
              <a:t>Bottleneck: the result copy, host to host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" y="3127248"/>
            <a:ext cx="1417320" cy="27432"/>
          </a:xfrm>
          <a:prstGeom prst="rect">
            <a:avLst/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3383280"/>
            <a:ext cx="538581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5B2C4"/>
                </a:solidFill>
                <a:latin typeface="Segoe UI"/>
              </a:rPr>
              <a:t>Both transfers are DMA already. What is slow is what happens AFTER the D2H: copying clusters out of the finder's pinned buffer into heap the caller owns. Host to host. Still 3×3, but 9×9 is where this act pays most.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" y="5074920"/>
            <a:ext cx="5385816" cy="1024128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0664" y="5074920"/>
            <a:ext cx="32004" cy="1024128"/>
          </a:xfrm>
          <a:prstGeom prst="rect">
            <a:avLst/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5212080"/>
            <a:ext cx="49103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40">
                <a:solidFill>
                  <a:srgbClr val="6B7A90"/>
                </a:solidFill>
                <a:latin typeface="Segoe UI"/>
              </a:rPr>
              <a:t>ARRIVING 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5413248"/>
            <a:ext cx="49103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7EDF4"/>
                </a:solidFill>
                <a:latin typeface="Segoe UI"/>
              </a:rPr>
              <a:t>38 486 FPS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5833872"/>
            <a:ext cx="4910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90"/>
                </a:solidFill>
                <a:latin typeface="Segoe UI"/>
              </a:rPr>
              <a:t>opt4 · 26.0 µs per frame · 62 % of the GPU floor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56248" y="1783080"/>
            <a:ext cx="10972" cy="4023360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0568" y="2776918"/>
            <a:ext cx="47274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6B7A90"/>
                </a:solidFill>
                <a:latin typeface="Segoe UI"/>
              </a:rPr>
              <a:t>COMING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0568" y="3197542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EDF4"/>
                </a:solidFill>
                <a:latin typeface="Consolas"/>
              </a:rPr>
              <a:t>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3197542"/>
            <a:ext cx="4187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7EDF4"/>
                </a:solidFill>
                <a:latin typeface="Segoe UI"/>
              </a:rPr>
              <a:t>opt5 · host↔GPU overlap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0568" y="3656647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EDF4"/>
                </a:solidFill>
                <a:latin typeface="Consolas"/>
              </a:rPr>
              <a:t>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7808" y="3656647"/>
            <a:ext cx="4187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7EDF4"/>
                </a:solidFill>
                <a:latin typeface="Segoe UI"/>
              </a:rPr>
              <a:t>9×9 · why overlap runs 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0568" y="4115752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EDF4"/>
                </a:solidFill>
                <a:latin typeface="Consolas"/>
              </a:rPr>
              <a:t>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7808" y="4115752"/>
            <a:ext cx="4187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7EDF4"/>
                </a:solidFill>
                <a:latin typeface="Segoe UI"/>
              </a:rPr>
              <a:t>opt6 · zero-copy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2986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68772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374558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680344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986130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91916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97702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3488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9275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15061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20847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26633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32419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38205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43991" y="6656832"/>
            <a:ext cx="275207" cy="41148"/>
          </a:xfrm>
          <a:prstGeom prst="rect">
            <a:avLst/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349777" y="6656832"/>
            <a:ext cx="275207" cy="41148"/>
          </a:xfrm>
          <a:prstGeom prst="rect">
            <a:avLst/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55564" y="6656832"/>
            <a:ext cx="275207" cy="41148"/>
          </a:xfrm>
          <a:prstGeom prst="rect">
            <a:avLst/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61350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67136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572922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878708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184494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490280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96066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101852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40763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71342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01921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324997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630783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93656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24235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54814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90C2"/>
                </a:solidFill>
                <a:latin typeface="Segoe UI"/>
              </a:rPr>
              <a:t>OPT5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57200"/>
            <a:ext cx="9372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6B7A90"/>
                </a:solidFill>
                <a:latin typeface="Segoe UI"/>
              </a:rPr>
              <a:t>ACT II · HOST↔GPU OVERLAP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12379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7EDF4"/>
                </a:solidFill>
                <a:latin typeface="Segoe UI"/>
              </a:rPr>
              <a:t>Overlapping host and GPU hides min(host, GPU): ×1.31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98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877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455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0344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8613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9191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9770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0348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9275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15061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20847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26633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2419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38205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43991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9777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55564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61350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7136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72922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78708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84494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90280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96066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01852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40763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1342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1921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324997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30783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93656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24235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54814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237976" y="652881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90"/>
                </a:solidFill>
                <a:latin typeface="Segoe UI"/>
              </a:rPr>
              <a:t>16 / 34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1664208"/>
            <a:ext cx="74615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B7A90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opt3 overlapped the GPU's own engines, never the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host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 with the GPU: the batch synchronised, then built ClusterVectors with the GPU idle.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B7A90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opt5 keeps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one batch in flight while materialising the previous one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.</a:t>
            </a:r>
          </a:p>
        </p:txBody>
      </p:sp>
      <p:pic>
        <p:nvPicPr>
          <p:cNvPr id="42" name="Picture 41" descr="fig_overl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688336"/>
            <a:ext cx="7772400" cy="2348600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457200" y="5212080"/>
            <a:ext cx="7461504" cy="1346225"/>
          </a:xfrm>
          <a:prstGeom prst="roundRect">
            <a:avLst>
              <a:gd name="adj" fmla="val 5500"/>
            </a:avLst>
          </a:prstGeom>
          <a:solidFill>
            <a:srgbClr val="17202E"/>
          </a:solidFill>
          <a:ln w="12700">
            <a:solidFill>
              <a:srgbClr val="3A4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" y="5321808"/>
            <a:ext cx="7132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7C8A9E"/>
                </a:solidFill>
                <a:latin typeface="Segoe UI"/>
              </a:rPr>
              <a:t>you never write these: find_clusters_batched() wraps them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" y="5541264"/>
            <a:ext cx="7132320" cy="11267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tok = cf.</a:t>
            </a:r>
            <a:r>
              <a:rPr sz="1050" b="1" i="0">
                <a:solidFill>
                  <a:srgbClr val="1E90C2"/>
                </a:solidFill>
                <a:latin typeface="Consolas"/>
              </a:rPr>
              <a:t>submit_batch</a:t>
            </a:r>
            <a:r>
              <a:rPr sz="1050" b="0" i="0">
                <a:solidFill>
                  <a:srgbClr val="A5B2C4"/>
                </a:solidFill>
                <a:latin typeface="Consolas"/>
              </a:rPr>
              <a:t>(data[a0:b0], first_frame=a0)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for a, b in bounds[1:]: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    nxt = cf.</a:t>
            </a:r>
            <a:r>
              <a:rPr sz="1050" b="1" i="0">
                <a:solidFill>
                  <a:srgbClr val="1E90C2"/>
                </a:solidFill>
                <a:latin typeface="Consolas"/>
              </a:rPr>
              <a:t>submit_batch</a:t>
            </a:r>
            <a:r>
              <a:rPr sz="1050" b="0" i="0">
                <a:solidFill>
                  <a:srgbClr val="A5B2C4"/>
                </a:solidFill>
                <a:latin typeface="Consolas"/>
              </a:rPr>
              <a:t>(data[a:b], first_frame=a)   // GPU starts i+1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    results.extend(cf.</a:t>
            </a:r>
            <a:r>
              <a:rPr sz="1050" b="1" i="0">
                <a:solidFill>
                  <a:srgbClr val="1E90C2"/>
                </a:solidFill>
                <a:latin typeface="Consolas"/>
              </a:rPr>
              <a:t>collect</a:t>
            </a:r>
            <a:r>
              <a:rPr sz="1050" b="0" i="0">
                <a:solidFill>
                  <a:srgbClr val="A5B2C4"/>
                </a:solidFill>
                <a:latin typeface="Consolas"/>
              </a:rPr>
              <a:t>(tok))                   // host unpacks i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    tok = nxt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57031" y="1828800"/>
            <a:ext cx="10972" cy="4160520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85632" y="1828800"/>
            <a:ext cx="33101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40">
                <a:solidFill>
                  <a:srgbClr val="6B7A90"/>
                </a:solidFill>
                <a:latin typeface="Segoe UI"/>
              </a:rPr>
              <a:t>OPT5 · F64 · NO CUDA WORK AT ALL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85632" y="2212848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6B7A90"/>
                </a:solidFill>
                <a:latin typeface="Segoe UI"/>
              </a:rPr>
              <a:t>3×3 THROUGHPUT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85632" y="2432304"/>
            <a:ext cx="33101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7EDF4"/>
                </a:solidFill>
                <a:latin typeface="Segoe UI"/>
              </a:rPr>
              <a:t>50 410 FPS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85632" y="3145536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6B7A90"/>
                </a:solidFill>
                <a:latin typeface="Segoe UI"/>
              </a:rPr>
              <a:t>PER FRAME · STEP · OF FLOOR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85632" y="3364991"/>
            <a:ext cx="33101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90C2"/>
                </a:solidFill>
                <a:latin typeface="Segoe UI"/>
              </a:rPr>
              <a:t>19.8 µs · ×1.31 · 81 %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85632" y="3950208"/>
            <a:ext cx="33101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40">
                <a:solidFill>
                  <a:srgbClr val="6B7A90"/>
                </a:solidFill>
                <a:latin typeface="Segoe UI"/>
              </a:rPr>
              <a:t>THE WHOLE CHANGE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85632" y="4297680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6B7A90"/>
                </a:solidFill>
                <a:latin typeface="Segoe UI"/>
              </a:rPr>
              <a:t>CUDA API CALLS ADDED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85632" y="4517136"/>
            <a:ext cx="33101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5B2C4"/>
                </a:solidFill>
                <a:latin typeface="Segoe UI"/>
              </a:rPr>
              <a:t>none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85632" y="4956048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6B7A90"/>
                </a:solidFill>
                <a:latin typeface="Segoe UI"/>
              </a:rPr>
              <a:t>WHAT MOVED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85632" y="5175504"/>
            <a:ext cx="33101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DF4"/>
                </a:solidFill>
                <a:latin typeface="Segoe UI"/>
              </a:rPr>
              <a:t>the host loop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85632" y="5797296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6B7A90"/>
                </a:solidFill>
                <a:latin typeface="Segoe UI"/>
              </a:rPr>
              <a:t>9×9 · SAME CHANGE, HALF THE CEILING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85632" y="6016752"/>
            <a:ext cx="33101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B25C"/>
                </a:solidFill>
                <a:latin typeface="Segoe UI"/>
              </a:rPr>
              <a:t>66.4 µs · ×1.20 · 45 %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90C2"/>
                </a:solidFill>
                <a:latin typeface="Segoe UI"/>
              </a:rPr>
              <a:t>OPT5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57200"/>
            <a:ext cx="9372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6B7A90"/>
                </a:solidFill>
                <a:latin typeface="Segoe UI"/>
              </a:rPr>
              <a:t>ACT II · AT 9×9 · WHY OVERLAP RUNS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12379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7EDF4"/>
                </a:solidFill>
                <a:latin typeface="Segoe UI"/>
              </a:rPr>
              <a:t>Overlap runs out: the host is the taller bar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98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877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455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0344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8613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9191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9770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0348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9275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15061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20847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26633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2419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38205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43991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9777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55564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61350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7136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72922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78708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84494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90280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96066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01852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40763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1342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1921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324997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30783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93656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24235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54814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237976" y="652881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90"/>
                </a:solidFill>
                <a:latin typeface="Segoe UI"/>
              </a:rPr>
              <a:t>17 / 34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1664208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B7A90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At 3×3 the host copy is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shorter than the GPU floor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 and hides under it. At 9×9 it is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roughly twice the floor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, so overlap has less to hide: opt5 is worth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×1.20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 here against ×1.31 at 3×3.</a:t>
            </a:r>
          </a:p>
        </p:txBody>
      </p:sp>
      <p:pic>
        <p:nvPicPr>
          <p:cNvPr id="42" name="Picture 41" descr="fig_overlap_9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286000"/>
            <a:ext cx="10680192" cy="3450185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498348" y="5760720"/>
            <a:ext cx="11205972" cy="603504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" y="5760720"/>
            <a:ext cx="41148" cy="603504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" y="5852159"/>
            <a:ext cx="107899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5B2C4"/>
                </a:solidFill>
                <a:latin typeface="Segoe UI"/>
              </a:rPr>
              <a:t>A deeper buffer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relocates the GPU's idle, it does not close it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: the host lane is already back-to-back in both strips, so it alone sets the pace.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The only way down is to make the host term smaller.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90"/>
                </a:solidFill>
                <a:latin typeface="Segoe UI"/>
              </a:rPr>
              <a:t>Measured proportions: GPU 30.01 µs/frame, host ~62 µs steady-state [A10].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90C2"/>
                </a:solidFill>
                <a:latin typeface="Segoe UI"/>
              </a:rPr>
              <a:t>OPT6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57200"/>
            <a:ext cx="9372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6B7A90"/>
                </a:solidFill>
                <a:latin typeface="Segoe UI"/>
              </a:rPr>
              <a:t>ACT II · ZERO-COPY COLLECTION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12379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7EDF4"/>
                </a:solidFill>
                <a:latin typeface="Segoe UI"/>
              </a:rPr>
              <a:t>Read the results in place: ×2.21 at 9×9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98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877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455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0344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8613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9191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9770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0348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9275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15061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20847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26633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2419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38205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43991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9777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55564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61350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7136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72922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78708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84494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90280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96066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01852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40763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1342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1921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324997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30783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93656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24235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54814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237976" y="652881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90"/>
                </a:solidFill>
                <a:latin typeface="Segoe UI"/>
              </a:rPr>
              <a:t>18 / 34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1664208"/>
            <a:ext cx="74615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B7A90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The D2H lands in a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pinned host buffer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; collect() then allocates one ClusterVector per frame and memcpys into it: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467 kB per frame at 9×9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B7A90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collect_view() returns a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BatchView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 onto that buffer instead: it withholds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ownership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 past the chunk, not access.</a:t>
            </a:r>
          </a:p>
        </p:txBody>
      </p:sp>
      <p:pic>
        <p:nvPicPr>
          <p:cNvPr id="42" name="Picture 41" descr="fig_result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072384"/>
            <a:ext cx="7772400" cy="2420524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498348" y="5779008"/>
            <a:ext cx="7420356" cy="731520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" y="5779008"/>
            <a:ext cx="41148" cy="731520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" y="5870448"/>
            <a:ext cx="700430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5B2C4"/>
                </a:solidFill>
                <a:latin typeface="Segoe UI"/>
              </a:rPr>
              <a:t>The win is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max(0, host copy − GPU floor)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. At 3×3 the copy already hid under the floor; at 9×9 it is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twice the floor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 and cannot hide at any overlap.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57031" y="1828800"/>
            <a:ext cx="10972" cy="4160520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85632" y="1828800"/>
            <a:ext cx="33101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40">
                <a:solidFill>
                  <a:srgbClr val="6B7A90"/>
                </a:solidFill>
                <a:latin typeface="Segoe UI"/>
              </a:rPr>
              <a:t>OPT6 · 3×3 AND 9×9 · COLLECT_VIEW()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85632" y="2212848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6B7A90"/>
                </a:solidFill>
                <a:latin typeface="Segoe UI"/>
              </a:rPr>
              <a:t>3×3 THROUGHPUT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85632" y="2432304"/>
            <a:ext cx="33101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7EDF4"/>
                </a:solidFill>
                <a:latin typeface="Segoe UI"/>
              </a:rPr>
              <a:t>58 495 FPS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85632" y="3145536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6B7A90"/>
                </a:solidFill>
                <a:latin typeface="Segoe UI"/>
              </a:rPr>
              <a:t>PER FRAME · STEP · OF FLOOR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85632" y="3364991"/>
            <a:ext cx="33101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90C2"/>
                </a:solidFill>
                <a:latin typeface="Segoe UI"/>
              </a:rPr>
              <a:t>17.1 µs · ×1.16 · 95 %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85632" y="3931920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6B7A90"/>
                </a:solidFill>
                <a:latin typeface="Segoe UI"/>
              </a:rPr>
              <a:t>9×9 THROUGHPUT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85632" y="4151376"/>
            <a:ext cx="33101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7EDF4"/>
                </a:solidFill>
                <a:latin typeface="Segoe UI"/>
              </a:rPr>
              <a:t>33 323 FPS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85632" y="4864608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6B7A90"/>
                </a:solidFill>
                <a:latin typeface="Segoe UI"/>
              </a:rPr>
              <a:t>PER FRAME · STEP · OF FLOOR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85632" y="5084064"/>
            <a:ext cx="33101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B25C"/>
                </a:solidFill>
                <a:latin typeface="Segoe UI"/>
              </a:rPr>
              <a:t>30.0 µs · ×2.21 · 100 %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85632" y="5632704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6B7A90"/>
                </a:solidFill>
                <a:latin typeface="Segoe UI"/>
              </a:rPr>
              <a:t>RESULTS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85632" y="5852160"/>
            <a:ext cx="33101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5B2C4"/>
                </a:solidFill>
                <a:latin typeface="Segoe UI"/>
              </a:rPr>
              <a:t>bit-identical to opt5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0664" y="1389888"/>
            <a:ext cx="54772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 spc="180">
                <a:solidFill>
                  <a:srgbClr val="6B7A90"/>
                </a:solidFill>
                <a:latin typeface="Segoe UI"/>
              </a:rPr>
              <a:t>ACT III OF III · THE KERNEL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0664" y="1737360"/>
            <a:ext cx="56692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E7EDF4"/>
                </a:solidFill>
                <a:latin typeface="Segoe UI"/>
              </a:rPr>
              <a:t>Bottleneck: the kernel itself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" y="3127248"/>
            <a:ext cx="1417320" cy="27432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3383280"/>
            <a:ext cx="538581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5B2C4"/>
                </a:solidFill>
                <a:latin typeface="Segoe UI"/>
              </a:rPr>
              <a:t>The story moves to 9×9, where the kernel is finally the tallest bar, and where most of what it does is update the pedestal, not find photons.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" y="5074920"/>
            <a:ext cx="5385816" cy="1024128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0664" y="5074920"/>
            <a:ext cx="32004" cy="102412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5212080"/>
            <a:ext cx="49103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40">
                <a:solidFill>
                  <a:srgbClr val="6B7A90"/>
                </a:solidFill>
                <a:latin typeface="Segoe UI"/>
              </a:rPr>
              <a:t>ARRIVING 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5413248"/>
            <a:ext cx="49103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8B25C"/>
                </a:solidFill>
                <a:latin typeface="Segoe UI"/>
              </a:rPr>
              <a:t>58 495 FPS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5833872"/>
            <a:ext cx="4910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90"/>
                </a:solidFill>
                <a:latin typeface="Segoe UI"/>
              </a:rPr>
              <a:t>opt6 · 3×3, and 33 323 FPS at 9×9, where this act pays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56248" y="1783080"/>
            <a:ext cx="10972" cy="4023360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0568" y="2638806"/>
            <a:ext cx="47274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6B7A90"/>
                </a:solidFill>
                <a:latin typeface="Segoe UI"/>
              </a:rPr>
              <a:t>COMING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0568" y="3059430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8B25C"/>
                </a:solidFill>
                <a:latin typeface="Consolas"/>
              </a:rPr>
              <a:t>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3059430"/>
            <a:ext cx="4187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7EDF4"/>
                </a:solidFill>
                <a:latin typeface="Segoe UI"/>
              </a:rPr>
              <a:t>why the kernel, and where its time goes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0568" y="3794760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8B25C"/>
                </a:solidFill>
                <a:latin typeface="Consolas"/>
              </a:rPr>
              <a:t>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7808" y="3794760"/>
            <a:ext cx="4187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7EDF4"/>
                </a:solidFill>
                <a:latin typeface="Segoe UI"/>
              </a:rPr>
              <a:t>opt7 · FP32 pedestal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0568" y="4253865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8B25C"/>
                </a:solidFill>
                <a:latin typeface="Consolas"/>
              </a:rPr>
              <a:t>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7808" y="4253865"/>
            <a:ext cx="4187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7EDF4"/>
                </a:solidFill>
                <a:latin typeface="Segoe UI"/>
              </a:rPr>
              <a:t>why it comes last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2986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68772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374558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680344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986130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91916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97702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3488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9275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15061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20847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26633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32419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38205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43991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349777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55564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61350" y="6656832"/>
            <a:ext cx="275207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67136" y="6656832"/>
            <a:ext cx="275207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572922" y="6656832"/>
            <a:ext cx="275207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878708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184494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490280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96066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101852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40763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71342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01921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324997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630783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93656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24235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54814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320040" cy="32004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784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6B7A90"/>
                </a:solidFill>
                <a:latin typeface="Segoe UI"/>
              </a:rPr>
              <a:t>ACT III · WHY THE KERNEL, AND WHERE ITS TIME GOES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12379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7EDF4"/>
                </a:solidFill>
                <a:latin typeface="Segoe UI"/>
              </a:rPr>
              <a:t>The kernel is the tallest bar, and 80 % of it is pedestal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98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877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455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0344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8613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9191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9770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0348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9275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15061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20847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26633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2419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38205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43991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9777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55564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6135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7136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72922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78708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84494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90280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96066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01852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40763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1342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1921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324997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30783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93656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24235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54814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237976" y="652881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90"/>
                </a:solidFill>
                <a:latin typeface="Segoe UI"/>
              </a:rPr>
              <a:t>19 / 34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1664208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B7A90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At 9×9,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one stream with nothing else running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, the kernel takes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39.9 µs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 against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22.0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 for the copy out and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13.2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 for the copy in. For the first time in the talk it is the thing to fix.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B7A90"/>
                </a:solidFill>
                <a:latin typeface="Segoe UI"/>
              </a:rPr>
              <a:t>• 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~80 % of pixels see only noise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, and each takes the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pedestal-update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 branch: six running values read and written. Most of the kernel is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moving pedestal numbers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, not finding photons.</a:t>
            </a:r>
          </a:p>
        </p:txBody>
      </p:sp>
      <p:pic>
        <p:nvPicPr>
          <p:cNvPr id="42" name="Picture 41" descr="fig_kernel_bi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80944"/>
            <a:ext cx="11247120" cy="2808837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498348" y="5961888"/>
            <a:ext cx="11205972" cy="566928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" y="5961888"/>
            <a:ext cx="41148" cy="56692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" y="6053327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DF4"/>
                </a:solidFill>
                <a:latin typeface="Segoe UI"/>
              </a:rPr>
              <a:t>So attack the pedestal, not the photon search.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 The branch that runs on four pixels in five is the one worth making cheaper.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90C2"/>
                </a:solidFill>
                <a:latin typeface="Segoe UI"/>
              </a:rPr>
              <a:t>OPT7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57200"/>
            <a:ext cx="9372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6B7A90"/>
                </a:solidFill>
                <a:latin typeface="Segoe UI"/>
              </a:rPr>
              <a:t>ACT III · FP32 DEVICE PEDESTAL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12379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7EDF4"/>
                </a:solidFill>
                <a:latin typeface="Segoe UI"/>
              </a:rPr>
              <a:t>One typedef: −41 % on the kernel, and the floor moves to D2H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98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877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455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0344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8613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9191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9770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0348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9275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15061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20847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26633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2419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38205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43991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9777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55564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6135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713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72922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78708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84494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90280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96066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01852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40763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1342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1921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324997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30783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93656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24235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54814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237976" y="652881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90"/>
                </a:solidFill>
                <a:latin typeface="Segoe UI"/>
              </a:rPr>
              <a:t>20 / 34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1664208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B7A90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One typedef halves all four pedestal arrays (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48 bytes per updating pixel in FP64, 24 in FP32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), and the kernel is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bandwidth-bound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.</a:t>
            </a:r>
          </a:p>
        </p:txBody>
      </p:sp>
      <p:pic>
        <p:nvPicPr>
          <p:cNvPr id="42" name="Picture 41" descr="fig_f32_kernel_s1s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15184"/>
            <a:ext cx="7461504" cy="292211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57200" y="5724144"/>
            <a:ext cx="74615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90"/>
                </a:solidFill>
                <a:latin typeface="Segoe UI"/>
              </a:rPr>
              <a:t>Left: one stream, nothing else running, so the bar is a true duration and carries the −40.5 % claim. Right: the shipped four-stream pipeline, where the f32 kernel falls under a D2H bar that never moved. Full engine grid: A8.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46720" y="1664208"/>
            <a:ext cx="3749039" cy="1164762"/>
          </a:xfrm>
          <a:prstGeom prst="roundRect">
            <a:avLst>
              <a:gd name="adj" fmla="val 5500"/>
            </a:avLst>
          </a:prstGeom>
          <a:solidFill>
            <a:srgbClr val="17202E"/>
          </a:solidFill>
          <a:ln w="12700">
            <a:solidFill>
              <a:srgbClr val="3A4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11312" y="1773936"/>
            <a:ext cx="34198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7C8A9E"/>
                </a:solidFill>
                <a:latin typeface="Segoe UI"/>
              </a:rPr>
              <a:t>ONE TYPEDEF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11312" y="1993391"/>
            <a:ext cx="3419856" cy="9453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C8A9E"/>
                </a:solidFill>
                <a:latin typeface="Consolas"/>
              </a:rPr>
              <a:t>// clusterfinder_kernel.cuh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using COMPUTE_TYPE    = float;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using DEVICE_PED_TYPE = </a:t>
            </a:r>
            <a:r>
              <a:rPr sz="1050" b="1" i="0">
                <a:solidFill>
                  <a:srgbClr val="1E90C2"/>
                </a:solidFill>
                <a:latin typeface="Consolas"/>
              </a:rPr>
              <a:t>float</a:t>
            </a:r>
            <a:r>
              <a:rPr sz="1050" b="0" i="0">
                <a:solidFill>
                  <a:srgbClr val="A5B2C4"/>
                </a:solidFill>
                <a:latin typeface="Consolas"/>
              </a:rPr>
              <a:t>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C8A9E"/>
                </a:solidFill>
                <a:latin typeface="Consolas"/>
              </a:rPr>
              <a:t>//            was: double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87868" y="2944368"/>
            <a:ext cx="3707891" cy="859536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046720" y="2944368"/>
            <a:ext cx="41148" cy="859536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02752" y="3035808"/>
            <a:ext cx="3291839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5B2C4"/>
                </a:solidFill>
                <a:latin typeface="Segoe UI"/>
              </a:rPr>
              <a:t>Kernel, 9×9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uncontended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
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39.86 → 23.70 µs  (−40.5 %)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87868" y="3931920"/>
            <a:ext cx="3707891" cy="1188720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046720" y="3931920"/>
            <a:ext cx="41148" cy="1188720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02752" y="4023359"/>
            <a:ext cx="3291839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DF4"/>
                </a:solidFill>
                <a:latin typeface="Segoe UI"/>
              </a:rPr>
              <a:t>The bottleneck moves.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 In the shipped pipeline the kernel lands at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23.94 µs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, under a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25.24 µs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 D2H. The limit is now the result path, not the maths.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87868" y="5248656"/>
            <a:ext cx="3707891" cy="512064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046720" y="5248656"/>
            <a:ext cx="41148" cy="512064"/>
          </a:xfrm>
          <a:prstGeom prst="rect">
            <a:avLst/>
          </a:prstGeom>
          <a:solidFill>
            <a:srgbClr val="E25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02752" y="5340096"/>
            <a:ext cx="329183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5B2C4"/>
                </a:solidFill>
                <a:latin typeface="Segoe UI"/>
              </a:rPr>
              <a:t>Naive FP32 is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wrong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. See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annex A9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46720" y="5925312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90"/>
                </a:solidFill>
                <a:latin typeface="Segoe UI"/>
              </a:rPr>
              <a:t>Both builds, same git rev, 20 000 frames.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90C2"/>
                </a:solidFill>
                <a:latin typeface="Segoe UI"/>
              </a:rPr>
              <a:t>OPT7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57200"/>
            <a:ext cx="9372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6B7A90"/>
                </a:solidFill>
                <a:latin typeface="Segoe UI"/>
              </a:rPr>
              <a:t>ACT III · WHY THIS ACT COMES LAST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12379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7EDF4"/>
                </a:solidFill>
                <a:latin typeface="Segoe UI"/>
              </a:rPr>
              <a:t>opt7 saves the same 4.7 µs at every step: 6 % of opt4, 16 % of opt6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98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877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455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0344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8613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9191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9770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0348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9275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15061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20847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26633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2419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38205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43991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9777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55564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6135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713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7292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78708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84494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90280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96066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01852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40763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1342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1921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324997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30783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93656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24235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54814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237976" y="652881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90"/>
                </a:solidFill>
                <a:latin typeface="Segoe UI"/>
              </a:rPr>
              <a:t>21 / 34</a:t>
            </a:r>
          </a:p>
        </p:txBody>
      </p:sp>
      <p:pic>
        <p:nvPicPr>
          <p:cNvPr id="41" name="Picture 40" descr="fig_f32_absol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64208"/>
            <a:ext cx="11247120" cy="3238292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498348" y="5340096"/>
            <a:ext cx="11205972" cy="731520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5340096"/>
            <a:ext cx="41148" cy="731520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3232" y="5431536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DF4"/>
                </a:solidFill>
                <a:latin typeface="Segoe UI"/>
              </a:rPr>
              <a:t>opt7 ships at 25.1 µs/frame, 100 % of the 9×9 floor.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 And the act ends by handing that floor away: at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s4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 the f64 kernel bound the pipeline at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32.66 µs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; the typedef puts it at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23.94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, under a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25.24 µs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 D2H that never moved.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90"/>
                </a:solidFill>
                <a:latin typeface="Segoe UI"/>
              </a:rPr>
              <a:t>9×9 · 20 000 frames · 4 streams · cap 1 700 · warm · both arms at the same git rev. opt3 excluded and opt5 marked †: their arms sat in different allocator states. Worked through in annex A10.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0664" y="1389888"/>
            <a:ext cx="54772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 spc="180">
                <a:solidFill>
                  <a:srgbClr val="6B7A90"/>
                </a:solidFill>
                <a:latin typeface="Segoe UI"/>
              </a:rPr>
              <a:t>RESULTS · WHAT CAME OUT OF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0664" y="1737360"/>
            <a:ext cx="56692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E7EDF4"/>
                </a:solidFill>
                <a:latin typeface="Segoe UI"/>
              </a:rPr>
              <a:t>The full ladder, both cluster sizes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" y="3127248"/>
            <a:ext cx="1417320" cy="27432"/>
          </a:xfrm>
          <a:prstGeom prst="rect">
            <a:avLst/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3383280"/>
            <a:ext cx="538581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5B2C4"/>
                </a:solidFill>
                <a:latin typeface="Segoe UI"/>
              </a:rPr>
              <a:t>Both cluster sizes end to end, and the audit behind the numbers.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" y="5074920"/>
            <a:ext cx="5385816" cy="1024128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0664" y="5074920"/>
            <a:ext cx="32004" cy="1024128"/>
          </a:xfrm>
          <a:prstGeom prst="rect">
            <a:avLst/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5212080"/>
            <a:ext cx="49103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40">
                <a:solidFill>
                  <a:srgbClr val="6B7A90"/>
                </a:solidFill>
                <a:latin typeface="Segoe UI"/>
              </a:rPr>
              <a:t>ARRIVING 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5413248"/>
            <a:ext cx="49103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7EDF4"/>
                </a:solidFill>
                <a:latin typeface="Segoe UI"/>
              </a:rPr>
              <a:t>58 495 FPS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5833872"/>
            <a:ext cx="4910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90"/>
                </a:solidFill>
                <a:latin typeface="Segoe UI"/>
              </a:rPr>
              <a:t>opt6 · everything after this is the ladder seen whole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56248" y="1783080"/>
            <a:ext cx="10972" cy="4023360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0568" y="3006471"/>
            <a:ext cx="47274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6B7A90"/>
                </a:solidFill>
                <a:latin typeface="Segoe UI"/>
              </a:rPr>
              <a:t>COMING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0568" y="3427095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EDF4"/>
                </a:solidFill>
                <a:latin typeface="Consolas"/>
              </a:rPr>
              <a:t>22–23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3427095"/>
            <a:ext cx="4187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7EDF4"/>
                </a:solidFill>
                <a:latin typeface="Segoe UI"/>
              </a:rPr>
              <a:t>Results, both cluster sizes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0568" y="3886200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EDF4"/>
                </a:solidFill>
                <a:latin typeface="Consolas"/>
              </a:rPr>
              <a:t>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7808" y="3886200"/>
            <a:ext cx="4187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7EDF4"/>
                </a:solidFill>
                <a:latin typeface="Segoe UI"/>
              </a:rPr>
              <a:t>Where the time went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2986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68772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74558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680344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986130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91916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97702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03488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9275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15061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820847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26633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32419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738205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43991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349777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55564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61350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67136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72922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878708" y="6656832"/>
            <a:ext cx="275207" cy="41148"/>
          </a:xfrm>
          <a:prstGeom prst="rect">
            <a:avLst/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184494" y="6656832"/>
            <a:ext cx="275207" cy="41148"/>
          </a:xfrm>
          <a:prstGeom prst="rect">
            <a:avLst/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490280" y="6656832"/>
            <a:ext cx="275207" cy="41148"/>
          </a:xfrm>
          <a:prstGeom prst="rect">
            <a:avLst/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96066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101852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40763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71342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01921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324997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630783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93656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24235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54814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320040" cy="32004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784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6B7A90"/>
                </a:solidFill>
                <a:latin typeface="Segoe UI"/>
              </a:rPr>
              <a:t>RESULTS · 3×3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12379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7EDF4"/>
                </a:solidFill>
                <a:latin typeface="Segoe UI"/>
              </a:rPr>
              <a:t>×9.1 at 3×3, sitting on the H2D floor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98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877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455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0344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8613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9191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9770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0348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9275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15061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20847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26633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2419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38205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43991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9777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55564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6135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713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7292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7870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84494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90280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96066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01852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40763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1342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1921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324997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30783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93656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24235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54814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237976" y="652881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90"/>
                </a:solidFill>
                <a:latin typeface="Segoe UI"/>
              </a:rPr>
              <a:t>22 / 34</a:t>
            </a:r>
          </a:p>
        </p:txBody>
      </p:sp>
      <p:pic>
        <p:nvPicPr>
          <p:cNvPr id="41" name="Picture 40" descr="fig_a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776" y="1609344"/>
            <a:ext cx="8878824" cy="3552401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498348" y="5431536"/>
            <a:ext cx="5481828" cy="731520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5431536"/>
            <a:ext cx="41148" cy="731520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3232" y="5522976"/>
            <a:ext cx="506577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DF4"/>
                </a:solidFill>
                <a:latin typeface="Segoe UI"/>
              </a:rPr>
              <a:t>×9.1 over 24 CPU threads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, 14.8 s → 1.63 s for 100 000 frames, and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at the H2D floor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3348" y="5431536"/>
            <a:ext cx="5481828" cy="731520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72200" y="5431536"/>
            <a:ext cx="41148" cy="731520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28232" y="5522976"/>
            <a:ext cx="506577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5B2C4"/>
                </a:solidFill>
                <a:latin typeface="Segoe UI"/>
              </a:rPr>
              <a:t>Every step is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monotonic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, and correctness held constant throughout: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exact on the f64 pedestal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,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6 clusters in 23 M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 on the shipped f32.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364224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90"/>
                </a:solidFill>
                <a:latin typeface="Segoe UI"/>
              </a:rPr>
              <a:t>3×3 · nσ = 5 · 100 000 frames · batch 2 000 · 4 streams · warm = best of reps 1–4 · each step in its own process.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320040" cy="32004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784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6B7A90"/>
                </a:solidFill>
                <a:latin typeface="Segoe UI"/>
              </a:rPr>
              <a:t>RESULTS · 9×9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12379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7EDF4"/>
                </a:solidFill>
                <a:latin typeface="Segoe UI"/>
              </a:rPr>
              <a:t>×26.5 at 9×9, and opt7 hands the floor to D2H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98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877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455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0344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8613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9191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9770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0348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9275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15061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20847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26633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2419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38205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43991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9777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55564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6135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713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7292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7870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84494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90280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96066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01852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40763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1342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1921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324997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30783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93656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24235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54814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237976" y="652881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90"/>
                </a:solidFill>
                <a:latin typeface="Segoe UI"/>
              </a:rPr>
              <a:t>23 / 34</a:t>
            </a:r>
          </a:p>
        </p:txBody>
      </p:sp>
      <p:pic>
        <p:nvPicPr>
          <p:cNvPr id="41" name="Picture 40" descr="fig_arc_9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776" y="1609344"/>
            <a:ext cx="8878824" cy="3403688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498348" y="5431536"/>
            <a:ext cx="11205972" cy="658368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5431536"/>
            <a:ext cx="41148" cy="65836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3232" y="5522976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DF4"/>
                </a:solidFill>
                <a:latin typeface="Segoe UI"/>
              </a:rPr>
              <a:t>×26.5 over 32 CPU threads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; the kernel is the tallest bar for the whole f64 arm, and opt7's −40 % drops it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below D2H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272784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90"/>
                </a:solidFill>
                <a:latin typeface="Segoe UI"/>
              </a:rPr>
              <a:t>9×9 · cap 1 700 · 20 000 frames · CPU baseline at 32 threads. opt1 and opt2 are 3×3-only. Why the two arms differ is in the notes.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320040" cy="32004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784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6B7A90"/>
                </a:solidFill>
                <a:latin typeface="Segoe UI"/>
              </a:rPr>
              <a:t>WHERE THE TIME ACTUALLY WENT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12379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7EDF4"/>
                </a:solidFill>
                <a:latin typeface="Segoe UI"/>
              </a:rPr>
              <a:t>The host bar dies first, then the floor itself drops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98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877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455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0344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8613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9191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9770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0348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9275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15061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20847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26633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2419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38205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43991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9777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55564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6135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713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7292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7870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84494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9028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96066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01852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40763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1342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1921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324997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30783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93656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24235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54814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237976" y="652881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90"/>
                </a:solidFill>
                <a:latin typeface="Segoe UI"/>
              </a:rPr>
              <a:t>24 / 34</a:t>
            </a:r>
          </a:p>
        </p:txBody>
      </p:sp>
      <p:pic>
        <p:nvPicPr>
          <p:cNvPr id="41" name="Picture 40" descr="fig_over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776" y="1664208"/>
            <a:ext cx="8878824" cy="2946627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498348" y="4654296"/>
            <a:ext cx="5481828" cy="786384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4654296"/>
            <a:ext cx="41148" cy="786384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3232" y="4745736"/>
            <a:ext cx="5065776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DF4"/>
                </a:solidFill>
                <a:latin typeface="Segoe UI"/>
              </a:rPr>
              <a:t>Acts I and II never touch the arithmetic.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 The GPU floor is a flat 16.2 µs at 3×3 / 30.0 µs at 9×9; what collapses is everything stacked on it.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3348" y="4654296"/>
            <a:ext cx="5481828" cy="786384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72200" y="4654296"/>
            <a:ext cx="41148" cy="786384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28232" y="4745736"/>
            <a:ext cx="5065776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DF4"/>
                </a:solidFill>
                <a:latin typeface="Segoe UI"/>
              </a:rPr>
              <a:t>Act III is the only step that lowers the floor itself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, and it could not have been seen until the stack above it was gone.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5705856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90"/>
                </a:solidFill>
                <a:latin typeface="Segoe UI"/>
              </a:rPr>
              <a:t>Coloured = the GPU floor for that act's build. Grey = everything the host adds on top: +50 µs at opt3, nothing at opt6.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0664" y="1389888"/>
            <a:ext cx="54772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 spc="180">
                <a:solidFill>
                  <a:srgbClr val="6B7A90"/>
                </a:solidFill>
                <a:latin typeface="Segoe UI"/>
              </a:rPr>
              <a:t>VALIDATION · DOES IT FIND THE SAME PHOTONS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0664" y="1737360"/>
            <a:ext cx="56692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E7EDF4"/>
                </a:solidFill>
                <a:latin typeface="Segoe UI"/>
              </a:rPr>
              <a:t>Does it find the same clusters?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" y="3127248"/>
            <a:ext cx="1417320" cy="27432"/>
          </a:xfrm>
          <a:prstGeom prst="rect">
            <a:avLst/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3383280"/>
            <a:ext cx="538581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5B2C4"/>
                </a:solidFill>
                <a:latin typeface="Segoe UI"/>
              </a:rPr>
              <a:t>Whether the CUDA finder returns the same clusters as the CPU.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" y="5074920"/>
            <a:ext cx="5385816" cy="1024128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0664" y="5074920"/>
            <a:ext cx="32004" cy="1024128"/>
          </a:xfrm>
          <a:prstGeom prst="rect">
            <a:avLst/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5212080"/>
            <a:ext cx="49103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40">
                <a:solidFill>
                  <a:srgbClr val="6B7A90"/>
                </a:solidFill>
                <a:latin typeface="Segoe UI"/>
              </a:rPr>
              <a:t>ESTABLISHED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5413248"/>
            <a:ext cx="49103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7EDF4"/>
                </a:solidFill>
                <a:latin typeface="Segoe UI"/>
              </a:rPr>
              <a:t>×9.1 and ×26.5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5833872"/>
            <a:ext cx="4910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90"/>
                </a:solidFill>
                <a:latin typeface="Segoe UI"/>
              </a:rPr>
              <a:t>on the hardware floor at both cluster sizes, if the physics holds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56248" y="1783080"/>
            <a:ext cx="10972" cy="4023360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0568" y="2317813"/>
            <a:ext cx="47274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6B7A90"/>
                </a:solidFill>
                <a:latin typeface="Segoe UI"/>
              </a:rPr>
              <a:t>COMING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0568" y="2738437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EDF4"/>
                </a:solidFill>
                <a:latin typeface="Consolas"/>
              </a:rPr>
              <a:t>25–26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2738437"/>
            <a:ext cx="4187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7EDF4"/>
                </a:solidFill>
                <a:latin typeface="Segoe UI"/>
              </a:rPr>
              <a:t>The fair comparison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0568" y="3197542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EDF4"/>
                </a:solidFill>
                <a:latin typeface="Consolas"/>
              </a:rPr>
              <a:t>27–28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7808" y="3197542"/>
            <a:ext cx="4187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7EDF4"/>
                </a:solidFill>
                <a:latin typeface="Segoe UI"/>
              </a:rPr>
              <a:t>The f32 residual, dissected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0568" y="3656647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EDF4"/>
                </a:solidFill>
                <a:latin typeface="Consolas"/>
              </a:rPr>
              <a:t>29–31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7808" y="3656647"/>
            <a:ext cx="4187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7EDF4"/>
                </a:solidFill>
                <a:latin typeface="Segoe UI"/>
              </a:rPr>
              <a:t>The CPU-vs-CPU gap, named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4115752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EDF4"/>
                </a:solidFill>
                <a:latin typeface="Consolas"/>
              </a:rPr>
              <a:t>32–33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7808" y="4115752"/>
            <a:ext cx="4187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7EDF4"/>
                </a:solidFill>
                <a:latin typeface="Segoe UI"/>
              </a:rPr>
              <a:t>For users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0568" y="4574857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EDF4"/>
                </a:solidFill>
                <a:latin typeface="Consolas"/>
              </a:rPr>
              <a:t>34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07808" y="4574857"/>
            <a:ext cx="4187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7EDF4"/>
                </a:solidFill>
                <a:latin typeface="Segoe UI"/>
              </a:rPr>
              <a:t>What is next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2986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68772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74558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680344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986130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91916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597702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903488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09275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515061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20847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26633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32419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738205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43991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349777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655564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61350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67136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72922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878708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84494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490280" y="6656832"/>
            <a:ext cx="275207" cy="4114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796066" y="6656832"/>
            <a:ext cx="275207" cy="41148"/>
          </a:xfrm>
          <a:prstGeom prst="rect">
            <a:avLst/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01852" y="6656832"/>
            <a:ext cx="275207" cy="41148"/>
          </a:xfrm>
          <a:prstGeom prst="rect">
            <a:avLst/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407639" y="6656832"/>
            <a:ext cx="275207" cy="41148"/>
          </a:xfrm>
          <a:prstGeom prst="rect">
            <a:avLst/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713425" y="6656832"/>
            <a:ext cx="275207" cy="41148"/>
          </a:xfrm>
          <a:prstGeom prst="rect">
            <a:avLst/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019211" y="6656832"/>
            <a:ext cx="275207" cy="41148"/>
          </a:xfrm>
          <a:prstGeom prst="rect">
            <a:avLst/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324997" y="6656832"/>
            <a:ext cx="275207" cy="41148"/>
          </a:xfrm>
          <a:prstGeom prst="rect">
            <a:avLst/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630783" y="6656832"/>
            <a:ext cx="275207" cy="41148"/>
          </a:xfrm>
          <a:prstGeom prst="rect">
            <a:avLst/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936569" y="6656832"/>
            <a:ext cx="275207" cy="41148"/>
          </a:xfrm>
          <a:prstGeom prst="rect">
            <a:avLst/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242355" y="6656832"/>
            <a:ext cx="275207" cy="41148"/>
          </a:xfrm>
          <a:prstGeom prst="rect">
            <a:avLst/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548141" y="6656832"/>
            <a:ext cx="275207" cy="41148"/>
          </a:xfrm>
          <a:prstGeom prst="rect">
            <a:avLst/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320040" cy="32004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784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6B7A90"/>
                </a:solidFill>
                <a:latin typeface="Segoe UI"/>
              </a:rPr>
              <a:t>VALIDATION · WHY A CPU TWIN WAS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12379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7EDF4"/>
                </a:solidFill>
                <a:latin typeface="Segoe UI"/>
              </a:rPr>
              <a:t>CPU and CUDA update the pedestal at different moments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98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877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455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0344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8613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9191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9770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0348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9275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15061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20847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26633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2419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38205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43991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9777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55564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6135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713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7292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7870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84494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9028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9606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01852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40763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1342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1921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324997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30783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93656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24235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54814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237976" y="652881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90"/>
                </a:solidFill>
                <a:latin typeface="Segoe UI"/>
              </a:rPr>
              <a:t>25 / 34</a:t>
            </a:r>
          </a:p>
        </p:txBody>
      </p:sp>
      <p:pic>
        <p:nvPicPr>
          <p:cNvPr id="41" name="Picture 40" descr="fig_ped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64208"/>
            <a:ext cx="11530584" cy="3687077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498348" y="5468112"/>
            <a:ext cx="5481828" cy="786384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5468112"/>
            <a:ext cx="41148" cy="786384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3232" y="5559552"/>
            <a:ext cx="5065776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5B2C4"/>
                </a:solidFill>
                <a:latin typeface="Segoe UI"/>
              </a:rPr>
              <a:t>The CPU finder updates the pedestal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as the raster reaches each pixel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. 160 000 CUDA threads read it at once, so the update is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applied at the frame boundary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3348" y="5468112"/>
            <a:ext cx="5481828" cy="786384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72200" y="5468112"/>
            <a:ext cx="41148" cy="786384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28232" y="5559552"/>
            <a:ext cx="5065776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5B2C4"/>
                </a:solidFill>
                <a:latin typeface="Segoe UI"/>
              </a:rPr>
              <a:t>A straight CPU↔CUDA comparison therefore moves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two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 things at once.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ClusterFinderFrozen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 moves only the update: same arithmetic, same gates, same scan.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419088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90"/>
                </a:solidFill>
                <a:latin typeface="Segoe UI"/>
              </a:rPr>
              <a:t>Frozen is a diagnostic twin, not a product. Every finder trains on the same 1 000 pedestal frames and runs the same 10 000 data frames.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320040" cy="32004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784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6B7A90"/>
                </a:solidFill>
                <a:latin typeface="Segoe UI"/>
              </a:rPr>
              <a:t>VALIDATION · ISOLATING ONE VARIABLE AT A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12379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7EDF4"/>
                </a:solidFill>
                <a:latin typeface="Segoe UI"/>
              </a:rPr>
              <a:t>CUDA and its CPU twin agree exactly: 0 in 23 million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98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877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455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0344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8613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9191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9770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0348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9275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15061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20847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26633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2419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38205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43991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9777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55564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6135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713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7292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7870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84494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9028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9606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0185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40763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1342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1921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324997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30783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93656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24235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54814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237976" y="652881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90"/>
                </a:solidFill>
                <a:latin typeface="Segoe UI"/>
              </a:rPr>
              <a:t>26 / 34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1664208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B7A90"/>
                </a:solidFill>
                <a:latin typeface="Segoe UI"/>
              </a:rPr>
              <a:t>• 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ClusterFinderFrozen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 makes byte-for-byte the same decisions as ClusterFinder and differs in exactly one thing: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when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 the pedestal is updated. Frozen per frame, pushed at frame end. That is the CUDA model, so comparing against it isolates everything else the port changes.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3127248"/>
            <a:ext cx="11338560" cy="310896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3504" y="3200400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6B7A90"/>
                </a:solidFill>
                <a:latin typeface="Segoe UI"/>
              </a:rPr>
              <a:t>COMPARISON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78300" y="3200400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6B7A90"/>
                </a:solidFill>
                <a:latin typeface="Segoe UI"/>
              </a:rPr>
              <a:t>THE ONE THING THAT DIFFERS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13724" y="3200400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6B7A90"/>
                </a:solidFill>
                <a:latin typeface="Segoe UI"/>
              </a:rPr>
              <a:t>A-ONLY / B-ONLY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41280" y="3200400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6B7A90"/>
                </a:solidFill>
                <a:latin typeface="Segoe UI"/>
              </a:rPr>
              <a:t>% OF CLUSTERS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3474720"/>
            <a:ext cx="11338560" cy="548640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3504" y="3566160"/>
            <a:ext cx="29553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7EDF4"/>
                </a:solidFill>
                <a:latin typeface="Segoe UI"/>
              </a:rPr>
              <a:t>frozen CPU  vs  CUDA  [f64 ped]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78300" y="3566160"/>
            <a:ext cx="43159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B25C"/>
                </a:solidFill>
                <a:latin typeface="Segoe UI"/>
              </a:rPr>
              <a:t>nothing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13724" y="3566160"/>
            <a:ext cx="170809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B25C"/>
                </a:solidFill>
                <a:latin typeface="Segoe UI"/>
              </a:rPr>
              <a:t>0 / 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41280" y="3566160"/>
            <a:ext cx="14813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B25C"/>
                </a:solidFill>
                <a:latin typeface="Segoe UI"/>
              </a:rPr>
              <a:t>0 %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3504" y="4151375"/>
            <a:ext cx="29553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7EDF4"/>
                </a:solidFill>
                <a:latin typeface="Segoe UI"/>
              </a:rPr>
              <a:t>frozen CPU  vs  CUDA  [f32 ped]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78300" y="4151375"/>
            <a:ext cx="43159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the float32 pedestal EMA drifting: see next slide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13724" y="4151375"/>
            <a:ext cx="170809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0 / 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41280" y="4151375"/>
            <a:ext cx="14813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0.000026 %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20624" y="3438144"/>
            <a:ext cx="11411712" cy="621792"/>
          </a:xfrm>
          <a:prstGeom prst="roundRect">
            <a:avLst>
              <a:gd name="adj" fmla="val 6000"/>
            </a:avLst>
          </a:prstGeom>
          <a:noFill/>
          <a:ln w="22225">
            <a:solidFill>
              <a:srgbClr val="E25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8348" y="4937760"/>
            <a:ext cx="11205972" cy="694944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57200" y="4937760"/>
            <a:ext cx="41148" cy="694944"/>
          </a:xfrm>
          <a:prstGeom prst="rect">
            <a:avLst/>
          </a:prstGeom>
          <a:solidFill>
            <a:srgbClr val="E25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13232" y="5029200"/>
            <a:ext cx="107899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DF4"/>
                </a:solidFill>
                <a:latin typeface="Segoe UI"/>
              </a:rPr>
              <a:t>The ringed row is the port on its own.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 With the update timing held identical, the two finders agree on all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23 244 605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 clusters. Not small: zero. The six at f32 are the next slide.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5833872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90"/>
                </a:solidFill>
                <a:latin typeface="Segoe UI"/>
              </a:rPr>
              <a:t>3×3 · 10 000 frames · 23.2 M clusters · exact centre-set difference at tol = 0. [f64 ped] and [f32 ped] differ only in DEVICE_PED_TYPE. What is left once the timing is allowed to differ is slide 29.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320040" cy="32004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784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6B7A90"/>
                </a:solidFill>
                <a:latin typeface="Segoe UI"/>
              </a:rPr>
              <a:t>VALIDATION · THE DISAGREEMENT, SEEN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12379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7EDF4"/>
                </a:solidFill>
                <a:latin typeface="Segoe UI"/>
              </a:rPr>
              <a:t>The whole disagreement is one duplicate centre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98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877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455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0344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8613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9191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9770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0348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9275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15061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20847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26633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2419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38205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43991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9777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55564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6135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713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7292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7870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84494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9028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9606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0185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407639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1342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1921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324997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30783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93656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24235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54814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237976" y="652881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90"/>
                </a:solidFill>
                <a:latin typeface="Segoe UI"/>
              </a:rPr>
              <a:t>27 / 34</a:t>
            </a:r>
          </a:p>
        </p:txBody>
      </p:sp>
      <p:pic>
        <p:nvPicPr>
          <p:cNvPr id="41" name="Picture 40" descr="fig_mismatch1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1572768"/>
            <a:ext cx="10012680" cy="4238681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498348" y="5797296"/>
            <a:ext cx="5481828" cy="713232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5797296"/>
            <a:ext cx="41148" cy="713232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3232" y="5888736"/>
            <a:ext cx="506577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5B2C4"/>
                </a:solidFill>
                <a:latin typeface="Segoe UI"/>
              </a:rPr>
              <a:t>Only each finder's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own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 3×3 footprints are drawn, so the panels differ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exactly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 where the finders do.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3348" y="5797296"/>
            <a:ext cx="5481828" cy="713232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72200" y="5797296"/>
            <a:ext cx="41148" cy="713232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28232" y="5888736"/>
            <a:ext cx="506577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5B2C4"/>
                </a:solidFill>
                <a:latin typeface="Segoe UI"/>
              </a:rPr>
              <a:t>cuda's patch is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one row taller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: a second centre directly below the one both found.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The charge is already counted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: a duplicate, not a new photon.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320040" cy="32004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784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6B7A90"/>
                </a:solidFill>
                <a:latin typeface="Segoe UI"/>
              </a:rPr>
              <a:t>VALIDATION · THE SIX RESIDUALS, DISSECTED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12379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7EDF4"/>
                </a:solidFill>
                <a:latin typeface="Segoe UI"/>
              </a:rPr>
              <a:t>float32 cannot tell these two pixels apart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98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877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455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0344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8613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9191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9770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0348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9275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15061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20847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26633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2419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38205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43991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9777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55564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6135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713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7292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7870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84494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9028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9606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0185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407639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13425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1921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324997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30783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93656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24235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54814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237976" y="652881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90"/>
                </a:solidFill>
                <a:latin typeface="Segoe UI"/>
              </a:rPr>
              <a:t>28 / 34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1664208"/>
            <a:ext cx="5998464" cy="2759933"/>
          </a:xfrm>
          <a:prstGeom prst="roundRect">
            <a:avLst>
              <a:gd name="adj" fmla="val 5500"/>
            </a:avLst>
          </a:prstGeom>
          <a:solidFill>
            <a:srgbClr val="17202E"/>
          </a:solidFill>
          <a:ln w="12700">
            <a:solidFill>
              <a:srgbClr val="3A4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" y="1773936"/>
            <a:ext cx="5669279" cy="25404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frame 147    centre (x=202, y=8)      3×3 window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raw window (ADU)     pedestal-subtracted, 1 decimal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[[4646 5282 4703]    [[ 45.3 </a:t>
            </a:r>
            <a:r>
              <a:rPr sz="1050" b="1" i="0">
                <a:solidFill>
                  <a:srgbClr val="1E90C2"/>
                </a:solidFill>
                <a:latin typeface="Consolas"/>
              </a:rPr>
              <a:t>638.4</a:t>
            </a:r>
            <a:r>
              <a:rPr sz="1050" b="0" i="0">
                <a:solidFill>
                  <a:srgbClr val="A5B2C4"/>
                </a:solidFill>
                <a:latin typeface="Consolas"/>
              </a:rPr>
              <a:t> -12.1]   frozen and cuda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 [4857 5318 4950]     [ 43.7 </a:t>
            </a:r>
            <a:r>
              <a:rPr sz="1050" b="1" i="0">
                <a:solidFill>
                  <a:srgbClr val="1E90C2"/>
                </a:solidFill>
                <a:latin typeface="Consolas"/>
              </a:rPr>
              <a:t>638.4</a:t>
            </a:r>
            <a:r>
              <a:rPr sz="1050" b="0" i="0">
                <a:solidFill>
                  <a:srgbClr val="A5B2C4"/>
                </a:solidFill>
                <a:latin typeface="Consolas"/>
              </a:rPr>
              <a:t>  -7.5]   print the SAME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 [4763 4640 4858]]    [  1.1  70.7  136.4]]   window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the two contenders, at full precision: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                        rival (dy=-1)     centre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frozen  [f64 ped]     </a:t>
            </a:r>
            <a:r>
              <a:rPr sz="1050" b="1" i="0">
                <a:solidFill>
                  <a:srgbClr val="E25454"/>
                </a:solidFill>
                <a:latin typeface="Consolas"/>
              </a:rPr>
              <a:t>638.383019956</a:t>
            </a:r>
            <a:r>
              <a:rPr sz="1050" b="0" i="0">
                <a:solidFill>
                  <a:srgbClr val="A5B2C4"/>
                </a:solidFill>
                <a:latin typeface="Consolas"/>
              </a:rPr>
              <a:t>   638.382773664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cuda    [f32 ped]     </a:t>
            </a:r>
            <a:r>
              <a:rPr sz="1050" b="1" i="0">
                <a:solidFill>
                  <a:srgbClr val="1E90C2"/>
                </a:solidFill>
                <a:latin typeface="Consolas"/>
              </a:rPr>
              <a:t>638.382812500</a:t>
            </a:r>
            <a:r>
              <a:rPr sz="1050" b="0" i="0">
                <a:solidFill>
                  <a:srgbClr val="A5B2C4"/>
                </a:solidFill>
                <a:latin typeface="Consolas"/>
              </a:rPr>
              <a:t>   </a:t>
            </a:r>
            <a:r>
              <a:rPr sz="1050" b="1" i="0">
                <a:solidFill>
                  <a:srgbClr val="1E90C2"/>
                </a:solidFill>
                <a:latin typeface="Consolas"/>
              </a:rPr>
              <a:t>638.382812500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gate:  accept if  centre &gt;= max(window)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   frozen   638.382773664 &gt;= 638.383019956  -&gt;  reject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   cuda     638.382812500 &gt;= 638.382812500  -&gt;  </a:t>
            </a:r>
            <a:r>
              <a:rPr sz="1050" b="1" i="0">
                <a:solidFill>
                  <a:srgbClr val="1E90C2"/>
                </a:solidFill>
                <a:latin typeface="Consolas"/>
              </a:rPr>
              <a:t>accept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" y="4443984"/>
            <a:ext cx="5957316" cy="914400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" y="4443984"/>
            <a:ext cx="41148" cy="914400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" y="4535424"/>
            <a:ext cx="5541264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5B2C4"/>
                </a:solidFill>
                <a:latin typeface="Segoe UI"/>
              </a:rPr>
              <a:t>Under the f64 pedestal the two pixels are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0.000246 ADU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 apart; one float32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ULP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* here is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0.000488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.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Half a ULP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: in float32, the same number.</a:t>
            </a:r>
          </a:p>
        </p:txBody>
      </p:sp>
      <p:pic>
        <p:nvPicPr>
          <p:cNvPr id="46" name="Picture 45" descr="fig_spectra_val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1664208"/>
            <a:ext cx="5102352" cy="3532397"/>
          </a:xfrm>
          <a:prstGeom prst="rect">
            <a:avLst/>
          </a:prstGeom>
        </p:spPr>
      </p:pic>
      <p:sp>
        <p:nvSpPr>
          <p:cNvPr id="47" name="Rectangle 46"/>
          <p:cNvSpPr/>
          <p:nvPr/>
        </p:nvSpPr>
        <p:spPr>
          <a:xfrm>
            <a:off x="498348" y="5577840"/>
            <a:ext cx="11205972" cy="475488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" y="5577840"/>
            <a:ext cx="41148" cy="47548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3232" y="5669279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DF4"/>
                </a:solidFill>
                <a:latin typeface="Segoe UI"/>
              </a:rPr>
              <a:t>At f64 the residual is zero.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181344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90"/>
                </a:solidFill>
                <a:latin typeface="Segoe UI"/>
              </a:rPr>
              <a:t>*  ULP = unit in the last place, the gap between one float32 and the next. Here it is 2⁻¹¹ = 0.000488 ADU, set by the ~5 000 ADU operands of the subtraction, not by the 638 ADU answer, whose own ULP is 8× finer.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320040" cy="32004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784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6B7A90"/>
                </a:solidFill>
                <a:latin typeface="Segoe UI"/>
              </a:rPr>
              <a:t>VALIDATION · THE RESIDUAL THAT IS LEFT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12379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7EDF4"/>
                </a:solidFill>
                <a:latin typeface="Segoe UI"/>
              </a:rPr>
              <a:t>All 19 clusters come from when the pedestal is updated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98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877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455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0344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8613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9191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9770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0348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9275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15061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20847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26633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2419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38205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43991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9777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55564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6135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713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7292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7870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84494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9028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9606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0185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407639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13425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19211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324997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30783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93656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24235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54814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237976" y="652881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90"/>
                </a:solidFill>
                <a:latin typeface="Segoe UI"/>
              </a:rPr>
              <a:t>29 / 34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1664208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B7A90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The serial finder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updates the pedestal as it scans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, so a pixel can be tested against a pedestal its own neighbours already moved. Frozen and CUDA both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hold the pedestal still for the whole frame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B7A90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That is the only thing separating these two rows from the exact pair. And the rows carry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the same 8 and 11 clusters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, so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nothing CUDA does contributes anything at all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3127248"/>
            <a:ext cx="11338560" cy="310896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3504" y="3200400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6B7A90"/>
                </a:solidFill>
                <a:latin typeface="Segoe UI"/>
              </a:rPr>
              <a:t>COMPARISON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78300" y="3200400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6B7A90"/>
                </a:solidFill>
                <a:latin typeface="Segoe UI"/>
              </a:rPr>
              <a:t>THE ONE THING THAT DIFFERS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13724" y="3200400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6B7A90"/>
                </a:solidFill>
                <a:latin typeface="Segoe UI"/>
              </a:rPr>
              <a:t>A-ONLY / B-ONLY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41280" y="3200400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6B7A90"/>
                </a:solidFill>
                <a:latin typeface="Segoe UI"/>
              </a:rPr>
              <a:t>% OF CLUSTERS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3474720"/>
            <a:ext cx="11338560" cy="548640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3504" y="3566160"/>
            <a:ext cx="29553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7EDF4"/>
                </a:solidFill>
                <a:latin typeface="Segoe UI"/>
              </a:rPr>
              <a:t>serial CPU  vs  frozen CPU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78300" y="3566160"/>
            <a:ext cx="43159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update timing alone: </a:t>
            </a:r>
            <a:r>
              <a:rPr sz="1150" b="1" i="0">
                <a:solidFill>
                  <a:srgbClr val="E8B25C"/>
                </a:solidFill>
                <a:latin typeface="Segoe UI"/>
              </a:rPr>
              <a:t>a CPU-only effect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13724" y="3566160"/>
            <a:ext cx="170809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B25C"/>
                </a:solidFill>
                <a:latin typeface="Segoe UI"/>
              </a:rPr>
              <a:t>8 / 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41280" y="3566160"/>
            <a:ext cx="14813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0.000082 %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3504" y="4151375"/>
            <a:ext cx="29553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7EDF4"/>
                </a:solidFill>
                <a:latin typeface="Segoe UI"/>
              </a:rPr>
              <a:t>serial CPU  vs  CUDA  [f64 ped]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78300" y="4151375"/>
            <a:ext cx="43159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the same thing, </a:t>
            </a:r>
            <a:r>
              <a:rPr sz="1150" b="1" i="0">
                <a:solidFill>
                  <a:srgbClr val="E8B25C"/>
                </a:solidFill>
                <a:latin typeface="Segoe UI"/>
              </a:rPr>
              <a:t>and nothing else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13724" y="4151375"/>
            <a:ext cx="170809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B25C"/>
                </a:solidFill>
                <a:latin typeface="Segoe UI"/>
              </a:rPr>
              <a:t>8 / 11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41280" y="4151375"/>
            <a:ext cx="14813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0.000082 %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98348" y="4937760"/>
            <a:ext cx="11205972" cy="694944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57200" y="4937760"/>
            <a:ext cx="41148" cy="694944"/>
          </a:xfrm>
          <a:prstGeom prst="rect">
            <a:avLst/>
          </a:prstGeom>
          <a:solidFill>
            <a:srgbClr val="E25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13232" y="5029200"/>
            <a:ext cx="107899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DF4"/>
                </a:solidFill>
                <a:latin typeface="Segoe UI"/>
              </a:rPr>
              <a:t>19 in 23 244 605, and the port is in none of them.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 frozen and CUDA agree exactly at f64, so the one variable left between serial and CUDA is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when the pedestal moves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. Which test it moves is the next two slides.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5833872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90"/>
                </a:solidFill>
                <a:latin typeface="Segoe UI"/>
              </a:rPr>
              <a:t>3×3 · 10 000 frames · 23.2 M clusters · exact centre-set difference at tol = 0. A-only means found by the left finder and not by the right.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320040" cy="32004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784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6B7A90"/>
                </a:solidFill>
                <a:latin typeface="Segoe UI"/>
              </a:rPr>
              <a:t>VALIDATION · THE THIRD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12379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7EDF4"/>
                </a:solidFill>
                <a:latin typeface="Segoe UI"/>
              </a:rPr>
              <a:t>There is a third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98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877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455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0344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8613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9191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9770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0348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9275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15061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20847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26633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2419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38205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43991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9777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55564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6135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713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7292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7870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84494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9028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9606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0185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407639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13425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19211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324997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30783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93656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24235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54814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237976" y="652881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90"/>
                </a:solidFill>
                <a:latin typeface="Segoe UI"/>
              </a:rPr>
              <a:t>30 / 34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16459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B7A90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Slide 4 showed the decision with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two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 tests, which is the right simplification for the arc. The finder has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three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, and the missing one is what the next slide is about.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2267712"/>
            <a:ext cx="6894576" cy="2253538"/>
          </a:xfrm>
          <a:prstGeom prst="roundRect">
            <a:avLst>
              <a:gd name="adj" fmla="val 5500"/>
            </a:avLst>
          </a:prstGeom>
          <a:solidFill>
            <a:srgbClr val="17202E"/>
          </a:solidFill>
          <a:ln w="12700">
            <a:solidFill>
              <a:srgbClr val="3A4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" y="2377440"/>
            <a:ext cx="65653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7C8A9E"/>
                </a:solidFill>
                <a:latin typeface="Segoe UI"/>
              </a:rPr>
              <a:t>ClusterFinder.hpp:146-186 · all three branches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" y="2596896"/>
            <a:ext cx="6565392" cy="20340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v = frame[i] - ped_mean[i];   rms = ped_rms[i]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if (v &lt; -nSigma*rms)           -&gt; skip, no update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m     = </a:t>
            </a:r>
            <a:r>
              <a:rPr sz="1050" b="1" i="0">
                <a:solidFill>
                  <a:srgbClr val="1E90C2"/>
                </a:solidFill>
                <a:latin typeface="Consolas"/>
              </a:rPr>
              <a:t>max</a:t>
            </a:r>
            <a:r>
              <a:rPr sz="1050" b="0" i="0">
                <a:solidFill>
                  <a:srgbClr val="A5B2C4"/>
                </a:solidFill>
                <a:latin typeface="Consolas"/>
              </a:rPr>
              <a:t> over the 3x3 window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total = </a:t>
            </a:r>
            <a:r>
              <a:rPr sz="1050" b="1" i="0">
                <a:solidFill>
                  <a:srgbClr val="1E90C2"/>
                </a:solidFill>
                <a:latin typeface="Consolas"/>
              </a:rPr>
              <a:t>sum</a:t>
            </a:r>
            <a:r>
              <a:rPr sz="1050" b="0" i="0">
                <a:solidFill>
                  <a:srgbClr val="A5B2C4"/>
                </a:solidFill>
                <a:latin typeface="Consolas"/>
              </a:rPr>
              <a:t> over the 3x3 window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if (m &gt; </a:t>
            </a:r>
            <a:r>
              <a:rPr sz="1050" b="1" i="0">
                <a:solidFill>
                  <a:srgbClr val="1E90C2"/>
                </a:solidFill>
                <a:latin typeface="Consolas"/>
              </a:rPr>
              <a:t>nSigma</a:t>
            </a:r>
            <a:r>
              <a:rPr sz="1050" b="0" i="0">
                <a:solidFill>
                  <a:srgbClr val="A5B2C4"/>
                </a:solidFill>
                <a:latin typeface="Consolas"/>
              </a:rPr>
              <a:t>*rms)              // TEST 1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    if (v == m) -&gt; emit cluster  //   local-max gate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    else        -&gt; shadow, no update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else if (total &gt; </a:t>
            </a:r>
            <a:r>
              <a:rPr sz="1050" b="1" i="0">
                <a:solidFill>
                  <a:srgbClr val="1E90C2"/>
                </a:solidFill>
                <a:latin typeface="Consolas"/>
              </a:rPr>
              <a:t>c3*nSigma</a:t>
            </a:r>
            <a:r>
              <a:rPr sz="1050" b="0" i="0">
                <a:solidFill>
                  <a:srgbClr val="A5B2C4"/>
                </a:solidFill>
                <a:latin typeface="Consolas"/>
              </a:rPr>
              <a:t>*rms)   // TEST 3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    if (v == m) -&gt; emit cluster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else            -&gt; update pedestal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57031" y="1828800"/>
            <a:ext cx="10972" cy="4160520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85632" y="1965960"/>
            <a:ext cx="33101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40">
                <a:solidFill>
                  <a:srgbClr val="6B7A90"/>
                </a:solidFill>
                <a:latin typeface="Segoe UI"/>
              </a:rPr>
              <a:t>WHAT EACH TEST ASKS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85632" y="2368296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6B7A90"/>
                </a:solidFill>
                <a:latin typeface="Segoe UI"/>
              </a:rPr>
              <a:t>TEST 1  ·  NSIGMA · RMS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85632" y="2587752"/>
            <a:ext cx="33101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90C2"/>
                </a:solidFill>
                <a:latin typeface="Segoe UI"/>
              </a:rPr>
              <a:t>is any ONE pixel bright?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85632" y="3136391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6B7A90"/>
                </a:solidFill>
                <a:latin typeface="Segoe UI"/>
              </a:rPr>
              <a:t>TEST 3  ·  C3 · NSIGMA · RMS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85632" y="3355848"/>
            <a:ext cx="33101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B25C"/>
                </a:solidFill>
                <a:latin typeface="Segoe UI"/>
              </a:rPr>
              <a:t>is the WINDOW bright?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85632" y="3904487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6B7A90"/>
                </a:solidFill>
                <a:latin typeface="Segoe UI"/>
              </a:rPr>
              <a:t>LOCAL-MAX GATE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85632" y="4123944"/>
            <a:ext cx="33101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DF4"/>
                </a:solidFill>
                <a:latin typeface="Segoe UI"/>
              </a:rPr>
              <a:t>is this pixel the peak?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85632" y="4727447"/>
            <a:ext cx="331012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5B2C4"/>
                </a:solidFill>
                <a:latin typeface="Segoe UI"/>
              </a:rPr>
              <a:t>Test 1 reads the window's MAX; Test 3 reads its SUM. That one difference is the next slide.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8348" y="5358384"/>
            <a:ext cx="11205972" cy="1005840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57200" y="5358384"/>
            <a:ext cx="41148" cy="1005840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3232" y="5449824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DF4"/>
                </a:solidFill>
                <a:latin typeface="Segoe UI"/>
              </a:rPr>
              <a:t>c3 = √(3×3) = 3 falls out of variance addition.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 Variances add, standard deviations do not: nine pixels of noise σ give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Var(Σ v) = 9σ²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, so the sum's noise is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3σ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.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c3·nSigma·rms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 is therefore the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same 5σ criterion as Test 1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, asked of the window instead of the pixel.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19088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90"/>
                </a:solidFill>
                <a:latin typeface="Segoe UI"/>
              </a:rPr>
              <a:t>Roughly 80 % of pixels reach the last branch and push the pedestal; ~1.5 % are peaks and ~18 % sit in a peak's shadow.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320040" cy="32004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784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6B7A90"/>
                </a:solidFill>
                <a:latin typeface="Segoe UI"/>
              </a:rPr>
              <a:t>VALIDATION · WHICH TEST CAUSES THE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12379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E7EDF4"/>
                </a:solidFill>
                <a:latin typeface="Segoe UI"/>
              </a:rPr>
              <a:t>Test3 makes the clusters; Test1 only moves the pedestal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98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877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455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0344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8613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9191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9770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0348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9275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15061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20847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26633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2419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38205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43991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9777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55564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6135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713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7292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7870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84494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9028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9606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0185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407639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13425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19211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324997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30783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936569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24235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54814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237976" y="652881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90"/>
                </a:solidFill>
                <a:latin typeface="Segoe UI"/>
              </a:rPr>
              <a:t>31 / 34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1609344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B7A90"/>
                </a:solidFill>
                <a:latin typeface="Segoe UI"/>
              </a:rPr>
              <a:t>• 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push_fast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 touches only the pixel's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own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 accumulators and never reads the stencil, so the update is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order-independent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: same set of updated pixels, bit-identical pedestal. Only a differing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decision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 can diverge.</a:t>
            </a:r>
          </a:p>
        </p:txBody>
      </p:sp>
      <p:pic>
        <p:nvPicPr>
          <p:cNvPr id="42" name="Picture 41" descr="fig_test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76856"/>
            <a:ext cx="9875520" cy="3301336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498348" y="5605272"/>
            <a:ext cx="11205972" cy="658368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" y="5605272"/>
            <a:ext cx="41148" cy="65836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" y="569671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5B2C4"/>
                </a:solidFill>
                <a:latin typeface="Segoe UI"/>
              </a:rPr>
              <a:t>Measured two ways.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Instrumented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: of the 19 disagreeing clusters, the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11 that only frozen finds are all Test 3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; the 8 only serial finds are all the local-max gate.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Ablated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: compile Test 3 out and the 11 go to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zero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90"/>
                </a:solidFill>
                <a:latin typeface="Segoe UI"/>
              </a:rPr>
              <a:t>3×3 · 10 000 frames · 23 244 605 clusters · per-pixel branch codes diffed frame by frame, then re-run with Test 3 compiled out.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320040" cy="32004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784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6B7A90"/>
                </a:solidFill>
                <a:latin typeface="Segoe UI"/>
              </a:rPr>
              <a:t>FOR USERS · PYTHON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12379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7EDF4"/>
                </a:solidFill>
                <a:latin typeface="Segoe UI"/>
              </a:rPr>
              <a:t>The fast path in eight 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98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877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455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0344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8613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9191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9770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0348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9275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15061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20847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26633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2419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38205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43991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9777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55564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6135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713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7292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7870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84494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9028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9606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0185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407639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13425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19211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324997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30783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936569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242355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54814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237976" y="652881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90"/>
                </a:solidFill>
                <a:latin typeface="Segoe UI"/>
              </a:rPr>
              <a:t>32 / 34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1664208"/>
            <a:ext cx="7178040" cy="2625105"/>
          </a:xfrm>
          <a:prstGeom prst="roundRect">
            <a:avLst>
              <a:gd name="adj" fmla="val 5500"/>
            </a:avLst>
          </a:prstGeom>
          <a:solidFill>
            <a:srgbClr val="17202E"/>
          </a:solidFill>
          <a:ln w="12700">
            <a:solidFill>
              <a:srgbClr val="3A4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" y="1773936"/>
            <a:ext cx="684885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7C8A9E"/>
                </a:solidFill>
                <a:latin typeface="Segoe UI"/>
              </a:rPr>
              <a:t>THE RECOMMENDED PATTERN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" y="1993391"/>
            <a:ext cx="6848855" cy="2405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Consolas"/>
              </a:rPr>
              <a:t>from aare import File, ClusterFinderCUDA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Consolas"/>
              </a:rPr>
              <a:t>cf = ClusterFinderCUDA(image_size=(400, 400), cluster_size=(3, 3),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Consolas"/>
              </a:rPr>
              <a:t>                       n_sigma=5, </a:t>
            </a:r>
            <a:r>
              <a:rPr sz="1150" b="1" i="0">
                <a:solidFill>
                  <a:srgbClr val="1E90C2"/>
                </a:solidFill>
                <a:latin typeface="Consolas"/>
              </a:rPr>
              <a:t>n_streams</a:t>
            </a:r>
            <a:r>
              <a:rPr sz="1150" b="0" i="0">
                <a:solidFill>
                  <a:srgbClr val="A5B2C4"/>
                </a:solidFill>
                <a:latin typeface="Consolas"/>
              </a:rPr>
              <a:t>=4,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Consolas"/>
              </a:rPr>
              <a:t>                       </a:t>
            </a:r>
            <a:r>
              <a:rPr sz="1150" b="1" i="0">
                <a:solidFill>
                  <a:srgbClr val="1E90C2"/>
                </a:solidFill>
                <a:latin typeface="Consolas"/>
              </a:rPr>
              <a:t>max_clusters_per_frame</a:t>
            </a:r>
            <a:r>
              <a:rPr sz="1150" b="0" i="0">
                <a:solidFill>
                  <a:srgbClr val="A5B2C4"/>
                </a:solidFill>
                <a:latin typeface="Consolas"/>
              </a:rPr>
              <a:t>=3000)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Consolas"/>
              </a:rPr>
              <a:t>for _ in range(1000):                    </a:t>
            </a:r>
            <a:r>
              <a:rPr sz="1150" b="1" i="0">
                <a:solidFill>
                  <a:srgbClr val="1E90C2"/>
                </a:solidFill>
                <a:latin typeface="Consolas"/>
              </a:rPr>
              <a:t># 1. train the pedestal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Consolas"/>
              </a:rPr>
              <a:t>    cf.push_pedestal_frame(pd.read_frame())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Consolas"/>
              </a:rPr>
              <a:t>data = f.read_n(100_000)                 </a:t>
            </a:r>
            <a:r>
              <a:rPr sz="1150" b="1" i="0">
                <a:solidFill>
                  <a:srgbClr val="1E90C2"/>
                </a:solidFill>
                <a:latin typeface="Consolas"/>
              </a:rPr>
              <a:t># 2. one contiguous array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Consolas"/>
              </a:rPr>
              <a:t>cf.</a:t>
            </a:r>
            <a:r>
              <a:rPr sz="1150" b="1" i="0">
                <a:solidFill>
                  <a:srgbClr val="E7EDF4"/>
                </a:solidFill>
                <a:latin typeface="Consolas"/>
              </a:rPr>
              <a:t>register_input_buffer</a:t>
            </a:r>
            <a:r>
              <a:rPr sz="1150" b="0" i="0">
                <a:solidFill>
                  <a:srgbClr val="A5B2C4"/>
                </a:solidFill>
                <a:latin typeface="Consolas"/>
              </a:rPr>
              <a:t>(data)           </a:t>
            </a:r>
            <a:r>
              <a:rPr sz="1150" b="1" i="0">
                <a:solidFill>
                  <a:srgbClr val="1E90C2"/>
                </a:solidFill>
                <a:latin typeface="Consolas"/>
              </a:rPr>
              <a:t># 3. pin it once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Consolas"/>
              </a:rPr>
              <a:t>for s in range(0, len(data), 2000):      </a:t>
            </a:r>
            <a:r>
              <a:rPr sz="1150" b="1" i="0">
                <a:solidFill>
                  <a:srgbClr val="1E90C2"/>
                </a:solidFill>
                <a:latin typeface="Consolas"/>
              </a:rPr>
              <a:t># 4. batch through it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Consolas"/>
              </a:rPr>
              <a:t>    clusters = cf.</a:t>
            </a:r>
            <a:r>
              <a:rPr sz="1150" b="1" i="0">
                <a:solidFill>
                  <a:srgbClr val="E7EDF4"/>
                </a:solidFill>
                <a:latin typeface="Consolas"/>
              </a:rPr>
              <a:t>find_clusters_batched</a:t>
            </a:r>
            <a:r>
              <a:rPr sz="1150" b="0" i="0">
                <a:solidFill>
                  <a:srgbClr val="A5B2C4"/>
                </a:solidFill>
                <a:latin typeface="Consolas"/>
              </a:rPr>
              <a:t>(data[s:s+2000], first_frame=s)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Consolas"/>
              </a:rPr>
              <a:t>cf.</a:t>
            </a:r>
            <a:r>
              <a:rPr sz="1150" b="1" i="0">
                <a:solidFill>
                  <a:srgbClr val="E7EDF4"/>
                </a:solidFill>
                <a:latin typeface="Consolas"/>
              </a:rPr>
              <a:t>unregister_input_buffer</a:t>
            </a:r>
            <a:r>
              <a:rPr sz="1150" b="0" i="0">
                <a:solidFill>
                  <a:srgbClr val="A5B2C4"/>
                </a:solidFill>
                <a:latin typeface="Consolas"/>
              </a:rPr>
              <a:t>()             </a:t>
            </a:r>
            <a:r>
              <a:rPr sz="1150" b="1" i="0">
                <a:solidFill>
                  <a:srgbClr val="1E90C2"/>
                </a:solidFill>
                <a:latin typeface="Consolas"/>
              </a:rPr>
              <a:t># 5. release the pages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4956048"/>
            <a:ext cx="7178040" cy="1035146"/>
          </a:xfrm>
          <a:prstGeom prst="roundRect">
            <a:avLst>
              <a:gd name="adj" fmla="val 5500"/>
            </a:avLst>
          </a:prstGeom>
          <a:solidFill>
            <a:srgbClr val="17202E"/>
          </a:solidFill>
          <a:ln w="12700">
            <a:solidFill>
              <a:srgbClr val="3A4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" y="5065776"/>
            <a:ext cx="684885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7C8A9E"/>
                </a:solidFill>
                <a:latin typeface="Segoe UI"/>
              </a:rPr>
              <a:t>ZERO-COPY · SAME PATTERN, STEP 4 SWAPPED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" y="5285232"/>
            <a:ext cx="6848855" cy="815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Consolas"/>
              </a:rPr>
              <a:t>for v in cf.</a:t>
            </a:r>
            <a:r>
              <a:rPr sz="1150" b="1" i="0">
                <a:solidFill>
                  <a:srgbClr val="E7EDF4"/>
                </a:solidFill>
                <a:latin typeface="Consolas"/>
              </a:rPr>
              <a:t>find_cluster_views_batched_iter</a:t>
            </a:r>
            <a:r>
              <a:rPr sz="1150" b="0" i="0">
                <a:solidFill>
                  <a:srgbClr val="A5B2C4"/>
                </a:solidFill>
                <a:latin typeface="Consolas"/>
              </a:rPr>
              <a:t>(data, 2000):  </a:t>
            </a:r>
            <a:r>
              <a:rPr sz="1150" b="1" i="0">
                <a:solidFill>
                  <a:srgbClr val="1E90C2"/>
                </a:solidFill>
                <a:latin typeface="Consolas"/>
              </a:rPr>
              <a:t># 4, zero-copy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Consolas"/>
              </a:rPr>
              <a:t>    hist.fill(v.sums())        # consume inside the loop: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C8A9E"/>
                </a:solidFill>
                <a:latin typeface="Consolas"/>
              </a:rPr>
              <a:t>                               # the view dies with its chunk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18704" y="1664208"/>
            <a:ext cx="38770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B7A90"/>
                </a:solidFill>
                <a:latin typeface="Segoe UI"/>
              </a:rPr>
              <a:t>• 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3 · register_input_buffer()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: opt4 in one call. Pin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once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, outside the loop.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B7A90"/>
                </a:solidFill>
                <a:latin typeface="Segoe UI"/>
              </a:rPr>
              <a:t>• 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4 · find_clusters_batched()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: one ClusterVector per frame, with opt5's overlap built in.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59852" y="3401568"/>
            <a:ext cx="3835908" cy="1051560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918704" y="3401568"/>
            <a:ext cx="41148" cy="1051560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74736" y="3493008"/>
            <a:ext cx="3419856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DF4"/>
                </a:solidFill>
                <a:latin typeface="Segoe UI"/>
              </a:rPr>
              <a:t>Zero-copy: ×1.16 at 3×3, ×2.21 at 9×9.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 The views expose every cluster; they only withhold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ownership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 past the chunk.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59852" y="4956048"/>
            <a:ext cx="3835908" cy="1051560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918704" y="4956048"/>
            <a:ext cx="41148" cy="1051560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74736" y="5047488"/>
            <a:ext cx="3419856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5B2C4"/>
                </a:solidFill>
                <a:latin typeface="Segoe UI"/>
              </a:rPr>
              <a:t>Reduce as you go and you never allocate. Hold a view past its chunk and you stall the pipeline.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320040" cy="32004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784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6B7A90"/>
                </a:solidFill>
                <a:latin typeface="Segoe UI"/>
              </a:rPr>
              <a:t>FOR USERS · CHOOSING THE KNOBS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12379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7EDF4"/>
                </a:solidFill>
                <a:latin typeface="Segoe UI"/>
              </a:rPr>
              <a:t>Five knobs, and the one that silently truncates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98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877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455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0344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8613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9191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9770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0348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9275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15061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20847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26633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2419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38205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43991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9777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55564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6135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713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7292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7870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84494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9028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9606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0185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407639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13425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19211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324997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30783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936569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242355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548141" y="6656832"/>
            <a:ext cx="275207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237976" y="652881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90"/>
                </a:solidFill>
                <a:latin typeface="Segoe UI"/>
              </a:rPr>
              <a:t>33 / 34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8348" y="1627632"/>
            <a:ext cx="11205972" cy="566928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1627632"/>
            <a:ext cx="41148" cy="566928"/>
          </a:xfrm>
          <a:prstGeom prst="rect">
            <a:avLst/>
          </a:prstGeom>
          <a:solidFill>
            <a:srgbClr val="E25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232" y="1719072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5B2C4"/>
                </a:solidFill>
                <a:latin typeface="Segoe UI"/>
              </a:rPr>
              <a:t>The single most common mistake: leaving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max_clusters_per_frame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 too low. It does not error; it truncates, and every frame quietly returns the same count.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2340864"/>
            <a:ext cx="11247120" cy="365760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" y="2423160"/>
            <a:ext cx="4727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30">
                <a:solidFill>
                  <a:srgbClr val="6B7A90"/>
                </a:solidFill>
                <a:latin typeface="Segoe UI"/>
              </a:rPr>
              <a:t>PARAMETER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81528" y="2423160"/>
            <a:ext cx="4727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30">
                <a:solidFill>
                  <a:srgbClr val="6B7A90"/>
                </a:solidFill>
                <a:latin typeface="Segoe UI"/>
              </a:rPr>
              <a:t>WHAT IT DOES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90288" y="2423160"/>
            <a:ext cx="4727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30">
                <a:solidFill>
                  <a:srgbClr val="6B7A90"/>
                </a:solidFill>
                <a:latin typeface="Segoe UI"/>
              </a:rPr>
              <a:t>GUIDANCE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2743200"/>
            <a:ext cx="11247120" cy="749808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2376" y="2889504"/>
            <a:ext cx="24597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90C2"/>
                </a:solidFill>
                <a:latin typeface="Consolas"/>
              </a:rPr>
              <a:t>n_streams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91840" y="2889504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7EDF4"/>
                </a:solidFill>
                <a:latin typeface="Segoe UI"/>
              </a:rPr>
              <a:t>Upper bound on frames in flight.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72784" y="2889504"/>
            <a:ext cx="51023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5B2C4"/>
                </a:solidFill>
                <a:latin typeface="Segoe UI"/>
              </a:rPr>
              <a:t>4 at both cluster sizes. 8 buys no kernel concurrency at 9×9.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2376" y="3675887"/>
            <a:ext cx="24597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90C2"/>
                </a:solidFill>
                <a:latin typeface="Consolas"/>
              </a:rPr>
              <a:t>max_clusters_per_frame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91840" y="3675887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7EDF4"/>
                </a:solidFill>
                <a:latin typeface="Segoe UI"/>
              </a:rPr>
              <a:t>Fixed size of the per-frame D2H transfer.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72784" y="3675887"/>
            <a:ext cx="51023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5B2C4"/>
                </a:solidFill>
                <a:latin typeface="Segoe UI"/>
              </a:rPr>
              <a:t>Must exceed the real maximum or clusters are silently dropped. At 9×9 the maximum is 1 633, and a cap of 1 700 already makes D2H the bottleneck.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4315968"/>
            <a:ext cx="11247120" cy="749808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2376" y="4462272"/>
            <a:ext cx="24597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90C2"/>
                </a:solidFill>
                <a:latin typeface="Consolas"/>
              </a:rPr>
              <a:t>batch size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91840" y="4462272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7EDF4"/>
                </a:solidFill>
                <a:latin typeface="Segoe UI"/>
              </a:rPr>
              <a:t>Frames per find_clusters_batched call.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72784" y="4462272"/>
            <a:ext cx="51023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5B2C4"/>
                </a:solidFill>
                <a:latin typeface="Segoe UI"/>
              </a:rPr>
              <a:t>2 000 amortises launch overhead without a large pinned footprint.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2376" y="5248656"/>
            <a:ext cx="24597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90C2"/>
                </a:solidFill>
                <a:latin typeface="Consolas"/>
              </a:rPr>
              <a:t>cluster_size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91840" y="5248656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7EDF4"/>
                </a:solidFill>
                <a:latin typeface="Segoe UI"/>
              </a:rPr>
              <a:t>Compile-time stencil geometry.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72784" y="5248656"/>
            <a:ext cx="51023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5B2C4"/>
                </a:solidFill>
                <a:latin typeface="Segoe UI"/>
              </a:rPr>
              <a:t>3×3 and 9×9 are registered. 9×9 moves the bottleneck off H2D.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5888736"/>
            <a:ext cx="11247120" cy="749808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22376" y="6035040"/>
            <a:ext cx="24597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90C2"/>
                </a:solidFill>
                <a:latin typeface="Consolas"/>
              </a:rPr>
              <a:t>register_input_buffer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91840" y="603504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7EDF4"/>
                </a:solidFill>
                <a:latin typeface="Segoe UI"/>
              </a:rPr>
              <a:t>Page-locks the host array for DMA.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72784" y="6035040"/>
            <a:ext cx="51023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5B2C4"/>
                </a:solidFill>
                <a:latin typeface="Segoe UI"/>
              </a:rPr>
              <a:t>Always, if the data is already in RAM.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20624" y="3483864"/>
            <a:ext cx="11320272" cy="877824"/>
          </a:xfrm>
          <a:prstGeom prst="roundRect">
            <a:avLst>
              <a:gd name="adj" fmla="val 6000"/>
            </a:avLst>
          </a:prstGeom>
          <a:noFill/>
          <a:ln w="22225">
            <a:solidFill>
              <a:srgbClr val="E25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320040" cy="32004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784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6B7A90"/>
                </a:solidFill>
                <a:latin typeface="Segoe UI"/>
              </a:rPr>
              <a:t>WHERE THIS LEAVES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12379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7EDF4"/>
                </a:solidFill>
                <a:latin typeface="Segoe UI"/>
              </a:rPr>
              <a:t>The bottleneck has walked from the host, to the GPU, to PCIe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98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877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455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0344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8613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9191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9770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0348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9275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15061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20847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26633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2419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38205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43991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9777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55564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6135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713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7292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78708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84494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90280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96066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01852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407639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13425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19211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324997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30783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936569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242355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548141" y="6656832"/>
            <a:ext cx="275207" cy="411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237976" y="652881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90"/>
                </a:solidFill>
                <a:latin typeface="Segoe UI"/>
              </a:rPr>
              <a:t>34 / 34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8348" y="1627632"/>
            <a:ext cx="11205972" cy="566928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1627632"/>
            <a:ext cx="41148" cy="56692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232" y="1719072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DF4"/>
                </a:solidFill>
                <a:latin typeface="Segoe UI"/>
              </a:rPr>
              <a:t>Every number in this deck is measured on one machine, one dataset, one git revision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, and the annexes carry the reconciliation for each of them.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2395728"/>
            <a:ext cx="5522976" cy="1828800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" y="2395728"/>
            <a:ext cx="5522976" cy="32004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2633472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50">
                <a:solidFill>
                  <a:srgbClr val="1E90C2"/>
                </a:solidFill>
                <a:latin typeface="Segoe UI"/>
              </a:rPr>
              <a:t>DONE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2926080"/>
            <a:ext cx="49103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EDF4"/>
                </a:solidFill>
                <a:latin typeface="Segoe UI"/>
              </a:rPr>
              <a:t>×9.1 at 3×3, ×26.5 at 9×9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3383280"/>
            <a:ext cx="49103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5B2C4"/>
                </a:solidFill>
                <a:latin typeface="Segoe UI"/>
              </a:rPr>
              <a:t>16.3 and 25.1 µs/frame end to end, both on their hardware floor. At 3×3 that is 47× MÖNCH03's standard frame rate.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72200" y="2395728"/>
            <a:ext cx="5522976" cy="1828800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172200" y="2395728"/>
            <a:ext cx="5522976" cy="32004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46520" y="2633472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50">
                <a:solidFill>
                  <a:srgbClr val="1E90C2"/>
                </a:solidFill>
                <a:latin typeface="Segoe UI"/>
              </a:rPr>
              <a:t>DONE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46520" y="2926080"/>
            <a:ext cx="49103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EDF4"/>
                </a:solidFill>
                <a:latin typeface="Segoe UI"/>
              </a:rPr>
              <a:t>FP32 pedestal, safely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3383280"/>
            <a:ext cx="49103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5B2C4"/>
                </a:solidFill>
                <a:latin typeface="Segoe UI"/>
              </a:rPr>
              <a:t>−40.5 % kernel time, and correct: the variance accumulates on a frozen per-pixel offset. 6 duplicate clusters in 23 million.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4498848"/>
            <a:ext cx="5522976" cy="1828800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57200" y="4498848"/>
            <a:ext cx="5522976" cy="32004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20" y="4736592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50">
                <a:solidFill>
                  <a:srgbClr val="E8B25C"/>
                </a:solidFill>
                <a:latin typeface="Segoe UI"/>
              </a:rPr>
              <a:t>NEXT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5029200"/>
            <a:ext cx="49103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EDF4"/>
                </a:solidFill>
                <a:latin typeface="Segoe UI"/>
              </a:rPr>
              <a:t>3×3: transfer granularity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" y="5486400"/>
            <a:ext cx="49103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5B2C4"/>
                </a:solidFill>
                <a:latin typeface="Segoe UI"/>
              </a:rPr>
              <a:t>The pipeline sustains 16.31 µs against a 13.15 µs uncontended H2D: 2 000 separate 320 kB descriptors, plus H2D↔D2H contention.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72200" y="4498848"/>
            <a:ext cx="5522976" cy="1828800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172200" y="4498848"/>
            <a:ext cx="5522976" cy="32004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46520" y="4736592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50">
                <a:solidFill>
                  <a:srgbClr val="E8B25C"/>
                </a:solidFill>
                <a:latin typeface="Segoe UI"/>
              </a:rPr>
              <a:t>NEXT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46520" y="5029200"/>
            <a:ext cx="49103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EDF4"/>
                </a:solidFill>
                <a:latin typeface="Segoe UI"/>
              </a:rPr>
              <a:t>9×9: the result path, not the kernel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46520" y="5486400"/>
            <a:ext cx="49103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5B2C4"/>
                </a:solidFill>
                <a:latin typeface="Segoe UI"/>
              </a:rPr>
              <a:t>At a lossless cap D2H already binds: 25.24 µs against a 23.94 µs kernel. More kernel work buys nothing.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0664" y="1389888"/>
            <a:ext cx="54772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 spc="180">
                <a:solidFill>
                  <a:srgbClr val="6B7A90"/>
                </a:solidFill>
                <a:latin typeface="Segoe U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0664" y="1737360"/>
            <a:ext cx="56692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E7EDF4"/>
                </a:solidFill>
                <a:latin typeface="Segoe UI"/>
              </a:rPr>
              <a:t>Annexes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" y="3127248"/>
            <a:ext cx="1417320" cy="27432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3383280"/>
            <a:ext cx="538581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5B2C4"/>
                </a:solidFill>
                <a:latin typeface="Segoe UI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740664" y="5074920"/>
            <a:ext cx="5385816" cy="1024128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0664" y="5074920"/>
            <a:ext cx="32004" cy="102412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5212080"/>
            <a:ext cx="49103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40">
                <a:solidFill>
                  <a:srgbClr val="6B7A90"/>
                </a:solidFill>
                <a:latin typeface="Segoe UI"/>
              </a:rPr>
              <a:t>EVERYTHING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5413248"/>
            <a:ext cx="49103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8B25C"/>
                </a:solidFill>
                <a:latin typeface="Segoe UI"/>
              </a:rPr>
              <a:t>33 slides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5833872"/>
            <a:ext cx="4910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90"/>
                </a:solidFill>
                <a:latin typeface="Segoe UI"/>
              </a:rPr>
              <a:t>the arc is finished; what follows answers questions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56248" y="1783080"/>
            <a:ext cx="10972" cy="4023360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0568" y="1359408"/>
            <a:ext cx="47274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6B7A90"/>
                </a:solidFill>
                <a:latin typeface="Segoe UI"/>
              </a:rPr>
              <a:t>COMING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0568" y="1780032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B25C"/>
                </a:solidFill>
                <a:latin typeface="Consolas"/>
              </a:rPr>
              <a:t>A1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1780032"/>
            <a:ext cx="4187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7EDF4"/>
                </a:solidFill>
                <a:latin typeface="Segoe UI"/>
              </a:rPr>
              <a:t>Register pressure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0568" y="2124583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B25C"/>
                </a:solidFill>
                <a:latin typeface="Consolas"/>
              </a:rPr>
              <a:t>A2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7808" y="2124583"/>
            <a:ext cx="4187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7EDF4"/>
                </a:solidFill>
                <a:latin typeface="Segoe UI"/>
              </a:rPr>
              <a:t>Rejected route · CUDA graphs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0568" y="2469134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B25C"/>
                </a:solidFill>
                <a:latin typeface="Consolas"/>
              </a:rPr>
              <a:t>A3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7808" y="2469134"/>
            <a:ext cx="4187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7EDF4"/>
                </a:solidFill>
                <a:latin typeface="Segoe UI"/>
              </a:rPr>
              <a:t>opt3 · the second D2H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2813684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B25C"/>
                </a:solidFill>
                <a:latin typeface="Consolas"/>
              </a:rPr>
              <a:t>A4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7808" y="2813684"/>
            <a:ext cx="4187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7EDF4"/>
                </a:solidFill>
                <a:latin typeface="Segoe UI"/>
              </a:rPr>
              <a:t>opt5 · the overlap 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0568" y="3158235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B25C"/>
                </a:solidFill>
                <a:latin typeface="Consolas"/>
              </a:rPr>
              <a:t>A5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07808" y="3158235"/>
            <a:ext cx="4187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7EDF4"/>
                </a:solidFill>
                <a:latin typeface="Segoe UI"/>
              </a:rPr>
              <a:t>Rejected routes · the result copy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0568" y="3502786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B25C"/>
                </a:solidFill>
                <a:latin typeface="Consolas"/>
              </a:rPr>
              <a:t>A6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07808" y="3502786"/>
            <a:ext cx="4187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7EDF4"/>
                </a:solidFill>
                <a:latin typeface="Segoe UI"/>
              </a:rPr>
              <a:t>Why not one big pinned buffer?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3847337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B25C"/>
                </a:solidFill>
                <a:latin typeface="Consolas"/>
              </a:rPr>
              <a:t>A7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07808" y="3847337"/>
            <a:ext cx="4187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7EDF4"/>
                </a:solidFill>
                <a:latin typeface="Segoe UI"/>
              </a:rPr>
              <a:t>s1, s4, and every engine number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4191888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B25C"/>
                </a:solidFill>
                <a:latin typeface="Consolas"/>
              </a:rPr>
              <a:t>A8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07808" y="4191888"/>
            <a:ext cx="4187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7EDF4"/>
                </a:solidFill>
                <a:latin typeface="Segoe UI"/>
              </a:rPr>
              <a:t>opt7 · the full engine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568" y="4536439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B25C"/>
                </a:solidFill>
                <a:latin typeface="Consolas"/>
              </a:rPr>
              <a:t>A9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07808" y="4536439"/>
            <a:ext cx="4187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7EDF4"/>
                </a:solidFill>
                <a:latin typeface="Segoe UI"/>
              </a:rPr>
              <a:t>Catastrophic cancellation, in full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30568" y="4880990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B25C"/>
                </a:solidFill>
                <a:latin typeface="Consolas"/>
              </a:rPr>
              <a:t>A10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07808" y="4880990"/>
            <a:ext cx="4187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7EDF4"/>
                </a:solidFill>
                <a:latin typeface="Segoe UI"/>
              </a:rPr>
              <a:t>The fault model, tested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0568" y="5225541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B25C"/>
                </a:solidFill>
                <a:latin typeface="Consolas"/>
              </a:rPr>
              <a:t>A11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07808" y="5225541"/>
            <a:ext cx="4187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7EDF4"/>
                </a:solidFill>
                <a:latin typeface="Segoe UI"/>
              </a:rPr>
              <a:t>Behind the numbers · page faults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30568" y="5570092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B25C"/>
                </a:solidFill>
                <a:latin typeface="Consolas"/>
              </a:rPr>
              <a:t>A12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07808" y="5570092"/>
            <a:ext cx="4187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7EDF4"/>
                </a:solidFill>
                <a:latin typeface="Segoe UI"/>
              </a:rPr>
              <a:t>The three benchmark artefacts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323593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189987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056382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922775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789170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655564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21957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388351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254746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121140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987534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8B25C"/>
                </a:solidFill>
                <a:latin typeface="Segoe UI"/>
              </a:rPr>
              <a:t>A1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457200"/>
            <a:ext cx="9555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6B7A90"/>
                </a:solidFill>
                <a:latin typeface="Segoe UI"/>
              </a:rPr>
              <a:t>ANNEX · WHAT RUNS OUT FIRST · EXPANDS SLIDE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12379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7EDF4"/>
                </a:solidFill>
                <a:latin typeface="Segoe UI"/>
              </a:rPr>
              <a:t>Register pressure: 38 per thread at 3×3, 128 at 9×9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23593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89987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56382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22775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89170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55564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21957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88351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54746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21140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987534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63656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90"/>
                </a:solidFill>
                <a:latin typeface="Segoe UI"/>
              </a:rPr>
              <a:t>A1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664208"/>
            <a:ext cx="74615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B7A90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An SM has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65 536 registers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 and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1 536 thread slots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; whichever runs out first decides how many blocks fit at once.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B7A90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Every thread keeps a private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clusterData[CSX × CSY]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, so register demand grows with the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square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 of the cluster size. Neither build spills.</a:t>
            </a:r>
          </a:p>
        </p:txBody>
      </p:sp>
      <p:pic>
        <p:nvPicPr>
          <p:cNvPr id="20" name="Picture 19" descr="fig_regpress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0"/>
            <a:ext cx="7461504" cy="1653334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498348" y="4608576"/>
            <a:ext cx="7420356" cy="731520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608576"/>
            <a:ext cx="41148" cy="731520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4700016"/>
            <a:ext cx="700430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DF4"/>
                </a:solidFill>
                <a:latin typeface="Segoe UI"/>
              </a:rPr>
              <a:t>9×9: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 the register file is exactly full at two blocks (2 × 128 × 256 = 65 536). 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3×3: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 the slots run out first, and the registers still have room.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669280"/>
            <a:ext cx="7461504" cy="983300"/>
          </a:xfrm>
          <a:prstGeom prst="roundRect">
            <a:avLst>
              <a:gd name="adj" fmla="val 5500"/>
            </a:avLst>
          </a:prstGeom>
          <a:solidFill>
            <a:srgbClr val="17202E"/>
          </a:solidFill>
          <a:ln w="12700">
            <a:solidFill>
              <a:srgbClr val="3A4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5779008"/>
            <a:ext cx="7132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7C8A9E"/>
                </a:solidFill>
                <a:latin typeface="Segoe UI"/>
              </a:rPr>
              <a:t>MEASURED, NOT ESTIMATED · READ FROM THE BUILT .SO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5998464"/>
            <a:ext cx="7132320" cy="7638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E90C2"/>
                </a:solidFill>
                <a:latin typeface="Consolas"/>
              </a:rPr>
              <a:t>cuobjdump -res-usage</a:t>
            </a:r>
            <a:r>
              <a:rPr sz="1050" b="0" i="0">
                <a:solidFill>
                  <a:srgbClr val="A5B2C4"/>
                </a:solidFill>
                <a:latin typeface="Consolas"/>
              </a:rPr>
              <a:t> build/aare/_aare_cuda*.so | c++filt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  3x3: REG:</a:t>
            </a:r>
            <a:r>
              <a:rPr sz="1050" b="1" i="0">
                <a:solidFill>
                  <a:srgbClr val="1E90C2"/>
                </a:solidFill>
                <a:latin typeface="Consolas"/>
              </a:rPr>
              <a:t>38</a:t>
            </a:r>
            <a:r>
              <a:rPr sz="1050" b="0" i="0">
                <a:solidFill>
                  <a:srgbClr val="A5B2C4"/>
                </a:solidFill>
                <a:latin typeface="Consolas"/>
              </a:rPr>
              <a:t>  STACK:0 LOCAL:0     # STACK/LOCAL 0 = no spills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  9x9: REG:</a:t>
            </a:r>
            <a:r>
              <a:rPr sz="1050" b="1" i="0">
                <a:solidFill>
                  <a:srgbClr val="1E90C2"/>
                </a:solidFill>
                <a:latin typeface="Consolas"/>
              </a:rPr>
              <a:t>128</a:t>
            </a:r>
            <a:r>
              <a:rPr sz="1050" b="0" i="0">
                <a:solidFill>
                  <a:srgbClr val="A5B2C4"/>
                </a:solidFill>
                <a:latin typeface="Consolas"/>
              </a:rPr>
              <a:t> STACK:0 LOCAL:0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57031" y="1828800"/>
            <a:ext cx="10972" cy="4160520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85632" y="1828800"/>
            <a:ext cx="33101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40">
                <a:solidFill>
                  <a:srgbClr val="6B7A90"/>
                </a:solidFill>
                <a:latin typeface="Segoe UI"/>
              </a:rPr>
              <a:t>PER SM · SM_89 · F32 BUILD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85632" y="2258568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6B7A90"/>
                </a:solidFill>
                <a:latin typeface="Segoe UI"/>
              </a:rPr>
              <a:t>3×3 · BLOCKS RESIDENT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85632" y="2478024"/>
            <a:ext cx="33101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90C2"/>
                </a:solidFill>
                <a:latin typeface="Segoe U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85632" y="3191256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6B7A90"/>
                </a:solidFill>
                <a:latin typeface="Segoe UI"/>
              </a:rPr>
              <a:t>9×9 · BLOCKS RESIDENT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85632" y="3410711"/>
            <a:ext cx="33101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8B25C"/>
                </a:solidFill>
                <a:latin typeface="Segoe UI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85632" y="4169663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6B7A90"/>
                </a:solidFill>
                <a:latin typeface="Segoe UI"/>
              </a:rPr>
              <a:t>SPILLS, EITHER CASE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85632" y="4389120"/>
            <a:ext cx="33101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5B2C4"/>
                </a:solidFill>
                <a:latin typeface="Segoe UI"/>
              </a:rPr>
              <a:t>0 bytes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85632" y="4828031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6B7A90"/>
                </a:solidFill>
                <a:latin typeface="Segoe UI"/>
              </a:rPr>
              <a:t>3×3 ON THE F64 BUILD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85632" y="5047488"/>
            <a:ext cx="33101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B25C"/>
                </a:solidFill>
                <a:latin typeface="Segoe UI"/>
              </a:rPr>
              <a:t>47 regs → 5 blocks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8B25C"/>
                </a:solidFill>
                <a:latin typeface="Segoe UI"/>
              </a:rPr>
              <a:t>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457200"/>
            <a:ext cx="9555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6B7A90"/>
                </a:solidFill>
                <a:latin typeface="Segoe UI"/>
              </a:rPr>
              <a:t>ANNEX · REJECTED ROUTE · CUDA GRAPHS · EXPANDS SLIDE 10 · 1 OF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12379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7EDF4"/>
                </a:solidFill>
                <a:latin typeface="Segoe UI"/>
              </a:rPr>
              <a:t>CUDA Graphs, a sound idea that the next act overtook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23593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89987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56382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22775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89170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55564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21957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88351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54746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21140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987534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63656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90"/>
                </a:solidFill>
                <a:latin typeface="Segoe UI"/>
              </a:rPr>
              <a:t>A2 · 1/2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783080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B7A90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Every cudaMemcpyAsync / kernel launch costs the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CPU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 a few microseconds of driver work, per frame and per operation. After opt4 that looked like the budget.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B7A90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A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CUDA Graph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 builds the whole dependency DAG once, so replay should be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one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 cudaGraphLaunch.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Ours needs three per frame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, because every frame has new source and destination addresses.</a:t>
            </a:r>
          </a:p>
        </p:txBody>
      </p:sp>
      <p:pic>
        <p:nvPicPr>
          <p:cNvPr id="20" name="Picture 19" descr="fig_grap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127248"/>
            <a:ext cx="7178040" cy="2615548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7827264" y="3127248"/>
            <a:ext cx="3877056" cy="1890613"/>
          </a:xfrm>
          <a:prstGeom prst="roundRect">
            <a:avLst>
              <a:gd name="adj" fmla="val 5500"/>
            </a:avLst>
          </a:prstGeom>
          <a:solidFill>
            <a:srgbClr val="17202E"/>
          </a:solidFill>
          <a:ln w="12700">
            <a:solidFill>
              <a:srgbClr val="3A4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91856" y="3236976"/>
            <a:ext cx="35478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7C8A9E"/>
                </a:solidFill>
                <a:latin typeface="Segoe UI"/>
              </a:rPr>
              <a:t>ClusterFinderCUDA_graph.hpp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91856" y="3456432"/>
            <a:ext cx="3547872" cy="16711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C8A9E"/>
                </a:solidFill>
                <a:latin typeface="Consolas"/>
              </a:rPr>
              <a:t>// setup: nodes added by hand, not captured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cudaGraphCreate(&amp;sc.graph, 0);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cudaGraphAddMemset/Memcpy/KernelNode(...);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E90C2"/>
                </a:solidFill>
                <a:latin typeface="Consolas"/>
              </a:rPr>
              <a:t>cudaGraphInstantiate</a:t>
            </a:r>
            <a:r>
              <a:rPr sz="1050" b="0" i="0">
                <a:solidFill>
                  <a:srgbClr val="A5B2C4"/>
                </a:solidFill>
                <a:latin typeface="Consolas"/>
              </a:rPr>
              <a:t>(&amp;sc.graphExec, ...);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C8A9E"/>
                </a:solidFill>
                <a:latin typeface="Consolas"/>
              </a:rPr>
              <a:t>// per FRAME: 3 driver calls, not 1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cudaGraphExecMemcpyNodeSetParams(...);  </a:t>
            </a:r>
            <a:r>
              <a:rPr sz="1050" b="1" i="0">
                <a:solidFill>
                  <a:srgbClr val="1E90C2"/>
                </a:solidFill>
                <a:latin typeface="Consolas"/>
              </a:rPr>
              <a:t>x2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E90C2"/>
                </a:solidFill>
                <a:latin typeface="Consolas"/>
              </a:rPr>
              <a:t>cudaGraphLaunch</a:t>
            </a:r>
            <a:r>
              <a:rPr sz="1050" b="0" i="0">
                <a:solidFill>
                  <a:srgbClr val="A5B2C4"/>
                </a:solidFill>
                <a:latin typeface="Consolas"/>
              </a:rPr>
              <a:t>(sc.graphExec, sc.stream);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8412" y="5138928"/>
            <a:ext cx="3835908" cy="1005840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27264" y="5138928"/>
            <a:ext cx="41148" cy="1005840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83296" y="5230368"/>
            <a:ext cx="3419856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DF4"/>
                </a:solidFill>
                <a:latin typeface="Segoe UI"/>
              </a:rPr>
              <a:t>REJECTED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
3×3: 39 752 FPS, inside noise of opt4.
9×9: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11 072 FPS, 12 % slower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272784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90"/>
                </a:solidFill>
                <a:latin typeface="Segoe UI"/>
              </a:rPr>
              <a:t>The 3×3 edge was never established: the instrumentation tax (2.8 µs) is larger than the gap (0.8 µs). Detail in the notes.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8B25C"/>
                </a:solidFill>
                <a:latin typeface="Segoe UI"/>
              </a:rPr>
              <a:t>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457200"/>
            <a:ext cx="9555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6B7A90"/>
                </a:solidFill>
                <a:latin typeface="Segoe UI"/>
              </a:rPr>
              <a:t>ANNEX · REJECTED ROUTE · CUDA GRAPHS · 2 OF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12379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7EDF4"/>
                </a:solidFill>
                <a:latin typeface="Segoe UI"/>
              </a:rPr>
              <a:t>What a CUDA Graph actually saves, in microseconds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23593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89987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56382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22775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89170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55564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21957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88351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54746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21140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987534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63656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90"/>
                </a:solidFill>
                <a:latin typeface="Segoe UI"/>
              </a:rPr>
              <a:t>A2 · 2/2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737360"/>
            <a:ext cx="74615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B7A90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The stream path issues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four runtime calls per frame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 (memset, H2D, launch, D2H) and a graph replaces all four with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one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 cudaGraphLaunch. This is the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ceiling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: our own graph needs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three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 (see part 1).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560320"/>
            <a:ext cx="7461504" cy="310896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2633472"/>
            <a:ext cx="74615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6B7A90"/>
                </a:solidFill>
                <a:latin typeface="Segoe UI"/>
              </a:rPr>
              <a:t>CALL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88105" y="2633472"/>
            <a:ext cx="74615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6B7A90"/>
                </a:solidFill>
                <a:latin typeface="Segoe UI"/>
              </a:rPr>
              <a:t>PER FRAME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1176" y="2633472"/>
            <a:ext cx="74615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6B7A90"/>
                </a:solidFill>
                <a:latin typeface="Segoe UI"/>
              </a:rPr>
              <a:t>HOST COST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72707" y="2633472"/>
            <a:ext cx="74615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6B7A90"/>
                </a:solidFill>
                <a:latin typeface="Segoe UI"/>
              </a:rPr>
              <a:t>µS/FRAME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907791"/>
            <a:ext cx="7461504" cy="402336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" y="2999232"/>
            <a:ext cx="276514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7EDF4"/>
                </a:solidFill>
                <a:latin typeface="Segoe UI"/>
              </a:rPr>
              <a:t>cudaMemcpyAsync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88105" y="2999232"/>
            <a:ext cx="112361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1176" y="2999232"/>
            <a:ext cx="142207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1.98 µs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2707" y="2999232"/>
            <a:ext cx="127284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3.97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" y="3438144"/>
            <a:ext cx="276514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7EDF4"/>
                </a:solidFill>
                <a:latin typeface="Segoe UI"/>
              </a:rPr>
              <a:t>cudaLaunchKernel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88105" y="3438144"/>
            <a:ext cx="112361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1176" y="3438144"/>
            <a:ext cx="142207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2.13 µs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72707" y="3438144"/>
            <a:ext cx="127284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2.13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785615"/>
            <a:ext cx="7461504" cy="402336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" y="3877055"/>
            <a:ext cx="276514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7EDF4"/>
                </a:solidFill>
                <a:latin typeface="Segoe UI"/>
              </a:rPr>
              <a:t>cudaMemsetAsync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88105" y="3877055"/>
            <a:ext cx="112361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1176" y="3877055"/>
            <a:ext cx="142207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1.57 µs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72707" y="3877055"/>
            <a:ext cx="127284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1.57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" y="4315967"/>
            <a:ext cx="276514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B25C"/>
                </a:solidFill>
                <a:latin typeface="Segoe UI"/>
              </a:rPr>
              <a:t>submission total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88105" y="4315967"/>
            <a:ext cx="112361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B25C"/>
                </a:solidFill>
                <a:latin typeface="Segoe UI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31176" y="4315967"/>
            <a:ext cx="142207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6572707" y="4315967"/>
            <a:ext cx="127284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B25C"/>
                </a:solidFill>
                <a:latin typeface="Segoe UI"/>
              </a:rPr>
              <a:t>7.67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4937760"/>
            <a:ext cx="7461504" cy="801837"/>
          </a:xfrm>
          <a:prstGeom prst="roundRect">
            <a:avLst>
              <a:gd name="adj" fmla="val 5500"/>
            </a:avLst>
          </a:prstGeom>
          <a:solidFill>
            <a:srgbClr val="17202E"/>
          </a:solidFill>
          <a:ln w="12700">
            <a:solidFill>
              <a:srgbClr val="3A4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" y="5047488"/>
            <a:ext cx="7132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7C8A9E"/>
                </a:solidFill>
                <a:latin typeface="Segoe UI"/>
              </a:rPr>
              <a:t>THE ARITHMETIC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" y="5266944"/>
            <a:ext cx="7132320" cy="5823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7.67 us/frame x 3/4  = 5.75 us/frame   eliminated, AS MEASURED (under nsys)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5.75 / 4 (see A12)   ~ 1.4 us/frame    eliminated, unprofiled estimate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8348" y="5833872"/>
            <a:ext cx="7420356" cy="731520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7200" y="5833872"/>
            <a:ext cx="41148" cy="731520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3232" y="5925312"/>
            <a:ext cx="700430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DF4"/>
                </a:solidFill>
                <a:latin typeface="Segoe UI"/>
              </a:rPr>
              <a:t>~1.4 µs against a 16.17 µs floor = 8.7 %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, real while the host is the critical path, and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worth nothing after opt5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, which hides host work under the GPU entirely.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57031" y="1828800"/>
            <a:ext cx="10972" cy="4160520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85632" y="1828800"/>
            <a:ext cx="33101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40">
                <a:solidFill>
                  <a:srgbClr val="6B7A90"/>
                </a:solidFill>
                <a:latin typeface="Segoe UI"/>
              </a:rPr>
              <a:t>ROUTE A · MEASURED VERDICT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85632" y="2212848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6B7A90"/>
                </a:solidFill>
                <a:latin typeface="Segoe UI"/>
              </a:rPr>
              <a:t>3×3 VS OPT4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85632" y="2432304"/>
            <a:ext cx="33101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A5B2C4"/>
                </a:solidFill>
                <a:latin typeface="Segoe UI"/>
              </a:rPr>
              <a:t>×1.03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85632" y="3145536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6B7A90"/>
                </a:solidFill>
                <a:latin typeface="Segoe UI"/>
              </a:rPr>
              <a:t>9×9 VS OPT4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85632" y="3364991"/>
            <a:ext cx="33101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8B25C"/>
                </a:solidFill>
                <a:latin typeface="Segoe UI"/>
              </a:rPr>
              <a:t>×0.88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85632" y="4123944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6B7A90"/>
                </a:solidFill>
                <a:latin typeface="Segoe UI"/>
              </a:rPr>
              <a:t>VS OPT5 AT 9×9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85632" y="4343400"/>
            <a:ext cx="33101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B25C"/>
                </a:solidFill>
                <a:latin typeface="Segoe UI"/>
              </a:rPr>
              <a:t>36 % behind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85632" y="4965192"/>
            <a:ext cx="331012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5B2C4"/>
                </a:solidFill>
                <a:latin typeface="Segoe UI"/>
              </a:rPr>
              <a:t>Read from CUPTI_..._RUNTIME, the host table, so this is the one order-of-magnitude number in the deck, ±50 %. It is enough to show graphs cannot pay against a 16 µs floor, and not enough to quote to two figures.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8B25C"/>
                </a:solidFill>
                <a:latin typeface="Segoe UI"/>
              </a:rPr>
              <a:t>A3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457200"/>
            <a:ext cx="9555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6B7A90"/>
                </a:solidFill>
                <a:latin typeface="Segoe UI"/>
              </a:rPr>
              <a:t>ANNEX · OPT3 · THE OTHER BARRIER · EXPANDS SLIDE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12379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7EDF4"/>
                </a:solidFill>
                <a:latin typeface="Segoe UI"/>
              </a:rPr>
              <a:t>One D2H per frame, not two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23593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89987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56382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22775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89170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55564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21957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88351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54746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21140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987534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63656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90"/>
                </a:solidFill>
                <a:latin typeface="Segoe UI"/>
              </a:rPr>
              <a:t>A3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664208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B7A90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opt2 asked the device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how many clusters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, blocked until the answer came back, then asked for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that many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. The size of the second copy was a function of data that had not arrived yet.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B7A90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opt3 gives every frame a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fixed envelope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 (count, then room for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cap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 clusters), so the copy's size is known at construction and can be queued with the kernel. The count is still read, but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afterwards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, on the host.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926080"/>
            <a:ext cx="1645920" cy="566928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926080"/>
            <a:ext cx="27432" cy="56692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971800"/>
            <a:ext cx="135331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E90C2"/>
                </a:solidFill>
                <a:latin typeface="Consolas"/>
              </a:rPr>
              <a:t>1  </a:t>
            </a:r>
            <a:r>
              <a:rPr sz="1250" b="0" i="0">
                <a:solidFill>
                  <a:srgbClr val="E7EDF4"/>
                </a:solidFill>
                <a:latin typeface="Segoe UI"/>
              </a:rPr>
              <a:t>kernel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2971800"/>
            <a:ext cx="274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B7A90"/>
                </a:solidFill>
                <a:latin typeface="Segoe UI"/>
              </a:rPr>
              <a:t>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2926080"/>
            <a:ext cx="1645920" cy="566928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77440" y="2926080"/>
            <a:ext cx="27432" cy="56692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60320" y="2971800"/>
            <a:ext cx="135331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E90C2"/>
                </a:solidFill>
                <a:latin typeface="Consolas"/>
              </a:rPr>
              <a:t>2  </a:t>
            </a:r>
            <a:r>
              <a:rPr sz="1250" b="0" i="0">
                <a:solidFill>
                  <a:srgbClr val="E7EDF4"/>
                </a:solidFill>
                <a:latin typeface="Segoe UI"/>
              </a:rPr>
              <a:t>copy 4 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2971800"/>
            <a:ext cx="274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B7A90"/>
                </a:solidFill>
                <a:latin typeface="Segoe UI"/>
              </a:rPr>
              <a:t>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2926080"/>
            <a:ext cx="1645920" cy="566928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97680" y="2926080"/>
            <a:ext cx="27432" cy="56692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0" y="2971800"/>
            <a:ext cx="135331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E90C2"/>
                </a:solidFill>
                <a:latin typeface="Consolas"/>
              </a:rPr>
              <a:t>3  </a:t>
            </a:r>
            <a:r>
              <a:rPr sz="1250" b="0" i="0">
                <a:solidFill>
                  <a:srgbClr val="E7EDF4"/>
                </a:solidFill>
                <a:latin typeface="Segoe UI"/>
              </a:rPr>
              <a:t>BLOCK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2971800"/>
            <a:ext cx="274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B7A90"/>
                </a:solidFill>
                <a:latin typeface="Segoe UI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2926080"/>
            <a:ext cx="1645920" cy="566928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2926080"/>
            <a:ext cx="27432" cy="56692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2971800"/>
            <a:ext cx="135331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E90C2"/>
                </a:solidFill>
                <a:latin typeface="Consolas"/>
              </a:rPr>
              <a:t>4  </a:t>
            </a:r>
            <a:r>
              <a:rPr sz="1250" b="0" i="0">
                <a:solidFill>
                  <a:srgbClr val="E7EDF4"/>
                </a:solidFill>
                <a:latin typeface="Segoe UI"/>
              </a:rPr>
              <a:t>read count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2971800"/>
            <a:ext cx="274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B7A90"/>
                </a:solidFill>
                <a:latin typeface="Segoe UI"/>
              </a:rPr>
              <a:t>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38160" y="2926080"/>
            <a:ext cx="1645920" cy="566928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38160" y="2926080"/>
            <a:ext cx="27432" cy="56692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2971800"/>
            <a:ext cx="135331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E90C2"/>
                </a:solidFill>
                <a:latin typeface="Consolas"/>
              </a:rPr>
              <a:t>5  </a:t>
            </a:r>
            <a:r>
              <a:rPr sz="1250" b="0" i="0">
                <a:solidFill>
                  <a:srgbClr val="E7EDF4"/>
                </a:solidFill>
                <a:latin typeface="Segoe UI"/>
              </a:rPr>
              <a:t>copy N 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0" y="2971800"/>
            <a:ext cx="274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B7A90"/>
                </a:solidFill>
                <a:latin typeface="Segoe UI"/>
              </a:rPr>
              <a:t>›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058400" y="2926080"/>
            <a:ext cx="1645920" cy="566928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058400" y="2926080"/>
            <a:ext cx="27432" cy="56692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241280" y="2971800"/>
            <a:ext cx="135331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E90C2"/>
                </a:solidFill>
                <a:latin typeface="Consolas"/>
              </a:rPr>
              <a:t>6  </a:t>
            </a:r>
            <a:r>
              <a:rPr sz="1250" b="0" i="0">
                <a:solidFill>
                  <a:srgbClr val="E7EDF4"/>
                </a:solidFill>
                <a:latin typeface="Segoe UI"/>
              </a:rPr>
              <a:t>BLOCK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3630168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90"/>
                </a:solidFill>
                <a:latin typeface="Segoe UI"/>
              </a:rPr>
              <a:t>opt2 · two transfers and two stalls per frame: the host must learn the count before it knows how much to fetch.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3941063"/>
            <a:ext cx="3566160" cy="566928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" y="3941063"/>
            <a:ext cx="27432" cy="56692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3986783"/>
            <a:ext cx="327355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E90C2"/>
                </a:solidFill>
                <a:latin typeface="Consolas"/>
              </a:rPr>
              <a:t>1  </a:t>
            </a:r>
            <a:r>
              <a:rPr sz="1250" b="0" i="0">
                <a:solidFill>
                  <a:srgbClr val="E7EDF4"/>
                </a:solidFill>
                <a:latin typeface="Segoe UI"/>
              </a:rPr>
              <a:t>kernel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23360" y="3986783"/>
            <a:ext cx="274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B7A90"/>
                </a:solidFill>
                <a:latin typeface="Segoe UI"/>
              </a:rPr>
              <a:t>›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97680" y="3941063"/>
            <a:ext cx="3566160" cy="566928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297680" y="3941063"/>
            <a:ext cx="27432" cy="56692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80560" y="3986783"/>
            <a:ext cx="327355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E90C2"/>
                </a:solidFill>
                <a:latin typeface="Consolas"/>
              </a:rPr>
              <a:t>2  </a:t>
            </a:r>
            <a:r>
              <a:rPr sz="1250" b="0" i="0">
                <a:solidFill>
                  <a:srgbClr val="E7EDF4"/>
                </a:solidFill>
                <a:latin typeface="Segoe UI"/>
              </a:rPr>
              <a:t>copy the whole envelope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3986783"/>
            <a:ext cx="274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B7A90"/>
                </a:solidFill>
                <a:latin typeface="Segoe UI"/>
              </a:rPr>
              <a:t>›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38160" y="3941063"/>
            <a:ext cx="3566160" cy="566928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138160" y="3941063"/>
            <a:ext cx="27432" cy="56692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21040" y="3986783"/>
            <a:ext cx="327355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E90C2"/>
                </a:solidFill>
                <a:latin typeface="Consolas"/>
              </a:rPr>
              <a:t>3  </a:t>
            </a:r>
            <a:r>
              <a:rPr sz="1250" b="0" i="0">
                <a:solidFill>
                  <a:srgbClr val="E7EDF4"/>
                </a:solidFill>
                <a:latin typeface="Segoe UI"/>
              </a:rPr>
              <a:t>→ next frame, host not involved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4645152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90"/>
                </a:solidFill>
                <a:latin typeface="Segoe UI"/>
              </a:rPr>
              <a:t>opt3 · one transfer, no stall. Nothing in the loop waits on a value.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98348" y="5029200"/>
            <a:ext cx="11205972" cy="786384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57200" y="5029200"/>
            <a:ext cx="41148" cy="786384"/>
          </a:xfrm>
          <a:prstGeom prst="rect">
            <a:avLst/>
          </a:prstGeom>
          <a:solidFill>
            <a:srgbClr val="E25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13232" y="5120640"/>
            <a:ext cx="10789920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DF4"/>
                </a:solidFill>
                <a:latin typeface="Segoe UI"/>
              </a:rPr>
              <a:t>You can only stream a transfer whose size is known in advance.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 The price is bytes: the envelope is sized by the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cap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, not by the clusters actually found. 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3×3: 120 kB shipped for 93 kB of clusters.  9×9: 558 for 467.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8B25C"/>
                </a:solidFill>
                <a:latin typeface="Segoe UI"/>
              </a:rPr>
              <a:t>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457200"/>
            <a:ext cx="9555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6B7A90"/>
                </a:solidFill>
                <a:latin typeface="Segoe UI"/>
              </a:rPr>
              <a:t>ANNEX · OPT5 · THE OVERLAP CODE · EXPANDS SLIDE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12379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7EDF4"/>
                </a:solidFill>
                <a:latin typeface="Segoe UI"/>
              </a:rPr>
              <a:t>The overlap, in six lines, and why you never write them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23593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89987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56382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22775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89170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55564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21957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88351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54746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21140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987534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63656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90"/>
                </a:solidFill>
                <a:latin typeface="Segoe UI"/>
              </a:rPr>
              <a:t>A4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1664208"/>
            <a:ext cx="6757416" cy="1527688"/>
          </a:xfrm>
          <a:prstGeom prst="roundRect">
            <a:avLst>
              <a:gd name="adj" fmla="val 5500"/>
            </a:avLst>
          </a:prstGeom>
          <a:solidFill>
            <a:srgbClr val="17202E"/>
          </a:solidFill>
          <a:ln w="12700">
            <a:solidFill>
              <a:srgbClr val="3A4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1773936"/>
            <a:ext cx="64282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7C8A9E"/>
                </a:solidFill>
                <a:latin typeface="Segoe UI"/>
              </a:rPr>
              <a:t>THE WHOLE OF OPT5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1993391"/>
            <a:ext cx="6428231" cy="1308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tok = cf.</a:t>
            </a:r>
            <a:r>
              <a:rPr sz="1050" b="1" i="0">
                <a:solidFill>
                  <a:srgbClr val="1E90C2"/>
                </a:solidFill>
                <a:latin typeface="Consolas"/>
              </a:rPr>
              <a:t>submit_batch</a:t>
            </a:r>
            <a:r>
              <a:rPr sz="1050" b="0" i="0">
                <a:solidFill>
                  <a:srgbClr val="A5B2C4"/>
                </a:solidFill>
                <a:latin typeface="Consolas"/>
              </a:rPr>
              <a:t>(data[a0:b0], first_frame=a0)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for a, b in bounds[1:]: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    nxt = cf.</a:t>
            </a:r>
            <a:r>
              <a:rPr sz="1050" b="1" i="0">
                <a:solidFill>
                  <a:srgbClr val="1E90C2"/>
                </a:solidFill>
                <a:latin typeface="Consolas"/>
              </a:rPr>
              <a:t>submit_batch</a:t>
            </a:r>
            <a:r>
              <a:rPr sz="1050" b="0" i="0">
                <a:solidFill>
                  <a:srgbClr val="A5B2C4"/>
                </a:solidFill>
                <a:latin typeface="Consolas"/>
              </a:rPr>
              <a:t>(data[a:b], first_frame=a)   # GPU starts N+1 …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    results.extend(cf.</a:t>
            </a:r>
            <a:r>
              <a:rPr sz="1050" b="1" i="0">
                <a:solidFill>
                  <a:srgbClr val="1E90C2"/>
                </a:solidFill>
                <a:latin typeface="Consolas"/>
              </a:rPr>
              <a:t>collect</a:t>
            </a:r>
            <a:r>
              <a:rPr sz="1050" b="0" i="0">
                <a:solidFill>
                  <a:srgbClr val="A5B2C4"/>
                </a:solidFill>
                <a:latin typeface="Consolas"/>
              </a:rPr>
              <a:t>(tok))                   # … host unpacks N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    tok = nxt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results.extend(cf.</a:t>
            </a:r>
            <a:r>
              <a:rPr sz="1050" b="1" i="0">
                <a:solidFill>
                  <a:srgbClr val="1E90C2"/>
                </a:solidFill>
                <a:latin typeface="Consolas"/>
              </a:rPr>
              <a:t>collect</a:t>
            </a:r>
            <a:r>
              <a:rPr sz="1050" b="0" i="0">
                <a:solidFill>
                  <a:srgbClr val="A5B2C4"/>
                </a:solidFill>
                <a:latin typeface="Consolas"/>
              </a:rPr>
              <a:t>(tok))                       # drain the last 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328416"/>
            <a:ext cx="67574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B7A90"/>
                </a:solidFill>
                <a:latin typeface="Segoe UI"/>
              </a:rPr>
              <a:t>• 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You do not write this.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 It is inside find_clusters_batched(), so opt5 arrived as a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speedup, not an API change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B7A90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submit_batch() and collect() stay public for streaming from a detector, or interleaving other work between chunks.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57031" y="1828800"/>
            <a:ext cx="10972" cy="4160520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85632" y="1828800"/>
            <a:ext cx="33101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40">
                <a:solidFill>
                  <a:srgbClr val="6B7A90"/>
                </a:solidFill>
                <a:latin typeface="Segoe UI"/>
              </a:rPr>
              <a:t>CHUNK SIZING · THE TWO CONSTRAINTS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85632" y="2231136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6B7A90"/>
                </a:solidFill>
                <a:latin typeface="Segoe UI"/>
              </a:rPr>
              <a:t>MULTIPLE 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85632" y="2450591"/>
            <a:ext cx="33101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90C2"/>
                </a:solidFill>
                <a:latin typeface="Segoe UI"/>
              </a:rPr>
              <a:t>n_streams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85632" y="2889504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6B7A90"/>
                </a:solidFill>
                <a:latin typeface="Segoe UI"/>
              </a:rPr>
              <a:t>CAPPED 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85632" y="3108960"/>
            <a:ext cx="33101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90C2"/>
                </a:solidFill>
                <a:latin typeface="Segoe UI"/>
              </a:rPr>
              <a:t>MAX_SLOT_BYTES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85632" y="3694176"/>
            <a:ext cx="331012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5B2C4"/>
                </a:solidFill>
                <a:latin typeface="Segoe UI"/>
              </a:rPr>
              <a:t>A multiple of n_streams, because the device pedestal is per-stream: an uneven chunk leaves the four pedestals at different ages and the finder stops being reproducible.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85632" y="5056632"/>
            <a:ext cx="331012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5B2C4"/>
                </a:solidFill>
                <a:latin typeface="Segoe UI"/>
              </a:rPr>
              <a:t>Capped so the two pinned slots stay bounded: 544.5 kB per frame at 9×9, cap 1 700. chunk_size_for(n) applies both rules.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8348" y="4590288"/>
            <a:ext cx="6716268" cy="658368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4590288"/>
            <a:ext cx="41148" cy="65836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4681727"/>
            <a:ext cx="630021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5B2C4"/>
                </a:solidFill>
                <a:latin typeface="Segoe UI"/>
              </a:rPr>
              <a:t>Two chunks in flight is enough. A third adds pinned memory and no overlap: the host is already busy for the whole time the GPU is.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468112"/>
            <a:ext cx="67574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90"/>
                </a:solidFill>
                <a:latin typeface="Segoe UI"/>
              </a:rPr>
              <a:t>The saving is min(GPU, host) per chunk, so opt5 pays most when the two terms are comparable, ×1.31 at 3×3, and least when one dominates, ×1.20 at 9×9, where the host term is roughly twice the GPU term. That gap is the diagnosis that motivates opt6 (report §8.2).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8B25C"/>
                </a:solidFill>
                <a:latin typeface="Segoe UI"/>
              </a:rPr>
              <a:t>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457200"/>
            <a:ext cx="9555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6B7A90"/>
                </a:solidFill>
                <a:latin typeface="Segoe UI"/>
              </a:rPr>
              <a:t>ANNEX · REJECTED ROUTES · THE RESULT COPY · EXPANDS SLIDE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12379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7EDF4"/>
                </a:solidFill>
                <a:latin typeface="Segoe UI"/>
              </a:rPr>
              <a:t>The copy is allocation-bound, not bandwidth-bound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23593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89987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56382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22775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89170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55564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21957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88351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54746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21140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987534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63656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90"/>
                </a:solidFill>
                <a:latin typeface="Segoe UI"/>
              </a:rPr>
              <a:t>A5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560320"/>
            <a:ext cx="11247120" cy="1874519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560320"/>
            <a:ext cx="36576" cy="1874519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" y="276148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8B25C"/>
                </a:solidFill>
                <a:latin typeface="Consolas"/>
              </a:rPr>
              <a:t>B′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82496" y="274320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7EDF4"/>
                </a:solidFill>
                <a:latin typeface="Segoe UI"/>
              </a:rPr>
              <a:t>One allocation per chunk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82496" y="3035808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A90"/>
                </a:solidFill>
                <a:latin typeface="Consolas"/>
              </a:rPr>
              <a:t>collect_packed()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82496" y="3383279"/>
            <a:ext cx="96377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5B2C4"/>
                </a:solidFill>
                <a:latin typeface="Segoe UI"/>
              </a:rPr>
              <a:t>Removes the per-frame malloc but keeps the copy, and the copy is ~80% of the cost. Worse, the replacement allocation is 1.17 GB, far above glibc's mmap threshold, so it is mmap'd and munmap'd every chunk: 606 566 faults, ~21 µs/frame.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82496" y="4096511"/>
            <a:ext cx="9637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8B25C"/>
                </a:solidFill>
                <a:latin typeface="Segoe UI"/>
              </a:rPr>
              <a:t>69.3 µs  ·  deleted from the API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617720"/>
            <a:ext cx="11247120" cy="1874519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617720"/>
            <a:ext cx="36576" cy="1874519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81888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8B25C"/>
                </a:solidFill>
                <a:latin typeface="Consolas"/>
              </a:rPr>
              <a:t>B″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82496" y="480060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7EDF4"/>
                </a:solidFill>
                <a:latin typeface="Segoe UI"/>
              </a:rPr>
              <a:t>Parallel materialisation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82496" y="5093208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A90"/>
                </a:solidFill>
                <a:latin typeface="Consolas"/>
              </a:rPr>
              <a:t>8-thread copy pool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82496" y="5440680"/>
            <a:ext cx="96377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5B2C4"/>
                </a:solidFill>
                <a:latin typeface="Segoe UI"/>
              </a:rPr>
              <a:t>Each worker gets its own glibc arena, which destroys the cross-run heap reuse that makes the single-threaded path cheap. Faults went 9 700 → 2 270 000; MALLOC_ARENA_MAX=1 collapsed them back to 138 k, which is the proof.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82496" y="6153912"/>
            <a:ext cx="9637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8B25C"/>
                </a:solidFill>
                <a:latin typeface="Segoe UI"/>
              </a:rPr>
              <a:t>+6% at best, −33% when results are freed promptly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" y="1664208"/>
            <a:ext cx="11205972" cy="731520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1664208"/>
            <a:ext cx="41148" cy="731520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1755648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DF4"/>
                </a:solidFill>
                <a:latin typeface="Segoe UI"/>
              </a:rPr>
              <a:t>Copying faster does not help when the cost is the OS populating pages.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 The only winning move is not to allocate, which is exactly what opt6 does. materialize_slot() is deliberately single-threaded and carries a comment saying so, to stop the experiment being repeated.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8B25C"/>
                </a:solidFill>
                <a:latin typeface="Segoe UI"/>
              </a:rPr>
              <a:t>A6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457200"/>
            <a:ext cx="9555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6B7A90"/>
                </a:solidFill>
                <a:latin typeface="Segoe UI"/>
              </a:rPr>
              <a:t>ANNEX · THE BIG PINNED BUFFER · EXPANDS SLIDE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12379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7EDF4"/>
                </a:solidFill>
                <a:latin typeface="Segoe UI"/>
              </a:rPr>
              <a:t>Why not pin one buffer and keep every cluster?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23593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89987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56382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22775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89170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55564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21957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88351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54746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21140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987534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63656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90"/>
                </a:solidFill>
                <a:latin typeface="Segoe UI"/>
              </a:rPr>
              <a:t>A6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609344"/>
            <a:ext cx="74615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B7A90"/>
                </a:solidFill>
                <a:latin typeface="Segoe UI"/>
              </a:rPr>
              <a:t>• 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The proposal.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 Give the finder a big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pinned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 buffer; every frame's D2H lands in it at its own offset. No host-to-host copy, and the results outlive the finder.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It works, and it is faster than opt5.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B7A90"/>
                </a:solidFill>
                <a:latin typeface="Segoe UI"/>
              </a:rPr>
              <a:t>• 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What binds is not time, it is RAM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, and the input has to stay pinned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at the same time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, since every frame's H2D still reads from 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273552"/>
            <a:ext cx="7461504" cy="310896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3346704"/>
            <a:ext cx="74615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6B7A90"/>
                </a:solidFill>
                <a:latin typeface="Segoe UI"/>
              </a:rPr>
              <a:t>9×9 · PINNED AT ONCE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88105" y="3346704"/>
            <a:ext cx="74615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6B7A90"/>
                </a:solidFill>
                <a:latin typeface="Segoe UI"/>
              </a:rPr>
              <a:t>PER FRAME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0406" y="3346704"/>
            <a:ext cx="74615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6B7A90"/>
                </a:solidFill>
                <a:latin typeface="Segoe UI"/>
              </a:rPr>
              <a:t>N = 20 000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8092" y="3346704"/>
            <a:ext cx="74615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6B7A90"/>
                </a:solidFill>
                <a:latin typeface="Segoe UI"/>
              </a:rPr>
              <a:t>N = 100 000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621024"/>
            <a:ext cx="7461504" cy="402336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" y="3712463"/>
            <a:ext cx="276514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7EDF4"/>
                </a:solidFill>
                <a:latin typeface="Segoe UI"/>
              </a:rPr>
              <a:t>input frames · opt4 already does this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88105" y="3712463"/>
            <a:ext cx="127284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320 000 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80406" y="3712463"/>
            <a:ext cx="119822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6.4 GB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8092" y="3712463"/>
            <a:ext cx="134745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32.0 GB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" y="4151375"/>
            <a:ext cx="276514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7EDF4"/>
                </a:solidFill>
                <a:latin typeface="Segoe UI"/>
              </a:rPr>
              <a:t>output envelope · what this adds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88105" y="4151375"/>
            <a:ext cx="127284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557 568 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80406" y="4151375"/>
            <a:ext cx="119822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11.2 GB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8092" y="4151375"/>
            <a:ext cx="134745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55.8 GB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498848"/>
            <a:ext cx="7461504" cy="402336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" y="4590288"/>
            <a:ext cx="276514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B25C"/>
                </a:solidFill>
                <a:latin typeface="Segoe UI"/>
              </a:rPr>
              <a:t>both, for the whole run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88105" y="4590288"/>
            <a:ext cx="127284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877 568 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80406" y="4590288"/>
            <a:ext cx="119822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B25C"/>
                </a:solidFill>
                <a:latin typeface="Segoe UI"/>
              </a:rPr>
              <a:t>17.6 GB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8092" y="4590288"/>
            <a:ext cx="134745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B25C"/>
                </a:solidFill>
                <a:latin typeface="Segoe UI"/>
              </a:rPr>
              <a:t>87.8 GB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" y="4974336"/>
            <a:ext cx="7420356" cy="658368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4974336"/>
            <a:ext cx="41148" cy="65836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" y="5065776"/>
            <a:ext cx="7004304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DF4"/>
                </a:solidFill>
                <a:latin typeface="Segoe UI"/>
              </a:rPr>
              <a:t>98 GB free, no swap.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 At the measured size (N = 20 000) it fits easily. It is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linear in N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: 877 568 B per frame caps a 9×9 run at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≈112 000 frames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 with nothing left over.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8348" y="5742432"/>
            <a:ext cx="7420356" cy="658368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5742432"/>
            <a:ext cx="41148" cy="65836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3232" y="5833872"/>
            <a:ext cx="7004304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DF4"/>
                </a:solidFill>
                <a:latin typeface="Segoe UI"/>
              </a:rPr>
              <a:t>Faster than opt5, and it costs 20 % more memory than opt5's own results.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 The envelope stores the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cap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 (1 700), not the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1 422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 clusters actually found, and all of it is page-locked.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57031" y="1828800"/>
            <a:ext cx="10972" cy="4160520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85632" y="1828800"/>
            <a:ext cx="33101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40">
                <a:solidFill>
                  <a:srgbClr val="6B7A90"/>
                </a:solidFill>
                <a:latin typeface="Segoe UI"/>
              </a:rPr>
              <a:t>9×9 · PER FRAME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85632" y="2212848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6B7A90"/>
                </a:solidFill>
                <a:latin typeface="Segoe UI"/>
              </a:rPr>
              <a:t>OPT5 · MEASURED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85632" y="2432304"/>
            <a:ext cx="33101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A5B2C4"/>
                </a:solidFill>
                <a:latin typeface="Segoe UI"/>
              </a:rPr>
              <a:t>66.39 µs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85632" y="3145536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6B7A90"/>
                </a:solidFill>
                <a:latin typeface="Segoe UI"/>
              </a:rPr>
              <a:t>OPT6 · NO HOST COPY EITHER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85632" y="3364991"/>
            <a:ext cx="33101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90C2"/>
                </a:solidFill>
                <a:latin typeface="Segoe UI"/>
              </a:rPr>
              <a:t>30.01 µs · 100 % of floor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85632" y="3950208"/>
            <a:ext cx="33101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40">
                <a:solidFill>
                  <a:srgbClr val="6B7A90"/>
                </a:solidFill>
                <a:latin typeface="Segoe UI"/>
              </a:rPr>
              <a:t>RESULTS KEPT, N = 100 000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85632" y="4297680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6B7A90"/>
                </a:solidFill>
                <a:latin typeface="Segoe UI"/>
              </a:rPr>
              <a:t>OPT5 · PAGEABLE, COMPACTED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85632" y="4517136"/>
            <a:ext cx="33101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DF4"/>
                </a:solidFill>
                <a:latin typeface="Segoe UI"/>
              </a:rPr>
              <a:t>46.6 GB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85632" y="4956048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6B7A90"/>
                </a:solidFill>
                <a:latin typeface="Segoe UI"/>
              </a:rPr>
              <a:t>THIS · PINNED, PADDED TO CAP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85632" y="5175504"/>
            <a:ext cx="33101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B25C"/>
                </a:solidFill>
                <a:latin typeface="Segoe UI"/>
              </a:rPr>
              <a:t>55.8 GB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85632" y="5705855"/>
            <a:ext cx="331012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5B2C4"/>
                </a:solidFill>
                <a:latin typeface="Segoe UI"/>
              </a:rPr>
              <a:t>Registration is in no timed number here: at 3×3 the whole cold–warm gap is 0.097 s, and covering the 32 GB input inside it would need 320 GB/s. Measured DRAM is 71 GB/s.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8B25C"/>
                </a:solidFill>
                <a:latin typeface="Segoe UI"/>
              </a:rPr>
              <a:t>A7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457200"/>
            <a:ext cx="9555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6B7A90"/>
                </a:solidFill>
                <a:latin typeface="Segoe UI"/>
              </a:rPr>
              <a:t>ANNEX · MEASUREMENT CONVENTION · EXPANDS SLIDE 19 · 1 OF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12379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7EDF4"/>
                </a:solidFill>
                <a:latin typeface="Segoe UI"/>
              </a:rPr>
              <a:t>Four kernels overlap, so the kernel floor is busy time, not run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23593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89987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56382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22775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89170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55564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21957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88351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54746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21140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987534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63656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90"/>
                </a:solidFill>
                <a:latin typeface="Segoe UI"/>
              </a:rPr>
              <a:t>A7 · 1/2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664208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B7A90"/>
                </a:solidFill>
                <a:latin typeface="Segoe UI"/>
              </a:rPr>
              <a:t>• 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Why it needs saying.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 In Act III the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kernel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 is the tallest bar, and it is the one engine that runs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four at a time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. A copy engine's busy time is simply how long it runs; the kernel's is not, so what its floor means stops being obvious.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286000"/>
            <a:ext cx="3621024" cy="1133856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286000"/>
            <a:ext cx="3621024" cy="32004"/>
          </a:xfrm>
          <a:prstGeom prst="rect">
            <a:avLst/>
          </a:prstGeom>
          <a:solidFill>
            <a:srgbClr val="E25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" y="2432304"/>
            <a:ext cx="31181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25454"/>
                </a:solidFill>
                <a:latin typeface="Consolas"/>
              </a:rPr>
              <a:t>s1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" y="27432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7EDF4"/>
                </a:solidFill>
                <a:latin typeface="Segoe UI"/>
              </a:rPr>
              <a:t>One stream, nothing else running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30175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How long an operation actually takes.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61104" y="2286000"/>
            <a:ext cx="3621024" cy="1133856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61104" y="2286000"/>
            <a:ext cx="3621024" cy="32004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98848" y="2432304"/>
            <a:ext cx="31181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90C2"/>
                </a:solidFill>
                <a:latin typeface="Consolas"/>
              </a:rPr>
              <a:t>s4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8848" y="27432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7EDF4"/>
                </a:solidFill>
                <a:latin typeface="Segoe UI"/>
              </a:rPr>
              <a:t>The shipped pipeline, four streams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98848" y="30175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How busy each engine is: a union, not a sum.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65008" y="2286000"/>
            <a:ext cx="3621024" cy="1133856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65008" y="2286000"/>
            <a:ext cx="3621024" cy="32004"/>
          </a:xfrm>
          <a:prstGeom prst="rect">
            <a:avLst/>
          </a:prstGeom>
          <a:solidFill>
            <a:srgbClr val="5CC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2752" y="2432304"/>
            <a:ext cx="31181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CC8A0"/>
                </a:solidFill>
                <a:latin typeface="Consolas"/>
              </a:rPr>
              <a:t>floor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2752" y="27432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7EDF4"/>
                </a:solidFill>
                <a:latin typeface="Segoe UI"/>
              </a:rPr>
              <a:t>Set by the busiest engine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2752" y="30175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1 / the busiest engine, in µs/frame or FPS.</a:t>
            </a:r>
          </a:p>
        </p:txBody>
      </p:sp>
      <p:pic>
        <p:nvPicPr>
          <p:cNvPr id="35" name="Picture 34" descr="fig_meas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3621024"/>
            <a:ext cx="10607040" cy="2892422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8B25C"/>
                </a:solidFill>
                <a:latin typeface="Segoe UI"/>
              </a:rPr>
              <a:t>A7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457200"/>
            <a:ext cx="9555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6B7A90"/>
                </a:solidFill>
                <a:latin typeface="Segoe UI"/>
              </a:rPr>
              <a:t>ANNEX · MEASUREMENT CONVENTION · EVERY ENGINE NUMBER · 2 OF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12379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7EDF4"/>
                </a:solidFill>
                <a:latin typeface="Segoe UI"/>
              </a:rPr>
              <a:t>Uncontended, or as the pipeline runs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23593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89987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56382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22775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89170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55564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21957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88351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54746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21140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987534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63656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90"/>
                </a:solidFill>
                <a:latin typeface="Segoe UI"/>
              </a:rPr>
              <a:t>A7 · 2/2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664208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B7A90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Every engine time in this deck is tagged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[build · s1|s4]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.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s1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 is one stream with nothing else running: what an engine does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on its own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, which is the right number for a capability claim and for the headroom that remains.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s4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 is the shipped four-stream pipeline: each engine's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busy time per frame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, the union of its intervals, the only number that can set a floor.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807208"/>
            <a:ext cx="5477256" cy="310896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2880360"/>
            <a:ext cx="54772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6B7A90"/>
                </a:solidFill>
                <a:latin typeface="Segoe UI"/>
              </a:rPr>
              <a:t>3×3 · µS/FRAME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37135" y="2880360"/>
            <a:ext cx="54772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6B7A90"/>
                </a:solidFill>
                <a:latin typeface="Segoe UI"/>
              </a:rPr>
              <a:t>S1 F64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23041" y="2880360"/>
            <a:ext cx="54772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6B7A90"/>
                </a:solidFill>
                <a:latin typeface="Segoe UI"/>
              </a:rPr>
              <a:t>S1 F32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08947" y="2880360"/>
            <a:ext cx="54772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6B7A90"/>
                </a:solidFill>
                <a:latin typeface="Segoe UI"/>
              </a:rPr>
              <a:t>S4 F64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94853" y="2880360"/>
            <a:ext cx="54772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6B7A90"/>
                </a:solidFill>
                <a:latin typeface="Segoe UI"/>
              </a:rPr>
              <a:t>S4 F32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154679"/>
            <a:ext cx="5477256" cy="402336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" y="3246120"/>
            <a:ext cx="131417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7EDF4"/>
                </a:solidFill>
                <a:latin typeface="Segoe UI"/>
              </a:rPr>
              <a:t>H2D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37135" y="3246120"/>
            <a:ext cx="76645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13.14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23041" y="3246120"/>
            <a:ext cx="76645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13.15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08947" y="3246120"/>
            <a:ext cx="76645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16.17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94853" y="3246120"/>
            <a:ext cx="76645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16.63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" y="3685031"/>
            <a:ext cx="131417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7EDF4"/>
                </a:solidFill>
                <a:latin typeface="Segoe UI"/>
              </a:rPr>
              <a:t>kernel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37135" y="3685031"/>
            <a:ext cx="76645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14.72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23041" y="3685031"/>
            <a:ext cx="76645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4.32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08947" y="3685031"/>
            <a:ext cx="76645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15.17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94853" y="3685031"/>
            <a:ext cx="76645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5.53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032504"/>
            <a:ext cx="5477256" cy="402336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3504" y="4123944"/>
            <a:ext cx="131417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7EDF4"/>
                </a:solidFill>
                <a:latin typeface="Segoe UI"/>
              </a:rPr>
              <a:t>D2H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37135" y="4123944"/>
            <a:ext cx="76645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5.31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23041" y="4123944"/>
            <a:ext cx="76645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5.27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08947" y="4123944"/>
            <a:ext cx="76645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7.69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94853" y="4123944"/>
            <a:ext cx="76645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7.57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" y="4562856"/>
            <a:ext cx="131417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7EDF4"/>
                </a:solidFill>
                <a:latin typeface="Segoe UI"/>
              </a:rPr>
              <a:t>engine max [s4]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37135" y="4562856"/>
            <a:ext cx="76645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23041" y="4562856"/>
            <a:ext cx="76645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08947" y="4562856"/>
            <a:ext cx="76645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16.17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94853" y="4562856"/>
            <a:ext cx="76645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16.63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910328"/>
            <a:ext cx="5477256" cy="402336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3504" y="5001768"/>
            <a:ext cx="131417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7EDF4"/>
                </a:solidFill>
                <a:latin typeface="Segoe UI"/>
              </a:rPr>
              <a:t>FLOOR = lower of max, sustained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37135" y="5001768"/>
            <a:ext cx="76645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123041" y="5001768"/>
            <a:ext cx="76645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08947" y="5001768"/>
            <a:ext cx="76645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B25C"/>
                </a:solidFill>
                <a:latin typeface="Segoe UI"/>
              </a:rPr>
              <a:t>16.17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94853" y="5001768"/>
            <a:ext cx="76645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B25C"/>
                </a:solidFill>
                <a:latin typeface="Segoe UI"/>
              </a:rPr>
              <a:t>16.31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9944" y="2807208"/>
            <a:ext cx="5477256" cy="310896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56248" y="2880360"/>
            <a:ext cx="54772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6B7A90"/>
                </a:solidFill>
                <a:latin typeface="Segoe UI"/>
              </a:rPr>
              <a:t>9×9 · CAP 1700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89879" y="2880360"/>
            <a:ext cx="54772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6B7A90"/>
                </a:solidFill>
                <a:latin typeface="Segoe UI"/>
              </a:rPr>
              <a:t>S1 F64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75785" y="2880360"/>
            <a:ext cx="54772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6B7A90"/>
                </a:solidFill>
                <a:latin typeface="Segoe UI"/>
              </a:rPr>
              <a:t>S1 F32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61691" y="2880360"/>
            <a:ext cx="54772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6B7A90"/>
                </a:solidFill>
                <a:latin typeface="Segoe UI"/>
              </a:rPr>
              <a:t>S4 F64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47597" y="2880360"/>
            <a:ext cx="54772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6B7A90"/>
                </a:solidFill>
                <a:latin typeface="Segoe UI"/>
              </a:rPr>
              <a:t>S4 F32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09944" y="3154679"/>
            <a:ext cx="5477256" cy="402336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56248" y="3246120"/>
            <a:ext cx="131417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7EDF4"/>
                </a:solidFill>
                <a:latin typeface="Segoe UI"/>
              </a:rPr>
              <a:t>H2D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89879" y="3246120"/>
            <a:ext cx="76645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13.20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75785" y="3246120"/>
            <a:ext cx="76645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13.22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61691" y="3246120"/>
            <a:ext cx="76645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20.77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047597" y="3246120"/>
            <a:ext cx="76645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20.54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56248" y="3685031"/>
            <a:ext cx="131417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7EDF4"/>
                </a:solidFill>
                <a:latin typeface="Segoe UI"/>
              </a:rPr>
              <a:t>kernel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89879" y="3685031"/>
            <a:ext cx="76645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39.86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75785" y="3685031"/>
            <a:ext cx="76645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23.70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061691" y="3685031"/>
            <a:ext cx="76645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32.66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047597" y="3685031"/>
            <a:ext cx="76645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23.94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09944" y="4032504"/>
            <a:ext cx="5477256" cy="402336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556248" y="4123944"/>
            <a:ext cx="131417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7EDF4"/>
                </a:solidFill>
                <a:latin typeface="Segoe UI"/>
              </a:rPr>
              <a:t>D2H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089879" y="4123944"/>
            <a:ext cx="76645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21.97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75785" y="4123944"/>
            <a:ext cx="76645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21.95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061691" y="4123944"/>
            <a:ext cx="76645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25.25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047597" y="4123944"/>
            <a:ext cx="76645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25.24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56248" y="4562856"/>
            <a:ext cx="131417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7EDF4"/>
                </a:solidFill>
                <a:latin typeface="Segoe UI"/>
              </a:rPr>
              <a:t>engine max [s4]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089879" y="4562856"/>
            <a:ext cx="76645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—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075785" y="4562856"/>
            <a:ext cx="76645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—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061691" y="4562856"/>
            <a:ext cx="76645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32.66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047597" y="4562856"/>
            <a:ext cx="76645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25.24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409944" y="4910328"/>
            <a:ext cx="5477256" cy="402336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556248" y="5001768"/>
            <a:ext cx="131417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7EDF4"/>
                </a:solidFill>
                <a:latin typeface="Segoe UI"/>
              </a:rPr>
              <a:t>FLOOR = lower of max, sustained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089879" y="5001768"/>
            <a:ext cx="76645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—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075785" y="5001768"/>
            <a:ext cx="76645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—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061691" y="5001768"/>
            <a:ext cx="76645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B25C"/>
                </a:solidFill>
                <a:latin typeface="Segoe UI"/>
              </a:rPr>
              <a:t>30.01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047597" y="5001768"/>
            <a:ext cx="76645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B25C"/>
                </a:solidFill>
                <a:latin typeface="Segoe UI"/>
              </a:rPr>
              <a:t>25.14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98348" y="5486400"/>
            <a:ext cx="11297412" cy="841248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57200" y="5486400"/>
            <a:ext cx="41148" cy="84124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13232" y="5577840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DF4"/>
                </a:solidFill>
                <a:latin typeface="Segoe UI"/>
              </a:rPr>
              <a:t>Two traps.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 (1) s4 is engine *occupancy*, not duration: the 9×9 kernel row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falls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 under load. (2) the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floor is not the engine max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: the max is profiled and runs 2–8 % high.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57200" y="6400800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90"/>
                </a:solidFill>
                <a:latin typeface="Segoe UI"/>
              </a:rPr>
              <a:t>The D2H shift is an s4 phenomenon: at s1 the kernel binds in both arms. Which engine binds must be read from the s4 columns.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8B25C"/>
                </a:solidFill>
                <a:latin typeface="Segoe UI"/>
              </a:rPr>
              <a:t>A8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457200"/>
            <a:ext cx="9555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6B7A90"/>
                </a:solidFill>
                <a:latin typeface="Segoe UI"/>
              </a:rPr>
              <a:t>ANNEX · OPT7 · THE FULL ENGINE READING · EXPANDS SLIDE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12379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7EDF4"/>
                </a:solidFill>
                <a:latin typeface="Segoe UI"/>
              </a:rPr>
              <a:t>FP32 halves pedestal traffic: −41 % kernel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23593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89987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56382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22775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89170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55564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21957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88351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54746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21140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987534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63656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90"/>
                </a:solidFill>
                <a:latin typeface="Segoe UI"/>
              </a:rPr>
              <a:t>A8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664208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B7A90"/>
                </a:solidFill>
                <a:latin typeface="Segoe UI"/>
              </a:rPr>
              <a:t>• 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~80 % of pixels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 take the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pedestal-update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 branch: six accumulator values read and written.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B7A90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One typedef halves all four pedestal arrays (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48 bytes per updating pixel in FP64, 24 in FP32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), and the kernel is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bandwidth-bound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.</a:t>
            </a:r>
          </a:p>
        </p:txBody>
      </p:sp>
      <p:pic>
        <p:nvPicPr>
          <p:cNvPr id="20" name="Picture 19" descr="fig_f32_ker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0"/>
            <a:ext cx="7461504" cy="28719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57200" y="6035040"/>
            <a:ext cx="74615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90"/>
                </a:solidFill>
                <a:latin typeface="Segoe UI"/>
              </a:rPr>
              <a:t>Two more effects, neither the reason it works: FP64 arithmetic runs at 1/64 of FP32 on a GeForce part, and the narrower accumulators free 9 registers at 3×3.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1664208"/>
            <a:ext cx="3749039" cy="1164762"/>
          </a:xfrm>
          <a:prstGeom prst="roundRect">
            <a:avLst>
              <a:gd name="adj" fmla="val 5500"/>
            </a:avLst>
          </a:prstGeom>
          <a:solidFill>
            <a:srgbClr val="17202E"/>
          </a:solidFill>
          <a:ln w="12700">
            <a:solidFill>
              <a:srgbClr val="3A4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11312" y="1773936"/>
            <a:ext cx="34198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7C8A9E"/>
                </a:solidFill>
                <a:latin typeface="Segoe UI"/>
              </a:rPr>
              <a:t>ONE TYPEDEF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1993391"/>
            <a:ext cx="3419856" cy="9453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C8A9E"/>
                </a:solidFill>
                <a:latin typeface="Consolas"/>
              </a:rPr>
              <a:t>// clusterfinder_kernel.cuh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using COMPUTE_TYPE    = float;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using DEVICE_PED_TYPE = </a:t>
            </a:r>
            <a:r>
              <a:rPr sz="1050" b="1" i="0">
                <a:solidFill>
                  <a:srgbClr val="1E90C2"/>
                </a:solidFill>
                <a:latin typeface="Consolas"/>
              </a:rPr>
              <a:t>float</a:t>
            </a:r>
            <a:r>
              <a:rPr sz="1050" b="0" i="0">
                <a:solidFill>
                  <a:srgbClr val="A5B2C4"/>
                </a:solidFill>
                <a:latin typeface="Consolas"/>
              </a:rPr>
              <a:t>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C8A9E"/>
                </a:solidFill>
                <a:latin typeface="Consolas"/>
              </a:rPr>
              <a:t>//            was: double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87868" y="2944368"/>
            <a:ext cx="3707891" cy="859536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2944368"/>
            <a:ext cx="41148" cy="859536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2752" y="3035808"/>
            <a:ext cx="3291839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5B2C4"/>
                </a:solidFill>
                <a:latin typeface="Segoe UI"/>
              </a:rPr>
              <a:t>Kernel, 9×9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[s1 · cap 1700]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
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39.86 → 23.70 µs  (−40.5 %)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87868" y="3931920"/>
            <a:ext cx="3707891" cy="969264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20" y="3931920"/>
            <a:ext cx="41148" cy="969264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02752" y="4023359"/>
            <a:ext cx="3291839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5B2C4"/>
                </a:solidFill>
                <a:latin typeface="Segoe UI"/>
              </a:rPr>
              <a:t>At 3×3 the same typedef is worth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−70.6 %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 in the kernel and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4.6 %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 end to end: there the kernel was never the tallest bar.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87868" y="5029200"/>
            <a:ext cx="3707891" cy="512064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46720" y="5029200"/>
            <a:ext cx="41148" cy="512064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02752" y="5120640"/>
            <a:ext cx="329183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5B2C4"/>
                </a:solidFill>
                <a:latin typeface="Segoe UI"/>
              </a:rPr>
              <a:t>Naive FP32 is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wrong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. See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annex A9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5705856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90"/>
                </a:solidFill>
                <a:latin typeface="Segoe UI"/>
              </a:rPr>
              <a:t>Both builds, same git rev, 20 000 frames. Full engine grid: A7.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8B25C"/>
                </a:solidFill>
                <a:latin typeface="Segoe UI"/>
              </a:rPr>
              <a:t>A9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457200"/>
            <a:ext cx="9555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6B7A90"/>
                </a:solidFill>
                <a:latin typeface="Segoe UI"/>
              </a:rPr>
              <a:t>ANNEX · OPT7 · CATASTROPHIC CANCELLATION · EXPANDS SLIDE 20 · 1 OF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12379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7EDF4"/>
                </a:solidFill>
                <a:latin typeface="Segoe UI"/>
              </a:rPr>
              <a:t>Accumulate what is small, not what is large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23593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89987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56382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22775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89170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55564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21957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88351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54746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21140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987534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63656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90"/>
                </a:solidFill>
                <a:latin typeface="Segoe UI"/>
              </a:rPr>
              <a:t>A9 · 1/2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664208"/>
            <a:ext cx="74615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B7A90"/>
                </a:solidFill>
                <a:latin typeface="Segoe UI"/>
              </a:rPr>
              <a:t>• 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The trap.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var = E[X²] − mean²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 takes two numbers near 2 × 10⁷ to get one near 2 000.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B7A90"/>
                </a:solidFill>
                <a:latin typeface="Segoe UI"/>
              </a:rPr>
              <a:t>• 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What it cost.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 The rms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clamps to zero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, so a 5σ gate becomes a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0σ gate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B7A90"/>
                </a:solidFill>
                <a:latin typeface="Segoe UI"/>
              </a:rPr>
              <a:t>• 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The fix.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 Accumulate the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centred Y = X − X₀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: both operands become O(rms).</a:t>
            </a:r>
          </a:p>
        </p:txBody>
      </p:sp>
      <p:pic>
        <p:nvPicPr>
          <p:cNvPr id="20" name="Picture 19" descr="fig_cancel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74720"/>
            <a:ext cx="7461504" cy="227941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57200" y="5797296"/>
            <a:ext cx="74615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90"/>
                </a:solidFill>
                <a:latin typeface="Segoe UI"/>
              </a:rPr>
              <a:t>Left: the operands and the answer against the ±3 ADU² error floor. Right: the f32 curve is reconstructed: measured area, modelled shape. The two-line patch is on the next slide.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57031" y="1828800"/>
            <a:ext cx="10972" cy="4160520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85632" y="1828800"/>
            <a:ext cx="33101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40">
                <a:solidFill>
                  <a:srgbClr val="6B7A90"/>
                </a:solidFill>
                <a:latin typeface="Segoe UI"/>
              </a:rPr>
              <a:t>NAIVE F32 · WHAT IT DID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85632" y="2231136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6B7A90"/>
                </a:solidFill>
                <a:latin typeface="Segoe UI"/>
              </a:rPr>
              <a:t>EXTRA CLUSTERS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85632" y="2450591"/>
            <a:ext cx="33101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8B25C"/>
                </a:solidFill>
                <a:latin typeface="Segoe UI"/>
              </a:rPr>
              <a:t>+28.06 %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85632" y="3163824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6B7A90"/>
                </a:solidFill>
                <a:latin typeface="Segoe UI"/>
              </a:rPr>
              <a:t>PIXELS AFFECTED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85632" y="3383280"/>
            <a:ext cx="33101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B25C"/>
                </a:solidFill>
                <a:latin typeface="Segoe UI"/>
              </a:rPr>
              <a:t>~1–2 % of the sensor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85632" y="3822191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6B7A90"/>
                </a:solidFill>
                <a:latin typeface="Segoe UI"/>
              </a:rPr>
              <a:t>ERROR FLOOR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85632" y="4041648"/>
            <a:ext cx="33101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B25C"/>
                </a:solidFill>
                <a:latin typeface="Segoe UI"/>
              </a:rPr>
              <a:t>±3 ADU², absolute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85632" y="4718303"/>
            <a:ext cx="33101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40">
                <a:solidFill>
                  <a:srgbClr val="6B7A90"/>
                </a:solidFill>
                <a:latin typeface="Segoe UI"/>
              </a:rPr>
              <a:t>AFTER THE REWRITE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85632" y="5120640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6B7A90"/>
                </a:solidFill>
                <a:latin typeface="Segoe UI"/>
              </a:rPr>
              <a:t>F32 VS F64 COUNTS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85632" y="5340096"/>
            <a:ext cx="33101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90C2"/>
                </a:solidFill>
                <a:latin typeface="Segoe UI"/>
              </a:rPr>
              <a:t>3 × 10⁻⁷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85632" y="5779007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6B7A90"/>
                </a:solidFill>
                <a:latin typeface="Segoe UI"/>
              </a:rPr>
              <a:t>VS THE CPU BASELINE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85632" y="5998464"/>
            <a:ext cx="33101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90C2"/>
                </a:solidFill>
                <a:latin typeface="Segoe UI"/>
              </a:rPr>
              <a:t>0.0039 %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8B25C"/>
                </a:solidFill>
                <a:latin typeface="Segoe UI"/>
              </a:rPr>
              <a:t>A9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457200"/>
            <a:ext cx="9555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6B7A90"/>
                </a:solidFill>
                <a:latin typeface="Segoe UI"/>
              </a:rPr>
              <a:t>ANNEX · THE VARIANCE REWRITE · 2 OF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12379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7EDF4"/>
                </a:solidFill>
                <a:latin typeface="Segoe UI"/>
              </a:rPr>
              <a:t>The rewrite in full, and which pixels the error reached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23593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89987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56382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22775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89170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55564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21957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88351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54746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21140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987534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63656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90"/>
                </a:solidFill>
                <a:latin typeface="Segoe UI"/>
              </a:rPr>
              <a:t>A9 · 2/2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664208"/>
            <a:ext cx="6995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B7A90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Freeze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X₀ = round(mean)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 once, at the end of pedestal training, and never move it.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B7A90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Accumulate the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centred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 Y = X − X₀; report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X₀ + sum/n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. Both operands are now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O(rms)-sized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926080"/>
            <a:ext cx="6995160" cy="1527688"/>
          </a:xfrm>
          <a:prstGeom prst="roundRect">
            <a:avLst>
              <a:gd name="adj" fmla="val 5500"/>
            </a:avLst>
          </a:prstGeom>
          <a:solidFill>
            <a:srgbClr val="17202E"/>
          </a:solidFill>
          <a:ln w="12700">
            <a:solidFill>
              <a:srgbClr val="3A4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3035808"/>
            <a:ext cx="66659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7C8A9E"/>
                </a:solidFill>
                <a:latin typeface="Segoe UI"/>
              </a:rPr>
              <a:t>clusterfinder_kernel.cuh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3255264"/>
            <a:ext cx="6665976" cy="1308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C8A9E"/>
                </a:solidFill>
                <a:latin typeface="Consolas"/>
              </a:rPr>
              <a:t>// before: both terms ~2.17e7, answer ~2000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var = sum2/n - mean*mean;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C8A9E"/>
                </a:solidFill>
                <a:latin typeface="Consolas"/>
              </a:rPr>
              <a:t>// after: centred on a frozen per-pixel offset X0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DEVICE_PED_TYPE resid  = mean - </a:t>
            </a:r>
            <a:r>
              <a:rPr sz="1050" b="1" i="0">
                <a:solidFill>
                  <a:srgbClr val="1E90C2"/>
                </a:solidFill>
                <a:latin typeface="Consolas"/>
              </a:rPr>
              <a:t>d_pd_off</a:t>
            </a:r>
            <a:r>
              <a:rPr sz="1050" b="0" i="0">
                <a:solidFill>
                  <a:srgbClr val="A5B2C4"/>
                </a:solidFill>
                <a:latin typeface="Consolas"/>
              </a:rPr>
              <a:t>[i];      // ~O(1)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DEVICE_PED_TYPE var_px = sum2[i]/n - resid*resid;  // no cancellation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8348" y="4590288"/>
            <a:ext cx="6954012" cy="658368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590288"/>
            <a:ext cx="41148" cy="65836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4681727"/>
            <a:ext cx="65379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5B2C4"/>
                </a:solidFill>
                <a:latin typeface="Segoe UI"/>
              </a:rPr>
              <a:t>Result: the 100 % FP32 build matches the FP64 build to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3 × 10⁻⁷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, 70 clusters out of 233 million.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8348" y="5376672"/>
            <a:ext cx="6954012" cy="786384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5376672"/>
            <a:ext cx="41148" cy="786384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5468112"/>
            <a:ext cx="6537960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DF4"/>
                </a:solidFill>
                <a:latin typeface="Segoe UI"/>
              </a:rPr>
              <a:t>X₀ must never be updated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: the accumulators are defined relative to it. Welford's is the other correct answer; this one is two lines and costs nothing.</a:t>
            </a:r>
          </a:p>
        </p:txBody>
      </p:sp>
      <p:pic>
        <p:nvPicPr>
          <p:cNvPr id="29" name="Picture 28" descr="fig_varflo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664208"/>
            <a:ext cx="4078224" cy="293716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635240" y="4765966"/>
            <a:ext cx="4078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90"/>
                </a:solidFill>
                <a:latin typeface="Segoe UI"/>
              </a:rPr>
              <a:t>Which pixels the ±3 ADU² floor actually reaches: the quiet ones, whose true variance is smallest.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8B25C"/>
                </a:solidFill>
                <a:latin typeface="Segoe UI"/>
              </a:rPr>
              <a:t>A10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457200"/>
            <a:ext cx="9555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6B7A90"/>
                </a:solidFill>
                <a:latin typeface="Segoe UI"/>
              </a:rPr>
              <a:t>ANNEX · THE FAULT MODEL · EXPANDS SLIDE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12379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7EDF4"/>
                </a:solidFill>
                <a:latin typeface="Segoe UI"/>
              </a:rPr>
              <a:t>The fault model, tested against every 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23593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89987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56382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22775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89170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55564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21957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88351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54746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21140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987534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63656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90"/>
                </a:solidFill>
                <a:latin typeface="Segoe UI"/>
              </a:rPr>
              <a:t>A10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664208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B7A90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The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0.68 µs per fault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 rate is fitted on the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3×3 f32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 ladder. Every row below is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9×9, f64 vs f32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, so the rate is applied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out of sample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, never refitted.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331720"/>
            <a:ext cx="11338560" cy="310896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2404872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6B7A90"/>
                </a:solidFill>
                <a:latin typeface="Segoe UI"/>
              </a:rPr>
              <a:t>STEP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10588" y="2404872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6B7A90"/>
                </a:solidFill>
                <a:latin typeface="Segoe UI"/>
              </a:rPr>
              <a:t>F64 WARM (FAULTS)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51529" y="2404872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6B7A90"/>
                </a:solidFill>
                <a:latin typeface="Segoe UI"/>
              </a:rPr>
              <a:t>F32 WARM (FAULTS)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92470" y="2404872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6B7A90"/>
                </a:solidFill>
                <a:latin typeface="Segoe UI"/>
              </a:rPr>
              <a:t>Δ WALL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6326" y="2404872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6B7A90"/>
                </a:solidFill>
                <a:latin typeface="Segoe UI"/>
              </a:rPr>
              <a:t>Δ FAULTS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0182" y="2404872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6B7A90"/>
                </a:solidFill>
                <a:latin typeface="Segoe UI"/>
              </a:rPr>
              <a:t>PREDICTED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34195" y="2404872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6B7A90"/>
                </a:solidFill>
                <a:latin typeface="Segoe UI"/>
              </a:rPr>
              <a:t>VERDICT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679191"/>
            <a:ext cx="11338560" cy="457200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2770632"/>
            <a:ext cx="6876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7EDF4"/>
                </a:solidFill>
                <a:latin typeface="Segoe UI"/>
              </a:rPr>
              <a:t>opt3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10588" y="2770632"/>
            <a:ext cx="18214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82.44 µs  (128 k)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51529" y="2770632"/>
            <a:ext cx="18214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95.66 µs  (521 k)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92470" y="2770632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B25C"/>
                </a:solidFill>
                <a:latin typeface="Segoe UI"/>
              </a:rPr>
              <a:t>+13.22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6326" y="2770632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+393 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0182" y="2770632"/>
            <a:ext cx="12545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B25C"/>
                </a:solidFill>
                <a:latin typeface="Segoe UI"/>
              </a:rPr>
              <a:t>+13.37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34195" y="2770632"/>
            <a:ext cx="23884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B25C"/>
                </a:solidFill>
                <a:latin typeface="Segoe UI"/>
              </a:rPr>
              <a:t>the allocator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" y="3264408"/>
            <a:ext cx="6876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7EDF4"/>
                </a:solidFill>
                <a:latin typeface="Segoe UI"/>
              </a:rPr>
              <a:t>opt4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10588" y="3264408"/>
            <a:ext cx="18214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79.83 µs  (128 k)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51529" y="3264408"/>
            <a:ext cx="18214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75.20 µs  (127 k)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92470" y="3264408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−4.63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6326" y="3264408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−0.5 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0182" y="3264408"/>
            <a:ext cx="12545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−0.02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34195" y="3264408"/>
            <a:ext cx="23884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clean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666744"/>
            <a:ext cx="11338560" cy="457200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" y="3758183"/>
            <a:ext cx="6876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7EDF4"/>
                </a:solidFill>
                <a:latin typeface="Segoe UI"/>
              </a:rPr>
              <a:t>opt5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10588" y="3758183"/>
            <a:ext cx="18214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66.39 µs  (152 k)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51529" y="3758183"/>
            <a:ext cx="18214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61.85 µs  (10 k)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92470" y="3758183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−4.54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6326" y="3758183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−141 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60182" y="3758183"/>
            <a:ext cx="12545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B25C"/>
                </a:solidFill>
                <a:latin typeface="Segoe UI"/>
              </a:rPr>
              <a:t>−4.81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34195" y="3758183"/>
            <a:ext cx="23884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B25C"/>
                </a:solidFill>
                <a:latin typeface="Segoe UI"/>
              </a:rPr>
              <a:t>not separable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504" y="4251959"/>
            <a:ext cx="6876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7EDF4"/>
                </a:solidFill>
                <a:latin typeface="Segoe UI"/>
              </a:rPr>
              <a:t>opt6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10588" y="4251959"/>
            <a:ext cx="18214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30.01 µs  (0)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51529" y="4251959"/>
            <a:ext cx="18214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25.14 µs  (0)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92470" y="4251959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−4.87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26326" y="4251959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0182" y="4251959"/>
            <a:ext cx="12545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0.00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34195" y="4251959"/>
            <a:ext cx="23884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clean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98348" y="4791456"/>
            <a:ext cx="11297412" cy="822960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57200" y="4791456"/>
            <a:ext cx="41148" cy="822960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3232" y="4882896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DF4"/>
                </a:solidFill>
                <a:latin typeface="Segoe UI"/>
              </a:rPr>
              <a:t>opt3 is the whole argument in one row.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 A 393 k fault gap predicts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+13.37 µs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;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+13.22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 was observed. The −40 % kernel is in there, invisible under 13 µs of the OS zeroing pages.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5751576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90"/>
                </a:solidFill>
                <a:latin typeface="Segoe UI"/>
              </a:rPr>
              <a:t>9×9 · cap 1 700 · warm = best of reps 1–4. The 0.68 µs/fault rate is carried in unchanged from the 3×3 fit: nothing here is tuned to make the columns agree.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8B25C"/>
                </a:solidFill>
                <a:latin typeface="Segoe UI"/>
              </a:rPr>
              <a:t>A11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457200"/>
            <a:ext cx="9555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6B7A90"/>
                </a:solidFill>
                <a:latin typeface="Segoe UI"/>
              </a:rPr>
              <a:t>ANNEX · BEHIND THE NUMBERS · EXPANDS SLIDE 24 · 1 OF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12379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7EDF4"/>
                </a:solidFill>
                <a:latin typeface="Segoe UI"/>
              </a:rPr>
              <a:t>Materialising clusters costs 2.6 M page faults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23593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89987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56382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22775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89170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55564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21957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88351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54746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21140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987534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63656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90"/>
                </a:solidFill>
                <a:latin typeface="Segoe UI"/>
              </a:rPr>
              <a:t>A11 · 1/2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664208"/>
            <a:ext cx="74615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B7A90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Every run that keeps its results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allocates a fresh heap and touches it once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. Linux only finds physical memory on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first touch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, so that pass is where the OS works,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inside the timer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.</a:t>
            </a:r>
          </a:p>
        </p:txBody>
      </p:sp>
      <p:pic>
        <p:nvPicPr>
          <p:cNvPr id="20" name="Picture 19" descr="fig_pag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88336"/>
            <a:ext cx="7461504" cy="1950251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498348" y="5029200"/>
            <a:ext cx="7420356" cy="566928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5029200"/>
            <a:ext cx="41148" cy="56692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5120640"/>
            <a:ext cx="70043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DF4"/>
                </a:solidFill>
                <a:latin typeface="Segoe UI"/>
              </a:rPr>
              <a:t>Re-run until minor faults plateau (&lt; 200 k), and quote that run.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57031" y="1828800"/>
            <a:ext cx="10972" cy="4160520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85632" y="1828800"/>
            <a:ext cx="33101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40">
                <a:solidFill>
                  <a:srgbClr val="6B7A90"/>
                </a:solidFill>
                <a:latin typeface="Segoe UI"/>
              </a:rPr>
              <a:t>ONE 100 000-FRAME PASS · 3×3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85632" y="2231136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6B7A90"/>
                </a:solidFill>
                <a:latin typeface="Segoe UI"/>
              </a:rPr>
              <a:t>PAGES FAULTED 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85632" y="2450591"/>
            <a:ext cx="33101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8B25C"/>
                </a:solidFill>
                <a:latin typeface="Segoe UI"/>
              </a:rPr>
              <a:t>~2.6 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85632" y="3163824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6B7A90"/>
                </a:solidFill>
                <a:latin typeface="Segoe UI"/>
              </a:rPr>
              <a:t>COST INSIDE THE TIMER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85632" y="3383280"/>
            <a:ext cx="33101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8B25C"/>
                </a:solidFill>
                <a:latin typeface="Segoe UI"/>
              </a:rPr>
              <a:t>up to 4 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85632" y="4169664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6B7A90"/>
                </a:solidFill>
                <a:latin typeface="Segoe UI"/>
              </a:rPr>
              <a:t>CLUSTERS MATERIALISED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85632" y="4389120"/>
            <a:ext cx="33101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5B2C4"/>
                </a:solidFill>
                <a:latin typeface="Segoe UI"/>
              </a:rPr>
              <a:t>~10 GB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85632" y="4828032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6B7A90"/>
                </a:solidFill>
                <a:latin typeface="Segoe UI"/>
              </a:rPr>
              <a:t>COST PER FAULT, FITTED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85632" y="5047488"/>
            <a:ext cx="33101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5B2C4"/>
                </a:solidFill>
                <a:latin typeface="Segoe UI"/>
              </a:rPr>
              <a:t>0.68 µs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85632" y="5614416"/>
            <a:ext cx="331012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5B2C4"/>
                </a:solidFill>
                <a:latin typeface="Segoe UI"/>
              </a:rPr>
              <a:t>Zero major faults all campaign. Copying faster cannot avoid this; not allocating can. That is opt6.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8B25C"/>
                </a:solidFill>
                <a:latin typeface="Segoe UI"/>
              </a:rPr>
              <a:t>A11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457200"/>
            <a:ext cx="9555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6B7A90"/>
                </a:solidFill>
                <a:latin typeface="Segoe UI"/>
              </a:rPr>
              <a:t>ANNEX · BEHIND THE NUMBERS · WHAT A FIRST RUN COSTS · 2 OF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12379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7EDF4"/>
                </a:solidFill>
                <a:latin typeface="Segoe UI"/>
              </a:rPr>
              <a:t>A first run loses a third of its throughput to page faults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23593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89987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56382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22775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89170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55564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21957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88351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54746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21140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987534" y="6656832"/>
            <a:ext cx="779754" cy="41148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63656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90"/>
                </a:solidFill>
                <a:latin typeface="Segoe UI"/>
              </a:rPr>
              <a:t>A11 · 2/2</a:t>
            </a:r>
          </a:p>
        </p:txBody>
      </p:sp>
      <p:pic>
        <p:nvPicPr>
          <p:cNvPr id="19" name="Picture 18" descr="fig_first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608" y="1572768"/>
            <a:ext cx="9326880" cy="3759672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498348" y="5449824"/>
            <a:ext cx="5481828" cy="914400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5449824"/>
            <a:ext cx="41148" cy="914400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5541264"/>
            <a:ext cx="5065776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DF4"/>
                </a:solidFill>
                <a:latin typeface="Segoe UI"/>
              </a:rPr>
              <a:t>Everything that materialises clusters loses a third of its throughput on the first run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: +7 to +20 µs per frame.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3348" y="5449824"/>
            <a:ext cx="5481828" cy="914400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5449824"/>
            <a:ext cx="41148" cy="914400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28232" y="5541264"/>
            <a:ext cx="5065776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DF4"/>
                </a:solidFill>
                <a:latin typeface="Segoe UI"/>
              </a:rPr>
              <a:t>Only the two ends escape, for opposite reasons.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 opt1 discards each frame; opt6 never grows a heap, and reaches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98 % of its peak on a cold process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90"/>
                </a:solidFill>
                <a:latin typeface="Segoe UI"/>
              </a:rPr>
              <a:t>Single pass, one process, every ClusterVector retained · f32 · 100 000 frames. Repeat the run and the amber bars climb onto the blue ones.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8B25C"/>
                </a:solidFill>
                <a:latin typeface="Segoe UI"/>
              </a:rPr>
              <a:t>A12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457200"/>
            <a:ext cx="9555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6B7A90"/>
                </a:solidFill>
                <a:latin typeface="Segoe UI"/>
              </a:rPr>
              <a:t>ANNEX · BENCHMARK ARTEFACTS · EXPANDS A11 · 1 OF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12379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7EDF4"/>
                </a:solidFill>
                <a:latin typeface="Segoe UI"/>
              </a:rPr>
              <a:t>Three ways a GPU benchmark lies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23593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89987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56382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22775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89170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55564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21957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88351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54746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21140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987534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63656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90"/>
                </a:solidFill>
                <a:latin typeface="Segoe UI"/>
              </a:rPr>
              <a:t>A12 · 1/4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828800"/>
            <a:ext cx="3621024" cy="2880360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1828800"/>
            <a:ext cx="3621024" cy="32004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084831"/>
            <a:ext cx="3118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DF4"/>
                </a:solidFill>
                <a:latin typeface="Segoe UI"/>
              </a:rPr>
              <a:t>First-touch page faults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2761488"/>
            <a:ext cx="311810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5B2C4"/>
                </a:solidFill>
                <a:latin typeface="Segoe UI"/>
              </a:rPr>
              <a:t>Each run materialises ~10 GB of clusters. The first pass faults in ~2.6 M pages at 0.7 µs each, up to 4 s of pure OS work inside the timer.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" y="4041648"/>
            <a:ext cx="311810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90C2"/>
                </a:solidFill>
                <a:latin typeface="Segoe UI"/>
              </a:rPr>
              <a:t>Fix: re-run until getrusage() minor faults plateau (&lt; 200 k).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828800"/>
            <a:ext cx="3621024" cy="2880360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828800"/>
            <a:ext cx="3621024" cy="32004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98848" y="2084831"/>
            <a:ext cx="3118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DF4"/>
                </a:solidFill>
                <a:latin typeface="Segoe UI"/>
              </a:rPr>
              <a:t>CUDA-event kernel timing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98848" y="2761488"/>
            <a:ext cx="311810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5B2C4"/>
                </a:solidFill>
                <a:latin typeface="Segoe UI"/>
              </a:rPr>
              <a:t>avg_kernel_time_ms() measures elapsed time on a stream, including waiting for other streams. Under 8-stream load it over-reads by up to 3.5×.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8848" y="4041648"/>
            <a:ext cx="311810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90C2"/>
                </a:solidFill>
                <a:latin typeface="Segoe UI"/>
              </a:rPr>
              <a:t>Fix: Nsight Systems per-instance times; 1 stream for exclusive numbers.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65008" y="1828800"/>
            <a:ext cx="3621024" cy="2880360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65008" y="1828800"/>
            <a:ext cx="3621024" cy="32004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02752" y="2084831"/>
            <a:ext cx="3118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DF4"/>
                </a:solidFill>
                <a:latin typeface="Segoe UI"/>
              </a:rPr>
              <a:t>The profiler itself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2752" y="2761488"/>
            <a:ext cx="311810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5B2C4"/>
                </a:solidFill>
                <a:latin typeface="Segoe UI"/>
              </a:rPr>
              <a:t>Under nsys, wall time per frame inflates ~4× from API tracing.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2752" y="4041648"/>
            <a:ext cx="311810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90C2"/>
                </a:solidFill>
                <a:latin typeface="Segoe UI"/>
              </a:rPr>
              <a:t>Fix: GPU op times from nsys, wall times from unprofiled runs.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864608"/>
            <a:ext cx="11247120" cy="1164762"/>
          </a:xfrm>
          <a:prstGeom prst="roundRect">
            <a:avLst>
              <a:gd name="adj" fmla="val 5500"/>
            </a:avLst>
          </a:prstGeom>
          <a:solidFill>
            <a:srgbClr val="17202E"/>
          </a:solidFill>
          <a:ln w="12700">
            <a:solidFill>
              <a:srgbClr val="3A4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" y="4974336"/>
            <a:ext cx="109179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7C8A9E"/>
                </a:solidFill>
                <a:latin typeface="Segoe UI"/>
              </a:rPr>
              <a:t>THE FAULT PROTOCOL · BRACKET EVERY TIMED CELL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5193792"/>
            <a:ext cx="10917936" cy="9453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C8A9E"/>
                </a:solidFill>
                <a:latin typeface="Consolas"/>
              </a:rPr>
              <a:t># bracket every timed cell: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mf0 = resource.getrusage(resource.RUSAGE_SELF).ru_minflt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...   t = time.perf_counter() - t0   ...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print(f'minor faults: {mf1-mf0:,}')   # quote the run where this plateaus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8348" y="6071616"/>
            <a:ext cx="11205972" cy="566928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6071616"/>
            <a:ext cx="41148" cy="56692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" y="6163055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5B2C4"/>
                </a:solidFill>
                <a:latin typeface="Segoe UI"/>
              </a:rPr>
              <a:t>Validated: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wall = steady-state + faults × 0.68 µs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 reproduced a 6.110 s run to within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1 ms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. Kernel time stayed constant throughout; the GPU was never the variable.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8B25C"/>
                </a:solidFill>
                <a:latin typeface="Segoe UI"/>
              </a:rPr>
              <a:t>A12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457200"/>
            <a:ext cx="9555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6B7A90"/>
                </a:solidFill>
                <a:latin typeface="Segoe UI"/>
              </a:rPr>
              <a:t>ANNEX · BENCHMARK ARTEFACTS · EXPANDS A11 · 2 OF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12379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7EDF4"/>
                </a:solidFill>
                <a:latin typeface="Segoe UI"/>
              </a:rPr>
              <a:t>First-touch page faults: two sources, one counter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23593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89987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56382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22775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89170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55564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21957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88351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54746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21140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987534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63656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90"/>
                </a:solidFill>
                <a:latin typeface="Segoe UI"/>
              </a:rPr>
              <a:t>A12 · 2/4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737360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B7A90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A page exists in the address space but has no physical frame yet. First touch makes the kernel find one,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zero it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 (mandatory), and map it. No disk: ru_majflt stays 0 all campaign. At 4 kB/page,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1 GB = 262 144 faults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395728"/>
            <a:ext cx="11338560" cy="310896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2468880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6B7A90"/>
                </a:solidFill>
                <a:latin typeface="Segoe U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0902" y="2468880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6B7A90"/>
                </a:solidFill>
                <a:latin typeface="Segoe UI"/>
              </a:rPr>
              <a:t>(A) RESULT HEAP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66483" y="2468880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6B7A90"/>
                </a:solidFill>
                <a:latin typeface="Segoe UI"/>
              </a:rPr>
              <a:t>(B) PINNED D2H SLOTS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743200"/>
            <a:ext cx="11338560" cy="457200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2834640"/>
            <a:ext cx="136794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7EDF4"/>
                </a:solidFill>
                <a:latin typeface="Segoe UI"/>
              </a:rPr>
              <a:t>allocator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0902" y="2834640"/>
            <a:ext cx="46561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malloc → mmap, one ClusterVector per frame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6483" y="2834640"/>
            <a:ext cx="46561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cudaMallocHost, in submit_batch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" y="3328416"/>
            <a:ext cx="136794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7EDF4"/>
                </a:solidFill>
                <a:latin typeface="Segoe UI"/>
              </a:rPr>
              <a:t>cost / page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90902" y="3328416"/>
            <a:ext cx="46561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B25C"/>
                </a:solidFill>
                <a:latin typeface="Segoe UI"/>
              </a:rPr>
              <a:t>0.7 µs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66483" y="3328416"/>
            <a:ext cx="46561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B25C"/>
                </a:solidFill>
                <a:latin typeface="Segoe UI"/>
              </a:rPr>
              <a:t>1.0 µs</a:t>
            </a:r>
            <a:r>
              <a:rPr sz="1150" b="0" i="0">
                <a:solidFill>
                  <a:srgbClr val="A5B2C4"/>
                </a:solidFill>
                <a:latin typeface="Segoe UI"/>
              </a:rPr>
              <a:t>: same fault + pin + DMA map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730752"/>
            <a:ext cx="11338560" cy="457200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" y="3822191"/>
            <a:ext cx="136794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7EDF4"/>
                </a:solidFill>
                <a:latin typeface="Segoe UI"/>
              </a:rPr>
              <a:t>recurs?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90902" y="3822191"/>
            <a:ext cx="46561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B25C"/>
                </a:solidFill>
                <a:latin typeface="Segoe UI"/>
              </a:rPr>
              <a:t>yes</a:t>
            </a:r>
            <a:r>
              <a:rPr sz="1150" b="0" i="0">
                <a:solidFill>
                  <a:srgbClr val="A5B2C4"/>
                </a:solidFill>
                <a:latin typeface="Segoe UI"/>
              </a:rPr>
              <a:t>, every alloc/free cycle above the mmap threshold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66483" y="3822191"/>
            <a:ext cx="46561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B25C"/>
                </a:solidFill>
                <a:latin typeface="Segoe UI"/>
              </a:rPr>
              <a:t>no</a:t>
            </a:r>
            <a:r>
              <a:rPr sz="1150" b="0" i="0">
                <a:solidFill>
                  <a:srgbClr val="A5B2C4"/>
                </a:solidFill>
                <a:latin typeface="Segoe UI"/>
              </a:rPr>
              <a:t>: once per buffer, for its lifetime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" y="4315968"/>
            <a:ext cx="136794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7EDF4"/>
                </a:solidFill>
                <a:latin typeface="Segoe UI"/>
              </a:rPr>
              <a:t>removed by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90902" y="4315968"/>
            <a:ext cx="46561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B25C"/>
                </a:solidFill>
                <a:latin typeface="Segoe UI"/>
              </a:rPr>
              <a:t>collect_view()</a:t>
            </a:r>
            <a:r>
              <a:rPr sz="1150" b="0" i="0">
                <a:solidFill>
                  <a:srgbClr val="A5B2C4"/>
                </a:solidFill>
                <a:latin typeface="Segoe UI"/>
              </a:rPr>
              <a:t>: it allocates nothing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66483" y="4315968"/>
            <a:ext cx="46561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nothing; reserve_output_slots() only moves it out of the timer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8348" y="4846320"/>
            <a:ext cx="5481828" cy="658368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4846320"/>
            <a:ext cx="41148" cy="65836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3232" y="4937759"/>
            <a:ext cx="506577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DF4"/>
                </a:solidFill>
                <a:latin typeface="Segoe UI"/>
              </a:rPr>
              <a:t>The two are exactly additive.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 Reserving subtracts precisely the pre-pin count from run 0 and changes nothing else.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72200" y="4846320"/>
            <a:ext cx="5522976" cy="983300"/>
          </a:xfrm>
          <a:prstGeom prst="roundRect">
            <a:avLst>
              <a:gd name="adj" fmla="val 5500"/>
            </a:avLst>
          </a:prstGeom>
          <a:solidFill>
            <a:srgbClr val="17202E"/>
          </a:solidFill>
          <a:ln w="12700">
            <a:solidFill>
              <a:srgbClr val="3A4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36792" y="4956048"/>
            <a:ext cx="5193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7C8A9E"/>
                </a:solidFill>
                <a:latin typeface="Segoe UI"/>
              </a:rPr>
              <a:t>NOT A CORRELATION, AN IDENTITY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36792" y="5175504"/>
            <a:ext cx="5193792" cy="7638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3x3:   572 292 - 455 129 = 117 163   vs 117 192 pre-pin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9x9: 2 759 037 - 2 278 567 = 480 470   vs 480 474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closed form: 2 slots x 2000 x 120 004 B / 4 kB = 117 191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8348" y="5943600"/>
            <a:ext cx="11205972" cy="658368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" y="5943600"/>
            <a:ext cx="41148" cy="65836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3232" y="6035040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DF4"/>
                </a:solidFill>
                <a:latin typeface="Segoe UI"/>
              </a:rPr>
              <a:t>At 9×9 the heap never plateaus.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 ~9.3 GB per pass exceeds glibc's mmap threshold, so it is re-faulted every pass: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~10 µs/frame, permanently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8B25C"/>
                </a:solidFill>
                <a:latin typeface="Segoe UI"/>
              </a:rPr>
              <a:t>A12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457200"/>
            <a:ext cx="9555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6B7A90"/>
                </a:solidFill>
                <a:latin typeface="Segoe UI"/>
              </a:rPr>
              <a:t>ANNEX · BENCHMARK ARTEFACTS · 3 OF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12379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7EDF4"/>
                </a:solidFill>
                <a:latin typeface="Segoe UI"/>
              </a:rPr>
              <a:t>CUDA events measure the stream, not the kernel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23593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89987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56382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22775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89170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55564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21957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88351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54746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21140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987534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63656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90"/>
                </a:solidFill>
                <a:latin typeface="Segoe UI"/>
              </a:rPr>
              <a:t>A12 · 3/4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737360"/>
            <a:ext cx="74615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B7A90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avg_kernel_time_ms() brackets the launch with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cudaEventRecord on the kernel's own stream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, so it returns time on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that stream's timeline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, including time queued behind other streams.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B7A90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Honest at 1 stream, inflated up to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3.5×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 at 8. The tell: *PCIe + overhead* = wall/N − kernel_ms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goes negative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B7A90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It is not free either: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~3.6 µs/frame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, 10–15 % of throughput at 3×3.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343400"/>
            <a:ext cx="7461504" cy="1346225"/>
          </a:xfrm>
          <a:prstGeom prst="roundRect">
            <a:avLst>
              <a:gd name="adj" fmla="val 5500"/>
            </a:avLst>
          </a:prstGeom>
          <a:solidFill>
            <a:srgbClr val="17202E"/>
          </a:solidFill>
          <a:ln w="12700">
            <a:solidFill>
              <a:srgbClr val="3A4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4453128"/>
            <a:ext cx="7132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7C8A9E"/>
                </a:solidFill>
                <a:latin typeface="Segoe UI"/>
              </a:rPr>
              <a:t>ClusterFinderCUDA.hpp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4672584"/>
            <a:ext cx="7132320" cy="11267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if (m_time_kernels)                       // OFF by default, all 3 finders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    cudaEventRecord(start[slot][i], sc.stream);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find_clusters_in_single_frame&lt;&lt;&lt;grid, block, shmem, </a:t>
            </a:r>
            <a:r>
              <a:rPr sz="1050" b="1" i="0">
                <a:solidFill>
                  <a:srgbClr val="1E90C2"/>
                </a:solidFill>
                <a:latin typeface="Consolas"/>
              </a:rPr>
              <a:t>sc.stream</a:t>
            </a:r>
            <a:r>
              <a:rPr sz="1050" b="0" i="0">
                <a:solidFill>
                  <a:srgbClr val="A5B2C4"/>
                </a:solidFill>
                <a:latin typeface="Consolas"/>
              </a:rPr>
              <a:t>&gt;&gt;&gt;(...);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if (m_time_kernels)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2C4"/>
                </a:solidFill>
                <a:latin typeface="Consolas"/>
              </a:rPr>
              <a:t>    cudaEventRecord(stop[slot][i], sc.stream);   // &lt;- queue-wait lands here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8348" y="5650992"/>
            <a:ext cx="7420356" cy="658368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5650992"/>
            <a:ext cx="41148" cy="658368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742431"/>
            <a:ext cx="7004304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5B2C4"/>
                </a:solidFill>
                <a:latin typeface="Segoe UI"/>
              </a:rPr>
              <a:t>The flag exists for </a:t>
            </a:r>
            <a:r>
              <a:rPr sz="1300" b="1" i="0">
                <a:solidFill>
                  <a:srgbClr val="E7EDF4"/>
                </a:solidFill>
                <a:latin typeface="Segoe UI"/>
              </a:rPr>
              <a:t>comparability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, not preference: with events on for one finder and off for another, the step between them absorbs the tax.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57031" y="1828800"/>
            <a:ext cx="10972" cy="4160520"/>
          </a:xfrm>
          <a:prstGeom prst="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85632" y="1828800"/>
            <a:ext cx="33101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40">
                <a:solidFill>
                  <a:srgbClr val="6B7A90"/>
                </a:solidFill>
                <a:latin typeface="Segoe UI"/>
              </a:rPr>
              <a:t>9×9 KERNEL · F64 · NSYS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85632" y="2212848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6B7A90"/>
                </a:solidFill>
                <a:latin typeface="Segoe UI"/>
              </a:rPr>
              <a:t>S1 · DURATION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85632" y="2432304"/>
            <a:ext cx="33101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25454"/>
                </a:solidFill>
                <a:latin typeface="Segoe UI"/>
              </a:rPr>
              <a:t>39.86 µs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85632" y="3145536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6B7A90"/>
                </a:solidFill>
                <a:latin typeface="Segoe UI"/>
              </a:rPr>
              <a:t>S4 · OCCUPANCY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85632" y="3364991"/>
            <a:ext cx="33101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90C2"/>
                </a:solidFill>
                <a:latin typeface="Segoe UI"/>
              </a:rPr>
              <a:t>32.66 µs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85632" y="4123944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6B7A90"/>
                </a:solidFill>
                <a:latin typeface="Segoe UI"/>
              </a:rPr>
              <a:t>OVERLAP FACTOR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85632" y="4343400"/>
            <a:ext cx="33101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5B2C4"/>
                </a:solidFill>
                <a:latin typeface="Segoe UI"/>
              </a:rPr>
              <a:t>1.32×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85632" y="4965192"/>
            <a:ext cx="331012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5B2C4"/>
                </a:solidFill>
                <a:latin typeface="Segoe UI"/>
              </a:rPr>
              <a:t>Same kernel. The s4 column is the union of kernel intervals per frame, not how long one kernel takes. Quote s1 for duration; s4 feeds the floor, subject to the sustained-rate rule in A7, which has the full grid.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8B25C"/>
                </a:solidFill>
                <a:latin typeface="Segoe UI"/>
              </a:rPr>
              <a:t>A12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457200"/>
            <a:ext cx="9555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6B7A90"/>
                </a:solidFill>
                <a:latin typeface="Segoe UI"/>
              </a:rPr>
              <a:t>ANNEX · BENCHMARK ARTEFACTS · 4 OF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12379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7EDF4"/>
                </a:solidFill>
                <a:latin typeface="Segoe UI"/>
              </a:rPr>
              <a:t>Where nsys is sound, and where it is not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23593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89987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56382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22775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89170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55564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21957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88351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54746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21140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987534" y="6656832"/>
            <a:ext cx="779754" cy="41148"/>
          </a:xfrm>
          <a:prstGeom prst="rect">
            <a:avLst/>
          </a:prstGeom>
          <a:solidFill>
            <a:srgbClr val="E8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63656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90"/>
                </a:solidFill>
                <a:latin typeface="Segoe UI"/>
              </a:rPr>
              <a:t>A12 · 4/4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664208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B7A90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Tracing a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host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 call runs a callback on entry and exit,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inside the interval being measured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. GPU work is stamped by the hardware and read back </a:t>
            </a:r>
            <a:r>
              <a:rPr sz="1500" b="1" i="0">
                <a:solidFill>
                  <a:srgbClr val="E7EDF4"/>
                </a:solidFill>
                <a:latin typeface="Segoe UI"/>
              </a:rPr>
              <a:t>afterwards</a:t>
            </a:r>
            <a:r>
              <a:rPr sz="1500" b="0" i="0">
                <a:solidFill>
                  <a:srgbClr val="A5B2C4"/>
                </a:solidFill>
                <a:latin typeface="Segoe UI"/>
              </a:rPr>
              <a:t>, so nothing is injected into the execution path.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331720"/>
            <a:ext cx="11338560" cy="310896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2404872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6B7A90"/>
                </a:solidFill>
                <a:latin typeface="Segoe UI"/>
              </a:rPr>
              <a:t>MEASUREMENT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85385" y="2404872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6B7A90"/>
                </a:solidFill>
                <a:latin typeface="Segoe UI"/>
              </a:rPr>
              <a:t>SQLITE TABLE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2404872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6B7A90"/>
                </a:solidFill>
                <a:latin typeface="Segoe UI"/>
              </a:rPr>
              <a:t>9×9 [F64 · S1 · CAP 1500]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01123" y="2404872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6B7A90"/>
                </a:solidFill>
                <a:latin typeface="Segoe UI"/>
              </a:rPr>
              <a:t>VERDICT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679191"/>
            <a:ext cx="11338560" cy="475488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" y="2770632"/>
            <a:ext cx="386242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7EDF4"/>
                </a:solidFill>
                <a:latin typeface="Segoe UI"/>
              </a:rPr>
              <a:t>cudaLaunchKernel: the host call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85385" y="2770632"/>
            <a:ext cx="250179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CUPTI_..._RUNTIME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2770632"/>
            <a:ext cx="2275027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1.85 µs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01123" y="2770632"/>
            <a:ext cx="182148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B25C"/>
                </a:solidFill>
                <a:latin typeface="Segoe UI"/>
              </a:rPr>
              <a:t>inflated ~4×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" y="3282696"/>
            <a:ext cx="386242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7EDF4"/>
                </a:solidFill>
                <a:latin typeface="Segoe UI"/>
              </a:rPr>
              <a:t>the kernel executing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85385" y="3282696"/>
            <a:ext cx="250179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CUPTI_..._KERNEL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3282696"/>
            <a:ext cx="2275027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39.93 µs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01123" y="3282696"/>
            <a:ext cx="182148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sound to ~2 %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703320"/>
            <a:ext cx="11338560" cy="475488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" y="3794759"/>
            <a:ext cx="386242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7EDF4"/>
                </a:solidFill>
                <a:latin typeface="Segoe UI"/>
              </a:rPr>
              <a:t>cudaMemcpyAsync: the host call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85385" y="3794759"/>
            <a:ext cx="250179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CUPTI_..._RUNTIME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3794759"/>
            <a:ext cx="2275027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1.65 µs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01123" y="3794759"/>
            <a:ext cx="182148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B25C"/>
                </a:solidFill>
                <a:latin typeface="Segoe UI"/>
              </a:rPr>
              <a:t>inflated ~4×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" y="4306823"/>
            <a:ext cx="386242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7EDF4"/>
                </a:solidFill>
                <a:latin typeface="Segoe UI"/>
              </a:rPr>
              <a:t>the H2D / D2H transfer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85385" y="4306823"/>
            <a:ext cx="250179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CUPTI_..._MEMCPY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06640" y="4306823"/>
            <a:ext cx="2275027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13.25 / 19.44 µs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01123" y="4306823"/>
            <a:ext cx="182148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5B2C4"/>
                </a:solidFill>
                <a:latin typeface="Segoe UI"/>
              </a:rPr>
              <a:t>sound to ~2 %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" y="4864608"/>
            <a:ext cx="11205972" cy="786384"/>
          </a:xfrm>
          <a:prstGeom prst="rect">
            <a:avLst/>
          </a:prstGeom>
          <a:solidFill>
            <a:srgbClr val="12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" y="4864608"/>
            <a:ext cx="41148" cy="786384"/>
          </a:xfrm>
          <a:prstGeom prst="rect">
            <a:avLst/>
          </a:prstGeom>
          <a:solidFill>
            <a:srgbClr val="1E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" y="4956048"/>
            <a:ext cx="10789920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DF4"/>
                </a:solidFill>
                <a:latin typeface="Segoe UI"/>
              </a:rPr>
              <a:t>Same cudaMemcpyAsync, two numbers: 1.65 µs to ask for the copy, 13.25 µs for the copy to happen.</a:t>
            </a:r>
            <a:r>
              <a:rPr sz="1300" b="0" i="0">
                <a:solidFill>
                  <a:srgbClr val="A5B2C4"/>
                </a:solidFill>
                <a:latin typeface="Segoe UI"/>
              </a:rPr>
              <a:t> A profiler that must be present to measure,distorts; one that reads a record later does not.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5788152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90"/>
                </a:solidFill>
                <a:latin typeface="Segoe UI"/>
              </a:rPr>
              <a:t>Every engine number in this deck comes from GPU-side timestamps. Proof they are sound: opt7 sustains 25.14 µs unprofiled against a 25.24 µsprofiled estimate, 0.4 % apart.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7416</TotalTime>
  <Application>LibreOffice/6.4.7.2$Linux_X86_64 LibreOffice_project/40$Build-2</Application>
  <Words>2114</Words>
  <Paragraphs>269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2024-09-04T15:23:23Z</dcterms:created>
  <dc:creator/>
  <dc:description>erstellt durch Vorlagenbauer.ch</dc:description>
  <dc:language>fr-FR</dc:language>
  <cp:lastModifiedBy/>
  <dcterms:modified xsi:type="dcterms:W3CDTF">2026-08-11T16:08:57Z</dcterms:modified>
  <cp:revision>651</cp:revision>
  <dc:subject/>
  <dc:title>Checkliste PPT-Vorlagen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ntentTypeId">
    <vt:lpwstr>0x0101000E594130A2AF244FBF3F304D904ED593</vt:lpwstr>
  </property>
  <property fmtid="{D5CDD505-2E9C-101B-9397-08002B2CF9AE}" pid="4" name="HiddenSlides">
    <vt:i4>0</vt:i4>
  </property>
  <property fmtid="{D5CDD505-2E9C-101B-9397-08002B2CF9AE}" pid="5" name="HyperlinksChanged">
    <vt:bool>0</vt:bool>
  </property>
  <property fmtid="{D5CDD505-2E9C-101B-9397-08002B2CF9AE}" pid="6" name="LinksUpToDate">
    <vt:bool>0</vt:bool>
  </property>
  <property fmtid="{D5CDD505-2E9C-101B-9397-08002B2CF9AE}" pid="7" name="MMClips">
    <vt:i4>0</vt:i4>
  </property>
  <property fmtid="{D5CDD505-2E9C-101B-9397-08002B2CF9AE}" pid="8" name="MediaServiceImageTags">
    <vt:lpwstr/>
  </property>
  <property fmtid="{D5CDD505-2E9C-101B-9397-08002B2CF9AE}" pid="9" name="Notes">
    <vt:i4>9</vt:i4>
  </property>
  <property fmtid="{D5CDD505-2E9C-101B-9397-08002B2CF9AE}" pid="10" name="PresentationFormat">
    <vt:lpwstr>Grand écran</vt:lpwstr>
  </property>
  <property fmtid="{D5CDD505-2E9C-101B-9397-08002B2CF9AE}" pid="11" name="ScaleCrop">
    <vt:bool>0</vt:bool>
  </property>
  <property fmtid="{D5CDD505-2E9C-101B-9397-08002B2CF9AE}" pid="12" name="ShareDoc">
    <vt:bool>0</vt:bool>
  </property>
  <property fmtid="{D5CDD505-2E9C-101B-9397-08002B2CF9AE}" pid="13" name="Slides">
    <vt:i4>11</vt:i4>
  </property>
</Properties>
</file>